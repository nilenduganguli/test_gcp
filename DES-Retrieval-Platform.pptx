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d0e87b31-76dd-257f-c680-b958ac80f9bc}">
          <p14:sldIdLst>
            <p14:sldId id="256"/>
            <p14:sldId id="257"/>
            <p14:sldId id="258"/>
            <p14:sldId id="259"/>
          </p14:sldIdLst>
        </p14:section>
        <p14:section name="DES: Document Embedding Service" id="{0cbfa699-b687-a54b-7558-e522d5b1a0ab}">
          <p14:sldIdLst>
            <p14:sldId id="260"/>
            <p14:sldId id="261"/>
            <p14:sldId id="262"/>
            <p14:sldId id="263"/>
            <p14:sldId id="264"/>
            <p14:sldId id="265"/>
            <p14:sldId id="266"/>
            <p14:sldId id="267"/>
            <p14:sldId id="268"/>
            <p14:sldId id="269"/>
            <p14:sldId id="270"/>
            <p14:sldId id="271"/>
          </p14:sldIdLst>
        </p14:section>
        <p14:section name="Retrieval: grounded answers" id="{d9e38434-73e6-9c25-d482-48056c48cdae}">
          <p14:sldIdLst>
            <p14:sldId id="272"/>
            <p14:sldId id="273"/>
            <p14:sldId id="274"/>
            <p14:sldId id="275"/>
            <p14:sldId id="276"/>
          </p14:sldIdLst>
        </p14:section>
        <p14:section name="Value" id="{5dbfe861-f20d-d145-5c71-4b2618a5b18a}">
          <p14:sldIdLst>
            <p14:sldId id="277"/>
            <p14:sldId id="278"/>
            <p14:sldId id="2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of this session: explain what the DES (Document Embedding Service) + Retrieval platform does, why it answers questions a generic RAG stack cannot, which algorithms and technologies make that possible, where it stands today, and what we need decided to take it to production.
The picture on the right is the whole idea: a page whose blocks were detected with their roles and boxes, a table found and framed, and an answer that cites the chunk on that page.
All numbers in this deck come from the repositories (code, tests, handoff documents) as of 4-5 October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things to take away.
1. DES reads documents structurally. It uses Azure Document Intelligence v4.0 prebuilt-layout, which returns paragraph roles, real table cells, selection marks and figures, and DES puts tables and figures into a column-aware reading order.
2. Better chunking than Wega, and a superset of it: DES implements all six of Wega's chunk qualities and takes each one further (next section), adds four more strategies, and can emit Wega's chunk format from the same engine when needed.
3. PII is masked before chunk boundaries exist: Presidio runs on every fragment before merging and splitting, length-preserving so offsets and boxes stay valid.
4. Provenance end to end: every chunk carries page, boxes, file SHA-256 and the OCR, layout-mapping and chunker versions; every answer cites [N], which the server maps to a chunk id and character span. One embedding contract (gte-large-en-v1.5, 1024-D) everywhere.
5. Retrieval ranks with hybrid search (dense + Postgres full text) fused by Reciprocal Rank Fusion, reorders with a 70B listwise reranker, diversifies with MMR, and answers with Llama-4-Scout under a strict citation contract.
Stats: 6 chunk qualities each have named tests (DES HANDOFF); 419 DES tests ran offline in 6.5 s on 5 Oct 2026; retrieval has 10 pipeline stages, and 7 of them (rewrite, HyDE, contextual, rerank, CRAG, hybrid, MMR) can be switched per query.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 was built for North-American KYC paperwork: W-9, W-8BEN, CIP forms, articles of incorporation and bank statements. In these documents the answer often depends on structure: which section a sentence sits in, a table's header row, which checkbox is ticked. Line-only OCR loses that structure (DES docs/DESIGN.md).
Each card is a failure mode we designed against, and each maps to a mechanism on the following slides: reading order (part ids and splicing), tables (markdown with repeated headers), checkboxes (selection marks inlined), furniture (dropped and counted), PII (Presidio before chunking), provenance (per-chunk lineage fields).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 path (DES): the upload route commits the document row and the source bytes before it returns 202 (optional S3/MinIO copy). Layout OCR runs on the whole document (Read v3.2 is the fallback), the chunker (layout_di by default) builds structure-aware chunks, gemini-2.5-flash writes a short context prefix per chunk (thinking budget 0), and gte-large-en-v1.5 embeds prefix + content in batches of 16.
Store: one Postgres with pgvector. Schema vector holds documents, chunk_embeddings (vector(1024), HNSW cosine, generated English tsvector with GIN, soft delete) and chunk_context.
Read path (Retrieval / RAG Studio): optional query rewriting and HyDE with the 8B model, dense search on the HNSW index plus Postgres full-text search, Reciprocal Rank Fusion, a listwise 70B reranker, MMR diversity, then Llama-4-Scout writes the answer with [N] citations, streamed over SSE.
The contract: DES writes exactly the columns retrieval reads, and retrieval tests its read contract against DES's DDL.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1 covers how DES (Document Embedding Service) turns a document into retrieval-ready chunks: OCR, the chunking strategies, the parts algorithm in detail, PII masking, how DES compares with Wega's chunker, the embedding contract, storage, the console and how quality is proven.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 defaults to Azure AI Document Intelligence v4.0 prebuilt-layout (API 2024-11-30). Vision Read v3.2 is still available (OCR_PROVIDER=read) but it only returns lines and words.
Layout returns paragraph roles (title, sectionHeading, footnote, pageHeader, pageFooter, pageNumber), real table cells with row/column spans and header kinds, sections, figures, markdown, and selection marks.
The selection marks matter most for KYC: on a W-9, W-8BEN or CIP form the ticked box is frequently the answer, and Read drops checkboxes entirely. DES keeps selection marks in the chunk text as ticked or unticked marks, so they survive into answers.
Source: the DES README, "OCR: structure by default".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get_chunker registers exactly five strategies; anything else raises. Every strategy emits the same Chunk shape (content, type, page, token count, per-page boxes, line ids, section path).
layout_di (default): title and sectionHeading roles build a breadcrumb; page furniture is dropped; paragraphs inside tables are dropped; each table is its own chunk rendered as markdown and split into row groups over TABLE_MAX_TOKENS (700) with the header repeated; selection marks are inlined; captioned figures become figure chunks; prose packs to the target with a one-paragraph overlap and never crosses a heading, table or figure.
layout (geometric): gap &gt; 0.8 x median line height or an indent jump &gt; 1.5 x starts a paragraph; headings are tall lines (&gt;= 1.25 x median, under 60 characters) or short all-caps lines; tables are 3+ lines with 2+ aligned gutter-separated columns; paragraphs continue across page breaks.
recursive: separators paragraph, line, sentence, space; 60-token tail overlap mapped back to OCR lines.
semantic: Kamradt-style, windows of 3 sentences, breakpoints above the 90th percentile of adjacent-window cosine distance; falls back to recursive without an embedder.
parts: the next slides; it also gives DES a Wega-compatible output mode.
Caveat for engineers: the parts strategy counts tokens as characters/4 while the other four use words x 4/3, so the same target means different sizes.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reading-order half of DES's parts algorithm.
1. Every Layout polygon is kept raw and also normalised by page width and height (normalizedBoundingBox, 0..1), so boxes are comparable across page sizes and DPI.
2. Page headers, footers and page numbers are dropped.
3. Each block gets partId = (i+1) x 100 in Azure order, which leaves room to insert.
4. get_sorted_layout splices each table and figure after its top-left predecessor, column-aware, taking the midpoint id (300 and 400 give 350). When a gap runs out, later ids shift by 100.
The result is deterministic: the same Layout result always produces the same order.
Worked example pinned by a test: nine tables between ids 100 and 200 receive 150, 175, 187, 193, 196, 198, 199; the eighth finds no free integer, so 200 becomes 300 and the last two receive 249 and 274.
Source: des/chunking/parts.py and geometry.py.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Tables: rendered as GitHub-flavoured markdown; merged cells repeat across their span; the header block (every leading row covered by a columnHeader cell, including row spans) repeats in every split part; caption on every part, footnotes on the last; split cost is linear in rows since 1.2.0 (8,000 x 8 cells in 0.8 s on a laptop; 4,000 x 8 took 37 s before).
Figures: Azure Layout returns no pixels, so the crop is rendered from the source with PyMuPDF at 300 dpi and inlined as an &lt;img&gt; data URI with the HTML-escaped caption as alt text, followed by caption, footnotes and the figure's own text. A crop never fails a document; skips are recorded with a reason. The embedding text replaces each image with [Figure: caption].
Parts: consecutive same-role fragments merge; every chunk's content is "{title}\n{sectionHeading}\n\n{body}".
Split: RecursiveCharacterTextSplitter(chunk_size = chunk_token_size x 4, overlap 0) only inside a part. chunkUUID = UUIDv5(namespace, "{scope}/chunk-group/{n}") where n numbers runs of equal title + sectionHeading values.
The JSON on the right is an abridged, illustrative chunk; field names and version strings are the real 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it runs: in DES's parts algorithm whenever PII detection is switched on (detect_pii). The chunking engine supports it today (chunk_analyze_result with detect_pii and extract_images); DES's console pipeline still builds the parts chunker with both off, so exposing them as pipeline settings is a small wiring change.
Presidio runs on every paragraph, heading, table cell, caption, footnote and figure text before parts are merged and split, so no chunk ever holds raw PII.
Masking is length-preserving (Presidio mask operator with chars_to_mask = len(text)): offsets, splitter boundaries, polygons and boxes stay valid. Tests assert contents, boxes and chunk boundaries are identical in length and position with and without PII.
Everything is configuration: entity list (DATE_TIME supported but off, because dates are the substance of KYC documents), YAML custom recognizers, redaction character, score threshold 0.35, spaCy model en_core_web_lg. It is air-gap safe: DES never downloads a spaCy model, and the e-mail recognizer uses a bundled suffix list.
Cost: about 0.85 ms per paragraph with pattern recognizers only (about 35 s for a 2,000-page, 40,000-paragraph document); the cost of en_core_web_lg NER is not yet measured on amd64.
Known gap, stated plainly: figure crops are images and are not redacted; only text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Wega's chunker is specified by six qualities: layout paragraphs with roles and normalized boxes and page furniture dropped; part ids spaced by 100 with tables and figures spliced in; tables as markdown and figures cropped at 300 dpi in flow; same-role fragments merged with the title and section prefixed; a recursive character splitter with part numbers and chunk UUIDs; Presidio PII redaction before chunking and per-chunk provenance.
DES implements every one of them in its parts algorithm, and each row on the right is a property that is implemented and pinned by tests in the DES repository: per-page regions and clamped normalized boxes (geometry.py); column-aware splicing with the shift rule, checked against a reference splicer over 400 random layouts (parts.py, test_wega_parts.py); the full multi-row header block on every split and linear-time splitting (8,000 x 8 cells in 0.8 s); crops that never fail a document; heading chunks for orphan headings and footnotes kept separate; UUIDv5 group ids with byte-identical output across processes and hash seeds; length-preserving masks with tests proving contents, boxes and boundaries are unchanged in length and position; no model downloads; entity counts only.
Verification: DES runs Wega's own chunk-contract checker over its output in all four modes (plain, PII, images, PII + images); with that package present all 419 tests pass.
Precise wording for engineers: "better" here means stronger, tested guarantees for the same six qualities. We have not run a head-to-head retrieval-quality benchmark against the Wega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Positioning: DES is the broader pipeline. It runs OCR, five chunking strategies, contextual prefixes, guarded embeddings, retrieval-ready storage, a bounding-box console, an export API and offline Azure mocks. Wega's chunker needs one of those things: the parts algorithm and its chunk format.
That output is available from the same engine: DES's chunk_analyze_result emits Wega's chunk contract 1.1 (with PII masking and 300 dpi figure crops when enabled), and DES's test suite runs Wega's own contract checker over it. Inside DES's pipeline the same algorithm is selected with one setting (CHUNK_STRATEGY=wega_parts).
The storage side matches as well: Wega's vector store uses DES's table definitions, so retrieval reads a Wega-format store and a DES store the same way.
So accommodating Wega is a mode of DES, not a fork: one codebase, one set of tests, one schema.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gte-large-en-v1.5 (Alibaba-NLP), 1024 dimensions, everywhere: production, local and test. Retrieval's docs/EMBEDDING_MODEL.md owns the decision.
Why it matters: DES and Retrieval read and write the same embedding column. Vectors from different models are not comparable, so a mixed column "returns quietly wrong neighbours rather than an error". vector(n) is fixed-width, so moving from 768 to 1024 means re-embedding every row and rebuilding HNSW; vectors cannot be converted.
Providers: http (OpenAI /v1/embeddings or TEI /embed, production), local sentence-transformers on CPU (exact pins: sentence-transformers 3.0.1, transformers 4.44.2), a deterministic stub for tests, and legacy Vertex text-embedding-005 at 768-D, which always fails the dimension check. http batches 16, 3 attempts with 1 s / 2 s backoff.
What gets embedded in DES: the Gemini context prefix + blank line + chunk text. The content column stays unprefixed; the prefix is stored in chunk_context.
The four guards: embedder _check_dim; bootstrap reads atttypmod and logs the remediation; /api/readyz returns 503 on mismatch; Postgres rejects a wrong-size insert.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schemas in one Postgres: vector (shared with retrieval) and a DES-private service schema (runs, run events, OCR pages with the verbatim Azure payload, and the source bytes). Bootstrap is idempotent and safe on a database retrieval created first.
chunk_embeddings: BIGSERIAL id, content, "chunkUUID" unique, page, token count, chunk type, "chunkBoundingBox" JSONB ({unit, pages: [{page, boxes, union}]}), document name, jobId (= the DES run id), document_id, embedding vector(1024), content_tsv generated from content with a GIN index, deleted_at, and meta JSONB (additive, for extra chunk metadata).
HNSW uses vector_cosine_ops with pgvector defaults (no m / ef_construction clause), created best-effort: if it fails, full-text search still works.
Retrieval-compatible concretely means: retrieval reads id, content, documentName, pageNumber, tokenCount, chunkType, jobId, document_id, embedding, content_tsv, deleted_at; its test suite checks every one of those columns exists in a fixture generated from DES's DDL, and re-derives it to detect drift.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console is a React + Vite app whose build (frontend/dist) is committed and served by FastAPI, so a bare uvicorn serves it with no Node toolchain.
OCR viewer: the page image with an SVG overlay; quads scale per axis so inch and pixel units both line up. Toggles for lines, words, chunks, paragraphs, tables, figures and selection marks; a word-confidence heatmap from green to red; paragraphs coloured by Azure role, with furniture dimmed and struck through so you see exactly what the index omits; tables rebuilt as HTML grids with spans; the raw Azure JSON one click away.
Chunks explorer: type, tokens, page, breadcrumb and context prefix; markdown tables render as tables; clicking a chunk deep-links to the viewer with its quads highlighted.
Export &amp; API: one JSON bundle per document with include flags (runs, ocr, raw, chunks, embeddings, source) and a ready curl for each route. Runs: per-stage timing bar, ordered event log, configuration JSON.
Durability: the route commits the document row and the source bytes before returning 202; the id resolves immediately. Prometheus des_stage_seconds per stage; /api/readyz reports dependency truth. The mock on the left is a schematic, not a screenshot.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Re-run on 5 October 2026: 386 passed and 33 opt-in skips in 6.5 s; with the external chunk-contract package present, all 419 pass, judged by that package's own checker. ruff and mypy are clean; the console type-checks. The suite is offline: no network, Docker, database, Azure or model download.
The two Azure mocks make the Layout path runnable with no Azure account: mock_azure_di serves Document Intelligence 4.0 prebuilt-layout (api 2024-11-30) with real text (PDF text layer, else Tesseract) and synthesized structure; mock_azure_ocr serves Read v3.2 with real text and boxes. Both answer /status for the real gateway's health check and run OCR on a bounded pool that answers 429 when full. Recorded mock suites: 106 passed. Caveat stated in the repo: mock structure is a dev fixture; never tune chunking against it.
Determinism: same-process and cross-process tests (PYTHONHASHSEED 0 and 12345 must produce one digest); the fast splicer equals a sequential reference over 400 random layouts; the 1.2.0 release was compared byte-for-byte with 1.1.0 over 208 corpus runs.
Performance numbers that exist: table split 8,000 x 8 in 0.8 s (was 37 s for 4,000 x 8); Presidio pattern recognizers ~0.85 ms per paragraph. There is no pages-per-second benchmark for the pipeline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2 covers the retrieval service (RAG Studio): its ten-stage query pipeline, the algorithms behind each stage, how it consumes shared stores safely, and what users see.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Exactly as implemented (backend/app/pipeline):
1. Rewrite (optional): the fast model (Llama-3.1-8B) writes up to 3 paraphrases; each is searched separately.
2. HyDE (optional): the fast model writes a 3-5 sentence hypothetical passage that is embedded too.
3. Embed: all query strings in one call to gte-large-en-v1.5 (TEI or OpenAI-compatible endpoint, or Stellar).
4. Dense: one pgvector cosine search per query vector, 50 each.
5. Lexical: Postgres full-text on the original query only: websearch_to_tsquery, ranked by ts_rank_cd, 50 rows. This is cover-density ranking, not BM25.
6. Fuse: Reciprocal Rank Fusion, k = 60, equal weights; keeps max(20, 3 x top_k) = 24.
7. Rerank: Llama-3.3-70B orders the first 20 listwise (RankGPT style) at temperature 0.
8. Diversify: MMR with lambda 0.7 picks the final 8.
9. Grade (optional): the 8B model returns a CRAG confidence; today it is shown as a badge and does not change behaviour.
10. Generate: Llama-4-Scout-17B-16E at temperature 0.2, up to 1,500 tokens, streamed over SSE with [N] citations.
Defaults differ by profile: owner mode has rerank and contextual on; the read-only consumer profile turns the LLM stages 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Hybrid + RRF: each dense list and the lexical list is its own ranking; score(d) = sum over sources of 1 / (60 + rank). Rank-based fusion needs no calibration between cosine scores and ts_rank, and lexical search catches exact tokens (IDs, figures) embeddings blur.
Multi-query + HyDE: paraphrases and a hypothetical answer each run as their own dense ranking, which helps vague or under-specified questions.
Listwise rerank: the first 20 fused candidates (passages cut to 700 characters, prefixed with document and page) go to Llama-3.3-70B, which returns a strict JSON array of ids at temperature 0. Unknown or duplicate ids are dropped, missing ones appended; if the call fails, the fused order stands.
MMR: lambda x relevance - (1 - lambda) x redundancy with lambda 0.7, where redundancy is 0.6 for the same document and 0.9 for the same page. Known issue (next steps): relevance uses the RRF score, so the penalties dominate and MMR largely overrides the reranker after the first pick.
Contextual embeddings: an LLM prefix situates each chunk in its document before embedding (Anthropic's contextual retrieval idea; we implement the embedding half, not contextual BM25).
Grounding: the system prompt allows only numbered context, demands [N] after every factual claim, never invented numbers, and "the provided sources do not cover that" otherwise. The server parses [N] and maps it to the hit's chunk id and character span.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ways data gets in:
- DES, trigger-and-follow: retrieval posts the file to DES, polls the run (stages upload, raster, ocr, chunk, context, embed, persist) and reads the rows DES wrote; no chunks or SQL cross the boundary, and no re-embedding.
- Remote ingest: a separate FastAPI service that runs an internal chunker wheel plus Stellar gte embeddings and streams progress over SSE.
- Shared stores: any database that uses DES's table definitions can be read with PG_READ_ONLY=true.
Read-only mode is defended in depth: endpoints answer 409 (SSE endpoints emit an error event), write and DDL entry points refuse at function level, and every pooled session runs default_transaction_read_only with a SELECT-only role.
At startup it verifies a read contract instead of migrating: the vector extension and schema usage, the tables and every column it reads, SELECT on each table, and an embedding column width equal to 1024. /api/readyz answers 503 until that holds.
Connection budget: the read-only role has CONNECTION LIMIT 8 = 2 workers x pool 4 x 1 replica; more replicas need the limit raised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RAG Studio is the React + Vite front end served by the FastAPI backend (frontend/dist committed).
Retrieval tab: seven strategy switches (rewrite, HyDE, contextual, rerank, CRAG, hybrid, MMR) and a top-K slider per query; a live tracker shows each stage's milliseconds and tokens; the answer streams as markdown with clickable [N] chips that scroll to the source card. Each source card shows rank, chunk id, RRF score, document and page, the dense and lexical contributions, a preview and the contextual prefix.
Ingestion tab: choose the remote ingest service or DES (with a schema-match advisory), upload with a live SSE log, contextualise chunks, explore documents and chunks, soft-delete.
Analytics: p50/p95/p99 over the last 500 queries, strategy mix, top documents, per-stage token spend.
Benchmark: golden sets with manual or LLM seeding; recall@5, recall@10, MRR@10, nDCG@10, plus LLM-judged faithfulness and context precision. The harness exists; no measured results are recorded yet (see next steps).
KYC tab: a side module with 8 categories and 33 document types for classify, extract and search.
The mock on the left is a schematic, not a screenshot.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3: value by stakeholder and a side-by-side comparison with a generic RAG stack.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KYC reviewers: questions in plain language across the document set; answers that cite the chunk, document and page; table rows and ticked boxes that survive OCR, which is exactly what line-only pipelines lose.
Compliance and risk: PII is masked before chunks exist, length-preserving, with entity counts recorded and values never stored; every chunk carries its file hash and the OCR, layout-mapping and chunker versions; retrieval reads a shared store through a SELECT-only role with a verified read contract.
Engineering: one schema and one embedding contract, with tests on both sides (retrieval tests DES's DDL); the whole path runs offline with Azure mocks and stub providers; deterministic chunk output makes an upgrade a diff, not a guess.
Leadership: DES is a superset pipeline: it chunks better than Wega on all six of Wega's qualities and can still produce Wega's chunk format when needed, so one platform covers both; models are configuration per role (generation, rerank, fast, contextual), so they can change without code; and every answer is traceable, which reviews and audits require.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"Generic" here means fixed-size text windows over OCR text, one embedding call, and a single vector search feeding an LLM.
Each row on the right is implemented and tested in the repositories: reading order (des/chunking/parts.py), tables (des/models.py and the parts algorithm), checkboxes (selection marks kept in the text), furniture (dropped and counted), PII (des/chunking/pii.py), provenance (per-chunk lineage fields), retrieval (backend/app/pipeline), answers (generate.py and the citation mapper), embeddings (dimension and model checks in DES and retrieval).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1417320"/>
            <a:ext cx="8686800" cy="365760"/>
          </a:xfrm>
          <a:prstGeom prst="rect">
            <a:avLst/>
          </a:prstGeom>
          <a:noFill/>
          <a:ln/>
        </p:spPr>
        <p:txBody>
          <a:bodyPr wrap="square" rtlCol="0"/>
          <a:lstStyle>
            <a:lvl1pPr algn="l" indent="0" marL="0">
              <a:buNone/>
              <a:defRPr lang="en-US" sz="1400" b="1" spc="200" kern="0" dirty="0">
                <a:solidFill>
                  <a:schemeClr val="accent3"/>
                </a:solidFill>
              </a:defRPr>
            </a:lvl1pPr>
          </a:lstStyle>
          <a:p>
            <a:pPr algn="l" indent="0" marL="0">
              <a:buNone/>
            </a:pPr>
            <a:endParaRPr lang="en-US" sz="1400" dirty="0"/>
          </a:p>
        </p:txBody>
      </p:sp>
      <p:sp>
        <p:nvSpPr>
          <p:cNvPr id="3" name="Text 0"/>
          <p:cNvSpPr/>
          <p:nvPr>
            <p:ph idx="101" type="title" hasCustomPrompt="1"/>
          </p:nvPr>
        </p:nvSpPr>
        <p:spPr>
          <a:xfrm>
            <a:off x="731520" y="1874520"/>
            <a:ext cx="7863840" cy="192024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4" name="Text 0"/>
          <p:cNvSpPr/>
          <p:nvPr>
            <p:ph idx="102" type="body" hasCustomPrompt="1"/>
          </p:nvPr>
        </p:nvSpPr>
        <p:spPr>
          <a:xfrm>
            <a:off x="731520" y="3931920"/>
            <a:ext cx="7680960" cy="1005840"/>
          </a:xfrm>
          <a:prstGeom prst="rect">
            <a:avLst/>
          </a:prstGeom>
          <a:noFill/>
          <a:ln/>
        </p:spPr>
        <p:txBody>
          <a:bodyPr wrap="square" rtlCol="0"/>
          <a:lstStyle>
            <a:lvl1pPr algn="l" indent="0" marL="0">
              <a:buNone/>
              <a:defRPr lang="en-US" sz="2000" dirty="0">
                <a:solidFill>
                  <a:schemeClr val="accent5"/>
                </a:solidFill>
              </a:defRPr>
            </a:lvl1pPr>
          </a:lstStyle>
          <a:p>
            <a:pPr algn="l" indent="0" marL="0">
              <a:buNone/>
            </a:pPr>
            <a:endParaRPr lang="en-US" sz="2000" dirty="0"/>
          </a:p>
        </p:txBody>
      </p:sp>
      <p:sp>
        <p:nvSpPr>
          <p:cNvPr id="5" name="Text 0"/>
          <p:cNvSpPr/>
          <p:nvPr>
            <p:ph idx="103" type="body" hasCustomPrompt="1"/>
          </p:nvPr>
        </p:nvSpPr>
        <p:spPr>
          <a:xfrm>
            <a:off x="731520" y="5897880"/>
            <a:ext cx="8229600" cy="365760"/>
          </a:xfrm>
          <a:prstGeom prst="rect">
            <a:avLst/>
          </a:prstGeom>
          <a:noFill/>
          <a:ln/>
        </p:spPr>
        <p:txBody>
          <a:bodyPr wrap="square" rtlCol="0"/>
          <a:lstStyle>
            <a:lvl1pPr algn="l" indent="0" marL="0">
              <a:buNone/>
              <a:defRPr lang="en-US" sz="1200" dirty="0">
                <a:solidFill>
                  <a:schemeClr val="accent5"/>
                </a:solidFill>
              </a:defRPr>
            </a:lvl1pPr>
          </a:lstStyle>
          <a:p>
            <a:pPr algn="l" indent="0" marL="0">
              <a:buNone/>
            </a:pP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1417320"/>
            <a:ext cx="2743200" cy="1143000"/>
          </a:xfrm>
          <a:prstGeom prst="rect">
            <a:avLst/>
          </a:prstGeom>
          <a:noFill/>
          <a:ln/>
        </p:spPr>
        <p:txBody>
          <a:bodyPr wrap="square" rtlCol="0"/>
          <a:lstStyle>
            <a:lvl1pPr algn="l" indent="0" marL="0">
              <a:buNone/>
              <a:defRPr lang="en-US" sz="7200" b="1" dirty="0">
                <a:solidFill>
                  <a:schemeClr val="accent3"/>
                </a:solidFill>
              </a:defRPr>
            </a:lvl1pPr>
          </a:lstStyle>
          <a:p>
            <a:pPr algn="l" indent="0" marL="0">
              <a:buNone/>
            </a:pPr>
            <a:endParaRPr lang="en-US" sz="7200" dirty="0"/>
          </a:p>
        </p:txBody>
      </p:sp>
      <p:sp>
        <p:nvSpPr>
          <p:cNvPr id="3" name="Text 0"/>
          <p:cNvSpPr/>
          <p:nvPr>
            <p:ph idx="101" type="title" hasCustomPrompt="1"/>
          </p:nvPr>
        </p:nvSpPr>
        <p:spPr>
          <a:xfrm>
            <a:off x="731520" y="2697480"/>
            <a:ext cx="7498080" cy="1234440"/>
          </a:xfrm>
          <a:prstGeom prst="rect">
            <a:avLst/>
          </a:prstGeom>
          <a:noFill/>
          <a:ln/>
        </p:spPr>
        <p:txBody>
          <a:bodyPr wrap="square" rtlCol="0"/>
          <a:lstStyle>
            <a:lvl1pPr algn="l" indent="0" marL="0">
              <a:buNone/>
              <a:defRPr lang="en-US" sz="3800" b="1" dirty="0">
                <a:solidFill>
                  <a:schemeClr val="bg1"/>
                </a:solidFill>
              </a:defRPr>
            </a:lvl1pPr>
          </a:lstStyle>
          <a:p>
            <a:pPr algn="l" indent="0" marL="0">
              <a:buNone/>
            </a:pPr>
            <a:endParaRPr lang="en-US" sz="3800" dirty="0"/>
          </a:p>
        </p:txBody>
      </p:sp>
      <p:sp>
        <p:nvSpPr>
          <p:cNvPr id="4" name="Text 0"/>
          <p:cNvSpPr/>
          <p:nvPr>
            <p:ph idx="102" type="body" hasCustomPrompt="1"/>
          </p:nvPr>
        </p:nvSpPr>
        <p:spPr>
          <a:xfrm>
            <a:off x="731520" y="4069080"/>
            <a:ext cx="7498080" cy="1188720"/>
          </a:xfrm>
          <a:prstGeom prst="rect">
            <a:avLst/>
          </a:prstGeom>
          <a:noFill/>
          <a:ln/>
        </p:spPr>
        <p:txBody>
          <a:bodyPr wrap="square" rtlCol="0"/>
          <a:lstStyle>
            <a:lvl1pPr algn="l" indent="0" marL="0">
              <a:buNone/>
              <a:defRPr lang="en-US" sz="1800" dirty="0">
                <a:solidFill>
                  <a:schemeClr val="accent5"/>
                </a:solidFill>
              </a:defRPr>
            </a:lvl1pPr>
          </a:lstStyle>
          <a:p>
            <a:pPr algn="l" indent="0" marL="0">
              <a:buNone/>
            </a:pPr>
            <a:endParaRPr lang="en-US" sz="1800" dirty="0"/>
          </a:p>
        </p:txBody>
      </p:sp>
      <p:sp>
        <p:nvSpPr>
          <p:cNvPr id="5" name="Text 0"/>
          <p:cNvSpPr/>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chemeClr val="accent5"/>
                </a:solidFill>
              </a:rPr>
              <a:t>DES + Retrieval  |  Engineering and leadership review</a:t>
            </a:r>
            <a:endParaRPr lang="en-US" sz="1000" dirty="0"/>
          </a:p>
        </p:txBody>
      </p:sp>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10896"/>
            <a:ext cx="8229600" cy="274320"/>
          </a:xfrm>
          <a:prstGeom prst="rect">
            <a:avLst/>
          </a:prstGeom>
          <a:noFill/>
          <a:ln/>
        </p:spPr>
        <p:txBody>
          <a:bodyPr wrap="square" rtlCol="0"/>
          <a:lstStyle>
            <a:lvl1pPr algn="l" indent="0" marL="0">
              <a:buNone/>
              <a:defRPr lang="en-US" sz="1200" b="1" spc="150" kern="0" dirty="0"/>
            </a:lvl1pPr>
          </a:lstStyle>
          <a:p>
            <a:pPr algn="l" indent="0" marL="0">
              <a:buNone/>
            </a:pPr>
            <a:endParaRPr lang="en-US" sz="1200" dirty="0"/>
          </a:p>
        </p:txBody>
      </p:sp>
      <p:sp>
        <p:nvSpPr>
          <p:cNvPr id="3" name="Text 0"/>
          <p:cNvSpPr/>
          <p:nvPr>
            <p:ph idx="101" type="title" hasCustomPrompt="1"/>
          </p:nvPr>
        </p:nvSpPr>
        <p:spPr>
          <a:xfrm>
            <a:off x="548640" y="603504"/>
            <a:ext cx="11094415" cy="868680"/>
          </a:xfrm>
          <a:prstGeom prst="rect">
            <a:avLst/>
          </a:prstGeom>
          <a:noFill/>
          <a:ln/>
        </p:spPr>
        <p:txBody>
          <a:bodyPr wrap="square" rtlCol="0"/>
          <a:lstStyle>
            <a:lvl1pPr algn="l" indent="0" marL="0">
              <a:buNone/>
              <a:defRPr lang="en-US" sz="2800" b="1" dirty="0">
                <a:solidFill>
                  <a:schemeClr val="tx1"/>
                </a:solidFill>
              </a:defRPr>
            </a:lvl1pPr>
          </a:lstStyle>
          <a:p>
            <a:pPr algn="l" indent="0" marL="0">
              <a:buNone/>
            </a:pPr>
            <a:endParaRPr lang="en-US" sz="2800" dirty="0"/>
          </a:p>
        </p:txBody>
      </p:sp>
      <p:sp>
        <p:nvSpPr>
          <p:cNvPr id="4" name="Text 0"/>
          <p:cNvSpPr/>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chemeClr val="tx2"/>
                </a:solidFill>
              </a:rPr>
              <a:t>DES + Retrieval  |  Engineering and leadership review</a:t>
            </a:r>
            <a:endParaRPr lang="en-US" sz="1000" dirty="0"/>
          </a:p>
        </p:txBody>
      </p:sp>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tx2"/>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T_FIELD">
    <p:bg>
      <p:bgPr>
        <a:solidFill>
          <a:schemeClr val="bg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10896"/>
            <a:ext cx="8229600" cy="274320"/>
          </a:xfrm>
          <a:prstGeom prst="rect">
            <a:avLst/>
          </a:prstGeom>
          <a:noFill/>
          <a:ln/>
        </p:spPr>
        <p:txBody>
          <a:bodyPr wrap="square" rtlCol="0"/>
          <a:lstStyle>
            <a:lvl1pPr algn="l" indent="0" marL="0">
              <a:buNone/>
              <a:defRPr lang="en-US" sz="1200" b="1" spc="150" kern="0" dirty="0"/>
            </a:lvl1pPr>
          </a:lstStyle>
          <a:p>
            <a:pPr algn="l" indent="0" marL="0">
              <a:buNone/>
            </a:pPr>
            <a:endParaRPr lang="en-US" sz="1200" dirty="0"/>
          </a:p>
        </p:txBody>
      </p:sp>
      <p:sp>
        <p:nvSpPr>
          <p:cNvPr id="3" name="Text 0"/>
          <p:cNvSpPr/>
          <p:nvPr>
            <p:ph idx="101" type="title" hasCustomPrompt="1"/>
          </p:nvPr>
        </p:nvSpPr>
        <p:spPr>
          <a:xfrm>
            <a:off x="548640" y="603504"/>
            <a:ext cx="11094415" cy="868680"/>
          </a:xfrm>
          <a:prstGeom prst="rect">
            <a:avLst/>
          </a:prstGeom>
          <a:noFill/>
          <a:ln/>
        </p:spPr>
        <p:txBody>
          <a:bodyPr wrap="square" rtlCol="0"/>
          <a:lstStyle>
            <a:lvl1pPr algn="l" indent="0" marL="0">
              <a:buNone/>
              <a:defRPr lang="en-US" sz="2800" b="1" dirty="0">
                <a:solidFill>
                  <a:schemeClr val="tx1"/>
                </a:solidFill>
              </a:defRPr>
            </a:lvl1pPr>
          </a:lstStyle>
          <a:p>
            <a:pPr algn="l" indent="0" marL="0">
              <a:buNone/>
            </a:pPr>
            <a:endParaRPr lang="en-US" sz="2800" dirty="0"/>
          </a:p>
        </p:txBody>
      </p:sp>
      <p:sp>
        <p:nvSpPr>
          <p:cNvPr id="4" name="Text 0"/>
          <p:cNvSpPr/>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chemeClr val="tx2"/>
                </a:solidFill>
              </a:rPr>
              <a:t>DES + Retrieval  |  Engineering and leadership review</a:t>
            </a:r>
            <a:endParaRPr lang="en-US" sz="1000" dirty="0"/>
          </a:p>
        </p:txBody>
      </p:sp>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tx2"/>
                </a:solidFill>
              </a:defRPr>
            </a:lvl1pPr>
          </a:lstStyle>
          <a:p>
            <a:pPr algn="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ONTENT_DARK">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10896"/>
            <a:ext cx="8229600" cy="274320"/>
          </a:xfrm>
          <a:prstGeom prst="rect">
            <a:avLst/>
          </a:prstGeom>
          <a:noFill/>
          <a:ln/>
        </p:spPr>
        <p:txBody>
          <a:bodyPr wrap="square" rtlCol="0"/>
          <a:lstStyle>
            <a:lvl1pPr algn="l" indent="0" marL="0">
              <a:buNone/>
              <a:defRPr lang="en-US" sz="1200" b="1" spc="150" kern="0" dirty="0"/>
            </a:lvl1pPr>
          </a:lstStyle>
          <a:p>
            <a:pPr algn="l" indent="0" marL="0">
              <a:buNone/>
            </a:pPr>
            <a:endParaRPr lang="en-US" sz="1200" dirty="0"/>
          </a:p>
        </p:txBody>
      </p:sp>
      <p:sp>
        <p:nvSpPr>
          <p:cNvPr id="3" name="Text 0"/>
          <p:cNvSpPr/>
          <p:nvPr>
            <p:ph idx="101" type="title" hasCustomPrompt="1"/>
          </p:nvPr>
        </p:nvSpPr>
        <p:spPr>
          <a:xfrm>
            <a:off x="548640" y="603504"/>
            <a:ext cx="11094415" cy="868680"/>
          </a:xfrm>
          <a:prstGeom prst="rect">
            <a:avLst/>
          </a:prstGeom>
          <a:noFill/>
          <a:ln/>
        </p:spPr>
        <p:txBody>
          <a:bodyPr wrap="square" rtlCol="0"/>
          <a:lstStyle>
            <a:lvl1pPr algn="l" indent="0" marL="0">
              <a:buNone/>
              <a:defRPr lang="en-US" sz="2800" b="1" dirty="0">
                <a:solidFill>
                  <a:schemeClr val="bg1"/>
                </a:solidFill>
              </a:defRPr>
            </a:lvl1pPr>
          </a:lstStyle>
          <a:p>
            <a:pPr algn="l" indent="0" marL="0">
              <a:buNone/>
            </a:pPr>
            <a:endParaRPr lang="en-US" sz="2800" dirty="0"/>
          </a:p>
        </p:txBody>
      </p:sp>
      <p:sp>
        <p:nvSpPr>
          <p:cNvPr id="4" name="Text 0"/>
          <p:cNvSpPr/>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chemeClr val="accent5"/>
                </a:solidFill>
              </a:rPr>
              <a:t>DES + Retrieval  |  Engineering and leadership review</a:t>
            </a:r>
            <a:endParaRPr lang="en-US" sz="1000" dirty="0"/>
          </a:p>
        </p:txBody>
      </p:sp>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5"/>
                </a:solidFill>
              </a:defRPr>
            </a:lvl1pPr>
          </a:lstStyle>
          <a:p>
            <a:pPr algn="r"/>
            <a:fld id="{F7021451-1387-4CA6-816F-3879F97B5CBC}" type="slidenum">
              <a:rPr b="0" lang="en-US"/>
              <a:t>1006</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5.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image" Target="../media/image-6-10.png"/><Relationship Id="rId11" Type="http://schemas.openxmlformats.org/officeDocument/2006/relationships/image" Target="../media/image-6-11.png"/><Relationship Id="rId12" Type="http://schemas.openxmlformats.org/officeDocument/2006/relationships/image" Target="../media/image-6-12.png"/><Relationship Id="rId13" Type="http://schemas.openxmlformats.org/officeDocument/2006/relationships/image" Target="../media/image-6-13.png"/><Relationship Id="rId14" Type="http://schemas.openxmlformats.org/officeDocument/2006/relationships/slideLayout" Target="../slideLayouts/slideLayout4.xml"/><Relationship Id="rId1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4.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4.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4.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4.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image" Target="../media/image-12-8.png"/><Relationship Id="rId9" Type="http://schemas.openxmlformats.org/officeDocument/2006/relationships/image" Target="../media/image-12-9.png"/><Relationship Id="rId10" Type="http://schemas.openxmlformats.org/officeDocument/2006/relationships/slideLayout" Target="../slideLayouts/slideLayout5.xml"/><Relationship Id="rId11"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4.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4.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4.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slideLayout" Target="../slideLayouts/slideLayout5.xml"/><Relationship Id="rId8"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slideLayout" Target="../slideLayouts/slideLayout4.xml"/><Relationship Id="rId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3.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slideLayout" Target="../slideLayouts/slideLayout5.xml"/><Relationship Id="rId6"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731520" y="1417320"/>
            <a:ext cx="8686800" cy="365760"/>
          </a:xfrm>
          <a:prstGeom prst="rect">
            <a:avLst/>
          </a:prstGeom>
          <a:noFill/>
          <a:ln/>
        </p:spPr>
        <p:txBody>
          <a:bodyPr wrap="square" lIns="0" tIns="0" rIns="0" bIns="0" rtlCol="0" anchor="b"/>
          <a:lstStyle/>
          <a:p>
            <a:pPr algn="l" indent="0" marL="0">
              <a:buNone/>
            </a:pPr>
            <a:r>
              <a:rPr lang="en-US" sz="1400" b="1" spc="200" kern="0" dirty="0">
                <a:solidFill>
                  <a:schemeClr val="accent3"/>
                </a:solidFill>
              </a:rPr>
              <a:t>DOCUMENT INTELLIGENCE PLATFORM</a:t>
            </a:r>
            <a:endParaRPr lang="en-US" sz="1400" dirty="0"/>
          </a:p>
        </p:txBody>
      </p:sp>
      <p:sp>
        <p:nvSpPr>
          <p:cNvPr id="3" name="Text 0"/>
          <p:cNvSpPr/>
          <p:nvPr>
            <p:ph idx="101" type="title" hasCustomPrompt="1"/>
          </p:nvPr>
        </p:nvSpPr>
        <p:spPr>
          <a:xfrm>
            <a:off x="731520" y="1874520"/>
            <a:ext cx="7863840" cy="1920240"/>
          </a:xfrm>
          <a:prstGeom prst="rect">
            <a:avLst/>
          </a:prstGeom>
          <a:noFill/>
          <a:ln/>
        </p:spPr>
        <p:txBody>
          <a:bodyPr wrap="square" lIns="0" tIns="0" rIns="0" bIns="0" rtlCol="0" anchor="t"/>
          <a:lstStyle/>
          <a:p>
            <a:pPr algn="l" indent="0" marL="0">
              <a:buNone/>
            </a:pPr>
            <a:r>
              <a:rPr lang="en-US" sz="4400" b="1" dirty="0">
                <a:solidFill>
                  <a:schemeClr val="bg1"/>
                </a:solidFill>
              </a:rPr>
              <a:t>From scanned pages to grounded, cited answers</a:t>
            </a:r>
            <a:endParaRPr lang="en-US" sz="4400" dirty="0"/>
          </a:p>
        </p:txBody>
      </p:sp>
      <p:sp>
        <p:nvSpPr>
          <p:cNvPr id="4" name="Text 0"/>
          <p:cNvSpPr/>
          <p:nvPr>
            <p:ph idx="102" type="body" hasCustomPrompt="1"/>
          </p:nvPr>
        </p:nvSpPr>
        <p:spPr>
          <a:xfrm>
            <a:off x="731520" y="3931920"/>
            <a:ext cx="7680960" cy="1005840"/>
          </a:xfrm>
          <a:prstGeom prst="rect">
            <a:avLst/>
          </a:prstGeom>
          <a:noFill/>
          <a:ln/>
        </p:spPr>
        <p:txBody>
          <a:bodyPr wrap="square" lIns="0" tIns="0" rIns="0" bIns="0" rtlCol="0" anchor="t"/>
          <a:lstStyle/>
          <a:p>
            <a:pPr algn="l" indent="0" marL="0">
              <a:buNone/>
            </a:pPr>
            <a:r>
              <a:rPr lang="en-US" sz="2000" dirty="0">
                <a:solidFill>
                  <a:schemeClr val="accent5"/>
                </a:solidFill>
              </a:rPr>
              <a:t>DES (Document Embedding Service) and Retrieval: structure-aware ingestion and hybrid RAG over one shared vector store</a:t>
            </a:r>
            <a:endParaRPr lang="en-US" sz="2000" dirty="0"/>
          </a:p>
        </p:txBody>
      </p:sp>
      <p:sp>
        <p:nvSpPr>
          <p:cNvPr id="5" name="Text 0"/>
          <p:cNvSpPr/>
          <p:nvPr>
            <p:ph idx="103" type="body" hasCustomPrompt="1"/>
          </p:nvPr>
        </p:nvSpPr>
        <p:spPr>
          <a:xfrm>
            <a:off x="731520" y="5897880"/>
            <a:ext cx="8229600" cy="365760"/>
          </a:xfrm>
          <a:prstGeom prst="rect">
            <a:avLst/>
          </a:prstGeom>
          <a:noFill/>
          <a:ln/>
        </p:spPr>
        <p:txBody>
          <a:bodyPr wrap="square" lIns="0" tIns="0" rIns="0" bIns="0" rtlCol="0" anchor="ctr"/>
          <a:lstStyle/>
          <a:p>
            <a:pPr algn="l" indent="0" marL="0">
              <a:buNone/>
            </a:pPr>
            <a:r>
              <a:rPr lang="en-US" sz="1200" dirty="0">
                <a:solidFill>
                  <a:schemeClr val="accent5"/>
                </a:solidFill>
              </a:rPr>
              <a:t>Principal engineering and leadership review  ·  October 2026</a:t>
            </a:r>
            <a:endParaRPr lang="en-US" sz="1200" dirty="0"/>
          </a:p>
        </p:txBody>
      </p:sp>
      <p:sp>
        <p:nvSpPr>
          <p:cNvPr id="7" name="card-1"/>
          <p:cNvSpPr/>
          <p:nvPr/>
        </p:nvSpPr>
        <p:spPr>
          <a:xfrm>
            <a:off x="9098280" y="1325880"/>
            <a:ext cx="2514600" cy="3383280"/>
          </a:xfrm>
          <a:prstGeom prst="roundRect">
            <a:avLst>
              <a:gd name="adj" fmla="val 1455"/>
            </a:avLst>
          </a:prstGeom>
          <a:solidFill>
            <a:schemeClr val="bg1"/>
          </a:solidFill>
          <a:ln w="9525">
            <a:solidFill>
              <a:schemeClr val="accent6"/>
            </a:solidFill>
            <a:prstDash val="solid"/>
          </a:ln>
        </p:spPr>
      </p:sp>
      <p:sp>
        <p:nvSpPr>
          <p:cNvPr id="8" name="glyph-2"/>
          <p:cNvSpPr/>
          <p:nvPr/>
        </p:nvSpPr>
        <p:spPr>
          <a:xfrm>
            <a:off x="9326880" y="1581912"/>
            <a:ext cx="1737360" cy="182880"/>
          </a:xfrm>
          <a:prstGeom prst="rect">
            <a:avLst/>
          </a:prstGeom>
          <a:solidFill>
            <a:schemeClr val="bg1">
              <a:alpha val="90000"/>
            </a:schemeClr>
          </a:solidFill>
          <a:ln/>
        </p:spPr>
      </p:sp>
      <p:sp>
        <p:nvSpPr>
          <p:cNvPr id="9" name="glyph-3"/>
          <p:cNvSpPr/>
          <p:nvPr/>
        </p:nvSpPr>
        <p:spPr>
          <a:xfrm>
            <a:off x="9326880" y="1892808"/>
            <a:ext cx="1097280" cy="109728"/>
          </a:xfrm>
          <a:prstGeom prst="rect">
            <a:avLst/>
          </a:prstGeom>
          <a:solidFill>
            <a:schemeClr val="accent5">
              <a:alpha val="80000"/>
            </a:schemeClr>
          </a:solidFill>
          <a:ln/>
        </p:spPr>
      </p:sp>
      <p:sp>
        <p:nvSpPr>
          <p:cNvPr id="10" name="glyph-4"/>
          <p:cNvSpPr/>
          <p:nvPr/>
        </p:nvSpPr>
        <p:spPr>
          <a:xfrm>
            <a:off x="9326880" y="2194560"/>
            <a:ext cx="960120" cy="64008"/>
          </a:xfrm>
          <a:prstGeom prst="rect">
            <a:avLst/>
          </a:prstGeom>
          <a:solidFill>
            <a:schemeClr val="accent5">
              <a:alpha val="55000"/>
            </a:schemeClr>
          </a:solidFill>
          <a:ln/>
        </p:spPr>
      </p:sp>
      <p:sp>
        <p:nvSpPr>
          <p:cNvPr id="11" name="glyph-5"/>
          <p:cNvSpPr/>
          <p:nvPr/>
        </p:nvSpPr>
        <p:spPr>
          <a:xfrm>
            <a:off x="9326880" y="2340864"/>
            <a:ext cx="960120" cy="64008"/>
          </a:xfrm>
          <a:prstGeom prst="rect">
            <a:avLst/>
          </a:prstGeom>
          <a:solidFill>
            <a:schemeClr val="accent5">
              <a:alpha val="55000"/>
            </a:schemeClr>
          </a:solidFill>
          <a:ln/>
        </p:spPr>
      </p:sp>
      <p:sp>
        <p:nvSpPr>
          <p:cNvPr id="12" name="glyph-6"/>
          <p:cNvSpPr/>
          <p:nvPr/>
        </p:nvSpPr>
        <p:spPr>
          <a:xfrm>
            <a:off x="9326880" y="2487168"/>
            <a:ext cx="960120" cy="64008"/>
          </a:xfrm>
          <a:prstGeom prst="rect">
            <a:avLst/>
          </a:prstGeom>
          <a:solidFill>
            <a:schemeClr val="accent5">
              <a:alpha val="55000"/>
            </a:schemeClr>
          </a:solidFill>
          <a:ln/>
        </p:spPr>
      </p:sp>
      <p:sp>
        <p:nvSpPr>
          <p:cNvPr id="13" name="glyph-7"/>
          <p:cNvSpPr/>
          <p:nvPr/>
        </p:nvSpPr>
        <p:spPr>
          <a:xfrm>
            <a:off x="9326880" y="2633472"/>
            <a:ext cx="960120" cy="64008"/>
          </a:xfrm>
          <a:prstGeom prst="rect">
            <a:avLst/>
          </a:prstGeom>
          <a:solidFill>
            <a:schemeClr val="accent5">
              <a:alpha val="55000"/>
            </a:schemeClr>
          </a:solidFill>
          <a:ln/>
        </p:spPr>
      </p:sp>
      <p:sp>
        <p:nvSpPr>
          <p:cNvPr id="14" name="glyph-8"/>
          <p:cNvSpPr/>
          <p:nvPr/>
        </p:nvSpPr>
        <p:spPr>
          <a:xfrm>
            <a:off x="9326880" y="2779776"/>
            <a:ext cx="960120" cy="64008"/>
          </a:xfrm>
          <a:prstGeom prst="rect">
            <a:avLst/>
          </a:prstGeom>
          <a:solidFill>
            <a:schemeClr val="accent5">
              <a:alpha val="55000"/>
            </a:schemeClr>
          </a:solidFill>
          <a:ln/>
        </p:spPr>
      </p:sp>
      <p:sp>
        <p:nvSpPr>
          <p:cNvPr id="15" name="glyph-9"/>
          <p:cNvSpPr/>
          <p:nvPr/>
        </p:nvSpPr>
        <p:spPr>
          <a:xfrm>
            <a:off x="10424160" y="2194560"/>
            <a:ext cx="960120" cy="64008"/>
          </a:xfrm>
          <a:prstGeom prst="rect">
            <a:avLst/>
          </a:prstGeom>
          <a:solidFill>
            <a:schemeClr val="accent5">
              <a:alpha val="55000"/>
            </a:schemeClr>
          </a:solidFill>
          <a:ln/>
        </p:spPr>
      </p:sp>
      <p:sp>
        <p:nvSpPr>
          <p:cNvPr id="16" name="glyph-10"/>
          <p:cNvSpPr/>
          <p:nvPr/>
        </p:nvSpPr>
        <p:spPr>
          <a:xfrm>
            <a:off x="10424160" y="2340864"/>
            <a:ext cx="960120" cy="64008"/>
          </a:xfrm>
          <a:prstGeom prst="rect">
            <a:avLst/>
          </a:prstGeom>
          <a:solidFill>
            <a:schemeClr val="accent5">
              <a:alpha val="55000"/>
            </a:schemeClr>
          </a:solidFill>
          <a:ln/>
        </p:spPr>
      </p:sp>
      <p:sp>
        <p:nvSpPr>
          <p:cNvPr id="17" name="glyph-11"/>
          <p:cNvSpPr/>
          <p:nvPr/>
        </p:nvSpPr>
        <p:spPr>
          <a:xfrm>
            <a:off x="10424160" y="2487168"/>
            <a:ext cx="960120" cy="64008"/>
          </a:xfrm>
          <a:prstGeom prst="rect">
            <a:avLst/>
          </a:prstGeom>
          <a:solidFill>
            <a:schemeClr val="accent5">
              <a:alpha val="55000"/>
            </a:schemeClr>
          </a:solidFill>
          <a:ln/>
        </p:spPr>
      </p:sp>
      <p:sp>
        <p:nvSpPr>
          <p:cNvPr id="18" name="glyph-table-12"/>
          <p:cNvSpPr/>
          <p:nvPr/>
        </p:nvSpPr>
        <p:spPr>
          <a:xfrm>
            <a:off x="9326880" y="3017520"/>
            <a:ext cx="960120" cy="685800"/>
          </a:xfrm>
          <a:prstGeom prst="rect">
            <a:avLst/>
          </a:prstGeom>
          <a:solidFill>
            <a:schemeClr val="accent1">
              <a:alpha val="65000"/>
            </a:schemeClr>
          </a:solidFill>
          <a:ln w="6350">
            <a:solidFill>
              <a:schemeClr val="accent5"/>
            </a:solidFill>
            <a:prstDash val="solid"/>
          </a:ln>
        </p:spPr>
      </p:sp>
      <p:sp>
        <p:nvSpPr>
          <p:cNvPr id="19" name="link-13"/>
          <p:cNvSpPr/>
          <p:nvPr/>
        </p:nvSpPr>
        <p:spPr>
          <a:xfrm>
            <a:off x="9326880" y="3246120"/>
            <a:ext cx="960120" cy="0"/>
          </a:xfrm>
          <a:prstGeom prst="line">
            <a:avLst/>
          </a:prstGeom>
          <a:noFill/>
          <a:ln w="6350">
            <a:solidFill>
              <a:schemeClr val="accent5"/>
            </a:solidFill>
            <a:prstDash val="solid"/>
          </a:ln>
        </p:spPr>
      </p:sp>
      <p:sp>
        <p:nvSpPr>
          <p:cNvPr id="20" name="link-14"/>
          <p:cNvSpPr/>
          <p:nvPr/>
        </p:nvSpPr>
        <p:spPr>
          <a:xfrm>
            <a:off x="9326880" y="3474720"/>
            <a:ext cx="960120" cy="0"/>
          </a:xfrm>
          <a:prstGeom prst="line">
            <a:avLst/>
          </a:prstGeom>
          <a:noFill/>
          <a:ln w="6350">
            <a:solidFill>
              <a:schemeClr val="accent5"/>
            </a:solidFill>
            <a:prstDash val="solid"/>
          </a:ln>
        </p:spPr>
      </p:sp>
      <p:sp>
        <p:nvSpPr>
          <p:cNvPr id="21" name="link-15"/>
          <p:cNvSpPr/>
          <p:nvPr/>
        </p:nvSpPr>
        <p:spPr>
          <a:xfrm>
            <a:off x="9646920" y="3017520"/>
            <a:ext cx="0" cy="685800"/>
          </a:xfrm>
          <a:prstGeom prst="line">
            <a:avLst/>
          </a:prstGeom>
          <a:noFill/>
          <a:ln w="6350">
            <a:solidFill>
              <a:schemeClr val="accent5"/>
            </a:solidFill>
            <a:prstDash val="solid"/>
          </a:ln>
        </p:spPr>
      </p:sp>
      <p:sp>
        <p:nvSpPr>
          <p:cNvPr id="22" name="link-16"/>
          <p:cNvSpPr/>
          <p:nvPr/>
        </p:nvSpPr>
        <p:spPr>
          <a:xfrm>
            <a:off x="9966960" y="3017520"/>
            <a:ext cx="0" cy="685800"/>
          </a:xfrm>
          <a:prstGeom prst="line">
            <a:avLst/>
          </a:prstGeom>
          <a:noFill/>
          <a:ln w="6350">
            <a:solidFill>
              <a:schemeClr val="accent5"/>
            </a:solidFill>
            <a:prstDash val="solid"/>
          </a:ln>
        </p:spPr>
      </p:sp>
      <p:sp>
        <p:nvSpPr>
          <p:cNvPr id="23" name="link-17"/>
          <p:cNvSpPr/>
          <p:nvPr/>
        </p:nvSpPr>
        <p:spPr>
          <a:xfrm>
            <a:off x="9253728" y="2944368"/>
            <a:ext cx="146304" cy="0"/>
          </a:xfrm>
          <a:prstGeom prst="line">
            <a:avLst/>
          </a:prstGeom>
          <a:noFill/>
          <a:ln w="25400">
            <a:solidFill>
              <a:schemeClr val="accent3"/>
            </a:solidFill>
            <a:prstDash val="solid"/>
          </a:ln>
        </p:spPr>
      </p:sp>
      <p:sp>
        <p:nvSpPr>
          <p:cNvPr id="24" name="link-18"/>
          <p:cNvSpPr/>
          <p:nvPr/>
        </p:nvSpPr>
        <p:spPr>
          <a:xfrm>
            <a:off x="9253728" y="2944368"/>
            <a:ext cx="0" cy="146304"/>
          </a:xfrm>
          <a:prstGeom prst="line">
            <a:avLst/>
          </a:prstGeom>
          <a:noFill/>
          <a:ln w="25400">
            <a:solidFill>
              <a:schemeClr val="accent3"/>
            </a:solidFill>
            <a:prstDash val="solid"/>
          </a:ln>
        </p:spPr>
      </p:sp>
      <p:sp>
        <p:nvSpPr>
          <p:cNvPr id="25" name="link-19"/>
          <p:cNvSpPr/>
          <p:nvPr/>
        </p:nvSpPr>
        <p:spPr>
          <a:xfrm>
            <a:off x="10213848" y="2944368"/>
            <a:ext cx="146304" cy="0"/>
          </a:xfrm>
          <a:prstGeom prst="line">
            <a:avLst/>
          </a:prstGeom>
          <a:noFill/>
          <a:ln w="25400">
            <a:solidFill>
              <a:schemeClr val="accent3"/>
            </a:solidFill>
            <a:prstDash val="solid"/>
          </a:ln>
        </p:spPr>
      </p:sp>
      <p:sp>
        <p:nvSpPr>
          <p:cNvPr id="26" name="link-20"/>
          <p:cNvSpPr/>
          <p:nvPr/>
        </p:nvSpPr>
        <p:spPr>
          <a:xfrm>
            <a:off x="10360152" y="2944368"/>
            <a:ext cx="0" cy="146304"/>
          </a:xfrm>
          <a:prstGeom prst="line">
            <a:avLst/>
          </a:prstGeom>
          <a:noFill/>
          <a:ln w="25400">
            <a:solidFill>
              <a:schemeClr val="accent3"/>
            </a:solidFill>
            <a:prstDash val="solid"/>
          </a:ln>
        </p:spPr>
      </p:sp>
      <p:sp>
        <p:nvSpPr>
          <p:cNvPr id="27" name="link-21"/>
          <p:cNvSpPr/>
          <p:nvPr/>
        </p:nvSpPr>
        <p:spPr>
          <a:xfrm>
            <a:off x="9253728" y="3776472"/>
            <a:ext cx="146304" cy="0"/>
          </a:xfrm>
          <a:prstGeom prst="line">
            <a:avLst/>
          </a:prstGeom>
          <a:noFill/>
          <a:ln w="25400">
            <a:solidFill>
              <a:schemeClr val="accent3"/>
            </a:solidFill>
            <a:prstDash val="solid"/>
          </a:ln>
        </p:spPr>
      </p:sp>
      <p:sp>
        <p:nvSpPr>
          <p:cNvPr id="28" name="link-22"/>
          <p:cNvSpPr/>
          <p:nvPr/>
        </p:nvSpPr>
        <p:spPr>
          <a:xfrm>
            <a:off x="9253728" y="3630168"/>
            <a:ext cx="0" cy="146304"/>
          </a:xfrm>
          <a:prstGeom prst="line">
            <a:avLst/>
          </a:prstGeom>
          <a:noFill/>
          <a:ln w="25400">
            <a:solidFill>
              <a:schemeClr val="accent3"/>
            </a:solidFill>
            <a:prstDash val="solid"/>
          </a:ln>
        </p:spPr>
      </p:sp>
      <p:sp>
        <p:nvSpPr>
          <p:cNvPr id="29" name="link-23"/>
          <p:cNvSpPr/>
          <p:nvPr/>
        </p:nvSpPr>
        <p:spPr>
          <a:xfrm>
            <a:off x="10213848" y="3776472"/>
            <a:ext cx="146304" cy="0"/>
          </a:xfrm>
          <a:prstGeom prst="line">
            <a:avLst/>
          </a:prstGeom>
          <a:noFill/>
          <a:ln w="25400">
            <a:solidFill>
              <a:schemeClr val="accent3"/>
            </a:solidFill>
            <a:prstDash val="solid"/>
          </a:ln>
        </p:spPr>
      </p:sp>
      <p:sp>
        <p:nvSpPr>
          <p:cNvPr id="30" name="link-24"/>
          <p:cNvSpPr/>
          <p:nvPr/>
        </p:nvSpPr>
        <p:spPr>
          <a:xfrm>
            <a:off x="10360152" y="3630168"/>
            <a:ext cx="0" cy="146304"/>
          </a:xfrm>
          <a:prstGeom prst="line">
            <a:avLst/>
          </a:prstGeom>
          <a:noFill/>
          <a:ln w="25400">
            <a:solidFill>
              <a:schemeClr val="accent3"/>
            </a:solidFill>
            <a:prstDash val="solid"/>
          </a:ln>
        </p:spPr>
      </p:sp>
      <p:sp>
        <p:nvSpPr>
          <p:cNvPr id="31" name="glyph-figure-25"/>
          <p:cNvSpPr/>
          <p:nvPr/>
        </p:nvSpPr>
        <p:spPr>
          <a:xfrm>
            <a:off x="10424160" y="2697480"/>
            <a:ext cx="960120" cy="731520"/>
          </a:xfrm>
          <a:prstGeom prst="rect">
            <a:avLst/>
          </a:prstGeom>
          <a:solidFill>
            <a:schemeClr val="bg1">
              <a:alpha val="12000"/>
            </a:schemeClr>
          </a:solidFill>
          <a:ln w="6350">
            <a:solidFill>
              <a:schemeClr val="accent5"/>
            </a:solidFill>
            <a:prstDash val="solid"/>
          </a:ln>
        </p:spPr>
      </p:sp>
      <p:pic>
        <p:nvPicPr>
          <p:cNvPr id="32" name="icon-TbPhoto-26" descr="Photo">    </p:cNvPr>
          <p:cNvPicPr>
            <a:picLocks noChangeAspect="1"/>
          </p:cNvPicPr>
          <p:nvPr/>
        </p:nvPicPr>
        <p:blipFill>
          <a:blip r:embed="rId1"/>
          <a:stretch>
            <a:fillRect/>
          </a:stretch>
        </p:blipFill>
        <p:spPr>
          <a:xfrm>
            <a:off x="10725912" y="2871216"/>
            <a:ext cx="365760" cy="365760"/>
          </a:xfrm>
          <a:prstGeom prst="rect">
            <a:avLst/>
          </a:prstGeom>
        </p:spPr>
      </p:pic>
      <p:sp>
        <p:nvSpPr>
          <p:cNvPr id="33" name="glyph-27"/>
          <p:cNvSpPr/>
          <p:nvPr/>
        </p:nvSpPr>
        <p:spPr>
          <a:xfrm>
            <a:off x="10424160" y="3566160"/>
            <a:ext cx="960120" cy="64008"/>
          </a:xfrm>
          <a:prstGeom prst="rect">
            <a:avLst/>
          </a:prstGeom>
          <a:solidFill>
            <a:schemeClr val="accent5">
              <a:alpha val="55000"/>
            </a:schemeClr>
          </a:solidFill>
          <a:ln/>
        </p:spPr>
      </p:sp>
      <p:sp>
        <p:nvSpPr>
          <p:cNvPr id="34" name="glyph-28"/>
          <p:cNvSpPr/>
          <p:nvPr/>
        </p:nvSpPr>
        <p:spPr>
          <a:xfrm>
            <a:off x="10424160" y="3712464"/>
            <a:ext cx="960120" cy="64008"/>
          </a:xfrm>
          <a:prstGeom prst="rect">
            <a:avLst/>
          </a:prstGeom>
          <a:solidFill>
            <a:schemeClr val="accent5">
              <a:alpha val="55000"/>
            </a:schemeClr>
          </a:solidFill>
          <a:ln/>
        </p:spPr>
      </p:sp>
      <p:sp>
        <p:nvSpPr>
          <p:cNvPr id="35" name="glyph-29"/>
          <p:cNvSpPr/>
          <p:nvPr/>
        </p:nvSpPr>
        <p:spPr>
          <a:xfrm>
            <a:off x="10424160" y="3858768"/>
            <a:ext cx="960120" cy="64008"/>
          </a:xfrm>
          <a:prstGeom prst="rect">
            <a:avLst/>
          </a:prstGeom>
          <a:solidFill>
            <a:schemeClr val="accent5">
              <a:alpha val="55000"/>
            </a:schemeClr>
          </a:solidFill>
          <a:ln/>
        </p:spPr>
      </p:sp>
      <p:sp>
        <p:nvSpPr>
          <p:cNvPr id="36" name="glyph-30"/>
          <p:cNvSpPr/>
          <p:nvPr/>
        </p:nvSpPr>
        <p:spPr>
          <a:xfrm>
            <a:off x="10424160" y="4005072"/>
            <a:ext cx="960120" cy="64008"/>
          </a:xfrm>
          <a:prstGeom prst="rect">
            <a:avLst/>
          </a:prstGeom>
          <a:solidFill>
            <a:schemeClr val="accent5">
              <a:alpha val="55000"/>
            </a:schemeClr>
          </a:solidFill>
          <a:ln/>
        </p:spPr>
      </p:sp>
      <p:sp>
        <p:nvSpPr>
          <p:cNvPr id="37" name="glyph-31"/>
          <p:cNvSpPr/>
          <p:nvPr/>
        </p:nvSpPr>
        <p:spPr>
          <a:xfrm>
            <a:off x="9326880" y="3886200"/>
            <a:ext cx="960120" cy="64008"/>
          </a:xfrm>
          <a:prstGeom prst="rect">
            <a:avLst/>
          </a:prstGeom>
          <a:solidFill>
            <a:schemeClr val="accent5">
              <a:alpha val="55000"/>
            </a:schemeClr>
          </a:solidFill>
          <a:ln/>
        </p:spPr>
      </p:sp>
      <p:sp>
        <p:nvSpPr>
          <p:cNvPr id="38" name="glyph-32"/>
          <p:cNvSpPr/>
          <p:nvPr/>
        </p:nvSpPr>
        <p:spPr>
          <a:xfrm>
            <a:off x="9326880" y="4032504"/>
            <a:ext cx="960120" cy="64008"/>
          </a:xfrm>
          <a:prstGeom prst="rect">
            <a:avLst/>
          </a:prstGeom>
          <a:solidFill>
            <a:schemeClr val="accent5">
              <a:alpha val="55000"/>
            </a:schemeClr>
          </a:solidFill>
          <a:ln/>
        </p:spPr>
      </p:sp>
      <p:sp>
        <p:nvSpPr>
          <p:cNvPr id="39" name="glyph-33"/>
          <p:cNvSpPr/>
          <p:nvPr/>
        </p:nvSpPr>
        <p:spPr>
          <a:xfrm>
            <a:off x="9326880" y="4178808"/>
            <a:ext cx="960120" cy="64008"/>
          </a:xfrm>
          <a:prstGeom prst="rect">
            <a:avLst/>
          </a:prstGeom>
          <a:solidFill>
            <a:schemeClr val="accent5">
              <a:alpha val="55000"/>
            </a:schemeClr>
          </a:solidFill>
          <a:ln/>
        </p:spPr>
      </p:sp>
      <p:sp>
        <p:nvSpPr>
          <p:cNvPr id="40" name="glyph-34"/>
          <p:cNvSpPr/>
          <p:nvPr/>
        </p:nvSpPr>
        <p:spPr>
          <a:xfrm>
            <a:off x="9326880" y="4325112"/>
            <a:ext cx="960120" cy="64008"/>
          </a:xfrm>
          <a:prstGeom prst="rect">
            <a:avLst/>
          </a:prstGeom>
          <a:solidFill>
            <a:schemeClr val="accent5">
              <a:alpha val="55000"/>
            </a:schemeClr>
          </a:solidFill>
          <a:ln/>
        </p:spPr>
      </p:sp>
      <p:sp>
        <p:nvSpPr>
          <p:cNvPr id="41" name="pill-35"/>
          <p:cNvSpPr/>
          <p:nvPr/>
        </p:nvSpPr>
        <p:spPr>
          <a:xfrm>
            <a:off x="9189720" y="5029200"/>
            <a:ext cx="2331720" cy="365760"/>
          </a:xfrm>
          <a:prstGeom prst="roundRect">
            <a:avLst>
              <a:gd name="adj" fmla="val 50000"/>
            </a:avLst>
          </a:prstGeom>
          <a:solidFill>
            <a:schemeClr val="accent2"/>
          </a:solidFill>
          <a:ln/>
        </p:spPr>
        <p:txBody>
          <a:bodyPr wrap="square" lIns="0" tIns="0" rIns="0" bIns="0" rtlCol="0" anchor="ctr"/>
          <a:lstStyle/>
          <a:p>
            <a:pPr algn="ctr" indent="0" marL="0">
              <a:buNone/>
            </a:pPr>
            <a:r>
              <a:rPr lang="en-US" sz="1200" b="1" dirty="0">
                <a:solidFill>
                  <a:schemeClr val="bg1"/>
                </a:solidFill>
              </a:rPr>
              <a:t>Answer [1] cites the chunk, p. 4</a:t>
            </a:r>
            <a:endParaRPr lang="en-US" sz="1200" dirty="0"/>
          </a:p>
        </p:txBody>
      </p:sp>
      <p:sp>
        <p:nvSpPr>
          <p:cNvPr id="42" name="link-36"/>
          <p:cNvSpPr/>
          <p:nvPr/>
        </p:nvSpPr>
        <p:spPr>
          <a:xfrm>
            <a:off x="9802368" y="3776472"/>
            <a:ext cx="0" cy="1252728"/>
          </a:xfrm>
          <a:prstGeom prst="line">
            <a:avLst/>
          </a:prstGeom>
          <a:noFill/>
          <a:ln w="15875">
            <a:solidFill>
              <a:schemeClr val="accent3"/>
            </a:solidFill>
            <a:prstDash val="solid"/>
            <a:tailEnd type="triangle"/>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10896"/>
            <a:ext cx="8229600" cy="274320"/>
          </a:xfrm>
          <a:prstGeom prst="rect">
            <a:avLst/>
          </a:prstGeom>
          <a:noFill/>
          <a:ln/>
        </p:spPr>
        <p:txBody>
          <a:bodyPr wrap="square" lIns="0" tIns="0" rIns="0" bIns="0" rtlCol="0" anchor="ctr"/>
          <a:lstStyle/>
          <a:p>
            <a:pPr algn="l" indent="0" marL="0">
              <a:buNone/>
            </a:pPr>
            <a:r>
              <a:rPr lang="en-US" sz="1200" b="1" spc="150" kern="0" dirty="0">
                <a:solidFill>
                  <a:schemeClr val="accent1"/>
                </a:solidFill>
              </a:rPr>
              <a:t>EXECUTIVE SUMMARY</a:t>
            </a:r>
            <a:endParaRPr lang="en-US" sz="1200" dirty="0"/>
          </a:p>
        </p:txBody>
      </p:sp>
      <p:sp>
        <p:nvSpPr>
          <p:cNvPr id="3" name="Text 0"/>
          <p:cNvSpPr/>
          <p:nvPr>
            <p:ph idx="101" type="title" hasCustomPrompt="1"/>
          </p:nvPr>
        </p:nvSpPr>
        <p:spPr>
          <a:xfrm>
            <a:off x="548640" y="603504"/>
            <a:ext cx="11094415" cy="868680"/>
          </a:xfrm>
          <a:prstGeom prst="rect">
            <a:avLst/>
          </a:prstGeom>
          <a:noFill/>
          <a:ln/>
        </p:spPr>
        <p:txBody>
          <a:bodyPr wrap="square" lIns="0" tIns="0" rIns="0" bIns="0" rtlCol="0" anchor="t"/>
          <a:lstStyle/>
          <a:p>
            <a:pPr algn="l" indent="0" marL="0">
              <a:buNone/>
            </a:pPr>
            <a:r>
              <a:rPr lang="en-US" sz="2800" b="1" dirty="0">
                <a:solidFill>
                  <a:schemeClr val="tx1"/>
                </a:solidFill>
              </a:rPr>
              <a:t>Structure in, citations out: the platform on one page</a:t>
            </a:r>
            <a:endParaRPr lang="en-US" sz="2800" dirty="0"/>
          </a:p>
        </p:txBody>
      </p:sp>
      <p:sp>
        <p:nvSpPr>
          <p:cNvPr id="5" name="chip-37"/>
          <p:cNvSpPr/>
          <p:nvPr/>
        </p:nvSpPr>
        <p:spPr>
          <a:xfrm>
            <a:off x="548640" y="1645920"/>
            <a:ext cx="384048" cy="384048"/>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6" name="block-38"/>
          <p:cNvSpPr txBox="1"/>
          <p:nvPr/>
        </p:nvSpPr>
        <p:spPr>
          <a:xfrm>
            <a:off x="1115568" y="1627632"/>
            <a:ext cx="6611112" cy="841248"/>
          </a:xfrm>
          <a:prstGeom prst="rect">
            <a:avLst/>
          </a:prstGeom>
          <a:noFill/>
          <a:ln/>
        </p:spPr>
        <p:txBody>
          <a:bodyPr wrap="square" lIns="0" tIns="0" rIns="0" bIns="0" rtlCol="0" anchor="t"/>
          <a:lstStyle/>
          <a:p>
            <a:pPr indent="0" marL="0">
              <a:spcAft>
                <a:spcPts val="400"/>
              </a:spcAft>
              <a:buNone/>
            </a:pPr>
            <a:r>
              <a:rPr lang="en-US" sz="1600" b="1" dirty="0">
                <a:solidFill>
                  <a:schemeClr val="tx1"/>
                </a:solidFill>
              </a:rPr>
              <a:t>Reads documents the way people do</a:t>
            </a:r>
            <a:endParaRPr lang="en-US" sz="1600" dirty="0"/>
          </a:p>
          <a:p>
            <a:pPr indent="0" marL="0">
              <a:spcAft>
                <a:spcPts val="200"/>
              </a:spcAft>
              <a:buNone/>
            </a:pPr>
            <a:r>
              <a:rPr lang="en-US" sz="1350" dirty="0">
                <a:solidFill>
                  <a:schemeClr val="tx2"/>
                </a:solidFill>
              </a:rPr>
              <a:t>Azure DI Layout v4.0 keeps paragraph roles, real table cells, ticked checkboxes and figures; DES orders them column-aware.</a:t>
            </a:r>
            <a:endParaRPr lang="en-US" sz="1600" dirty="0"/>
          </a:p>
        </p:txBody>
      </p:sp>
      <p:sp>
        <p:nvSpPr>
          <p:cNvPr id="7" name="chip-39"/>
          <p:cNvSpPr/>
          <p:nvPr/>
        </p:nvSpPr>
        <p:spPr>
          <a:xfrm>
            <a:off x="548640" y="2542032"/>
            <a:ext cx="384048" cy="384048"/>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8" name="block-40"/>
          <p:cNvSpPr txBox="1"/>
          <p:nvPr/>
        </p:nvSpPr>
        <p:spPr>
          <a:xfrm>
            <a:off x="1115568" y="2523744"/>
            <a:ext cx="6611112" cy="841248"/>
          </a:xfrm>
          <a:prstGeom prst="rect">
            <a:avLst/>
          </a:prstGeom>
          <a:noFill/>
          <a:ln/>
        </p:spPr>
        <p:txBody>
          <a:bodyPr wrap="square" lIns="0" tIns="0" rIns="0" bIns="0" rtlCol="0" anchor="t"/>
          <a:lstStyle/>
          <a:p>
            <a:pPr indent="0" marL="0">
              <a:spcAft>
                <a:spcPts val="400"/>
              </a:spcAft>
              <a:buNone/>
            </a:pPr>
            <a:r>
              <a:rPr lang="en-US" sz="1600" b="1" dirty="0">
                <a:solidFill>
                  <a:schemeClr val="tx1"/>
                </a:solidFill>
              </a:rPr>
              <a:t>Chunks better than Wega, and covers it</a:t>
            </a:r>
            <a:endParaRPr lang="en-US" sz="1600" dirty="0"/>
          </a:p>
          <a:p>
            <a:pPr indent="0" marL="0">
              <a:spcAft>
                <a:spcPts val="200"/>
              </a:spcAft>
              <a:buNone/>
            </a:pPr>
            <a:r>
              <a:rPr lang="en-US" sz="1350" dirty="0">
                <a:solidFill>
                  <a:schemeClr val="tx2"/>
                </a:solidFill>
              </a:rPr>
              <a:t>All six Wega chunk qualities, each done better, plus four more strategies; a Wega-compatible mode makes DES a superset.</a:t>
            </a:r>
            <a:endParaRPr lang="en-US" sz="1600" dirty="0"/>
          </a:p>
        </p:txBody>
      </p:sp>
      <p:sp>
        <p:nvSpPr>
          <p:cNvPr id="9" name="chip-41"/>
          <p:cNvSpPr/>
          <p:nvPr/>
        </p:nvSpPr>
        <p:spPr>
          <a:xfrm>
            <a:off x="548640" y="3438144"/>
            <a:ext cx="384048" cy="384048"/>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0" name="block-42"/>
          <p:cNvSpPr txBox="1"/>
          <p:nvPr/>
        </p:nvSpPr>
        <p:spPr>
          <a:xfrm>
            <a:off x="1115568" y="3419856"/>
            <a:ext cx="6611112" cy="841248"/>
          </a:xfrm>
          <a:prstGeom prst="rect">
            <a:avLst/>
          </a:prstGeom>
          <a:noFill/>
          <a:ln/>
        </p:spPr>
        <p:txBody>
          <a:bodyPr wrap="square" lIns="0" tIns="0" rIns="0" bIns="0" rtlCol="0" anchor="t"/>
          <a:lstStyle/>
          <a:p>
            <a:pPr indent="0" marL="0">
              <a:spcAft>
                <a:spcPts val="400"/>
              </a:spcAft>
              <a:buNone/>
            </a:pPr>
            <a:r>
              <a:rPr lang="en-US" sz="1600" b="1" dirty="0">
                <a:solidFill>
                  <a:schemeClr val="tx1"/>
                </a:solidFill>
              </a:rPr>
              <a:t>Masks PII before a chunk exists</a:t>
            </a:r>
            <a:endParaRPr lang="en-US" sz="1600" dirty="0"/>
          </a:p>
          <a:p>
            <a:pPr indent="0" marL="0">
              <a:spcAft>
                <a:spcPts val="200"/>
              </a:spcAft>
              <a:buNone/>
            </a:pPr>
            <a:r>
              <a:rPr lang="en-US" sz="1350" dirty="0">
                <a:solidFill>
                  <a:schemeClr val="tx2"/>
                </a:solidFill>
              </a:rPr>
              <a:t>Presidio redacts before merging and splitting; each mask keeps its length, so every offset and box stays valid.</a:t>
            </a:r>
            <a:endParaRPr lang="en-US" sz="1600" dirty="0"/>
          </a:p>
        </p:txBody>
      </p:sp>
      <p:sp>
        <p:nvSpPr>
          <p:cNvPr id="11" name="chip-43"/>
          <p:cNvSpPr/>
          <p:nvPr/>
        </p:nvSpPr>
        <p:spPr>
          <a:xfrm>
            <a:off x="548640" y="4334256"/>
            <a:ext cx="384048" cy="384048"/>
          </a:xfrm>
          <a:prstGeom prst="ellipse">
            <a:avLst/>
          </a:prstGeom>
          <a:solidFill>
            <a:schemeClr val="tx1"/>
          </a:solid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2" name="block-44"/>
          <p:cNvSpPr txBox="1"/>
          <p:nvPr/>
        </p:nvSpPr>
        <p:spPr>
          <a:xfrm>
            <a:off x="1115568" y="4315968"/>
            <a:ext cx="6611112" cy="841248"/>
          </a:xfrm>
          <a:prstGeom prst="rect">
            <a:avLst/>
          </a:prstGeom>
          <a:noFill/>
          <a:ln/>
        </p:spPr>
        <p:txBody>
          <a:bodyPr wrap="square" lIns="0" tIns="0" rIns="0" bIns="0" rtlCol="0" anchor="t"/>
          <a:lstStyle/>
          <a:p>
            <a:pPr indent="0" marL="0">
              <a:spcAft>
                <a:spcPts val="400"/>
              </a:spcAft>
              <a:buNone/>
            </a:pPr>
            <a:r>
              <a:rPr lang="en-US" sz="1600" b="1" dirty="0">
                <a:solidFill>
                  <a:schemeClr val="tx1"/>
                </a:solidFill>
              </a:rPr>
              <a:t>Traces every answer to its source</a:t>
            </a:r>
            <a:endParaRPr lang="en-US" sz="1600" dirty="0"/>
          </a:p>
          <a:p>
            <a:pPr indent="0" marL="0">
              <a:spcAft>
                <a:spcPts val="200"/>
              </a:spcAft>
              <a:buNone/>
            </a:pPr>
            <a:r>
              <a:rPr lang="en-US" sz="1350" dirty="0">
                <a:solidFill>
                  <a:schemeClr val="tx2"/>
                </a:solidFill>
              </a:rPr>
              <a:t>Chunks carry page, boxes, file SHA-256 and model versions; answers cite [N], mapped to a chunk and its span.</a:t>
            </a:r>
            <a:endParaRPr lang="en-US" sz="1600" dirty="0"/>
          </a:p>
        </p:txBody>
      </p:sp>
      <p:sp>
        <p:nvSpPr>
          <p:cNvPr id="13" name="chip-45"/>
          <p:cNvSpPr/>
          <p:nvPr/>
        </p:nvSpPr>
        <p:spPr>
          <a:xfrm>
            <a:off x="548640" y="5230368"/>
            <a:ext cx="384048" cy="384048"/>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14" name="block-46"/>
          <p:cNvSpPr txBox="1"/>
          <p:nvPr/>
        </p:nvSpPr>
        <p:spPr>
          <a:xfrm>
            <a:off x="1115568" y="5212080"/>
            <a:ext cx="6611112" cy="841248"/>
          </a:xfrm>
          <a:prstGeom prst="rect">
            <a:avLst/>
          </a:prstGeom>
          <a:noFill/>
          <a:ln/>
        </p:spPr>
        <p:txBody>
          <a:bodyPr wrap="square" lIns="0" tIns="0" rIns="0" bIns="0" rtlCol="0" anchor="t"/>
          <a:lstStyle/>
          <a:p>
            <a:pPr indent="0" marL="0">
              <a:spcAft>
                <a:spcPts val="400"/>
              </a:spcAft>
              <a:buNone/>
            </a:pPr>
            <a:r>
              <a:rPr lang="en-US" sz="1600" b="1" dirty="0">
                <a:solidFill>
                  <a:schemeClr val="tx1"/>
                </a:solidFill>
              </a:rPr>
              <a:t>Ranks with hybrid search and an LLM reranker</a:t>
            </a:r>
            <a:endParaRPr lang="en-US" sz="1600" dirty="0"/>
          </a:p>
          <a:p>
            <a:pPr indent="0" marL="0">
              <a:spcAft>
                <a:spcPts val="200"/>
              </a:spcAft>
              <a:buNone/>
            </a:pPr>
            <a:r>
              <a:rPr lang="en-US" sz="1350" dirty="0">
                <a:solidFill>
                  <a:schemeClr val="tx2"/>
                </a:solidFill>
              </a:rPr>
              <a:t>Dense and full text are fused by RRF, reordered by a 70B model and answered with [N] citations.</a:t>
            </a:r>
            <a:endParaRPr lang="en-US" sz="1600" dirty="0"/>
          </a:p>
        </p:txBody>
      </p:sp>
      <p:sp>
        <p:nvSpPr>
          <p:cNvPr id="15" name="stat-panel-47"/>
          <p:cNvSpPr/>
          <p:nvPr/>
        </p:nvSpPr>
        <p:spPr>
          <a:xfrm>
            <a:off x="8092440" y="1627632"/>
            <a:ext cx="3550615" cy="4498848"/>
          </a:xfrm>
          <a:prstGeom prst="roundRect">
            <a:avLst>
              <a:gd name="adj" fmla="val 2060"/>
            </a:avLst>
          </a:prstGeom>
          <a:solidFill>
            <a:schemeClr val="tx1"/>
          </a:solidFill>
          <a:ln/>
        </p:spPr>
      </p:sp>
      <p:sp>
        <p:nvSpPr>
          <p:cNvPr id="16" name="link-48"/>
          <p:cNvSpPr/>
          <p:nvPr/>
        </p:nvSpPr>
        <p:spPr>
          <a:xfrm>
            <a:off x="8010144" y="1545336"/>
            <a:ext cx="219456" cy="0"/>
          </a:xfrm>
          <a:prstGeom prst="line">
            <a:avLst/>
          </a:prstGeom>
          <a:noFill/>
          <a:ln w="28575">
            <a:solidFill>
              <a:schemeClr val="accent3"/>
            </a:solidFill>
            <a:prstDash val="solid"/>
          </a:ln>
        </p:spPr>
      </p:sp>
      <p:sp>
        <p:nvSpPr>
          <p:cNvPr id="17" name="link-49"/>
          <p:cNvSpPr/>
          <p:nvPr/>
        </p:nvSpPr>
        <p:spPr>
          <a:xfrm>
            <a:off x="8010144" y="1545336"/>
            <a:ext cx="0" cy="219456"/>
          </a:xfrm>
          <a:prstGeom prst="line">
            <a:avLst/>
          </a:prstGeom>
          <a:noFill/>
          <a:ln w="28575">
            <a:solidFill>
              <a:schemeClr val="accent3"/>
            </a:solidFill>
            <a:prstDash val="solid"/>
          </a:ln>
        </p:spPr>
      </p:sp>
      <p:sp>
        <p:nvSpPr>
          <p:cNvPr id="18" name="link-50"/>
          <p:cNvSpPr/>
          <p:nvPr/>
        </p:nvSpPr>
        <p:spPr>
          <a:xfrm>
            <a:off x="11505895" y="1545336"/>
            <a:ext cx="219456" cy="0"/>
          </a:xfrm>
          <a:prstGeom prst="line">
            <a:avLst/>
          </a:prstGeom>
          <a:noFill/>
          <a:ln w="28575">
            <a:solidFill>
              <a:schemeClr val="accent3"/>
            </a:solidFill>
            <a:prstDash val="solid"/>
          </a:ln>
        </p:spPr>
      </p:sp>
      <p:sp>
        <p:nvSpPr>
          <p:cNvPr id="19" name="link-51"/>
          <p:cNvSpPr/>
          <p:nvPr/>
        </p:nvSpPr>
        <p:spPr>
          <a:xfrm>
            <a:off x="11725351" y="1545336"/>
            <a:ext cx="0" cy="219456"/>
          </a:xfrm>
          <a:prstGeom prst="line">
            <a:avLst/>
          </a:prstGeom>
          <a:noFill/>
          <a:ln w="28575">
            <a:solidFill>
              <a:schemeClr val="accent3"/>
            </a:solidFill>
            <a:prstDash val="solid"/>
          </a:ln>
        </p:spPr>
      </p:sp>
      <p:sp>
        <p:nvSpPr>
          <p:cNvPr id="20" name="link-52"/>
          <p:cNvSpPr/>
          <p:nvPr/>
        </p:nvSpPr>
        <p:spPr>
          <a:xfrm>
            <a:off x="8010144" y="6208776"/>
            <a:ext cx="219456" cy="0"/>
          </a:xfrm>
          <a:prstGeom prst="line">
            <a:avLst/>
          </a:prstGeom>
          <a:noFill/>
          <a:ln w="28575">
            <a:solidFill>
              <a:schemeClr val="accent3"/>
            </a:solidFill>
            <a:prstDash val="solid"/>
          </a:ln>
        </p:spPr>
      </p:sp>
      <p:sp>
        <p:nvSpPr>
          <p:cNvPr id="21" name="link-53"/>
          <p:cNvSpPr/>
          <p:nvPr/>
        </p:nvSpPr>
        <p:spPr>
          <a:xfrm>
            <a:off x="8010144" y="5989320"/>
            <a:ext cx="0" cy="219456"/>
          </a:xfrm>
          <a:prstGeom prst="line">
            <a:avLst/>
          </a:prstGeom>
          <a:noFill/>
          <a:ln w="28575">
            <a:solidFill>
              <a:schemeClr val="accent3"/>
            </a:solidFill>
            <a:prstDash val="solid"/>
          </a:ln>
        </p:spPr>
      </p:sp>
      <p:sp>
        <p:nvSpPr>
          <p:cNvPr id="22" name="link-54"/>
          <p:cNvSpPr/>
          <p:nvPr/>
        </p:nvSpPr>
        <p:spPr>
          <a:xfrm>
            <a:off x="11505895" y="6208776"/>
            <a:ext cx="219456" cy="0"/>
          </a:xfrm>
          <a:prstGeom prst="line">
            <a:avLst/>
          </a:prstGeom>
          <a:noFill/>
          <a:ln w="28575">
            <a:solidFill>
              <a:schemeClr val="accent3"/>
            </a:solidFill>
            <a:prstDash val="solid"/>
          </a:ln>
        </p:spPr>
      </p:sp>
      <p:sp>
        <p:nvSpPr>
          <p:cNvPr id="23" name="link-55"/>
          <p:cNvSpPr/>
          <p:nvPr/>
        </p:nvSpPr>
        <p:spPr>
          <a:xfrm>
            <a:off x="11725351" y="5989320"/>
            <a:ext cx="0" cy="219456"/>
          </a:xfrm>
          <a:prstGeom prst="line">
            <a:avLst/>
          </a:prstGeom>
          <a:noFill/>
          <a:ln w="28575">
            <a:solidFill>
              <a:schemeClr val="accent3"/>
            </a:solidFill>
            <a:prstDash val="solid"/>
          </a:ln>
        </p:spPr>
      </p:sp>
      <p:sp>
        <p:nvSpPr>
          <p:cNvPr id="24" name="stat-56"/>
          <p:cNvSpPr txBox="1"/>
          <p:nvPr/>
        </p:nvSpPr>
        <p:spPr>
          <a:xfrm>
            <a:off x="8412480" y="1828800"/>
            <a:ext cx="2910535" cy="987552"/>
          </a:xfrm>
          <a:prstGeom prst="rect">
            <a:avLst/>
          </a:prstGeom>
          <a:noFill/>
          <a:ln/>
        </p:spPr>
        <p:txBody>
          <a:bodyPr wrap="square" lIns="0" tIns="0" rIns="0" bIns="0" rtlCol="0" anchor="t"/>
          <a:lstStyle/>
          <a:p>
            <a:pPr algn="l" indent="0" marL="0">
              <a:buNone/>
            </a:pPr>
            <a:r>
              <a:rPr lang="en-US" sz="3200" b="1" dirty="0">
                <a:solidFill>
                  <a:schemeClr val="accent3"/>
                </a:solidFill>
                <a:latin typeface="Cambria" pitchFamily="34" charset="0"/>
                <a:ea typeface="Cambria" pitchFamily="34" charset="-122"/>
                <a:cs typeface="Cambria" pitchFamily="34" charset="-120"/>
              </a:rPr>
              <a:t>6</a:t>
            </a:r>
            <a:endParaRPr lang="en-US" sz="3200" dirty="0"/>
          </a:p>
          <a:p>
            <a:pPr algn="l" indent="0" marL="0">
              <a:buNone/>
            </a:pPr>
            <a:r>
              <a:rPr lang="en-US" sz="1300" dirty="0">
                <a:solidFill>
                  <a:schemeClr val="accent5"/>
                </a:solidFill>
              </a:rPr>
              <a:t>chunk qualities, each pinned by tests</a:t>
            </a:r>
            <a:endParaRPr lang="en-US" sz="3200" dirty="0"/>
          </a:p>
        </p:txBody>
      </p:sp>
      <p:sp>
        <p:nvSpPr>
          <p:cNvPr id="25" name="stat-57"/>
          <p:cNvSpPr txBox="1"/>
          <p:nvPr/>
        </p:nvSpPr>
        <p:spPr>
          <a:xfrm>
            <a:off x="8412480" y="2862072"/>
            <a:ext cx="2910535" cy="987552"/>
          </a:xfrm>
          <a:prstGeom prst="rect">
            <a:avLst/>
          </a:prstGeom>
          <a:noFill/>
          <a:ln/>
        </p:spPr>
        <p:txBody>
          <a:bodyPr wrap="square" lIns="0" tIns="0" rIns="0" bIns="0" rtlCol="0" anchor="t"/>
          <a:lstStyle/>
          <a:p>
            <a:pPr algn="l" indent="0" marL="0">
              <a:buNone/>
            </a:pPr>
            <a:r>
              <a:rPr lang="en-US" sz="3200" b="1" dirty="0">
                <a:solidFill>
                  <a:schemeClr val="bg1"/>
                </a:solidFill>
                <a:latin typeface="Cambria" pitchFamily="34" charset="0"/>
                <a:ea typeface="Cambria" pitchFamily="34" charset="-122"/>
                <a:cs typeface="Cambria" pitchFamily="34" charset="-120"/>
              </a:rPr>
              <a:t>1024-D</a:t>
            </a:r>
            <a:endParaRPr lang="en-US" sz="3200" dirty="0"/>
          </a:p>
          <a:p>
            <a:pPr algn="l" indent="0" marL="0">
              <a:buNone/>
            </a:pPr>
            <a:r>
              <a:rPr lang="en-US" sz="1300" dirty="0">
                <a:solidFill>
                  <a:schemeClr val="accent5"/>
                </a:solidFill>
              </a:rPr>
              <a:t>one embedding space for every service</a:t>
            </a:r>
            <a:endParaRPr lang="en-US" sz="3200" dirty="0"/>
          </a:p>
        </p:txBody>
      </p:sp>
      <p:sp>
        <p:nvSpPr>
          <p:cNvPr id="26" name="stat-58"/>
          <p:cNvSpPr txBox="1"/>
          <p:nvPr/>
        </p:nvSpPr>
        <p:spPr>
          <a:xfrm>
            <a:off x="8412480" y="3895344"/>
            <a:ext cx="2910535" cy="987552"/>
          </a:xfrm>
          <a:prstGeom prst="rect">
            <a:avLst/>
          </a:prstGeom>
          <a:noFill/>
          <a:ln/>
        </p:spPr>
        <p:txBody>
          <a:bodyPr wrap="square" lIns="0" tIns="0" rIns="0" bIns="0" rtlCol="0" anchor="t"/>
          <a:lstStyle/>
          <a:p>
            <a:pPr algn="l" indent="0" marL="0">
              <a:buNone/>
            </a:pPr>
            <a:r>
              <a:rPr lang="en-US" sz="3200" b="1" dirty="0">
                <a:solidFill>
                  <a:schemeClr val="bg1"/>
                </a:solidFill>
                <a:latin typeface="Cambria" pitchFamily="34" charset="0"/>
                <a:ea typeface="Cambria" pitchFamily="34" charset="-122"/>
                <a:cs typeface="Cambria" pitchFamily="34" charset="-120"/>
              </a:rPr>
              <a:t>419</a:t>
            </a:r>
            <a:endParaRPr lang="en-US" sz="3200" dirty="0"/>
          </a:p>
          <a:p>
            <a:pPr algn="l" indent="0" marL="0">
              <a:buNone/>
            </a:pPr>
            <a:r>
              <a:rPr lang="en-US" sz="1300" dirty="0">
                <a:solidFill>
                  <a:schemeClr val="accent5"/>
                </a:solidFill>
              </a:rPr>
              <a:t>DES tests, fully offline, in 6.5 seconds</a:t>
            </a:r>
            <a:endParaRPr lang="en-US" sz="3200" dirty="0"/>
          </a:p>
        </p:txBody>
      </p:sp>
      <p:sp>
        <p:nvSpPr>
          <p:cNvPr id="27" name="stat-59"/>
          <p:cNvSpPr txBox="1"/>
          <p:nvPr/>
        </p:nvSpPr>
        <p:spPr>
          <a:xfrm>
            <a:off x="8412480" y="4928616"/>
            <a:ext cx="2910535" cy="987552"/>
          </a:xfrm>
          <a:prstGeom prst="rect">
            <a:avLst/>
          </a:prstGeom>
          <a:noFill/>
          <a:ln/>
        </p:spPr>
        <p:txBody>
          <a:bodyPr wrap="square" lIns="0" tIns="0" rIns="0" bIns="0" rtlCol="0" anchor="t"/>
          <a:lstStyle/>
          <a:p>
            <a:pPr algn="l" indent="0" marL="0">
              <a:buNone/>
            </a:pPr>
            <a:r>
              <a:rPr lang="en-US" sz="3200" b="1" dirty="0">
                <a:solidFill>
                  <a:schemeClr val="bg1"/>
                </a:solidFill>
                <a:latin typeface="Cambria" pitchFamily="34" charset="0"/>
                <a:ea typeface="Cambria" pitchFamily="34" charset="-122"/>
                <a:cs typeface="Cambria" pitchFamily="34" charset="-120"/>
              </a:rPr>
              <a:t>10</a:t>
            </a:r>
            <a:endParaRPr lang="en-US" sz="3200" dirty="0"/>
          </a:p>
          <a:p>
            <a:pPr algn="l" indent="0" marL="0">
              <a:buNone/>
            </a:pPr>
            <a:r>
              <a:rPr lang="en-US" sz="1300" dirty="0">
                <a:solidFill>
                  <a:schemeClr val="accent5"/>
                </a:solidFill>
              </a:rPr>
              <a:t>retrieval stages, seven switchable</a:t>
            </a:r>
            <a:endParaRPr lang="en-US" sz="3200" dirty="0"/>
          </a:p>
        </p:txBody>
      </p:sp>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10896"/>
            <a:ext cx="8229600" cy="274320"/>
          </a:xfrm>
          <a:prstGeom prst="rect">
            <a:avLst/>
          </a:prstGeom>
          <a:noFill/>
          <a:ln/>
        </p:spPr>
        <p:txBody>
          <a:bodyPr wrap="square" lIns="0" tIns="0" rIns="0" bIns="0" rtlCol="0" anchor="ctr"/>
          <a:lstStyle/>
          <a:p>
            <a:pPr algn="l" indent="0" marL="0">
              <a:buNone/>
            </a:pPr>
            <a:r>
              <a:rPr lang="en-US" sz="1200" b="1" spc="150" kern="0" dirty="0">
                <a:solidFill>
                  <a:schemeClr val="accent1"/>
                </a:solidFill>
              </a:rPr>
              <a:t>THE PROBLEM</a:t>
            </a:r>
            <a:endParaRPr lang="en-US" sz="1200" dirty="0"/>
          </a:p>
        </p:txBody>
      </p:sp>
      <p:sp>
        <p:nvSpPr>
          <p:cNvPr id="3" name="Text 0"/>
          <p:cNvSpPr/>
          <p:nvPr>
            <p:ph idx="101" type="title" hasCustomPrompt="1"/>
          </p:nvPr>
        </p:nvSpPr>
        <p:spPr>
          <a:xfrm>
            <a:off x="548640" y="603504"/>
            <a:ext cx="11094415" cy="868680"/>
          </a:xfrm>
          <a:prstGeom prst="rect">
            <a:avLst/>
          </a:prstGeom>
          <a:noFill/>
          <a:ln/>
        </p:spPr>
        <p:txBody>
          <a:bodyPr wrap="square" lIns="0" tIns="0" rIns="0" bIns="0" rtlCol="0" anchor="t"/>
          <a:lstStyle/>
          <a:p>
            <a:pPr algn="l" indent="0" marL="0">
              <a:buNone/>
            </a:pPr>
            <a:r>
              <a:rPr lang="en-US" sz="2800" b="1" dirty="0">
                <a:solidFill>
                  <a:schemeClr val="tx1"/>
                </a:solidFill>
              </a:rPr>
              <a:t>Generic RAG breaks on real enterprise documents</a:t>
            </a:r>
            <a:endParaRPr lang="en-US" sz="2800" dirty="0"/>
          </a:p>
        </p:txBody>
      </p:sp>
      <p:sp>
        <p:nvSpPr>
          <p:cNvPr id="5" name="card-60"/>
          <p:cNvSpPr/>
          <p:nvPr/>
        </p:nvSpPr>
        <p:spPr>
          <a:xfrm>
            <a:off x="548640" y="1645920"/>
            <a:ext cx="3515258" cy="2103120"/>
          </a:xfrm>
          <a:prstGeom prst="roundRect">
            <a:avLst>
              <a:gd name="adj" fmla="val 3478"/>
            </a:avLst>
          </a:prstGeom>
          <a:solidFill>
            <a:schemeClr val="bg1"/>
          </a:solidFill>
          <a:ln w="9525">
            <a:solidFill>
              <a:schemeClr val="accent6"/>
            </a:solidFill>
            <a:prstDash val="solid"/>
          </a:ln>
        </p:spPr>
      </p:sp>
      <p:sp>
        <p:nvSpPr>
          <p:cNvPr id="6" name="badge-61"/>
          <p:cNvSpPr/>
          <p:nvPr/>
        </p:nvSpPr>
        <p:spPr>
          <a:xfrm>
            <a:off x="749808" y="1847088"/>
            <a:ext cx="475488" cy="475488"/>
          </a:xfrm>
          <a:prstGeom prst="ellipse">
            <a:avLst/>
          </a:prstGeom>
          <a:solidFill>
            <a:schemeClr val="tx1"/>
          </a:solidFill>
          <a:ln/>
        </p:spPr>
      </p:sp>
      <p:pic>
        <p:nvPicPr>
          <p:cNvPr id="7" name="icon-TbLayoutColumns-62" descr="LayoutColumns">    </p:cNvPr>
          <p:cNvPicPr>
            <a:picLocks noChangeAspect="1"/>
          </p:cNvPicPr>
          <p:nvPr/>
        </p:nvPicPr>
        <p:blipFill>
          <a:blip r:embed="rId1"/>
          <a:stretch>
            <a:fillRect/>
          </a:stretch>
        </p:blipFill>
        <p:spPr>
          <a:xfrm>
            <a:off x="854415" y="1951695"/>
            <a:ext cx="266273" cy="266273"/>
          </a:xfrm>
          <a:prstGeom prst="rect">
            <a:avLst/>
          </a:prstGeom>
        </p:spPr>
      </p:pic>
      <p:sp>
        <p:nvSpPr>
          <p:cNvPr id="8" name="block-63"/>
          <p:cNvSpPr txBox="1"/>
          <p:nvPr/>
        </p:nvSpPr>
        <p:spPr>
          <a:xfrm>
            <a:off x="1389888" y="1828800"/>
            <a:ext cx="2472842" cy="1810512"/>
          </a:xfrm>
          <a:prstGeom prst="rect">
            <a:avLst/>
          </a:prstGeom>
          <a:noFill/>
          <a:ln/>
        </p:spPr>
        <p:txBody>
          <a:bodyPr wrap="square" lIns="0" tIns="0" rIns="0" bIns="0" rtlCol="0" anchor="t"/>
          <a:lstStyle/>
          <a:p>
            <a:pPr indent="0" marL="0">
              <a:spcAft>
                <a:spcPts val="400"/>
              </a:spcAft>
              <a:buNone/>
            </a:pPr>
            <a:r>
              <a:rPr lang="en-US" sz="1600" b="1" dirty="0">
                <a:solidFill>
                  <a:schemeClr val="tx1"/>
                </a:solidFill>
              </a:rPr>
              <a:t>Reading order scrambles</a:t>
            </a:r>
            <a:endParaRPr lang="en-US" sz="1600" dirty="0"/>
          </a:p>
          <a:p>
            <a:pPr indent="0" marL="0">
              <a:spcAft>
                <a:spcPts val="200"/>
              </a:spcAft>
              <a:buNone/>
            </a:pPr>
            <a:r>
              <a:rPr lang="en-US" sz="1350" dirty="0">
                <a:solidFill>
                  <a:schemeClr val="tx2"/>
                </a:solidFill>
              </a:rPr>
              <a:t>Columns, sidebars and tables interleave; line-by-line OCR text loses the order a reader follows.</a:t>
            </a:r>
            <a:endParaRPr lang="en-US" sz="1600" dirty="0"/>
          </a:p>
        </p:txBody>
      </p:sp>
      <p:sp>
        <p:nvSpPr>
          <p:cNvPr id="9" name="card-64"/>
          <p:cNvSpPr/>
          <p:nvPr/>
        </p:nvSpPr>
        <p:spPr>
          <a:xfrm>
            <a:off x="4338218" y="1645920"/>
            <a:ext cx="3515258" cy="2103120"/>
          </a:xfrm>
          <a:prstGeom prst="roundRect">
            <a:avLst>
              <a:gd name="adj" fmla="val 3478"/>
            </a:avLst>
          </a:prstGeom>
          <a:solidFill>
            <a:schemeClr val="bg1"/>
          </a:solidFill>
          <a:ln w="9525">
            <a:solidFill>
              <a:schemeClr val="accent6"/>
            </a:solidFill>
            <a:prstDash val="solid"/>
          </a:ln>
        </p:spPr>
      </p:sp>
      <p:sp>
        <p:nvSpPr>
          <p:cNvPr id="10" name="badge-65"/>
          <p:cNvSpPr/>
          <p:nvPr/>
        </p:nvSpPr>
        <p:spPr>
          <a:xfrm>
            <a:off x="4539386" y="1847088"/>
            <a:ext cx="475488" cy="475488"/>
          </a:xfrm>
          <a:prstGeom prst="ellipse">
            <a:avLst/>
          </a:prstGeom>
          <a:solidFill>
            <a:schemeClr val="tx1"/>
          </a:solidFill>
          <a:ln/>
        </p:spPr>
      </p:sp>
      <p:pic>
        <p:nvPicPr>
          <p:cNvPr id="11" name="icon-TbTable-66" descr="Table">    </p:cNvPr>
          <p:cNvPicPr>
            <a:picLocks noChangeAspect="1"/>
          </p:cNvPicPr>
          <p:nvPr/>
        </p:nvPicPr>
        <p:blipFill>
          <a:blip r:embed="rId2"/>
          <a:stretch>
            <a:fillRect/>
          </a:stretch>
        </p:blipFill>
        <p:spPr>
          <a:xfrm>
            <a:off x="4643994" y="1951695"/>
            <a:ext cx="266273" cy="266273"/>
          </a:xfrm>
          <a:prstGeom prst="rect">
            <a:avLst/>
          </a:prstGeom>
        </p:spPr>
      </p:pic>
      <p:sp>
        <p:nvSpPr>
          <p:cNvPr id="12" name="block-67"/>
          <p:cNvSpPr txBox="1"/>
          <p:nvPr/>
        </p:nvSpPr>
        <p:spPr>
          <a:xfrm>
            <a:off x="5179466" y="1828800"/>
            <a:ext cx="2472842" cy="1810512"/>
          </a:xfrm>
          <a:prstGeom prst="rect">
            <a:avLst/>
          </a:prstGeom>
          <a:noFill/>
          <a:ln/>
        </p:spPr>
        <p:txBody>
          <a:bodyPr wrap="square" lIns="0" tIns="0" rIns="0" bIns="0" rtlCol="0" anchor="t"/>
          <a:lstStyle/>
          <a:p>
            <a:pPr indent="0" marL="0">
              <a:spcAft>
                <a:spcPts val="400"/>
              </a:spcAft>
              <a:buNone/>
            </a:pPr>
            <a:r>
              <a:rPr lang="en-US" sz="1600" b="1" dirty="0">
                <a:solidFill>
                  <a:schemeClr val="tx1"/>
                </a:solidFill>
              </a:rPr>
              <a:t>Tables turn into word soup</a:t>
            </a:r>
            <a:endParaRPr lang="en-US" sz="1600" dirty="0"/>
          </a:p>
          <a:p>
            <a:pPr indent="0" marL="0">
              <a:spcAft>
                <a:spcPts val="200"/>
              </a:spcAft>
              <a:buNone/>
            </a:pPr>
            <a:r>
              <a:rPr lang="en-US" sz="1350" dirty="0">
                <a:solidFill>
                  <a:schemeClr val="tx2"/>
                </a:solidFill>
              </a:rPr>
              <a:t>Cells, merged headers and units lose their grid, and a split table loses its header row.</a:t>
            </a:r>
            <a:endParaRPr lang="en-US" sz="1600" dirty="0"/>
          </a:p>
        </p:txBody>
      </p:sp>
      <p:sp>
        <p:nvSpPr>
          <p:cNvPr id="13" name="card-68"/>
          <p:cNvSpPr/>
          <p:nvPr/>
        </p:nvSpPr>
        <p:spPr>
          <a:xfrm>
            <a:off x="8127797" y="1645920"/>
            <a:ext cx="3515258" cy="2103120"/>
          </a:xfrm>
          <a:prstGeom prst="roundRect">
            <a:avLst>
              <a:gd name="adj" fmla="val 3478"/>
            </a:avLst>
          </a:prstGeom>
          <a:solidFill>
            <a:schemeClr val="bg1"/>
          </a:solidFill>
          <a:ln w="9525">
            <a:solidFill>
              <a:schemeClr val="accent6"/>
            </a:solidFill>
            <a:prstDash val="solid"/>
          </a:ln>
        </p:spPr>
      </p:sp>
      <p:sp>
        <p:nvSpPr>
          <p:cNvPr id="14" name="badge-69"/>
          <p:cNvSpPr/>
          <p:nvPr/>
        </p:nvSpPr>
        <p:spPr>
          <a:xfrm>
            <a:off x="8328965" y="1847088"/>
            <a:ext cx="475488" cy="475488"/>
          </a:xfrm>
          <a:prstGeom prst="ellipse">
            <a:avLst/>
          </a:prstGeom>
          <a:solidFill>
            <a:schemeClr val="tx1"/>
          </a:solidFill>
          <a:ln/>
        </p:spPr>
      </p:sp>
      <p:pic>
        <p:nvPicPr>
          <p:cNvPr id="15" name="icon-TbCheckbox-70" descr="Checkbox">    </p:cNvPr>
          <p:cNvPicPr>
            <a:picLocks noChangeAspect="1"/>
          </p:cNvPicPr>
          <p:nvPr/>
        </p:nvPicPr>
        <p:blipFill>
          <a:blip r:embed="rId3"/>
          <a:stretch>
            <a:fillRect/>
          </a:stretch>
        </p:blipFill>
        <p:spPr>
          <a:xfrm>
            <a:off x="8433572" y="1951695"/>
            <a:ext cx="266273" cy="266273"/>
          </a:xfrm>
          <a:prstGeom prst="rect">
            <a:avLst/>
          </a:prstGeom>
        </p:spPr>
      </p:pic>
      <p:sp>
        <p:nvSpPr>
          <p:cNvPr id="16" name="block-71"/>
          <p:cNvSpPr txBox="1"/>
          <p:nvPr/>
        </p:nvSpPr>
        <p:spPr>
          <a:xfrm>
            <a:off x="8969045" y="1828800"/>
            <a:ext cx="2472842" cy="1810512"/>
          </a:xfrm>
          <a:prstGeom prst="rect">
            <a:avLst/>
          </a:prstGeom>
          <a:noFill/>
          <a:ln/>
        </p:spPr>
        <p:txBody>
          <a:bodyPr wrap="square" lIns="0" tIns="0" rIns="0" bIns="0" rtlCol="0" anchor="t"/>
          <a:lstStyle/>
          <a:p>
            <a:pPr indent="0" marL="0">
              <a:spcAft>
                <a:spcPts val="400"/>
              </a:spcAft>
              <a:buNone/>
            </a:pPr>
            <a:r>
              <a:rPr lang="en-US" sz="1600" b="1" dirty="0">
                <a:solidFill>
                  <a:schemeClr val="tx1"/>
                </a:solidFill>
              </a:rPr>
              <a:t>Checkboxes disappear</a:t>
            </a:r>
            <a:endParaRPr lang="en-US" sz="1600" dirty="0"/>
          </a:p>
          <a:p>
            <a:pPr indent="0" marL="0">
              <a:spcAft>
                <a:spcPts val="200"/>
              </a:spcAft>
              <a:buNone/>
            </a:pPr>
            <a:r>
              <a:rPr lang="en-US" sz="1350" dirty="0">
                <a:solidFill>
                  <a:schemeClr val="tx2"/>
                </a:solidFill>
              </a:rPr>
              <a:t>Read-style OCR drops selection marks; on a W-9 or CIP form the ticked box is often the answer.</a:t>
            </a:r>
            <a:endParaRPr lang="en-US" sz="1600" dirty="0"/>
          </a:p>
        </p:txBody>
      </p:sp>
      <p:sp>
        <p:nvSpPr>
          <p:cNvPr id="17" name="card-72"/>
          <p:cNvSpPr/>
          <p:nvPr/>
        </p:nvSpPr>
        <p:spPr>
          <a:xfrm>
            <a:off x="548640" y="4005072"/>
            <a:ext cx="3515258" cy="2103120"/>
          </a:xfrm>
          <a:prstGeom prst="roundRect">
            <a:avLst>
              <a:gd name="adj" fmla="val 3478"/>
            </a:avLst>
          </a:prstGeom>
          <a:solidFill>
            <a:schemeClr val="bg1"/>
          </a:solidFill>
          <a:ln w="9525">
            <a:solidFill>
              <a:schemeClr val="accent6"/>
            </a:solidFill>
            <a:prstDash val="solid"/>
          </a:ln>
        </p:spPr>
      </p:sp>
      <p:sp>
        <p:nvSpPr>
          <p:cNvPr id="18" name="badge-73"/>
          <p:cNvSpPr/>
          <p:nvPr/>
        </p:nvSpPr>
        <p:spPr>
          <a:xfrm>
            <a:off x="749808" y="4206240"/>
            <a:ext cx="475488" cy="475488"/>
          </a:xfrm>
          <a:prstGeom prst="ellipse">
            <a:avLst/>
          </a:prstGeom>
          <a:solidFill>
            <a:schemeClr val="tx1"/>
          </a:solidFill>
          <a:ln/>
        </p:spPr>
      </p:sp>
      <p:pic>
        <p:nvPicPr>
          <p:cNvPr id="19" name="icon-TbFileText-74" descr="FileText">    </p:cNvPr>
          <p:cNvPicPr>
            <a:picLocks noChangeAspect="1"/>
          </p:cNvPicPr>
          <p:nvPr/>
        </p:nvPicPr>
        <p:blipFill>
          <a:blip r:embed="rId4"/>
          <a:stretch>
            <a:fillRect/>
          </a:stretch>
        </p:blipFill>
        <p:spPr>
          <a:xfrm>
            <a:off x="854415" y="4310847"/>
            <a:ext cx="266273" cy="266273"/>
          </a:xfrm>
          <a:prstGeom prst="rect">
            <a:avLst/>
          </a:prstGeom>
        </p:spPr>
      </p:pic>
      <p:sp>
        <p:nvSpPr>
          <p:cNvPr id="20" name="block-75"/>
          <p:cNvSpPr txBox="1"/>
          <p:nvPr/>
        </p:nvSpPr>
        <p:spPr>
          <a:xfrm>
            <a:off x="1389888" y="4187952"/>
            <a:ext cx="2472842" cy="1810512"/>
          </a:xfrm>
          <a:prstGeom prst="rect">
            <a:avLst/>
          </a:prstGeom>
          <a:noFill/>
          <a:ln/>
        </p:spPr>
        <p:txBody>
          <a:bodyPr wrap="square" lIns="0" tIns="0" rIns="0" bIns="0" rtlCol="0" anchor="t"/>
          <a:lstStyle/>
          <a:p>
            <a:pPr indent="0" marL="0">
              <a:spcAft>
                <a:spcPts val="400"/>
              </a:spcAft>
              <a:buNone/>
            </a:pPr>
            <a:r>
              <a:rPr lang="en-US" sz="1600" b="1" dirty="0">
                <a:solidFill>
                  <a:schemeClr val="tx1"/>
                </a:solidFill>
              </a:rPr>
              <a:t>Page furniture adds noise</a:t>
            </a:r>
            <a:endParaRPr lang="en-US" sz="1600" dirty="0"/>
          </a:p>
          <a:p>
            <a:pPr indent="0" marL="0">
              <a:spcAft>
                <a:spcPts val="200"/>
              </a:spcAft>
              <a:buNone/>
            </a:pPr>
            <a:r>
              <a:rPr lang="en-US" sz="1350" dirty="0">
                <a:solidFill>
                  <a:schemeClr val="tx2"/>
                </a:solidFill>
              </a:rPr>
              <a:t>Running headers, footers and page numbers repeat on every page and dilute every embedding.</a:t>
            </a:r>
            <a:endParaRPr lang="en-US" sz="1600" dirty="0"/>
          </a:p>
        </p:txBody>
      </p:sp>
      <p:sp>
        <p:nvSpPr>
          <p:cNvPr id="21" name="card-76"/>
          <p:cNvSpPr/>
          <p:nvPr/>
        </p:nvSpPr>
        <p:spPr>
          <a:xfrm>
            <a:off x="4338218" y="4005072"/>
            <a:ext cx="3515258" cy="2103120"/>
          </a:xfrm>
          <a:prstGeom prst="roundRect">
            <a:avLst>
              <a:gd name="adj" fmla="val 3478"/>
            </a:avLst>
          </a:prstGeom>
          <a:solidFill>
            <a:schemeClr val="bg1"/>
          </a:solidFill>
          <a:ln w="9525">
            <a:solidFill>
              <a:schemeClr val="accent6"/>
            </a:solidFill>
            <a:prstDash val="solid"/>
          </a:ln>
        </p:spPr>
      </p:sp>
      <p:sp>
        <p:nvSpPr>
          <p:cNvPr id="22" name="badge-77"/>
          <p:cNvSpPr/>
          <p:nvPr/>
        </p:nvSpPr>
        <p:spPr>
          <a:xfrm>
            <a:off x="4539386" y="4206240"/>
            <a:ext cx="475488" cy="475488"/>
          </a:xfrm>
          <a:prstGeom prst="ellipse">
            <a:avLst/>
          </a:prstGeom>
          <a:solidFill>
            <a:schemeClr val="tx1"/>
          </a:solidFill>
          <a:ln/>
        </p:spPr>
      </p:sp>
      <p:pic>
        <p:nvPicPr>
          <p:cNvPr id="23" name="icon-TbShieldLock-78" descr="ShieldLock">    </p:cNvPr>
          <p:cNvPicPr>
            <a:picLocks noChangeAspect="1"/>
          </p:cNvPicPr>
          <p:nvPr/>
        </p:nvPicPr>
        <p:blipFill>
          <a:blip r:embed="rId5"/>
          <a:stretch>
            <a:fillRect/>
          </a:stretch>
        </p:blipFill>
        <p:spPr>
          <a:xfrm>
            <a:off x="4643994" y="4310847"/>
            <a:ext cx="266273" cy="266273"/>
          </a:xfrm>
          <a:prstGeom prst="rect">
            <a:avLst/>
          </a:prstGeom>
        </p:spPr>
      </p:pic>
      <p:sp>
        <p:nvSpPr>
          <p:cNvPr id="24" name="block-79"/>
          <p:cNvSpPr txBox="1"/>
          <p:nvPr/>
        </p:nvSpPr>
        <p:spPr>
          <a:xfrm>
            <a:off x="5179466" y="4187952"/>
            <a:ext cx="2472842" cy="1810512"/>
          </a:xfrm>
          <a:prstGeom prst="rect">
            <a:avLst/>
          </a:prstGeom>
          <a:noFill/>
          <a:ln/>
        </p:spPr>
        <p:txBody>
          <a:bodyPr wrap="square" lIns="0" tIns="0" rIns="0" bIns="0" rtlCol="0" anchor="t"/>
          <a:lstStyle/>
          <a:p>
            <a:pPr indent="0" marL="0">
              <a:spcAft>
                <a:spcPts val="400"/>
              </a:spcAft>
              <a:buNone/>
            </a:pPr>
            <a:r>
              <a:rPr lang="en-US" sz="1600" b="1" dirty="0">
                <a:solidFill>
                  <a:schemeClr val="tx1"/>
                </a:solidFill>
              </a:rPr>
              <a:t>PII leaks into the index</a:t>
            </a:r>
            <a:endParaRPr lang="en-US" sz="1600" dirty="0"/>
          </a:p>
          <a:p>
            <a:pPr indent="0" marL="0">
              <a:spcAft>
                <a:spcPts val="200"/>
              </a:spcAft>
              <a:buNone/>
            </a:pPr>
            <a:r>
              <a:rPr lang="en-US" sz="1350" dirty="0">
                <a:solidFill>
                  <a:schemeClr val="tx2"/>
                </a:solidFill>
              </a:rPr>
              <a:t>Names, emails and account numbers get embedded and become retrievable through search.</a:t>
            </a:r>
            <a:endParaRPr lang="en-US" sz="1600" dirty="0"/>
          </a:p>
        </p:txBody>
      </p:sp>
      <p:sp>
        <p:nvSpPr>
          <p:cNvPr id="25" name="card-80"/>
          <p:cNvSpPr/>
          <p:nvPr/>
        </p:nvSpPr>
        <p:spPr>
          <a:xfrm>
            <a:off x="8127797" y="4005072"/>
            <a:ext cx="3515258" cy="2103120"/>
          </a:xfrm>
          <a:prstGeom prst="roundRect">
            <a:avLst>
              <a:gd name="adj" fmla="val 3478"/>
            </a:avLst>
          </a:prstGeom>
          <a:solidFill>
            <a:schemeClr val="bg1"/>
          </a:solidFill>
          <a:ln w="9525">
            <a:solidFill>
              <a:schemeClr val="accent6"/>
            </a:solidFill>
            <a:prstDash val="solid"/>
          </a:ln>
        </p:spPr>
      </p:sp>
      <p:sp>
        <p:nvSpPr>
          <p:cNvPr id="26" name="badge-81"/>
          <p:cNvSpPr/>
          <p:nvPr/>
        </p:nvSpPr>
        <p:spPr>
          <a:xfrm>
            <a:off x="8328965" y="4206240"/>
            <a:ext cx="475488" cy="475488"/>
          </a:xfrm>
          <a:prstGeom prst="ellipse">
            <a:avLst/>
          </a:prstGeom>
          <a:solidFill>
            <a:schemeClr val="tx1"/>
          </a:solidFill>
          <a:ln/>
        </p:spPr>
      </p:sp>
      <p:pic>
        <p:nvPicPr>
          <p:cNvPr id="27" name="icon-TbFingerprint-82" descr="Fingerprint">    </p:cNvPr>
          <p:cNvPicPr>
            <a:picLocks noChangeAspect="1"/>
          </p:cNvPicPr>
          <p:nvPr/>
        </p:nvPicPr>
        <p:blipFill>
          <a:blip r:embed="rId6"/>
          <a:stretch>
            <a:fillRect/>
          </a:stretch>
        </p:blipFill>
        <p:spPr>
          <a:xfrm>
            <a:off x="8433572" y="4310847"/>
            <a:ext cx="266273" cy="266273"/>
          </a:xfrm>
          <a:prstGeom prst="rect">
            <a:avLst/>
          </a:prstGeom>
        </p:spPr>
      </p:pic>
      <p:sp>
        <p:nvSpPr>
          <p:cNvPr id="28" name="block-83"/>
          <p:cNvSpPr txBox="1"/>
          <p:nvPr/>
        </p:nvSpPr>
        <p:spPr>
          <a:xfrm>
            <a:off x="8969045" y="4187952"/>
            <a:ext cx="2472842" cy="1810512"/>
          </a:xfrm>
          <a:prstGeom prst="rect">
            <a:avLst/>
          </a:prstGeom>
          <a:noFill/>
          <a:ln/>
        </p:spPr>
        <p:txBody>
          <a:bodyPr wrap="square" lIns="0" tIns="0" rIns="0" bIns="0" rtlCol="0" anchor="t"/>
          <a:lstStyle/>
          <a:p>
            <a:pPr indent="0" marL="0">
              <a:spcAft>
                <a:spcPts val="400"/>
              </a:spcAft>
              <a:buNone/>
            </a:pPr>
            <a:r>
              <a:rPr lang="en-US" sz="1600" b="1" dirty="0">
                <a:solidFill>
                  <a:schemeClr val="tx1"/>
                </a:solidFill>
              </a:rPr>
              <a:t>Answers cannot be traced</a:t>
            </a:r>
            <a:endParaRPr lang="en-US" sz="1600" dirty="0"/>
          </a:p>
          <a:p>
            <a:pPr indent="0" marL="0">
              <a:spcAft>
                <a:spcPts val="200"/>
              </a:spcAft>
              <a:buNone/>
            </a:pPr>
            <a:r>
              <a:rPr lang="en-US" sz="1350" dirty="0">
                <a:solidFill>
                  <a:schemeClr val="tx2"/>
                </a:solidFill>
              </a:rPr>
              <a:t>Without page, box and model versions, an answer cannot be audited, reproduced or corrected.</a:t>
            </a:r>
            <a:endParaRPr lang="en-US" sz="1600" dirty="0"/>
          </a:p>
        </p:txBody>
      </p:sp>
      <p:sp>
        <p:nvSpPr>
          <p:cNvPr id="29" name="link-84"/>
          <p:cNvSpPr/>
          <p:nvPr/>
        </p:nvSpPr>
        <p:spPr>
          <a:xfrm>
            <a:off x="786384" y="3291840"/>
            <a:ext cx="3039770" cy="0"/>
          </a:xfrm>
          <a:prstGeom prst="line">
            <a:avLst/>
          </a:prstGeom>
          <a:noFill/>
          <a:ln w="9525">
            <a:solidFill>
              <a:schemeClr val="accent6"/>
            </a:solidFill>
            <a:prstDash val="solid"/>
          </a:ln>
        </p:spPr>
      </p:sp>
      <p:sp>
        <p:nvSpPr>
          <p:cNvPr id="30" name="text-85"/>
          <p:cNvSpPr txBox="1"/>
          <p:nvPr/>
        </p:nvSpPr>
        <p:spPr>
          <a:xfrm>
            <a:off x="786384" y="3346704"/>
            <a:ext cx="3039770" cy="292608"/>
          </a:xfrm>
          <a:prstGeom prst="rect">
            <a:avLst/>
          </a:prstGeom>
          <a:noFill/>
          <a:ln/>
        </p:spPr>
        <p:txBody>
          <a:bodyPr wrap="square" lIns="0" tIns="0" rIns="0" bIns="0" rtlCol="0" anchor="ctr"/>
          <a:lstStyle/>
          <a:p>
            <a:pPr indent="0" marL="0">
              <a:buNone/>
            </a:pPr>
            <a:r>
              <a:rPr lang="en-US" sz="1250" b="1" dirty="0">
                <a:solidFill>
                  <a:schemeClr val="accent1"/>
                </a:solidFill>
              </a:rPr>
              <a:t>→  Column-aware splicing</a:t>
            </a:r>
            <a:endParaRPr lang="en-US" sz="1250" dirty="0"/>
          </a:p>
        </p:txBody>
      </p:sp>
      <p:sp>
        <p:nvSpPr>
          <p:cNvPr id="31" name="link-86"/>
          <p:cNvSpPr/>
          <p:nvPr/>
        </p:nvSpPr>
        <p:spPr>
          <a:xfrm>
            <a:off x="4575962" y="3291840"/>
            <a:ext cx="3039770" cy="0"/>
          </a:xfrm>
          <a:prstGeom prst="line">
            <a:avLst/>
          </a:prstGeom>
          <a:noFill/>
          <a:ln w="9525">
            <a:solidFill>
              <a:schemeClr val="accent6"/>
            </a:solidFill>
            <a:prstDash val="solid"/>
          </a:ln>
        </p:spPr>
      </p:sp>
      <p:sp>
        <p:nvSpPr>
          <p:cNvPr id="32" name="text-87"/>
          <p:cNvSpPr txBox="1"/>
          <p:nvPr/>
        </p:nvSpPr>
        <p:spPr>
          <a:xfrm>
            <a:off x="4575962" y="3346704"/>
            <a:ext cx="3039770" cy="292608"/>
          </a:xfrm>
          <a:prstGeom prst="rect">
            <a:avLst/>
          </a:prstGeom>
          <a:noFill/>
          <a:ln/>
        </p:spPr>
        <p:txBody>
          <a:bodyPr wrap="square" lIns="0" tIns="0" rIns="0" bIns="0" rtlCol="0" anchor="ctr"/>
          <a:lstStyle/>
          <a:p>
            <a:pPr indent="0" marL="0">
              <a:buNone/>
            </a:pPr>
            <a:r>
              <a:rPr lang="en-US" sz="1250" b="1" dirty="0">
                <a:solidFill>
                  <a:schemeClr val="accent1"/>
                </a:solidFill>
              </a:rPr>
              <a:t>→  Markdown tables, header repeated</a:t>
            </a:r>
            <a:endParaRPr lang="en-US" sz="1250" dirty="0"/>
          </a:p>
        </p:txBody>
      </p:sp>
      <p:sp>
        <p:nvSpPr>
          <p:cNvPr id="33" name="link-88"/>
          <p:cNvSpPr/>
          <p:nvPr/>
        </p:nvSpPr>
        <p:spPr>
          <a:xfrm>
            <a:off x="8365541" y="3291840"/>
            <a:ext cx="3039770" cy="0"/>
          </a:xfrm>
          <a:prstGeom prst="line">
            <a:avLst/>
          </a:prstGeom>
          <a:noFill/>
          <a:ln w="9525">
            <a:solidFill>
              <a:schemeClr val="accent6"/>
            </a:solidFill>
            <a:prstDash val="solid"/>
          </a:ln>
        </p:spPr>
      </p:sp>
      <p:sp>
        <p:nvSpPr>
          <p:cNvPr id="34" name="text-89"/>
          <p:cNvSpPr txBox="1"/>
          <p:nvPr/>
        </p:nvSpPr>
        <p:spPr>
          <a:xfrm>
            <a:off x="8365541" y="3346704"/>
            <a:ext cx="3039770" cy="292608"/>
          </a:xfrm>
          <a:prstGeom prst="rect">
            <a:avLst/>
          </a:prstGeom>
          <a:noFill/>
          <a:ln/>
        </p:spPr>
        <p:txBody>
          <a:bodyPr wrap="square" lIns="0" tIns="0" rIns="0" bIns="0" rtlCol="0" anchor="ctr"/>
          <a:lstStyle/>
          <a:p>
            <a:pPr indent="0" marL="0">
              <a:buNone/>
            </a:pPr>
            <a:r>
              <a:rPr lang="en-US" sz="1250" b="1" dirty="0">
                <a:solidFill>
                  <a:schemeClr val="accent1"/>
                </a:solidFill>
              </a:rPr>
              <a:t>→  Checkbox states kept in the text</a:t>
            </a:r>
            <a:endParaRPr lang="en-US" sz="1250" dirty="0"/>
          </a:p>
        </p:txBody>
      </p:sp>
      <p:sp>
        <p:nvSpPr>
          <p:cNvPr id="35" name="link-90"/>
          <p:cNvSpPr/>
          <p:nvPr/>
        </p:nvSpPr>
        <p:spPr>
          <a:xfrm>
            <a:off x="786384" y="5650992"/>
            <a:ext cx="3039770" cy="0"/>
          </a:xfrm>
          <a:prstGeom prst="line">
            <a:avLst/>
          </a:prstGeom>
          <a:noFill/>
          <a:ln w="9525">
            <a:solidFill>
              <a:schemeClr val="accent6"/>
            </a:solidFill>
            <a:prstDash val="solid"/>
          </a:ln>
        </p:spPr>
      </p:sp>
      <p:sp>
        <p:nvSpPr>
          <p:cNvPr id="36" name="text-91"/>
          <p:cNvSpPr txBox="1"/>
          <p:nvPr/>
        </p:nvSpPr>
        <p:spPr>
          <a:xfrm>
            <a:off x="786384" y="5705856"/>
            <a:ext cx="3039770" cy="292608"/>
          </a:xfrm>
          <a:prstGeom prst="rect">
            <a:avLst/>
          </a:prstGeom>
          <a:noFill/>
          <a:ln/>
        </p:spPr>
        <p:txBody>
          <a:bodyPr wrap="square" lIns="0" tIns="0" rIns="0" bIns="0" rtlCol="0" anchor="ctr"/>
          <a:lstStyle/>
          <a:p>
            <a:pPr indent="0" marL="0">
              <a:buNone/>
            </a:pPr>
            <a:r>
              <a:rPr lang="en-US" sz="1250" b="1" dirty="0">
                <a:solidFill>
                  <a:schemeClr val="accent1"/>
                </a:solidFill>
              </a:rPr>
              <a:t>→  Furniture dropped and counted</a:t>
            </a:r>
            <a:endParaRPr lang="en-US" sz="1250" dirty="0"/>
          </a:p>
        </p:txBody>
      </p:sp>
      <p:sp>
        <p:nvSpPr>
          <p:cNvPr id="37" name="link-92"/>
          <p:cNvSpPr/>
          <p:nvPr/>
        </p:nvSpPr>
        <p:spPr>
          <a:xfrm>
            <a:off x="4575962" y="5650992"/>
            <a:ext cx="3039770" cy="0"/>
          </a:xfrm>
          <a:prstGeom prst="line">
            <a:avLst/>
          </a:prstGeom>
          <a:noFill/>
          <a:ln w="9525">
            <a:solidFill>
              <a:schemeClr val="accent6"/>
            </a:solidFill>
            <a:prstDash val="solid"/>
          </a:ln>
        </p:spPr>
      </p:sp>
      <p:sp>
        <p:nvSpPr>
          <p:cNvPr id="38" name="text-93"/>
          <p:cNvSpPr txBox="1"/>
          <p:nvPr/>
        </p:nvSpPr>
        <p:spPr>
          <a:xfrm>
            <a:off x="4575962" y="5705856"/>
            <a:ext cx="3039770" cy="292608"/>
          </a:xfrm>
          <a:prstGeom prst="rect">
            <a:avLst/>
          </a:prstGeom>
          <a:noFill/>
          <a:ln/>
        </p:spPr>
        <p:txBody>
          <a:bodyPr wrap="square" lIns="0" tIns="0" rIns="0" bIns="0" rtlCol="0" anchor="ctr"/>
          <a:lstStyle/>
          <a:p>
            <a:pPr indent="0" marL="0">
              <a:buNone/>
            </a:pPr>
            <a:r>
              <a:rPr lang="en-US" sz="1250" b="1" dirty="0">
                <a:solidFill>
                  <a:schemeClr val="accent1"/>
                </a:solidFill>
              </a:rPr>
              <a:t>→  Presidio masking before chunking</a:t>
            </a:r>
            <a:endParaRPr lang="en-US" sz="1250" dirty="0"/>
          </a:p>
        </p:txBody>
      </p:sp>
      <p:sp>
        <p:nvSpPr>
          <p:cNvPr id="39" name="link-94"/>
          <p:cNvSpPr/>
          <p:nvPr/>
        </p:nvSpPr>
        <p:spPr>
          <a:xfrm>
            <a:off x="8365541" y="5650992"/>
            <a:ext cx="3039770" cy="0"/>
          </a:xfrm>
          <a:prstGeom prst="line">
            <a:avLst/>
          </a:prstGeom>
          <a:noFill/>
          <a:ln w="9525">
            <a:solidFill>
              <a:schemeClr val="accent6"/>
            </a:solidFill>
            <a:prstDash val="solid"/>
          </a:ln>
        </p:spPr>
      </p:sp>
      <p:sp>
        <p:nvSpPr>
          <p:cNvPr id="40" name="text-95"/>
          <p:cNvSpPr txBox="1"/>
          <p:nvPr/>
        </p:nvSpPr>
        <p:spPr>
          <a:xfrm>
            <a:off x="8365541" y="5705856"/>
            <a:ext cx="3039770" cy="292608"/>
          </a:xfrm>
          <a:prstGeom prst="rect">
            <a:avLst/>
          </a:prstGeom>
          <a:noFill/>
          <a:ln/>
        </p:spPr>
        <p:txBody>
          <a:bodyPr wrap="square" lIns="0" tIns="0" rIns="0" bIns="0" rtlCol="0" anchor="ctr"/>
          <a:lstStyle/>
          <a:p>
            <a:pPr indent="0" marL="0">
              <a:buNone/>
            </a:pPr>
            <a:r>
              <a:rPr lang="en-US" sz="1250" b="1" dirty="0">
                <a:solidFill>
                  <a:schemeClr val="accent1"/>
                </a:solidFill>
              </a:rPr>
              <a:t>→  Chunk lineage and [N] citations</a:t>
            </a:r>
            <a:endParaRPr lang="en-US" sz="1250" dirty="0"/>
          </a:p>
        </p:txBody>
      </p:sp>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10896"/>
            <a:ext cx="8229600" cy="274320"/>
          </a:xfrm>
          <a:prstGeom prst="rect">
            <a:avLst/>
          </a:prstGeom>
          <a:noFill/>
          <a:ln/>
        </p:spPr>
        <p:txBody>
          <a:bodyPr wrap="square" lIns="0" tIns="0" rIns="0" bIns="0" rtlCol="0" anchor="ctr"/>
          <a:lstStyle/>
          <a:p>
            <a:pPr algn="l" indent="0" marL="0">
              <a:buNone/>
            </a:pPr>
            <a:r>
              <a:rPr lang="en-US" sz="1200" b="1" spc="150" kern="0" dirty="0">
                <a:solidFill>
                  <a:schemeClr val="accent1"/>
                </a:solidFill>
              </a:rPr>
              <a:t>PLATFORM AT A GLANCE</a:t>
            </a:r>
            <a:endParaRPr lang="en-US" sz="1200" dirty="0"/>
          </a:p>
        </p:txBody>
      </p:sp>
      <p:sp>
        <p:nvSpPr>
          <p:cNvPr id="3" name="Text 0"/>
          <p:cNvSpPr/>
          <p:nvPr>
            <p:ph idx="101" type="title" hasCustomPrompt="1"/>
          </p:nvPr>
        </p:nvSpPr>
        <p:spPr>
          <a:xfrm>
            <a:off x="548640" y="603504"/>
            <a:ext cx="11094415" cy="868680"/>
          </a:xfrm>
          <a:prstGeom prst="rect">
            <a:avLst/>
          </a:prstGeom>
          <a:noFill/>
          <a:ln/>
        </p:spPr>
        <p:txBody>
          <a:bodyPr wrap="square" lIns="0" tIns="0" rIns="0" bIns="0" rtlCol="0" anchor="t"/>
          <a:lstStyle/>
          <a:p>
            <a:pPr algn="l" indent="0" marL="0">
              <a:buNone/>
            </a:pPr>
            <a:r>
              <a:rPr lang="en-US" sz="2800" b="1" dirty="0">
                <a:solidFill>
                  <a:schemeClr val="tx1"/>
                </a:solidFill>
              </a:rPr>
              <a:t>Two services, one contract: the shared pgvector store</a:t>
            </a:r>
            <a:endParaRPr lang="en-US" sz="2800" dirty="0"/>
          </a:p>
        </p:txBody>
      </p:sp>
      <p:sp>
        <p:nvSpPr>
          <p:cNvPr id="5" name="text-96"/>
          <p:cNvSpPr txBox="1"/>
          <p:nvPr/>
        </p:nvSpPr>
        <p:spPr>
          <a:xfrm>
            <a:off x="548640" y="1572768"/>
            <a:ext cx="6400800" cy="274320"/>
          </a:xfrm>
          <a:prstGeom prst="rect">
            <a:avLst/>
          </a:prstGeom>
          <a:noFill/>
          <a:ln/>
        </p:spPr>
        <p:txBody>
          <a:bodyPr wrap="square" lIns="0" tIns="0" rIns="0" bIns="0" rtlCol="0" anchor="ctr"/>
          <a:lstStyle/>
          <a:p>
            <a:pPr indent="0" marL="0">
              <a:buNone/>
            </a:pPr>
            <a:r>
              <a:rPr lang="en-US" sz="1300" b="1" dirty="0">
                <a:solidFill>
                  <a:schemeClr val="accent1"/>
                </a:solidFill>
              </a:rPr>
              <a:t>DES  ·  write path: ingest and enrich</a:t>
            </a:r>
            <a:endParaRPr lang="en-US" sz="1300" dirty="0"/>
          </a:p>
        </p:txBody>
      </p:sp>
      <p:sp>
        <p:nvSpPr>
          <p:cNvPr id="6" name="text-97"/>
          <p:cNvSpPr txBox="1"/>
          <p:nvPr/>
        </p:nvSpPr>
        <p:spPr>
          <a:xfrm>
            <a:off x="6766560" y="1572768"/>
            <a:ext cx="4876495" cy="274320"/>
          </a:xfrm>
          <a:prstGeom prst="rect">
            <a:avLst/>
          </a:prstGeom>
          <a:noFill/>
          <a:ln/>
        </p:spPr>
        <p:txBody>
          <a:bodyPr wrap="square" lIns="0" tIns="0" rIns="0" bIns="0" rtlCol="0" anchor="ctr"/>
          <a:lstStyle/>
          <a:p>
            <a:pPr algn="r" indent="0" marL="0">
              <a:buNone/>
            </a:pPr>
            <a:r>
              <a:rPr lang="en-US" sz="1100" dirty="0">
                <a:solidFill>
                  <a:schemeClr val="tx2"/>
                </a:solidFill>
              </a:rPr>
              <a:t>Console: OCR viewer · chunks · export · runs</a:t>
            </a:r>
            <a:endParaRPr lang="en-US" sz="1100" dirty="0"/>
          </a:p>
        </p:txBody>
      </p:sp>
      <p:sp>
        <p:nvSpPr>
          <p:cNvPr id="7" name="box-98"/>
          <p:cNvSpPr/>
          <p:nvPr/>
        </p:nvSpPr>
        <p:spPr>
          <a:xfrm>
            <a:off x="548640" y="1901952"/>
            <a:ext cx="1984797" cy="914400"/>
          </a:xfrm>
          <a:prstGeom prst="roundRect">
            <a:avLst>
              <a:gd name="adj" fmla="val 6000"/>
            </a:avLst>
          </a:prstGeom>
          <a:solidFill>
            <a:schemeClr val="bg2"/>
          </a:solidFill>
          <a:ln w="12700">
            <a:solidFill>
              <a:schemeClr val="accent1"/>
            </a:solidFill>
          </a:ln>
        </p:spPr>
        <p:txBody>
          <a:bodyPr wrap="square" lIns="101600" tIns="38100" rIns="101600" bIns="38100" rtlCol="0" anchor="ctr"/>
          <a:lstStyle/>
          <a:p>
            <a:pPr algn="ctr" indent="0" marL="0">
              <a:buNone/>
            </a:pPr>
            <a:r>
              <a:rPr lang="en-US" sz="1300" b="1" dirty="0">
                <a:solidFill>
                  <a:schemeClr val="tx1"/>
                </a:solidFill>
              </a:rPr>
              <a:t>Upload</a:t>
            </a:r>
            <a:endParaRPr lang="en-US" sz="1300" dirty="0"/>
          </a:p>
          <a:p>
            <a:pPr algn="ctr" indent="0" marL="0">
              <a:buNone/>
            </a:pPr>
            <a:r>
              <a:rPr lang="en-US" sz="1100" dirty="0">
                <a:solidFill>
                  <a:schemeClr val="tx2"/>
                </a:solidFill>
              </a:rPr>
              <a:t>durable before 202: Postgres row + bytes, optional S3</a:t>
            </a:r>
            <a:endParaRPr lang="en-US" sz="1300" dirty="0"/>
          </a:p>
        </p:txBody>
      </p:sp>
      <p:sp>
        <p:nvSpPr>
          <p:cNvPr id="8" name="link-99"/>
          <p:cNvSpPr/>
          <p:nvPr/>
        </p:nvSpPr>
        <p:spPr>
          <a:xfrm>
            <a:off x="2560869" y="2359152"/>
            <a:ext cx="237744" cy="0"/>
          </a:xfrm>
          <a:prstGeom prst="line">
            <a:avLst/>
          </a:prstGeom>
          <a:noFill/>
          <a:ln w="19050">
            <a:solidFill>
              <a:schemeClr val="accent1"/>
            </a:solidFill>
            <a:prstDash val="solid"/>
            <a:tailEnd type="triangle"/>
          </a:ln>
        </p:spPr>
      </p:sp>
      <p:sp>
        <p:nvSpPr>
          <p:cNvPr id="9" name="box-100"/>
          <p:cNvSpPr/>
          <p:nvPr/>
        </p:nvSpPr>
        <p:spPr>
          <a:xfrm>
            <a:off x="2826045" y="1901952"/>
            <a:ext cx="1984797" cy="914400"/>
          </a:xfrm>
          <a:prstGeom prst="roundRect">
            <a:avLst>
              <a:gd name="adj" fmla="val 6000"/>
            </a:avLst>
          </a:prstGeom>
          <a:solidFill>
            <a:schemeClr val="bg2"/>
          </a:solidFill>
          <a:ln w="12700">
            <a:solidFill>
              <a:schemeClr val="accent1"/>
            </a:solidFill>
          </a:ln>
        </p:spPr>
        <p:txBody>
          <a:bodyPr wrap="square" lIns="101600" tIns="38100" rIns="101600" bIns="38100" rtlCol="0" anchor="ctr"/>
          <a:lstStyle/>
          <a:p>
            <a:pPr algn="ctr" indent="0" marL="0">
              <a:buNone/>
            </a:pPr>
            <a:r>
              <a:rPr lang="en-US" sz="1300" b="1" dirty="0">
                <a:solidFill>
                  <a:schemeClr val="tx1"/>
                </a:solidFill>
              </a:rPr>
              <a:t>Layout OCR</a:t>
            </a:r>
            <a:endParaRPr lang="en-US" sz="1300" dirty="0"/>
          </a:p>
          <a:p>
            <a:pPr algn="ctr" indent="0" marL="0">
              <a:buNone/>
            </a:pPr>
            <a:r>
              <a:rPr lang="en-US" sz="1100" dirty="0">
                <a:solidFill>
                  <a:schemeClr val="tx2"/>
                </a:solidFill>
              </a:rPr>
              <a:t>Azure DI v4.0 prebuilt-layout; Read v3.2 fallback</a:t>
            </a:r>
            <a:endParaRPr lang="en-US" sz="1300" dirty="0"/>
          </a:p>
        </p:txBody>
      </p:sp>
      <p:sp>
        <p:nvSpPr>
          <p:cNvPr id="10" name="link-101"/>
          <p:cNvSpPr/>
          <p:nvPr/>
        </p:nvSpPr>
        <p:spPr>
          <a:xfrm>
            <a:off x="4838273" y="2359152"/>
            <a:ext cx="237744" cy="0"/>
          </a:xfrm>
          <a:prstGeom prst="line">
            <a:avLst/>
          </a:prstGeom>
          <a:noFill/>
          <a:ln w="19050">
            <a:solidFill>
              <a:schemeClr val="accent1"/>
            </a:solidFill>
            <a:prstDash val="solid"/>
            <a:tailEnd type="triangle"/>
          </a:ln>
        </p:spPr>
      </p:sp>
      <p:sp>
        <p:nvSpPr>
          <p:cNvPr id="11" name="box-102"/>
          <p:cNvSpPr/>
          <p:nvPr/>
        </p:nvSpPr>
        <p:spPr>
          <a:xfrm>
            <a:off x="5103449" y="1901952"/>
            <a:ext cx="1984797" cy="914400"/>
          </a:xfrm>
          <a:prstGeom prst="roundRect">
            <a:avLst>
              <a:gd name="adj" fmla="val 6000"/>
            </a:avLst>
          </a:prstGeom>
          <a:solidFill>
            <a:schemeClr val="bg2"/>
          </a:solidFill>
          <a:ln w="12700">
            <a:solidFill>
              <a:schemeClr val="accent1"/>
            </a:solidFill>
          </a:ln>
        </p:spPr>
        <p:txBody>
          <a:bodyPr wrap="square" lIns="101600" tIns="38100" rIns="101600" bIns="38100" rtlCol="0" anchor="ctr"/>
          <a:lstStyle/>
          <a:p>
            <a:pPr algn="ctr" indent="0" marL="0">
              <a:buNone/>
            </a:pPr>
            <a:r>
              <a:rPr lang="en-US" sz="1300" b="1" dirty="0">
                <a:solidFill>
                  <a:schemeClr val="tx1"/>
                </a:solidFill>
              </a:rPr>
              <a:t>Chunking</a:t>
            </a:r>
            <a:endParaRPr lang="en-US" sz="1300" dirty="0"/>
          </a:p>
          <a:p>
            <a:pPr algn="ctr" indent="0" marL="0">
              <a:buNone/>
            </a:pPr>
            <a:r>
              <a:rPr lang="en-US" sz="1100" dirty="0">
                <a:solidFill>
                  <a:schemeClr val="tx2"/>
                </a:solidFill>
              </a:rPr>
              <a:t>layout_di by default; four more strategies</a:t>
            </a:r>
            <a:endParaRPr lang="en-US" sz="1300" dirty="0"/>
          </a:p>
        </p:txBody>
      </p:sp>
      <p:sp>
        <p:nvSpPr>
          <p:cNvPr id="12" name="link-103"/>
          <p:cNvSpPr/>
          <p:nvPr/>
        </p:nvSpPr>
        <p:spPr>
          <a:xfrm>
            <a:off x="7115678" y="2359152"/>
            <a:ext cx="237744" cy="0"/>
          </a:xfrm>
          <a:prstGeom prst="line">
            <a:avLst/>
          </a:prstGeom>
          <a:noFill/>
          <a:ln w="19050">
            <a:solidFill>
              <a:schemeClr val="accent1"/>
            </a:solidFill>
            <a:prstDash val="solid"/>
            <a:tailEnd type="triangle"/>
          </a:ln>
        </p:spPr>
      </p:sp>
      <p:sp>
        <p:nvSpPr>
          <p:cNvPr id="13" name="box-104"/>
          <p:cNvSpPr/>
          <p:nvPr/>
        </p:nvSpPr>
        <p:spPr>
          <a:xfrm>
            <a:off x="7380854" y="1901952"/>
            <a:ext cx="1984797" cy="914400"/>
          </a:xfrm>
          <a:prstGeom prst="roundRect">
            <a:avLst>
              <a:gd name="adj" fmla="val 6000"/>
            </a:avLst>
          </a:prstGeom>
          <a:solidFill>
            <a:schemeClr val="bg2"/>
          </a:solidFill>
          <a:ln w="12700">
            <a:solidFill>
              <a:schemeClr val="accent1"/>
            </a:solidFill>
          </a:ln>
        </p:spPr>
        <p:txBody>
          <a:bodyPr wrap="square" lIns="101600" tIns="38100" rIns="101600" bIns="38100" rtlCol="0" anchor="ctr"/>
          <a:lstStyle/>
          <a:p>
            <a:pPr algn="ctr" indent="0" marL="0">
              <a:buNone/>
            </a:pPr>
            <a:r>
              <a:rPr lang="en-US" sz="1300" b="1" dirty="0">
                <a:solidFill>
                  <a:schemeClr val="tx1"/>
                </a:solidFill>
              </a:rPr>
              <a:t>Context</a:t>
            </a:r>
            <a:endParaRPr lang="en-US" sz="1300" dirty="0"/>
          </a:p>
          <a:p>
            <a:pPr algn="ctr" indent="0" marL="0">
              <a:buNone/>
            </a:pPr>
            <a:r>
              <a:rPr lang="en-US" sz="1100" dirty="0">
                <a:solidFill>
                  <a:schemeClr val="tx2"/>
                </a:solidFill>
              </a:rPr>
              <a:t>gemini-2.5-flash prefix situates each chunk</a:t>
            </a:r>
            <a:endParaRPr lang="en-US" sz="1300" dirty="0"/>
          </a:p>
        </p:txBody>
      </p:sp>
      <p:sp>
        <p:nvSpPr>
          <p:cNvPr id="14" name="link-105"/>
          <p:cNvSpPr/>
          <p:nvPr/>
        </p:nvSpPr>
        <p:spPr>
          <a:xfrm>
            <a:off x="9393083" y="2359152"/>
            <a:ext cx="237744" cy="0"/>
          </a:xfrm>
          <a:prstGeom prst="line">
            <a:avLst/>
          </a:prstGeom>
          <a:noFill/>
          <a:ln w="19050">
            <a:solidFill>
              <a:schemeClr val="accent1"/>
            </a:solidFill>
            <a:prstDash val="solid"/>
            <a:tailEnd type="triangle"/>
          </a:ln>
        </p:spPr>
      </p:sp>
      <p:sp>
        <p:nvSpPr>
          <p:cNvPr id="15" name="box-106"/>
          <p:cNvSpPr/>
          <p:nvPr/>
        </p:nvSpPr>
        <p:spPr>
          <a:xfrm>
            <a:off x="9658259" y="1901952"/>
            <a:ext cx="1984797" cy="914400"/>
          </a:xfrm>
          <a:prstGeom prst="roundRect">
            <a:avLst>
              <a:gd name="adj" fmla="val 6000"/>
            </a:avLst>
          </a:prstGeom>
          <a:solidFill>
            <a:schemeClr val="bg2"/>
          </a:solidFill>
          <a:ln w="12700">
            <a:solidFill>
              <a:schemeClr val="accent1"/>
            </a:solidFill>
          </a:ln>
        </p:spPr>
        <p:txBody>
          <a:bodyPr wrap="square" lIns="101600" tIns="38100" rIns="101600" bIns="38100" rtlCol="0" anchor="ctr"/>
          <a:lstStyle/>
          <a:p>
            <a:pPr algn="ctr" indent="0" marL="0">
              <a:buNone/>
            </a:pPr>
            <a:r>
              <a:rPr lang="en-US" sz="1300" b="1" dirty="0">
                <a:solidFill>
                  <a:schemeClr val="tx1"/>
                </a:solidFill>
              </a:rPr>
              <a:t>Embedding</a:t>
            </a:r>
            <a:endParaRPr lang="en-US" sz="1300" dirty="0"/>
          </a:p>
          <a:p>
            <a:pPr algn="ctr" indent="0" marL="0">
              <a:buNone/>
            </a:pPr>
            <a:r>
              <a:rPr lang="en-US" sz="1100" dirty="0">
                <a:solidFill>
                  <a:schemeClr val="tx2"/>
                </a:solidFill>
              </a:rPr>
              <a:t>gte-large-en-v1.5, 1024-D, batches of 16</a:t>
            </a:r>
            <a:endParaRPr lang="en-US" sz="1300" dirty="0"/>
          </a:p>
        </p:txBody>
      </p:sp>
      <p:sp>
        <p:nvSpPr>
          <p:cNvPr id="16" name="box-107"/>
          <p:cNvSpPr/>
          <p:nvPr/>
        </p:nvSpPr>
        <p:spPr>
          <a:xfrm>
            <a:off x="548640" y="3154680"/>
            <a:ext cx="11094415" cy="914400"/>
          </a:xfrm>
          <a:prstGeom prst="roundRect">
            <a:avLst>
              <a:gd name="adj" fmla="val 6000"/>
            </a:avLst>
          </a:prstGeom>
          <a:solidFill>
            <a:schemeClr val="tx1"/>
          </a:solidFill>
          <a:ln/>
        </p:spPr>
        <p:txBody>
          <a:bodyPr wrap="square" lIns="101600" tIns="38100" rIns="101600" bIns="38100" rtlCol="0" anchor="ctr"/>
          <a:lstStyle/>
          <a:p>
            <a:pPr algn="ctr" indent="0" marL="0">
              <a:buNone/>
            </a:pPr>
            <a:r>
              <a:rPr lang="en-US" sz="1500" b="1" dirty="0">
                <a:solidFill>
                  <a:schemeClr val="bg1"/>
                </a:solidFill>
              </a:rPr>
              <a:t>PostgreSQL + pgvector  ·  schema vector</a:t>
            </a:r>
            <a:endParaRPr lang="en-US" sz="1500" dirty="0"/>
          </a:p>
          <a:p>
            <a:pPr algn="ctr" indent="0" marL="0">
              <a:buNone/>
            </a:pPr>
            <a:r>
              <a:rPr lang="en-US" sz="1250" dirty="0">
                <a:solidFill>
                  <a:schemeClr val="accent5"/>
                </a:solidFill>
              </a:rPr>
              <a:t>documents  ·  chunk_embeddings: vector(1024), HNSW cosine, generated tsvector + GIN, soft delete  ·  chunk_context</a:t>
            </a:r>
            <a:endParaRPr lang="en-US" sz="1500" dirty="0"/>
          </a:p>
        </p:txBody>
      </p:sp>
      <p:sp>
        <p:nvSpPr>
          <p:cNvPr id="17" name="link-108"/>
          <p:cNvSpPr/>
          <p:nvPr/>
        </p:nvSpPr>
        <p:spPr>
          <a:xfrm>
            <a:off x="484632" y="3090672"/>
            <a:ext cx="201168" cy="0"/>
          </a:xfrm>
          <a:prstGeom prst="line">
            <a:avLst/>
          </a:prstGeom>
          <a:noFill/>
          <a:ln w="28575">
            <a:solidFill>
              <a:schemeClr val="accent3"/>
            </a:solidFill>
            <a:prstDash val="solid"/>
          </a:ln>
        </p:spPr>
      </p:sp>
      <p:sp>
        <p:nvSpPr>
          <p:cNvPr id="18" name="link-109"/>
          <p:cNvSpPr/>
          <p:nvPr/>
        </p:nvSpPr>
        <p:spPr>
          <a:xfrm>
            <a:off x="484632" y="3090672"/>
            <a:ext cx="0" cy="201168"/>
          </a:xfrm>
          <a:prstGeom prst="line">
            <a:avLst/>
          </a:prstGeom>
          <a:noFill/>
          <a:ln w="28575">
            <a:solidFill>
              <a:schemeClr val="accent3"/>
            </a:solidFill>
            <a:prstDash val="solid"/>
          </a:ln>
        </p:spPr>
      </p:sp>
      <p:sp>
        <p:nvSpPr>
          <p:cNvPr id="19" name="link-110"/>
          <p:cNvSpPr/>
          <p:nvPr/>
        </p:nvSpPr>
        <p:spPr>
          <a:xfrm>
            <a:off x="11505895" y="3090672"/>
            <a:ext cx="201168" cy="0"/>
          </a:xfrm>
          <a:prstGeom prst="line">
            <a:avLst/>
          </a:prstGeom>
          <a:noFill/>
          <a:ln w="28575">
            <a:solidFill>
              <a:schemeClr val="accent3"/>
            </a:solidFill>
            <a:prstDash val="solid"/>
          </a:ln>
        </p:spPr>
      </p:sp>
      <p:sp>
        <p:nvSpPr>
          <p:cNvPr id="20" name="link-111"/>
          <p:cNvSpPr/>
          <p:nvPr/>
        </p:nvSpPr>
        <p:spPr>
          <a:xfrm>
            <a:off x="11707063" y="3090672"/>
            <a:ext cx="0" cy="201168"/>
          </a:xfrm>
          <a:prstGeom prst="line">
            <a:avLst/>
          </a:prstGeom>
          <a:noFill/>
          <a:ln w="28575">
            <a:solidFill>
              <a:schemeClr val="accent3"/>
            </a:solidFill>
            <a:prstDash val="solid"/>
          </a:ln>
        </p:spPr>
      </p:sp>
      <p:sp>
        <p:nvSpPr>
          <p:cNvPr id="21" name="link-112"/>
          <p:cNvSpPr/>
          <p:nvPr/>
        </p:nvSpPr>
        <p:spPr>
          <a:xfrm>
            <a:off x="484632" y="4133088"/>
            <a:ext cx="201168" cy="0"/>
          </a:xfrm>
          <a:prstGeom prst="line">
            <a:avLst/>
          </a:prstGeom>
          <a:noFill/>
          <a:ln w="28575">
            <a:solidFill>
              <a:schemeClr val="accent3"/>
            </a:solidFill>
            <a:prstDash val="solid"/>
          </a:ln>
        </p:spPr>
      </p:sp>
      <p:sp>
        <p:nvSpPr>
          <p:cNvPr id="22" name="link-113"/>
          <p:cNvSpPr/>
          <p:nvPr/>
        </p:nvSpPr>
        <p:spPr>
          <a:xfrm>
            <a:off x="484632" y="3931920"/>
            <a:ext cx="0" cy="201168"/>
          </a:xfrm>
          <a:prstGeom prst="line">
            <a:avLst/>
          </a:prstGeom>
          <a:noFill/>
          <a:ln w="28575">
            <a:solidFill>
              <a:schemeClr val="accent3"/>
            </a:solidFill>
            <a:prstDash val="solid"/>
          </a:ln>
        </p:spPr>
      </p:sp>
      <p:sp>
        <p:nvSpPr>
          <p:cNvPr id="23" name="link-114"/>
          <p:cNvSpPr/>
          <p:nvPr/>
        </p:nvSpPr>
        <p:spPr>
          <a:xfrm>
            <a:off x="11505895" y="4133088"/>
            <a:ext cx="201168" cy="0"/>
          </a:xfrm>
          <a:prstGeom prst="line">
            <a:avLst/>
          </a:prstGeom>
          <a:noFill/>
          <a:ln w="28575">
            <a:solidFill>
              <a:schemeClr val="accent3"/>
            </a:solidFill>
            <a:prstDash val="solid"/>
          </a:ln>
        </p:spPr>
      </p:sp>
      <p:sp>
        <p:nvSpPr>
          <p:cNvPr id="24" name="link-115"/>
          <p:cNvSpPr/>
          <p:nvPr/>
        </p:nvSpPr>
        <p:spPr>
          <a:xfrm>
            <a:off x="11707063" y="3931920"/>
            <a:ext cx="0" cy="201168"/>
          </a:xfrm>
          <a:prstGeom prst="line">
            <a:avLst/>
          </a:prstGeom>
          <a:noFill/>
          <a:ln w="28575">
            <a:solidFill>
              <a:schemeClr val="accent3"/>
            </a:solidFill>
            <a:prstDash val="solid"/>
          </a:ln>
        </p:spPr>
      </p:sp>
      <p:sp>
        <p:nvSpPr>
          <p:cNvPr id="25" name="link-116"/>
          <p:cNvSpPr/>
          <p:nvPr/>
        </p:nvSpPr>
        <p:spPr>
          <a:xfrm>
            <a:off x="10650657" y="2834640"/>
            <a:ext cx="0" cy="301752"/>
          </a:xfrm>
          <a:prstGeom prst="line">
            <a:avLst/>
          </a:prstGeom>
          <a:noFill/>
          <a:ln w="22225">
            <a:solidFill>
              <a:schemeClr val="accent1"/>
            </a:solidFill>
            <a:prstDash val="solid"/>
            <a:tailEnd type="triangle"/>
          </a:ln>
        </p:spPr>
      </p:sp>
      <p:sp>
        <p:nvSpPr>
          <p:cNvPr id="26" name="text-117"/>
          <p:cNvSpPr txBox="1"/>
          <p:nvPr/>
        </p:nvSpPr>
        <p:spPr>
          <a:xfrm>
            <a:off x="548640" y="4315968"/>
            <a:ext cx="6400800" cy="274320"/>
          </a:xfrm>
          <a:prstGeom prst="rect">
            <a:avLst/>
          </a:prstGeom>
          <a:noFill/>
          <a:ln/>
        </p:spPr>
        <p:txBody>
          <a:bodyPr wrap="square" lIns="0" tIns="0" rIns="0" bIns="0" rtlCol="0" anchor="ctr"/>
          <a:lstStyle/>
          <a:p>
            <a:pPr indent="0" marL="0">
              <a:buNone/>
            </a:pPr>
            <a:r>
              <a:rPr lang="en-US" sz="1300" b="1" dirty="0">
                <a:solidFill>
                  <a:schemeClr val="accent2"/>
                </a:solidFill>
              </a:rPr>
              <a:t>Retrieval  ·  read path: question to cited answer</a:t>
            </a:r>
            <a:endParaRPr lang="en-US" sz="1300" dirty="0"/>
          </a:p>
        </p:txBody>
      </p:sp>
      <p:sp>
        <p:nvSpPr>
          <p:cNvPr id="27" name="text-118"/>
          <p:cNvSpPr txBox="1"/>
          <p:nvPr/>
        </p:nvSpPr>
        <p:spPr>
          <a:xfrm>
            <a:off x="6766560" y="4315968"/>
            <a:ext cx="4876495" cy="274320"/>
          </a:xfrm>
          <a:prstGeom prst="rect">
            <a:avLst/>
          </a:prstGeom>
          <a:noFill/>
          <a:ln/>
        </p:spPr>
        <p:txBody>
          <a:bodyPr wrap="square" lIns="0" tIns="0" rIns="0" bIns="0" rtlCol="0" anchor="ctr"/>
          <a:lstStyle/>
          <a:p>
            <a:pPr algn="r" indent="0" marL="0">
              <a:buNone/>
            </a:pPr>
            <a:r>
              <a:rPr lang="en-US" sz="1100" dirty="0">
                <a:solidFill>
                  <a:schemeClr val="tx2"/>
                </a:solidFill>
              </a:rPr>
              <a:t>RAG Studio: retrieval · ingestion · analytics · benchmark</a:t>
            </a:r>
            <a:endParaRPr lang="en-US" sz="1100" dirty="0"/>
          </a:p>
        </p:txBody>
      </p:sp>
      <p:sp>
        <p:nvSpPr>
          <p:cNvPr id="28" name="box-119"/>
          <p:cNvSpPr/>
          <p:nvPr/>
        </p:nvSpPr>
        <p:spPr>
          <a:xfrm>
            <a:off x="548640" y="4645152"/>
            <a:ext cx="1984797" cy="914400"/>
          </a:xfrm>
          <a:prstGeom prst="roundRect">
            <a:avLst>
              <a:gd name="adj" fmla="val 6000"/>
            </a:avLst>
          </a:prstGeom>
          <a:solidFill>
            <a:schemeClr val="bg2"/>
          </a:solidFill>
          <a:ln w="12700">
            <a:solidFill>
              <a:schemeClr val="accent2"/>
            </a:solidFill>
          </a:ln>
        </p:spPr>
        <p:txBody>
          <a:bodyPr wrap="square" lIns="101600" tIns="38100" rIns="101600" bIns="38100" rtlCol="0" anchor="ctr"/>
          <a:lstStyle/>
          <a:p>
            <a:pPr algn="ctr" indent="0" marL="0">
              <a:buNone/>
            </a:pPr>
            <a:r>
              <a:rPr lang="en-US" sz="1300" b="1" dirty="0">
                <a:solidFill>
                  <a:schemeClr val="tx1"/>
                </a:solidFill>
              </a:rPr>
              <a:t>Question</a:t>
            </a:r>
            <a:endParaRPr lang="en-US" sz="1300" dirty="0"/>
          </a:p>
          <a:p>
            <a:pPr algn="ctr" indent="0" marL="0">
              <a:buNone/>
            </a:pPr>
            <a:r>
              <a:rPr lang="en-US" sz="1100" dirty="0">
                <a:solidFill>
                  <a:schemeClr val="tx2"/>
                </a:solidFill>
              </a:rPr>
              <a:t>RAG Studio UI; answer streamed over SSE</a:t>
            </a:r>
            <a:endParaRPr lang="en-US" sz="1300" dirty="0"/>
          </a:p>
        </p:txBody>
      </p:sp>
      <p:sp>
        <p:nvSpPr>
          <p:cNvPr id="29" name="link-120"/>
          <p:cNvSpPr/>
          <p:nvPr/>
        </p:nvSpPr>
        <p:spPr>
          <a:xfrm>
            <a:off x="2560869" y="5102352"/>
            <a:ext cx="237744" cy="0"/>
          </a:xfrm>
          <a:prstGeom prst="line">
            <a:avLst/>
          </a:prstGeom>
          <a:noFill/>
          <a:ln w="19050">
            <a:solidFill>
              <a:schemeClr val="accent2"/>
            </a:solidFill>
            <a:prstDash val="solid"/>
            <a:tailEnd type="triangle"/>
          </a:ln>
        </p:spPr>
      </p:sp>
      <p:sp>
        <p:nvSpPr>
          <p:cNvPr id="30" name="box-121"/>
          <p:cNvSpPr/>
          <p:nvPr/>
        </p:nvSpPr>
        <p:spPr>
          <a:xfrm>
            <a:off x="2826045" y="4645152"/>
            <a:ext cx="1984797" cy="914400"/>
          </a:xfrm>
          <a:prstGeom prst="roundRect">
            <a:avLst>
              <a:gd name="adj" fmla="val 6000"/>
            </a:avLst>
          </a:prstGeom>
          <a:solidFill>
            <a:schemeClr val="bg2"/>
          </a:solidFill>
          <a:ln w="12700">
            <a:solidFill>
              <a:schemeClr val="accent2"/>
            </a:solidFill>
          </a:ln>
        </p:spPr>
        <p:txBody>
          <a:bodyPr wrap="square" lIns="101600" tIns="38100" rIns="101600" bIns="38100" rtlCol="0" anchor="ctr"/>
          <a:lstStyle/>
          <a:p>
            <a:pPr algn="ctr" indent="0" marL="0">
              <a:buNone/>
            </a:pPr>
            <a:r>
              <a:rPr lang="en-US" sz="1300" b="1" dirty="0">
                <a:solidFill>
                  <a:schemeClr val="tx1"/>
                </a:solidFill>
              </a:rPr>
              <a:t>Expand</a:t>
            </a:r>
            <a:endParaRPr lang="en-US" sz="1300" dirty="0"/>
          </a:p>
          <a:p>
            <a:pPr algn="ctr" indent="0" marL="0">
              <a:buNone/>
            </a:pPr>
            <a:r>
              <a:rPr lang="en-US" sz="1100" dirty="0">
                <a:solidFill>
                  <a:schemeClr val="tx2"/>
                </a:solidFill>
              </a:rPr>
              <a:t>optional rewrite ×3 and HyDE, Llama-3.1-8B</a:t>
            </a:r>
            <a:endParaRPr lang="en-US" sz="1300" dirty="0"/>
          </a:p>
        </p:txBody>
      </p:sp>
      <p:sp>
        <p:nvSpPr>
          <p:cNvPr id="31" name="link-122"/>
          <p:cNvSpPr/>
          <p:nvPr/>
        </p:nvSpPr>
        <p:spPr>
          <a:xfrm>
            <a:off x="4838273" y="5102352"/>
            <a:ext cx="237744" cy="0"/>
          </a:xfrm>
          <a:prstGeom prst="line">
            <a:avLst/>
          </a:prstGeom>
          <a:noFill/>
          <a:ln w="19050">
            <a:solidFill>
              <a:schemeClr val="accent2"/>
            </a:solidFill>
            <a:prstDash val="solid"/>
            <a:tailEnd type="triangle"/>
          </a:ln>
        </p:spPr>
      </p:sp>
      <p:sp>
        <p:nvSpPr>
          <p:cNvPr id="32" name="box-123"/>
          <p:cNvSpPr/>
          <p:nvPr/>
        </p:nvSpPr>
        <p:spPr>
          <a:xfrm>
            <a:off x="5103449" y="4645152"/>
            <a:ext cx="1984797" cy="914400"/>
          </a:xfrm>
          <a:prstGeom prst="roundRect">
            <a:avLst>
              <a:gd name="adj" fmla="val 6000"/>
            </a:avLst>
          </a:prstGeom>
          <a:solidFill>
            <a:schemeClr val="bg2"/>
          </a:solidFill>
          <a:ln w="12700">
            <a:solidFill>
              <a:schemeClr val="accent2"/>
            </a:solidFill>
          </a:ln>
        </p:spPr>
        <p:txBody>
          <a:bodyPr wrap="square" lIns="101600" tIns="38100" rIns="101600" bIns="38100" rtlCol="0" anchor="ctr"/>
          <a:lstStyle/>
          <a:p>
            <a:pPr algn="ctr" indent="0" marL="0">
              <a:buNone/>
            </a:pPr>
            <a:r>
              <a:rPr lang="en-US" sz="1300" b="1" dirty="0">
                <a:solidFill>
                  <a:schemeClr val="tx1"/>
                </a:solidFill>
              </a:rPr>
              <a:t>Hybrid search</a:t>
            </a:r>
            <a:endParaRPr lang="en-US" sz="1300" dirty="0"/>
          </a:p>
          <a:p>
            <a:pPr algn="ctr" indent="0" marL="0">
              <a:buNone/>
            </a:pPr>
            <a:r>
              <a:rPr lang="en-US" sz="1100" dirty="0">
                <a:solidFill>
                  <a:schemeClr val="tx2"/>
                </a:solidFill>
              </a:rPr>
              <a:t>HNSW cosine plus Postgres full text</a:t>
            </a:r>
            <a:endParaRPr lang="en-US" sz="1300" dirty="0"/>
          </a:p>
        </p:txBody>
      </p:sp>
      <p:sp>
        <p:nvSpPr>
          <p:cNvPr id="33" name="link-124"/>
          <p:cNvSpPr/>
          <p:nvPr/>
        </p:nvSpPr>
        <p:spPr>
          <a:xfrm>
            <a:off x="7115678" y="5102352"/>
            <a:ext cx="237744" cy="0"/>
          </a:xfrm>
          <a:prstGeom prst="line">
            <a:avLst/>
          </a:prstGeom>
          <a:noFill/>
          <a:ln w="19050">
            <a:solidFill>
              <a:schemeClr val="accent2"/>
            </a:solidFill>
            <a:prstDash val="solid"/>
            <a:tailEnd type="triangle"/>
          </a:ln>
        </p:spPr>
      </p:sp>
      <p:sp>
        <p:nvSpPr>
          <p:cNvPr id="34" name="box-125"/>
          <p:cNvSpPr/>
          <p:nvPr/>
        </p:nvSpPr>
        <p:spPr>
          <a:xfrm>
            <a:off x="7380854" y="4645152"/>
            <a:ext cx="1984797" cy="914400"/>
          </a:xfrm>
          <a:prstGeom prst="roundRect">
            <a:avLst>
              <a:gd name="adj" fmla="val 6000"/>
            </a:avLst>
          </a:prstGeom>
          <a:solidFill>
            <a:schemeClr val="bg2"/>
          </a:solidFill>
          <a:ln w="12700">
            <a:solidFill>
              <a:schemeClr val="accent2"/>
            </a:solidFill>
          </a:ln>
        </p:spPr>
        <p:txBody>
          <a:bodyPr wrap="square" lIns="101600" tIns="38100" rIns="101600" bIns="38100" rtlCol="0" anchor="ctr"/>
          <a:lstStyle/>
          <a:p>
            <a:pPr algn="ctr" indent="0" marL="0">
              <a:buNone/>
            </a:pPr>
            <a:r>
              <a:rPr lang="en-US" sz="1300" b="1" dirty="0">
                <a:solidFill>
                  <a:schemeClr val="tx1"/>
                </a:solidFill>
              </a:rPr>
              <a:t>Fuse + rerank</a:t>
            </a:r>
            <a:endParaRPr lang="en-US" sz="1300" dirty="0"/>
          </a:p>
          <a:p>
            <a:pPr algn="ctr" indent="0" marL="0">
              <a:buNone/>
            </a:pPr>
            <a:r>
              <a:rPr lang="en-US" sz="1100" dirty="0">
                <a:solidFill>
                  <a:schemeClr val="tx2"/>
                </a:solidFill>
              </a:rPr>
              <a:t>RRF k = 60, Llama-3.3-70B listwise, MMR</a:t>
            </a:r>
            <a:endParaRPr lang="en-US" sz="1300" dirty="0"/>
          </a:p>
        </p:txBody>
      </p:sp>
      <p:sp>
        <p:nvSpPr>
          <p:cNvPr id="35" name="link-126"/>
          <p:cNvSpPr/>
          <p:nvPr/>
        </p:nvSpPr>
        <p:spPr>
          <a:xfrm>
            <a:off x="9393083" y="5102352"/>
            <a:ext cx="237744" cy="0"/>
          </a:xfrm>
          <a:prstGeom prst="line">
            <a:avLst/>
          </a:prstGeom>
          <a:noFill/>
          <a:ln w="19050">
            <a:solidFill>
              <a:schemeClr val="accent2"/>
            </a:solidFill>
            <a:prstDash val="solid"/>
            <a:tailEnd type="triangle"/>
          </a:ln>
        </p:spPr>
      </p:sp>
      <p:sp>
        <p:nvSpPr>
          <p:cNvPr id="36" name="box-127"/>
          <p:cNvSpPr/>
          <p:nvPr/>
        </p:nvSpPr>
        <p:spPr>
          <a:xfrm>
            <a:off x="9658259" y="4645152"/>
            <a:ext cx="1984797" cy="914400"/>
          </a:xfrm>
          <a:prstGeom prst="roundRect">
            <a:avLst>
              <a:gd name="adj" fmla="val 6000"/>
            </a:avLst>
          </a:prstGeom>
          <a:solidFill>
            <a:schemeClr val="bg2"/>
          </a:solidFill>
          <a:ln w="12700">
            <a:solidFill>
              <a:schemeClr val="accent2"/>
            </a:solidFill>
          </a:ln>
        </p:spPr>
        <p:txBody>
          <a:bodyPr wrap="square" lIns="101600" tIns="38100" rIns="101600" bIns="38100" rtlCol="0" anchor="ctr"/>
          <a:lstStyle/>
          <a:p>
            <a:pPr algn="ctr" indent="0" marL="0">
              <a:buNone/>
            </a:pPr>
            <a:r>
              <a:rPr lang="en-US" sz="1300" b="1" dirty="0">
                <a:solidFill>
                  <a:schemeClr val="tx1"/>
                </a:solidFill>
              </a:rPr>
              <a:t>Answer</a:t>
            </a:r>
            <a:endParaRPr lang="en-US" sz="1300" dirty="0"/>
          </a:p>
          <a:p>
            <a:pPr algn="ctr" indent="0" marL="0">
              <a:buNone/>
            </a:pPr>
            <a:r>
              <a:rPr lang="en-US" sz="1100" dirty="0">
                <a:solidFill>
                  <a:schemeClr val="tx2"/>
                </a:solidFill>
              </a:rPr>
              <a:t>Llama-4-Scout with [N] citations to chunks</a:t>
            </a:r>
            <a:endParaRPr lang="en-US" sz="1300" dirty="0"/>
          </a:p>
        </p:txBody>
      </p:sp>
      <p:sp>
        <p:nvSpPr>
          <p:cNvPr id="37" name="link-128"/>
          <p:cNvSpPr/>
          <p:nvPr/>
        </p:nvSpPr>
        <p:spPr>
          <a:xfrm>
            <a:off x="6095848" y="4087368"/>
            <a:ext cx="0" cy="539496"/>
          </a:xfrm>
          <a:prstGeom prst="line">
            <a:avLst/>
          </a:prstGeom>
          <a:noFill/>
          <a:ln w="22225">
            <a:solidFill>
              <a:schemeClr val="accent2"/>
            </a:solidFill>
            <a:prstDash val="solid"/>
            <a:tailEnd type="triangle"/>
          </a:ln>
        </p:spPr>
      </p:sp>
      <p:sp>
        <p:nvSpPr>
          <p:cNvPr id="38" name="text-129"/>
          <p:cNvSpPr txBox="1"/>
          <p:nvPr/>
        </p:nvSpPr>
        <p:spPr>
          <a:xfrm>
            <a:off x="548640" y="5779008"/>
            <a:ext cx="11094415" cy="365760"/>
          </a:xfrm>
          <a:prstGeom prst="rect">
            <a:avLst/>
          </a:prstGeom>
          <a:noFill/>
          <a:ln/>
        </p:spPr>
        <p:txBody>
          <a:bodyPr wrap="square" lIns="0" tIns="0" rIns="0" bIns="0" rtlCol="0" anchor="t"/>
          <a:lstStyle/>
          <a:p>
            <a:pPr indent="0" marL="0">
              <a:buNone/>
            </a:pPr>
            <a:r>
              <a:rPr lang="en-US" sz="1250" dirty="0">
                <a:solidFill>
                  <a:schemeClr val="tx2"/>
                </a:solidFill>
              </a:rPr>
              <a:t>DES writes exactly the columns retrieval reads, and retrieval tests that contract against DES’s DDL.</a:t>
            </a:r>
            <a:endParaRPr lang="en-US" sz="1250" dirty="0"/>
          </a:p>
        </p:txBody>
      </p:sp>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731520" y="1417320"/>
            <a:ext cx="2743200" cy="1143000"/>
          </a:xfrm>
          <a:prstGeom prst="rect">
            <a:avLst/>
          </a:prstGeom>
          <a:noFill/>
          <a:ln/>
        </p:spPr>
        <p:txBody>
          <a:bodyPr wrap="square" lIns="0" tIns="0" rIns="0" bIns="0" rtlCol="0" anchor="b"/>
          <a:lstStyle/>
          <a:p>
            <a:pPr algn="l" indent="0" marL="0">
              <a:buNone/>
            </a:pPr>
            <a:r>
              <a:rPr lang="en-US" sz="7200" b="1" dirty="0">
                <a:solidFill>
                  <a:schemeClr val="accent3"/>
                </a:solidFill>
              </a:rPr>
              <a:t>01</a:t>
            </a:r>
            <a:endParaRPr lang="en-US" sz="7200" dirty="0"/>
          </a:p>
        </p:txBody>
      </p:sp>
      <p:sp>
        <p:nvSpPr>
          <p:cNvPr id="3" name="Text 0"/>
          <p:cNvSpPr/>
          <p:nvPr>
            <p:ph idx="101" type="title" hasCustomPrompt="1"/>
          </p:nvPr>
        </p:nvSpPr>
        <p:spPr>
          <a:xfrm>
            <a:off x="731520" y="2697480"/>
            <a:ext cx="7498080" cy="1234440"/>
          </a:xfrm>
          <a:prstGeom prst="rect">
            <a:avLst/>
          </a:prstGeom>
          <a:noFill/>
          <a:ln/>
        </p:spPr>
        <p:txBody>
          <a:bodyPr wrap="square" lIns="0" tIns="0" rIns="0" bIns="0" rtlCol="0" anchor="t"/>
          <a:lstStyle/>
          <a:p>
            <a:pPr algn="l" indent="0" marL="0">
              <a:buNone/>
            </a:pPr>
            <a:r>
              <a:rPr lang="en-US" sz="3800" b="1" dirty="0">
                <a:solidFill>
                  <a:schemeClr val="bg1"/>
                </a:solidFill>
              </a:rPr>
              <a:t>DES: the Document Embedding Service</a:t>
            </a:r>
            <a:endParaRPr lang="en-US" sz="3800" dirty="0"/>
          </a:p>
        </p:txBody>
      </p:sp>
      <p:sp>
        <p:nvSpPr>
          <p:cNvPr id="4" name="Text 0"/>
          <p:cNvSpPr/>
          <p:nvPr>
            <p:ph idx="102" type="body" hasCustomPrompt="1"/>
          </p:nvPr>
        </p:nvSpPr>
        <p:spPr>
          <a:xfrm>
            <a:off x="731520" y="4069080"/>
            <a:ext cx="7498080" cy="1188720"/>
          </a:xfrm>
          <a:prstGeom prst="rect">
            <a:avLst/>
          </a:prstGeom>
          <a:noFill/>
          <a:ln/>
        </p:spPr>
        <p:txBody>
          <a:bodyPr wrap="square" lIns="0" tIns="0" rIns="0" bIns="0" rtlCol="0" anchor="t"/>
          <a:lstStyle/>
          <a:p>
            <a:pPr algn="l" indent="0" marL="0">
              <a:buNone/>
            </a:pPr>
            <a:r>
              <a:rPr lang="en-US" sz="1800" dirty="0">
                <a:solidFill>
                  <a:schemeClr val="accent5"/>
                </a:solidFill>
              </a:rPr>
              <a:t>Layout OCR that keeps structure, chunking that keeps meaning, and provenance on every chunk.</a:t>
            </a:r>
            <a:endParaRPr lang="en-US" sz="1800" dirty="0"/>
          </a:p>
        </p:txBody>
      </p:sp>
      <p:pic>
        <p:nvPicPr>
          <p:cNvPr id="6" name="icon-TbScan-130" descr="Scan">    </p:cNvPr>
          <p:cNvPicPr>
            <a:picLocks noChangeAspect="1"/>
          </p:cNvPicPr>
          <p:nvPr/>
        </p:nvPicPr>
        <p:blipFill>
          <a:blip r:embed="rId1"/>
          <a:stretch>
            <a:fillRect/>
          </a:stretch>
        </p:blipFill>
        <p:spPr>
          <a:xfrm>
            <a:off x="8961120" y="2286000"/>
            <a:ext cx="1828800" cy="1828800"/>
          </a:xfrm>
          <a:prstGeom prst="rect">
            <a:avLst/>
          </a:prstGeom>
        </p:spPr>
      </p:pic>
      <p:sp>
        <p:nvSpPr>
          <p:cNvPr id="7" name="link-131"/>
          <p:cNvSpPr/>
          <p:nvPr/>
        </p:nvSpPr>
        <p:spPr>
          <a:xfrm>
            <a:off x="8549640" y="1874520"/>
            <a:ext cx="384048" cy="0"/>
          </a:xfrm>
          <a:prstGeom prst="line">
            <a:avLst/>
          </a:prstGeom>
          <a:noFill/>
          <a:ln w="38100">
            <a:solidFill>
              <a:schemeClr val="accent3"/>
            </a:solidFill>
            <a:prstDash val="solid"/>
          </a:ln>
        </p:spPr>
      </p:sp>
      <p:sp>
        <p:nvSpPr>
          <p:cNvPr id="8" name="link-132"/>
          <p:cNvSpPr/>
          <p:nvPr/>
        </p:nvSpPr>
        <p:spPr>
          <a:xfrm>
            <a:off x="8549640" y="1874520"/>
            <a:ext cx="0" cy="384048"/>
          </a:xfrm>
          <a:prstGeom prst="line">
            <a:avLst/>
          </a:prstGeom>
          <a:noFill/>
          <a:ln w="38100">
            <a:solidFill>
              <a:schemeClr val="accent3"/>
            </a:solidFill>
            <a:prstDash val="solid"/>
          </a:ln>
        </p:spPr>
      </p:sp>
      <p:sp>
        <p:nvSpPr>
          <p:cNvPr id="9" name="link-133"/>
          <p:cNvSpPr/>
          <p:nvPr/>
        </p:nvSpPr>
        <p:spPr>
          <a:xfrm>
            <a:off x="10817352" y="1874520"/>
            <a:ext cx="384048" cy="0"/>
          </a:xfrm>
          <a:prstGeom prst="line">
            <a:avLst/>
          </a:prstGeom>
          <a:noFill/>
          <a:ln w="38100">
            <a:solidFill>
              <a:schemeClr val="accent3"/>
            </a:solidFill>
            <a:prstDash val="solid"/>
          </a:ln>
        </p:spPr>
      </p:sp>
      <p:sp>
        <p:nvSpPr>
          <p:cNvPr id="10" name="link-134"/>
          <p:cNvSpPr/>
          <p:nvPr/>
        </p:nvSpPr>
        <p:spPr>
          <a:xfrm>
            <a:off x="11201400" y="1874520"/>
            <a:ext cx="0" cy="384048"/>
          </a:xfrm>
          <a:prstGeom prst="line">
            <a:avLst/>
          </a:prstGeom>
          <a:noFill/>
          <a:ln w="38100">
            <a:solidFill>
              <a:schemeClr val="accent3"/>
            </a:solidFill>
            <a:prstDash val="solid"/>
          </a:ln>
        </p:spPr>
      </p:sp>
      <p:sp>
        <p:nvSpPr>
          <p:cNvPr id="11" name="link-135"/>
          <p:cNvSpPr/>
          <p:nvPr/>
        </p:nvSpPr>
        <p:spPr>
          <a:xfrm>
            <a:off x="8549640" y="4526280"/>
            <a:ext cx="384048" cy="0"/>
          </a:xfrm>
          <a:prstGeom prst="line">
            <a:avLst/>
          </a:prstGeom>
          <a:noFill/>
          <a:ln w="38100">
            <a:solidFill>
              <a:schemeClr val="accent3"/>
            </a:solidFill>
            <a:prstDash val="solid"/>
          </a:ln>
        </p:spPr>
      </p:sp>
      <p:sp>
        <p:nvSpPr>
          <p:cNvPr id="12" name="link-136"/>
          <p:cNvSpPr/>
          <p:nvPr/>
        </p:nvSpPr>
        <p:spPr>
          <a:xfrm>
            <a:off x="8549640" y="4142232"/>
            <a:ext cx="0" cy="384048"/>
          </a:xfrm>
          <a:prstGeom prst="line">
            <a:avLst/>
          </a:prstGeom>
          <a:noFill/>
          <a:ln w="38100">
            <a:solidFill>
              <a:schemeClr val="accent3"/>
            </a:solidFill>
            <a:prstDash val="solid"/>
          </a:ln>
        </p:spPr>
      </p:sp>
      <p:sp>
        <p:nvSpPr>
          <p:cNvPr id="13" name="link-137"/>
          <p:cNvSpPr/>
          <p:nvPr/>
        </p:nvSpPr>
        <p:spPr>
          <a:xfrm>
            <a:off x="10817352" y="4526280"/>
            <a:ext cx="384048" cy="0"/>
          </a:xfrm>
          <a:prstGeom prst="line">
            <a:avLst/>
          </a:prstGeom>
          <a:noFill/>
          <a:ln w="38100">
            <a:solidFill>
              <a:schemeClr val="accent3"/>
            </a:solidFill>
            <a:prstDash val="solid"/>
          </a:ln>
        </p:spPr>
      </p:sp>
      <p:sp>
        <p:nvSpPr>
          <p:cNvPr id="14" name="link-138"/>
          <p:cNvSpPr/>
          <p:nvPr/>
        </p:nvSpPr>
        <p:spPr>
          <a:xfrm>
            <a:off x="11201400" y="4142232"/>
            <a:ext cx="0" cy="384048"/>
          </a:xfrm>
          <a:prstGeom prst="line">
            <a:avLst/>
          </a:prstGeom>
          <a:noFill/>
          <a:ln w="38100">
            <a:solidFill>
              <a:schemeClr val="accent3"/>
            </a:solidFill>
            <a:prstDash val="solid"/>
          </a:ln>
        </p:spPr>
      </p:sp>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10896"/>
            <a:ext cx="8229600" cy="274320"/>
          </a:xfrm>
          <a:prstGeom prst="rect">
            <a:avLst/>
          </a:prstGeom>
          <a:noFill/>
          <a:ln/>
        </p:spPr>
        <p:txBody>
          <a:bodyPr wrap="square" lIns="0" tIns="0" rIns="0" bIns="0" rtlCol="0" anchor="ctr"/>
          <a:lstStyle/>
          <a:p>
            <a:pPr algn="l" indent="0" marL="0">
              <a:buNone/>
            </a:pPr>
            <a:r>
              <a:rPr lang="en-US" sz="1200" b="1" spc="150" kern="0" dirty="0">
                <a:solidFill>
                  <a:schemeClr val="accent1"/>
                </a:solidFill>
              </a:rPr>
              <a:t>DES · OCR</a:t>
            </a:r>
            <a:endParaRPr lang="en-US" sz="1200" dirty="0"/>
          </a:p>
        </p:txBody>
      </p:sp>
      <p:sp>
        <p:nvSpPr>
          <p:cNvPr id="3" name="Text 0"/>
          <p:cNvSpPr/>
          <p:nvPr>
            <p:ph idx="101" type="title" hasCustomPrompt="1"/>
          </p:nvPr>
        </p:nvSpPr>
        <p:spPr>
          <a:xfrm>
            <a:off x="548640" y="603504"/>
            <a:ext cx="11094415" cy="868680"/>
          </a:xfrm>
          <a:prstGeom prst="rect">
            <a:avLst/>
          </a:prstGeom>
          <a:noFill/>
          <a:ln/>
        </p:spPr>
        <p:txBody>
          <a:bodyPr wrap="square" lIns="0" tIns="0" rIns="0" bIns="0" rtlCol="0" anchor="t"/>
          <a:lstStyle/>
          <a:p>
            <a:pPr algn="l" indent="0" marL="0">
              <a:buNone/>
            </a:pPr>
            <a:r>
              <a:rPr lang="en-US" sz="2800" b="1" dirty="0">
                <a:solidFill>
                  <a:schemeClr val="tx1"/>
                </a:solidFill>
              </a:rPr>
              <a:t>Layout OCR captures what a document is, not just its ink</a:t>
            </a:r>
            <a:endParaRPr lang="en-US" sz="2800" dirty="0"/>
          </a:p>
        </p:txBody>
      </p:sp>
      <p:sp>
        <p:nvSpPr>
          <p:cNvPr id="5" name="text-139"/>
          <p:cNvSpPr txBox="1"/>
          <p:nvPr/>
        </p:nvSpPr>
        <p:spPr>
          <a:xfrm>
            <a:off x="548640" y="1645920"/>
            <a:ext cx="4663440" cy="365760"/>
          </a:xfrm>
          <a:prstGeom prst="rect">
            <a:avLst/>
          </a:prstGeom>
          <a:noFill/>
          <a:ln/>
        </p:spPr>
        <p:txBody>
          <a:bodyPr wrap="square" lIns="0" tIns="0" rIns="0" bIns="0" rtlCol="0" anchor="ctr"/>
          <a:lstStyle/>
          <a:p>
            <a:pPr indent="0" marL="0">
              <a:buNone/>
            </a:pPr>
            <a:r>
              <a:rPr lang="en-US" sz="1300" b="1" dirty="0">
                <a:solidFill>
                  <a:schemeClr val="tx2"/>
                </a:solidFill>
              </a:rPr>
              <a:t>Capability</a:t>
            </a:r>
            <a:endParaRPr lang="en-US" sz="1300" dirty="0"/>
          </a:p>
        </p:txBody>
      </p:sp>
      <p:sp>
        <p:nvSpPr>
          <p:cNvPr id="6" name="text-140"/>
          <p:cNvSpPr txBox="1"/>
          <p:nvPr/>
        </p:nvSpPr>
        <p:spPr>
          <a:xfrm>
            <a:off x="5212080" y="1645920"/>
            <a:ext cx="1188720" cy="365760"/>
          </a:xfrm>
          <a:prstGeom prst="rect">
            <a:avLst/>
          </a:prstGeom>
          <a:noFill/>
          <a:ln/>
        </p:spPr>
        <p:txBody>
          <a:bodyPr wrap="square" lIns="0" tIns="0" rIns="0" bIns="0" rtlCol="0" anchor="ctr"/>
          <a:lstStyle/>
          <a:p>
            <a:pPr algn="ctr" indent="0" marL="0">
              <a:buNone/>
            </a:pPr>
            <a:r>
              <a:rPr lang="en-US" sz="1300" b="1" dirty="0">
                <a:solidFill>
                  <a:schemeClr val="tx2"/>
                </a:solidFill>
              </a:rPr>
              <a:t>Read v3.2</a:t>
            </a:r>
            <a:endParaRPr lang="en-US" sz="1300" dirty="0"/>
          </a:p>
        </p:txBody>
      </p:sp>
      <p:sp>
        <p:nvSpPr>
          <p:cNvPr id="7" name="text-141"/>
          <p:cNvSpPr txBox="1"/>
          <p:nvPr/>
        </p:nvSpPr>
        <p:spPr>
          <a:xfrm>
            <a:off x="6400800" y="1645920"/>
            <a:ext cx="1417320" cy="365760"/>
          </a:xfrm>
          <a:prstGeom prst="rect">
            <a:avLst/>
          </a:prstGeom>
          <a:noFill/>
          <a:ln/>
        </p:spPr>
        <p:txBody>
          <a:bodyPr wrap="square" lIns="0" tIns="0" rIns="0" bIns="0" rtlCol="0" anchor="ctr"/>
          <a:lstStyle/>
          <a:p>
            <a:pPr algn="ctr" indent="0" marL="0">
              <a:buNone/>
            </a:pPr>
            <a:r>
              <a:rPr lang="en-US" sz="1300" b="1" dirty="0">
                <a:solidFill>
                  <a:schemeClr val="accent1"/>
                </a:solidFill>
              </a:rPr>
              <a:t>Layout v4.0</a:t>
            </a:r>
            <a:endParaRPr lang="en-US" sz="1300" dirty="0"/>
          </a:p>
        </p:txBody>
      </p:sp>
      <p:sp>
        <p:nvSpPr>
          <p:cNvPr id="8" name="band-142"/>
          <p:cNvSpPr/>
          <p:nvPr/>
        </p:nvSpPr>
        <p:spPr>
          <a:xfrm>
            <a:off x="6446520" y="1572768"/>
            <a:ext cx="1325880" cy="3803904"/>
          </a:xfrm>
          <a:prstGeom prst="roundRect">
            <a:avLst>
              <a:gd name="adj" fmla="val 5517"/>
            </a:avLst>
          </a:prstGeom>
          <a:solidFill>
            <a:schemeClr val="accent1">
              <a:alpha val="10000"/>
            </a:schemeClr>
          </a:solidFill>
          <a:ln/>
        </p:spPr>
      </p:sp>
      <p:sp>
        <p:nvSpPr>
          <p:cNvPr id="9" name="link-143"/>
          <p:cNvSpPr/>
          <p:nvPr/>
        </p:nvSpPr>
        <p:spPr>
          <a:xfrm>
            <a:off x="548640" y="2084832"/>
            <a:ext cx="7223760" cy="0"/>
          </a:xfrm>
          <a:prstGeom prst="line">
            <a:avLst/>
          </a:prstGeom>
          <a:noFill/>
          <a:ln w="9525">
            <a:solidFill>
              <a:schemeClr val="accent6"/>
            </a:solidFill>
            <a:prstDash val="solid"/>
          </a:ln>
        </p:spPr>
      </p:sp>
      <p:sp>
        <p:nvSpPr>
          <p:cNvPr id="10" name="text-144"/>
          <p:cNvSpPr txBox="1"/>
          <p:nvPr/>
        </p:nvSpPr>
        <p:spPr>
          <a:xfrm>
            <a:off x="548640" y="2121408"/>
            <a:ext cx="4572000" cy="475488"/>
          </a:xfrm>
          <a:prstGeom prst="rect">
            <a:avLst/>
          </a:prstGeom>
          <a:noFill/>
          <a:ln/>
        </p:spPr>
        <p:txBody>
          <a:bodyPr wrap="square" lIns="0" tIns="0" rIns="0" bIns="0" rtlCol="0" anchor="ctr"/>
          <a:lstStyle/>
          <a:p>
            <a:pPr indent="0" marL="0">
              <a:buNone/>
            </a:pPr>
            <a:r>
              <a:rPr lang="en-US" sz="1400" dirty="0">
                <a:solidFill>
                  <a:schemeClr val="tx1"/>
                </a:solidFill>
              </a:rPr>
              <a:t>Lines, words, polygons, per-word confidence</a:t>
            </a:r>
            <a:endParaRPr lang="en-US" sz="1400" dirty="0"/>
          </a:p>
        </p:txBody>
      </p:sp>
      <p:pic>
        <p:nvPicPr>
          <p:cNvPr id="11" name="icon-TbCheck-145" descr="Check">    </p:cNvPr>
          <p:cNvPicPr>
            <a:picLocks noChangeAspect="1"/>
          </p:cNvPicPr>
          <p:nvPr/>
        </p:nvPicPr>
        <p:blipFill>
          <a:blip r:embed="rId1"/>
          <a:stretch>
            <a:fillRect/>
          </a:stretch>
        </p:blipFill>
        <p:spPr>
          <a:xfrm>
            <a:off x="5660136" y="2212848"/>
            <a:ext cx="292608" cy="292608"/>
          </a:xfrm>
          <a:prstGeom prst="rect">
            <a:avLst/>
          </a:prstGeom>
        </p:spPr>
      </p:pic>
      <p:pic>
        <p:nvPicPr>
          <p:cNvPr id="12" name="icon-TbCheck-146" descr="Check">    </p:cNvPr>
          <p:cNvPicPr>
            <a:picLocks noChangeAspect="1"/>
          </p:cNvPicPr>
          <p:nvPr/>
        </p:nvPicPr>
        <p:blipFill>
          <a:blip r:embed="rId2"/>
          <a:stretch>
            <a:fillRect/>
          </a:stretch>
        </p:blipFill>
        <p:spPr>
          <a:xfrm>
            <a:off x="6963156" y="2212848"/>
            <a:ext cx="292608" cy="292608"/>
          </a:xfrm>
          <a:prstGeom prst="rect">
            <a:avLst/>
          </a:prstGeom>
        </p:spPr>
      </p:pic>
      <p:sp>
        <p:nvSpPr>
          <p:cNvPr id="13" name="link-147"/>
          <p:cNvSpPr/>
          <p:nvPr/>
        </p:nvSpPr>
        <p:spPr>
          <a:xfrm>
            <a:off x="548640" y="2633472"/>
            <a:ext cx="7223760" cy="0"/>
          </a:xfrm>
          <a:prstGeom prst="line">
            <a:avLst/>
          </a:prstGeom>
          <a:noFill/>
          <a:ln w="9525">
            <a:solidFill>
              <a:schemeClr val="accent6"/>
            </a:solidFill>
            <a:prstDash val="solid"/>
          </a:ln>
        </p:spPr>
      </p:sp>
      <p:sp>
        <p:nvSpPr>
          <p:cNvPr id="14" name="text-148"/>
          <p:cNvSpPr txBox="1"/>
          <p:nvPr/>
        </p:nvSpPr>
        <p:spPr>
          <a:xfrm>
            <a:off x="548640" y="2670048"/>
            <a:ext cx="4572000" cy="475488"/>
          </a:xfrm>
          <a:prstGeom prst="rect">
            <a:avLst/>
          </a:prstGeom>
          <a:noFill/>
          <a:ln/>
        </p:spPr>
        <p:txBody>
          <a:bodyPr wrap="square" lIns="0" tIns="0" rIns="0" bIns="0" rtlCol="0" anchor="ctr"/>
          <a:lstStyle/>
          <a:p>
            <a:pPr indent="0" marL="0">
              <a:buNone/>
            </a:pPr>
            <a:r>
              <a:rPr lang="en-US" sz="1400" dirty="0">
                <a:solidFill>
                  <a:schemeClr val="tx1"/>
                </a:solidFill>
              </a:rPr>
              <a:t>Paragraph roles: title, section heading, footnote, page furniture</a:t>
            </a:r>
            <a:endParaRPr lang="en-US" sz="1400" dirty="0"/>
          </a:p>
        </p:txBody>
      </p:sp>
      <p:pic>
        <p:nvPicPr>
          <p:cNvPr id="15" name="icon-TbMinus-149" descr="Minus">    </p:cNvPr>
          <p:cNvPicPr>
            <a:picLocks noChangeAspect="1"/>
          </p:cNvPicPr>
          <p:nvPr/>
        </p:nvPicPr>
        <p:blipFill>
          <a:blip r:embed="rId3"/>
          <a:stretch>
            <a:fillRect/>
          </a:stretch>
        </p:blipFill>
        <p:spPr>
          <a:xfrm>
            <a:off x="5660136" y="2761488"/>
            <a:ext cx="292608" cy="292608"/>
          </a:xfrm>
          <a:prstGeom prst="rect">
            <a:avLst/>
          </a:prstGeom>
        </p:spPr>
      </p:pic>
      <p:pic>
        <p:nvPicPr>
          <p:cNvPr id="16" name="icon-TbCheck-150" descr="Check">    </p:cNvPr>
          <p:cNvPicPr>
            <a:picLocks noChangeAspect="1"/>
          </p:cNvPicPr>
          <p:nvPr/>
        </p:nvPicPr>
        <p:blipFill>
          <a:blip r:embed="rId4"/>
          <a:stretch>
            <a:fillRect/>
          </a:stretch>
        </p:blipFill>
        <p:spPr>
          <a:xfrm>
            <a:off x="6963156" y="2761488"/>
            <a:ext cx="292608" cy="292608"/>
          </a:xfrm>
          <a:prstGeom prst="rect">
            <a:avLst/>
          </a:prstGeom>
        </p:spPr>
      </p:pic>
      <p:sp>
        <p:nvSpPr>
          <p:cNvPr id="17" name="link-151"/>
          <p:cNvSpPr/>
          <p:nvPr/>
        </p:nvSpPr>
        <p:spPr>
          <a:xfrm>
            <a:off x="548640" y="3182112"/>
            <a:ext cx="7223760" cy="0"/>
          </a:xfrm>
          <a:prstGeom prst="line">
            <a:avLst/>
          </a:prstGeom>
          <a:noFill/>
          <a:ln w="9525">
            <a:solidFill>
              <a:schemeClr val="accent6"/>
            </a:solidFill>
            <a:prstDash val="solid"/>
          </a:ln>
        </p:spPr>
      </p:sp>
      <p:sp>
        <p:nvSpPr>
          <p:cNvPr id="18" name="text-152"/>
          <p:cNvSpPr txBox="1"/>
          <p:nvPr/>
        </p:nvSpPr>
        <p:spPr>
          <a:xfrm>
            <a:off x="548640" y="3218688"/>
            <a:ext cx="4572000" cy="475488"/>
          </a:xfrm>
          <a:prstGeom prst="rect">
            <a:avLst/>
          </a:prstGeom>
          <a:noFill/>
          <a:ln/>
        </p:spPr>
        <p:txBody>
          <a:bodyPr wrap="square" lIns="0" tIns="0" rIns="0" bIns="0" rtlCol="0" anchor="ctr"/>
          <a:lstStyle/>
          <a:p>
            <a:pPr indent="0" marL="0">
              <a:buNone/>
            </a:pPr>
            <a:r>
              <a:rPr lang="en-US" sz="1400" dirty="0">
                <a:solidFill>
                  <a:schemeClr val="tx1"/>
                </a:solidFill>
              </a:rPr>
              <a:t>Tables with real cells, row and column spans, header kinds</a:t>
            </a:r>
            <a:endParaRPr lang="en-US" sz="1400" dirty="0"/>
          </a:p>
        </p:txBody>
      </p:sp>
      <p:pic>
        <p:nvPicPr>
          <p:cNvPr id="19" name="icon-TbMinus-153" descr="Minus">    </p:cNvPr>
          <p:cNvPicPr>
            <a:picLocks noChangeAspect="1"/>
          </p:cNvPicPr>
          <p:nvPr/>
        </p:nvPicPr>
        <p:blipFill>
          <a:blip r:embed="rId5"/>
          <a:stretch>
            <a:fillRect/>
          </a:stretch>
        </p:blipFill>
        <p:spPr>
          <a:xfrm>
            <a:off x="5660136" y="3310128"/>
            <a:ext cx="292608" cy="292608"/>
          </a:xfrm>
          <a:prstGeom prst="rect">
            <a:avLst/>
          </a:prstGeom>
        </p:spPr>
      </p:pic>
      <p:pic>
        <p:nvPicPr>
          <p:cNvPr id="20" name="icon-TbCheck-154" descr="Check">    </p:cNvPr>
          <p:cNvPicPr>
            <a:picLocks noChangeAspect="1"/>
          </p:cNvPicPr>
          <p:nvPr/>
        </p:nvPicPr>
        <p:blipFill>
          <a:blip r:embed="rId6"/>
          <a:stretch>
            <a:fillRect/>
          </a:stretch>
        </p:blipFill>
        <p:spPr>
          <a:xfrm>
            <a:off x="6963156" y="3310128"/>
            <a:ext cx="292608" cy="292608"/>
          </a:xfrm>
          <a:prstGeom prst="rect">
            <a:avLst/>
          </a:prstGeom>
        </p:spPr>
      </p:pic>
      <p:sp>
        <p:nvSpPr>
          <p:cNvPr id="21" name="link-155"/>
          <p:cNvSpPr/>
          <p:nvPr/>
        </p:nvSpPr>
        <p:spPr>
          <a:xfrm>
            <a:off x="548640" y="3730752"/>
            <a:ext cx="7223760" cy="0"/>
          </a:xfrm>
          <a:prstGeom prst="line">
            <a:avLst/>
          </a:prstGeom>
          <a:noFill/>
          <a:ln w="9525">
            <a:solidFill>
              <a:schemeClr val="accent6"/>
            </a:solidFill>
            <a:prstDash val="solid"/>
          </a:ln>
        </p:spPr>
      </p:sp>
      <p:sp>
        <p:nvSpPr>
          <p:cNvPr id="22" name="text-156"/>
          <p:cNvSpPr txBox="1"/>
          <p:nvPr/>
        </p:nvSpPr>
        <p:spPr>
          <a:xfrm>
            <a:off x="548640" y="3767328"/>
            <a:ext cx="4572000" cy="475488"/>
          </a:xfrm>
          <a:prstGeom prst="rect">
            <a:avLst/>
          </a:prstGeom>
          <a:noFill/>
          <a:ln/>
        </p:spPr>
        <p:txBody>
          <a:bodyPr wrap="square" lIns="0" tIns="0" rIns="0" bIns="0" rtlCol="0" anchor="ctr"/>
          <a:lstStyle/>
          <a:p>
            <a:pPr indent="0" marL="0">
              <a:buNone/>
            </a:pPr>
            <a:r>
              <a:rPr lang="en-US" sz="1400" dirty="0">
                <a:solidFill>
                  <a:schemeClr val="tx1"/>
                </a:solidFill>
              </a:rPr>
              <a:t>Selection marks: selected and unselected checkboxes</a:t>
            </a:r>
            <a:endParaRPr lang="en-US" sz="1400" dirty="0"/>
          </a:p>
        </p:txBody>
      </p:sp>
      <p:pic>
        <p:nvPicPr>
          <p:cNvPr id="23" name="icon-TbMinus-157" descr="Minus">    </p:cNvPr>
          <p:cNvPicPr>
            <a:picLocks noChangeAspect="1"/>
          </p:cNvPicPr>
          <p:nvPr/>
        </p:nvPicPr>
        <p:blipFill>
          <a:blip r:embed="rId7"/>
          <a:stretch>
            <a:fillRect/>
          </a:stretch>
        </p:blipFill>
        <p:spPr>
          <a:xfrm>
            <a:off x="5660136" y="3858768"/>
            <a:ext cx="292608" cy="292608"/>
          </a:xfrm>
          <a:prstGeom prst="rect">
            <a:avLst/>
          </a:prstGeom>
        </p:spPr>
      </p:pic>
      <p:pic>
        <p:nvPicPr>
          <p:cNvPr id="24" name="icon-TbCheck-158" descr="Check">    </p:cNvPr>
          <p:cNvPicPr>
            <a:picLocks noChangeAspect="1"/>
          </p:cNvPicPr>
          <p:nvPr/>
        </p:nvPicPr>
        <p:blipFill>
          <a:blip r:embed="rId8"/>
          <a:stretch>
            <a:fillRect/>
          </a:stretch>
        </p:blipFill>
        <p:spPr>
          <a:xfrm>
            <a:off x="6963156" y="3858768"/>
            <a:ext cx="292608" cy="292608"/>
          </a:xfrm>
          <a:prstGeom prst="rect">
            <a:avLst/>
          </a:prstGeom>
        </p:spPr>
      </p:pic>
      <p:sp>
        <p:nvSpPr>
          <p:cNvPr id="25" name="link-159"/>
          <p:cNvSpPr/>
          <p:nvPr/>
        </p:nvSpPr>
        <p:spPr>
          <a:xfrm>
            <a:off x="548640" y="4279392"/>
            <a:ext cx="7223760" cy="0"/>
          </a:xfrm>
          <a:prstGeom prst="line">
            <a:avLst/>
          </a:prstGeom>
          <a:noFill/>
          <a:ln w="9525">
            <a:solidFill>
              <a:schemeClr val="accent6"/>
            </a:solidFill>
            <a:prstDash val="solid"/>
          </a:ln>
        </p:spPr>
      </p:sp>
      <p:sp>
        <p:nvSpPr>
          <p:cNvPr id="26" name="text-160"/>
          <p:cNvSpPr txBox="1"/>
          <p:nvPr/>
        </p:nvSpPr>
        <p:spPr>
          <a:xfrm>
            <a:off x="548640" y="4315968"/>
            <a:ext cx="4572000" cy="475488"/>
          </a:xfrm>
          <a:prstGeom prst="rect">
            <a:avLst/>
          </a:prstGeom>
          <a:noFill/>
          <a:ln/>
        </p:spPr>
        <p:txBody>
          <a:bodyPr wrap="square" lIns="0" tIns="0" rIns="0" bIns="0" rtlCol="0" anchor="ctr"/>
          <a:lstStyle/>
          <a:p>
            <a:pPr indent="0" marL="0">
              <a:buNone/>
            </a:pPr>
            <a:r>
              <a:rPr lang="en-US" sz="1400" dirty="0">
                <a:solidFill>
                  <a:schemeClr val="tx1"/>
                </a:solidFill>
              </a:rPr>
              <a:t>Figures with captions, and document sections</a:t>
            </a:r>
            <a:endParaRPr lang="en-US" sz="1400" dirty="0"/>
          </a:p>
        </p:txBody>
      </p:sp>
      <p:pic>
        <p:nvPicPr>
          <p:cNvPr id="27" name="icon-TbMinus-161" descr="Minus">    </p:cNvPr>
          <p:cNvPicPr>
            <a:picLocks noChangeAspect="1"/>
          </p:cNvPicPr>
          <p:nvPr/>
        </p:nvPicPr>
        <p:blipFill>
          <a:blip r:embed="rId9"/>
          <a:stretch>
            <a:fillRect/>
          </a:stretch>
        </p:blipFill>
        <p:spPr>
          <a:xfrm>
            <a:off x="5660136" y="4407408"/>
            <a:ext cx="292608" cy="292608"/>
          </a:xfrm>
          <a:prstGeom prst="rect">
            <a:avLst/>
          </a:prstGeom>
        </p:spPr>
      </p:pic>
      <p:pic>
        <p:nvPicPr>
          <p:cNvPr id="28" name="icon-TbCheck-162" descr="Check">    </p:cNvPr>
          <p:cNvPicPr>
            <a:picLocks noChangeAspect="1"/>
          </p:cNvPicPr>
          <p:nvPr/>
        </p:nvPicPr>
        <p:blipFill>
          <a:blip r:embed="rId10"/>
          <a:stretch>
            <a:fillRect/>
          </a:stretch>
        </p:blipFill>
        <p:spPr>
          <a:xfrm>
            <a:off x="6963156" y="4407408"/>
            <a:ext cx="292608" cy="292608"/>
          </a:xfrm>
          <a:prstGeom prst="rect">
            <a:avLst/>
          </a:prstGeom>
        </p:spPr>
      </p:pic>
      <p:sp>
        <p:nvSpPr>
          <p:cNvPr id="29" name="link-163"/>
          <p:cNvSpPr/>
          <p:nvPr/>
        </p:nvSpPr>
        <p:spPr>
          <a:xfrm>
            <a:off x="548640" y="4828032"/>
            <a:ext cx="7223760" cy="0"/>
          </a:xfrm>
          <a:prstGeom prst="line">
            <a:avLst/>
          </a:prstGeom>
          <a:noFill/>
          <a:ln w="9525">
            <a:solidFill>
              <a:schemeClr val="accent6"/>
            </a:solidFill>
            <a:prstDash val="solid"/>
          </a:ln>
        </p:spPr>
      </p:sp>
      <p:sp>
        <p:nvSpPr>
          <p:cNvPr id="30" name="text-164"/>
          <p:cNvSpPr txBox="1"/>
          <p:nvPr/>
        </p:nvSpPr>
        <p:spPr>
          <a:xfrm>
            <a:off x="548640" y="4864608"/>
            <a:ext cx="4572000" cy="475488"/>
          </a:xfrm>
          <a:prstGeom prst="rect">
            <a:avLst/>
          </a:prstGeom>
          <a:noFill/>
          <a:ln/>
        </p:spPr>
        <p:txBody>
          <a:bodyPr wrap="square" lIns="0" tIns="0" rIns="0" bIns="0" rtlCol="0" anchor="ctr"/>
          <a:lstStyle/>
          <a:p>
            <a:pPr indent="0" marL="0">
              <a:buNone/>
            </a:pPr>
            <a:r>
              <a:rPr lang="en-US" sz="1400" dirty="0">
                <a:solidFill>
                  <a:schemeClr val="tx1"/>
                </a:solidFill>
              </a:rPr>
              <a:t>Markdown rendering of the page</a:t>
            </a:r>
            <a:endParaRPr lang="en-US" sz="1400" dirty="0"/>
          </a:p>
        </p:txBody>
      </p:sp>
      <p:pic>
        <p:nvPicPr>
          <p:cNvPr id="31" name="icon-TbMinus-165" descr="Minus">    </p:cNvPr>
          <p:cNvPicPr>
            <a:picLocks noChangeAspect="1"/>
          </p:cNvPicPr>
          <p:nvPr/>
        </p:nvPicPr>
        <p:blipFill>
          <a:blip r:embed="rId11"/>
          <a:stretch>
            <a:fillRect/>
          </a:stretch>
        </p:blipFill>
        <p:spPr>
          <a:xfrm>
            <a:off x="5660136" y="4956048"/>
            <a:ext cx="292608" cy="292608"/>
          </a:xfrm>
          <a:prstGeom prst="rect">
            <a:avLst/>
          </a:prstGeom>
        </p:spPr>
      </p:pic>
      <p:pic>
        <p:nvPicPr>
          <p:cNvPr id="32" name="icon-TbCheck-166" descr="Check">    </p:cNvPr>
          <p:cNvPicPr>
            <a:picLocks noChangeAspect="1"/>
          </p:cNvPicPr>
          <p:nvPr/>
        </p:nvPicPr>
        <p:blipFill>
          <a:blip r:embed="rId12"/>
          <a:stretch>
            <a:fillRect/>
          </a:stretch>
        </p:blipFill>
        <p:spPr>
          <a:xfrm>
            <a:off x="6963156" y="4956048"/>
            <a:ext cx="292608" cy="292608"/>
          </a:xfrm>
          <a:prstGeom prst="rect">
            <a:avLst/>
          </a:prstGeom>
        </p:spPr>
      </p:pic>
      <p:sp>
        <p:nvSpPr>
          <p:cNvPr id="33" name="text-167"/>
          <p:cNvSpPr txBox="1"/>
          <p:nvPr/>
        </p:nvSpPr>
        <p:spPr>
          <a:xfrm>
            <a:off x="548640" y="5577840"/>
            <a:ext cx="7223760" cy="457200"/>
          </a:xfrm>
          <a:prstGeom prst="rect">
            <a:avLst/>
          </a:prstGeom>
          <a:noFill/>
          <a:ln/>
        </p:spPr>
        <p:txBody>
          <a:bodyPr wrap="square" lIns="0" tIns="0" rIns="0" bIns="0" rtlCol="0" anchor="t"/>
          <a:lstStyle/>
          <a:p>
            <a:pPr indent="0" marL="0">
              <a:buNone/>
            </a:pPr>
            <a:r>
              <a:rPr lang="en-US" sz="1200" dirty="0">
                <a:solidFill>
                  <a:schemeClr val="tx2"/>
                </a:solidFill>
              </a:rPr>
              <a:t>Read v3.2 stays available (OCR_PROVIDER=read). If a page lacks Layout structure, the document falls back to the geometric chunker.</a:t>
            </a:r>
            <a:endParaRPr lang="en-US" sz="1200" dirty="0"/>
          </a:p>
        </p:txBody>
      </p:sp>
      <p:sp>
        <p:nvSpPr>
          <p:cNvPr id="34" name="card-168"/>
          <p:cNvSpPr/>
          <p:nvPr/>
        </p:nvSpPr>
        <p:spPr>
          <a:xfrm>
            <a:off x="8092440" y="1645920"/>
            <a:ext cx="3550615" cy="4526280"/>
          </a:xfrm>
          <a:prstGeom prst="roundRect">
            <a:avLst>
              <a:gd name="adj" fmla="val 2060"/>
            </a:avLst>
          </a:prstGeom>
          <a:solidFill>
            <a:schemeClr val="bg2"/>
          </a:solidFill>
          <a:ln/>
        </p:spPr>
      </p:sp>
      <p:sp>
        <p:nvSpPr>
          <p:cNvPr id="35" name="text-169"/>
          <p:cNvSpPr txBox="1"/>
          <p:nvPr/>
        </p:nvSpPr>
        <p:spPr>
          <a:xfrm>
            <a:off x="8366760" y="1874520"/>
            <a:ext cx="3001975" cy="320040"/>
          </a:xfrm>
          <a:prstGeom prst="rect">
            <a:avLst/>
          </a:prstGeom>
          <a:noFill/>
          <a:ln/>
        </p:spPr>
        <p:txBody>
          <a:bodyPr wrap="square" lIns="0" tIns="0" rIns="0" bIns="0" rtlCol="0" anchor="t"/>
          <a:lstStyle/>
          <a:p>
            <a:pPr indent="0" marL="0">
              <a:buNone/>
            </a:pPr>
            <a:r>
              <a:rPr lang="en-US" sz="1600" b="1" dirty="0">
                <a:solidFill>
                  <a:schemeClr val="tx1"/>
                </a:solidFill>
              </a:rPr>
              <a:t>Why it matters for KYC</a:t>
            </a:r>
            <a:endParaRPr lang="en-US" sz="1600" dirty="0"/>
          </a:p>
        </p:txBody>
      </p:sp>
      <p:sp>
        <p:nvSpPr>
          <p:cNvPr id="36" name="text-170"/>
          <p:cNvSpPr txBox="1"/>
          <p:nvPr/>
        </p:nvSpPr>
        <p:spPr>
          <a:xfrm>
            <a:off x="8366760" y="2267712"/>
            <a:ext cx="3001975" cy="1143000"/>
          </a:xfrm>
          <a:prstGeom prst="rect">
            <a:avLst/>
          </a:prstGeom>
          <a:noFill/>
          <a:ln/>
        </p:spPr>
        <p:txBody>
          <a:bodyPr wrap="square" lIns="0" tIns="0" rIns="0" bIns="0" rtlCol="0" anchor="t"/>
          <a:lstStyle/>
          <a:p>
            <a:pPr indent="0" marL="0">
              <a:buNone/>
            </a:pPr>
            <a:r>
              <a:rPr lang="en-US" sz="1350" dirty="0">
                <a:solidFill>
                  <a:schemeClr val="tx2"/>
                </a:solidFill>
              </a:rPr>
              <a:t>On a W-9, W-8BEN or CIP form, which box is ticked is frequently the answer. Read drops checkboxes; Layout returns them, and DES keeps each one in the text as a ticked or unticked mark.</a:t>
            </a:r>
            <a:endParaRPr lang="en-US" sz="1350" dirty="0"/>
          </a:p>
        </p:txBody>
      </p:sp>
      <p:sp>
        <p:nvSpPr>
          <p:cNvPr id="37" name="card-171"/>
          <p:cNvSpPr/>
          <p:nvPr/>
        </p:nvSpPr>
        <p:spPr>
          <a:xfrm>
            <a:off x="8366760" y="3611880"/>
            <a:ext cx="3001975" cy="2240280"/>
          </a:xfrm>
          <a:prstGeom prst="roundRect">
            <a:avLst>
              <a:gd name="adj" fmla="val 3265"/>
            </a:avLst>
          </a:prstGeom>
          <a:solidFill>
            <a:schemeClr val="bg1"/>
          </a:solidFill>
          <a:ln w="9525">
            <a:solidFill>
              <a:schemeClr val="accent6"/>
            </a:solidFill>
            <a:prstDash val="solid"/>
          </a:ln>
        </p:spPr>
      </p:sp>
      <p:sp>
        <p:nvSpPr>
          <p:cNvPr id="38" name="text-172"/>
          <p:cNvSpPr txBox="1"/>
          <p:nvPr/>
        </p:nvSpPr>
        <p:spPr>
          <a:xfrm>
            <a:off x="8549640" y="3749040"/>
            <a:ext cx="2636215" cy="274320"/>
          </a:xfrm>
          <a:prstGeom prst="rect">
            <a:avLst/>
          </a:prstGeom>
          <a:noFill/>
          <a:ln/>
        </p:spPr>
        <p:txBody>
          <a:bodyPr wrap="square" lIns="0" tIns="0" rIns="0" bIns="0" rtlCol="0" anchor="t"/>
          <a:lstStyle/>
          <a:p>
            <a:pPr indent="0" marL="0">
              <a:buNone/>
            </a:pPr>
            <a:r>
              <a:rPr lang="en-US" sz="1200" b="1" dirty="0">
                <a:solidFill>
                  <a:schemeClr val="tx2"/>
                </a:solidFill>
              </a:rPr>
              <a:t>Federal tax classification</a:t>
            </a:r>
            <a:endParaRPr lang="en-US" sz="1200" dirty="0"/>
          </a:p>
        </p:txBody>
      </p:sp>
      <p:sp>
        <p:nvSpPr>
          <p:cNvPr id="39" name="checkbox-173"/>
          <p:cNvSpPr/>
          <p:nvPr/>
        </p:nvSpPr>
        <p:spPr>
          <a:xfrm>
            <a:off x="8595360" y="4160520"/>
            <a:ext cx="219456" cy="219456"/>
          </a:xfrm>
          <a:prstGeom prst="rect">
            <a:avLst/>
          </a:prstGeom>
          <a:solidFill>
            <a:schemeClr val="tx1"/>
          </a:solidFill>
          <a:ln w="12700">
            <a:solidFill>
              <a:schemeClr val="tx1"/>
            </a:solidFill>
            <a:prstDash val="solid"/>
          </a:ln>
        </p:spPr>
      </p:sp>
      <p:pic>
        <p:nvPicPr>
          <p:cNvPr id="40" name="icon-TbX-174" descr="X">    </p:cNvPr>
          <p:cNvPicPr>
            <a:picLocks noChangeAspect="1"/>
          </p:cNvPicPr>
          <p:nvPr/>
        </p:nvPicPr>
        <p:blipFill>
          <a:blip r:embed="rId13"/>
          <a:stretch>
            <a:fillRect/>
          </a:stretch>
        </p:blipFill>
        <p:spPr>
          <a:xfrm>
            <a:off x="8613648" y="4178808"/>
            <a:ext cx="182880" cy="182880"/>
          </a:xfrm>
          <a:prstGeom prst="rect">
            <a:avLst/>
          </a:prstGeom>
        </p:spPr>
      </p:pic>
      <p:sp>
        <p:nvSpPr>
          <p:cNvPr id="41" name="text-175"/>
          <p:cNvSpPr txBox="1"/>
          <p:nvPr/>
        </p:nvSpPr>
        <p:spPr>
          <a:xfrm>
            <a:off x="8961120" y="4123944"/>
            <a:ext cx="2179015" cy="292608"/>
          </a:xfrm>
          <a:prstGeom prst="rect">
            <a:avLst/>
          </a:prstGeom>
          <a:noFill/>
          <a:ln/>
        </p:spPr>
        <p:txBody>
          <a:bodyPr wrap="square" lIns="0" tIns="0" rIns="0" bIns="0" rtlCol="0" anchor="ctr"/>
          <a:lstStyle/>
          <a:p>
            <a:pPr indent="0" marL="0">
              <a:buNone/>
            </a:pPr>
            <a:r>
              <a:rPr lang="en-US" sz="1300" b="1" dirty="0">
                <a:solidFill>
                  <a:schemeClr val="tx1"/>
                </a:solidFill>
              </a:rPr>
              <a:t>Individual / sole proprietor</a:t>
            </a:r>
            <a:endParaRPr lang="en-US" sz="1300" dirty="0"/>
          </a:p>
        </p:txBody>
      </p:sp>
      <p:sp>
        <p:nvSpPr>
          <p:cNvPr id="42" name="checkbox-176"/>
          <p:cNvSpPr/>
          <p:nvPr/>
        </p:nvSpPr>
        <p:spPr>
          <a:xfrm>
            <a:off x="8595360" y="4562856"/>
            <a:ext cx="219456" cy="219456"/>
          </a:xfrm>
          <a:prstGeom prst="rect">
            <a:avLst/>
          </a:prstGeom>
          <a:solidFill>
            <a:schemeClr val="bg1"/>
          </a:solidFill>
          <a:ln w="12700">
            <a:solidFill>
              <a:schemeClr val="tx1"/>
            </a:solidFill>
            <a:prstDash val="solid"/>
          </a:ln>
        </p:spPr>
      </p:sp>
      <p:sp>
        <p:nvSpPr>
          <p:cNvPr id="43" name="text-177"/>
          <p:cNvSpPr txBox="1"/>
          <p:nvPr/>
        </p:nvSpPr>
        <p:spPr>
          <a:xfrm>
            <a:off x="8961120" y="4526280"/>
            <a:ext cx="2179015" cy="292608"/>
          </a:xfrm>
          <a:prstGeom prst="rect">
            <a:avLst/>
          </a:prstGeom>
          <a:noFill/>
          <a:ln/>
        </p:spPr>
        <p:txBody>
          <a:bodyPr wrap="square" lIns="0" tIns="0" rIns="0" bIns="0" rtlCol="0" anchor="ctr"/>
          <a:lstStyle/>
          <a:p>
            <a:pPr indent="0" marL="0">
              <a:buNone/>
            </a:pPr>
            <a:r>
              <a:rPr lang="en-US" sz="1300" dirty="0">
                <a:solidFill>
                  <a:schemeClr val="tx1"/>
                </a:solidFill>
              </a:rPr>
              <a:t>C corporation</a:t>
            </a:r>
            <a:endParaRPr lang="en-US" sz="1300" dirty="0"/>
          </a:p>
        </p:txBody>
      </p:sp>
      <p:sp>
        <p:nvSpPr>
          <p:cNvPr id="44" name="checkbox-178"/>
          <p:cNvSpPr/>
          <p:nvPr/>
        </p:nvSpPr>
        <p:spPr>
          <a:xfrm>
            <a:off x="8595360" y="4965192"/>
            <a:ext cx="219456" cy="219456"/>
          </a:xfrm>
          <a:prstGeom prst="rect">
            <a:avLst/>
          </a:prstGeom>
          <a:solidFill>
            <a:schemeClr val="bg1"/>
          </a:solidFill>
          <a:ln w="12700">
            <a:solidFill>
              <a:schemeClr val="tx1"/>
            </a:solidFill>
            <a:prstDash val="solid"/>
          </a:ln>
        </p:spPr>
      </p:sp>
      <p:sp>
        <p:nvSpPr>
          <p:cNvPr id="45" name="text-179"/>
          <p:cNvSpPr txBox="1"/>
          <p:nvPr/>
        </p:nvSpPr>
        <p:spPr>
          <a:xfrm>
            <a:off x="8961120" y="4928616"/>
            <a:ext cx="2179015" cy="292608"/>
          </a:xfrm>
          <a:prstGeom prst="rect">
            <a:avLst/>
          </a:prstGeom>
          <a:noFill/>
          <a:ln/>
        </p:spPr>
        <p:txBody>
          <a:bodyPr wrap="square" lIns="0" tIns="0" rIns="0" bIns="0" rtlCol="0" anchor="ctr"/>
          <a:lstStyle/>
          <a:p>
            <a:pPr indent="0" marL="0">
              <a:buNone/>
            </a:pPr>
            <a:r>
              <a:rPr lang="en-US" sz="1300" dirty="0">
                <a:solidFill>
                  <a:schemeClr val="tx1"/>
                </a:solidFill>
              </a:rPr>
              <a:t>S corporation</a:t>
            </a:r>
            <a:endParaRPr lang="en-US" sz="1300" dirty="0"/>
          </a:p>
        </p:txBody>
      </p:sp>
      <p:sp>
        <p:nvSpPr>
          <p:cNvPr id="46" name="checkbox-180"/>
          <p:cNvSpPr/>
          <p:nvPr/>
        </p:nvSpPr>
        <p:spPr>
          <a:xfrm>
            <a:off x="8595360" y="5367528"/>
            <a:ext cx="219456" cy="219456"/>
          </a:xfrm>
          <a:prstGeom prst="rect">
            <a:avLst/>
          </a:prstGeom>
          <a:solidFill>
            <a:schemeClr val="bg1"/>
          </a:solidFill>
          <a:ln w="12700">
            <a:solidFill>
              <a:schemeClr val="tx1"/>
            </a:solidFill>
            <a:prstDash val="solid"/>
          </a:ln>
        </p:spPr>
      </p:sp>
      <p:sp>
        <p:nvSpPr>
          <p:cNvPr id="47" name="text-181"/>
          <p:cNvSpPr txBox="1"/>
          <p:nvPr/>
        </p:nvSpPr>
        <p:spPr>
          <a:xfrm>
            <a:off x="8961120" y="5330952"/>
            <a:ext cx="2179015" cy="292608"/>
          </a:xfrm>
          <a:prstGeom prst="rect">
            <a:avLst/>
          </a:prstGeom>
          <a:noFill/>
          <a:ln/>
        </p:spPr>
        <p:txBody>
          <a:bodyPr wrap="square" lIns="0" tIns="0" rIns="0" bIns="0" rtlCol="0" anchor="ctr"/>
          <a:lstStyle/>
          <a:p>
            <a:pPr indent="0" marL="0">
              <a:buNone/>
            </a:pPr>
            <a:r>
              <a:rPr lang="en-US" sz="1300" dirty="0">
                <a:solidFill>
                  <a:schemeClr val="tx1"/>
                </a:solidFill>
              </a:rPr>
              <a:t>Partnership</a:t>
            </a:r>
            <a:endParaRPr lang="en-US" sz="1300" dirty="0"/>
          </a:p>
        </p:txBody>
      </p:sp>
      <p:sp>
        <p:nvSpPr>
          <p:cNvPr id="48" name="link-182"/>
          <p:cNvSpPr/>
          <p:nvPr/>
        </p:nvSpPr>
        <p:spPr>
          <a:xfrm>
            <a:off x="8476488" y="4069080"/>
            <a:ext cx="128016" cy="0"/>
          </a:xfrm>
          <a:prstGeom prst="line">
            <a:avLst/>
          </a:prstGeom>
          <a:noFill/>
          <a:ln w="25400">
            <a:solidFill>
              <a:schemeClr val="accent3"/>
            </a:solidFill>
            <a:prstDash val="solid"/>
          </a:ln>
        </p:spPr>
      </p:sp>
      <p:sp>
        <p:nvSpPr>
          <p:cNvPr id="49" name="link-183"/>
          <p:cNvSpPr/>
          <p:nvPr/>
        </p:nvSpPr>
        <p:spPr>
          <a:xfrm>
            <a:off x="8476488" y="4069080"/>
            <a:ext cx="0" cy="128016"/>
          </a:xfrm>
          <a:prstGeom prst="line">
            <a:avLst/>
          </a:prstGeom>
          <a:noFill/>
          <a:ln w="25400">
            <a:solidFill>
              <a:schemeClr val="accent3"/>
            </a:solidFill>
            <a:prstDash val="solid"/>
          </a:ln>
        </p:spPr>
      </p:sp>
      <p:sp>
        <p:nvSpPr>
          <p:cNvPr id="50" name="link-184"/>
          <p:cNvSpPr/>
          <p:nvPr/>
        </p:nvSpPr>
        <p:spPr>
          <a:xfrm>
            <a:off x="11030407" y="4069080"/>
            <a:ext cx="128016" cy="0"/>
          </a:xfrm>
          <a:prstGeom prst="line">
            <a:avLst/>
          </a:prstGeom>
          <a:noFill/>
          <a:ln w="25400">
            <a:solidFill>
              <a:schemeClr val="accent3"/>
            </a:solidFill>
            <a:prstDash val="solid"/>
          </a:ln>
        </p:spPr>
      </p:sp>
      <p:sp>
        <p:nvSpPr>
          <p:cNvPr id="51" name="link-185"/>
          <p:cNvSpPr/>
          <p:nvPr/>
        </p:nvSpPr>
        <p:spPr>
          <a:xfrm>
            <a:off x="11158423" y="4069080"/>
            <a:ext cx="0" cy="128016"/>
          </a:xfrm>
          <a:prstGeom prst="line">
            <a:avLst/>
          </a:prstGeom>
          <a:noFill/>
          <a:ln w="25400">
            <a:solidFill>
              <a:schemeClr val="accent3"/>
            </a:solidFill>
            <a:prstDash val="solid"/>
          </a:ln>
        </p:spPr>
      </p:sp>
      <p:sp>
        <p:nvSpPr>
          <p:cNvPr id="52" name="link-186"/>
          <p:cNvSpPr/>
          <p:nvPr/>
        </p:nvSpPr>
        <p:spPr>
          <a:xfrm>
            <a:off x="8476488" y="4471416"/>
            <a:ext cx="128016" cy="0"/>
          </a:xfrm>
          <a:prstGeom prst="line">
            <a:avLst/>
          </a:prstGeom>
          <a:noFill/>
          <a:ln w="25400">
            <a:solidFill>
              <a:schemeClr val="accent3"/>
            </a:solidFill>
            <a:prstDash val="solid"/>
          </a:ln>
        </p:spPr>
      </p:sp>
      <p:sp>
        <p:nvSpPr>
          <p:cNvPr id="53" name="link-187"/>
          <p:cNvSpPr/>
          <p:nvPr/>
        </p:nvSpPr>
        <p:spPr>
          <a:xfrm>
            <a:off x="8476488" y="4343400"/>
            <a:ext cx="0" cy="128016"/>
          </a:xfrm>
          <a:prstGeom prst="line">
            <a:avLst/>
          </a:prstGeom>
          <a:noFill/>
          <a:ln w="25400">
            <a:solidFill>
              <a:schemeClr val="accent3"/>
            </a:solidFill>
            <a:prstDash val="solid"/>
          </a:ln>
        </p:spPr>
      </p:sp>
      <p:sp>
        <p:nvSpPr>
          <p:cNvPr id="54" name="link-188"/>
          <p:cNvSpPr/>
          <p:nvPr/>
        </p:nvSpPr>
        <p:spPr>
          <a:xfrm>
            <a:off x="11030407" y="4471416"/>
            <a:ext cx="128016" cy="0"/>
          </a:xfrm>
          <a:prstGeom prst="line">
            <a:avLst/>
          </a:prstGeom>
          <a:noFill/>
          <a:ln w="25400">
            <a:solidFill>
              <a:schemeClr val="accent3"/>
            </a:solidFill>
            <a:prstDash val="solid"/>
          </a:ln>
        </p:spPr>
      </p:sp>
      <p:sp>
        <p:nvSpPr>
          <p:cNvPr id="55" name="link-189"/>
          <p:cNvSpPr/>
          <p:nvPr/>
        </p:nvSpPr>
        <p:spPr>
          <a:xfrm>
            <a:off x="11158423" y="4343400"/>
            <a:ext cx="0" cy="128016"/>
          </a:xfrm>
          <a:prstGeom prst="line">
            <a:avLst/>
          </a:prstGeom>
          <a:noFill/>
          <a:ln w="25400">
            <a:solidFill>
              <a:schemeClr val="accent3"/>
            </a:solidFill>
            <a:prstDash val="solid"/>
          </a:ln>
        </p:spPr>
      </p:sp>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10896"/>
            <a:ext cx="8229600" cy="274320"/>
          </a:xfrm>
          <a:prstGeom prst="rect">
            <a:avLst/>
          </a:prstGeom>
          <a:noFill/>
          <a:ln/>
        </p:spPr>
        <p:txBody>
          <a:bodyPr wrap="square" lIns="0" tIns="0" rIns="0" bIns="0" rtlCol="0" anchor="ctr"/>
          <a:lstStyle/>
          <a:p>
            <a:pPr algn="l" indent="0" marL="0">
              <a:buNone/>
            </a:pPr>
            <a:r>
              <a:rPr lang="en-US" sz="1200" b="1" spc="150" kern="0" dirty="0">
                <a:solidFill>
                  <a:schemeClr val="accent1"/>
                </a:solidFill>
              </a:rPr>
              <a:t>DES · CHUNKING</a:t>
            </a:r>
            <a:endParaRPr lang="en-US" sz="1200" dirty="0"/>
          </a:p>
        </p:txBody>
      </p:sp>
      <p:sp>
        <p:nvSpPr>
          <p:cNvPr id="3" name="Text 0"/>
          <p:cNvSpPr/>
          <p:nvPr>
            <p:ph idx="101" type="title" hasCustomPrompt="1"/>
          </p:nvPr>
        </p:nvSpPr>
        <p:spPr>
          <a:xfrm>
            <a:off x="548640" y="603504"/>
            <a:ext cx="11094415" cy="868680"/>
          </a:xfrm>
          <a:prstGeom prst="rect">
            <a:avLst/>
          </a:prstGeom>
          <a:noFill/>
          <a:ln/>
        </p:spPr>
        <p:txBody>
          <a:bodyPr wrap="square" lIns="0" tIns="0" rIns="0" bIns="0" rtlCol="0" anchor="t"/>
          <a:lstStyle/>
          <a:p>
            <a:pPr algn="l" indent="0" marL="0">
              <a:buNone/>
            </a:pPr>
            <a:r>
              <a:rPr lang="en-US" sz="2800" b="1" dirty="0">
                <a:solidFill>
                  <a:schemeClr val="tx1"/>
                </a:solidFill>
              </a:rPr>
              <a:t>Five chunking strategies behind one chunk contract</a:t>
            </a:r>
            <a:endParaRPr lang="en-US" sz="2800" dirty="0"/>
          </a:p>
        </p:txBody>
      </p:sp>
      <p:sp>
        <p:nvSpPr>
          <p:cNvPr id="5" name="text-190"/>
          <p:cNvSpPr txBox="1"/>
          <p:nvPr/>
        </p:nvSpPr>
        <p:spPr>
          <a:xfrm>
            <a:off x="548640" y="1600200"/>
            <a:ext cx="1874520" cy="292608"/>
          </a:xfrm>
          <a:prstGeom prst="rect">
            <a:avLst/>
          </a:prstGeom>
          <a:noFill/>
          <a:ln/>
        </p:spPr>
        <p:txBody>
          <a:bodyPr wrap="square" lIns="0" tIns="0" rIns="0" bIns="0" rtlCol="0" anchor="ctr"/>
          <a:lstStyle/>
          <a:p>
            <a:pPr indent="0" marL="0">
              <a:buNone/>
            </a:pPr>
            <a:r>
              <a:rPr lang="en-US" sz="1200" b="1" dirty="0">
                <a:solidFill>
                  <a:schemeClr val="tx2"/>
                </a:solidFill>
              </a:rPr>
              <a:t>Strategy</a:t>
            </a:r>
            <a:endParaRPr lang="en-US" sz="1200" dirty="0"/>
          </a:p>
        </p:txBody>
      </p:sp>
      <p:sp>
        <p:nvSpPr>
          <p:cNvPr id="6" name="text-191"/>
          <p:cNvSpPr txBox="1"/>
          <p:nvPr/>
        </p:nvSpPr>
        <p:spPr>
          <a:xfrm>
            <a:off x="2697480" y="1600200"/>
            <a:ext cx="5760720" cy="292608"/>
          </a:xfrm>
          <a:prstGeom prst="rect">
            <a:avLst/>
          </a:prstGeom>
          <a:noFill/>
          <a:ln/>
        </p:spPr>
        <p:txBody>
          <a:bodyPr wrap="square" lIns="0" tIns="0" rIns="0" bIns="0" rtlCol="0" anchor="ctr"/>
          <a:lstStyle/>
          <a:p>
            <a:pPr indent="0" marL="0">
              <a:buNone/>
            </a:pPr>
            <a:r>
              <a:rPr lang="en-US" sz="1200" b="1" dirty="0">
                <a:solidFill>
                  <a:schemeClr val="tx2"/>
                </a:solidFill>
              </a:rPr>
              <a:t>How it splits</a:t>
            </a:r>
            <a:endParaRPr lang="en-US" sz="1200" dirty="0"/>
          </a:p>
        </p:txBody>
      </p:sp>
      <p:sp>
        <p:nvSpPr>
          <p:cNvPr id="7" name="text-192"/>
          <p:cNvSpPr txBox="1"/>
          <p:nvPr/>
        </p:nvSpPr>
        <p:spPr>
          <a:xfrm>
            <a:off x="8732520" y="1600200"/>
            <a:ext cx="2910535" cy="292608"/>
          </a:xfrm>
          <a:prstGeom prst="rect">
            <a:avLst/>
          </a:prstGeom>
          <a:noFill/>
          <a:ln/>
        </p:spPr>
        <p:txBody>
          <a:bodyPr wrap="square" lIns="0" tIns="0" rIns="0" bIns="0" rtlCol="0" anchor="ctr"/>
          <a:lstStyle/>
          <a:p>
            <a:pPr indent="0" marL="0">
              <a:buNone/>
            </a:pPr>
            <a:r>
              <a:rPr lang="en-US" sz="1200" b="1" dirty="0">
                <a:solidFill>
                  <a:schemeClr val="tx2"/>
                </a:solidFill>
              </a:rPr>
              <a:t>Best for</a:t>
            </a:r>
            <a:endParaRPr lang="en-US" sz="1200" dirty="0"/>
          </a:p>
        </p:txBody>
      </p:sp>
      <p:sp>
        <p:nvSpPr>
          <p:cNvPr id="8" name="link-193"/>
          <p:cNvSpPr/>
          <p:nvPr/>
        </p:nvSpPr>
        <p:spPr>
          <a:xfrm>
            <a:off x="548640" y="1965960"/>
            <a:ext cx="11094415" cy="0"/>
          </a:xfrm>
          <a:prstGeom prst="line">
            <a:avLst/>
          </a:prstGeom>
          <a:noFill/>
          <a:ln w="9525">
            <a:solidFill>
              <a:schemeClr val="accent6"/>
            </a:solidFill>
            <a:prstDash val="solid"/>
          </a:ln>
        </p:spPr>
      </p:sp>
      <p:sp>
        <p:nvSpPr>
          <p:cNvPr id="9" name="pill-194"/>
          <p:cNvSpPr/>
          <p:nvPr/>
        </p:nvSpPr>
        <p:spPr>
          <a:xfrm>
            <a:off x="548640" y="2093976"/>
            <a:ext cx="1417320" cy="329184"/>
          </a:xfrm>
          <a:prstGeom prst="roundRect">
            <a:avLst>
              <a:gd name="adj" fmla="val 50000"/>
            </a:avLst>
          </a:prstGeom>
          <a:solidFill>
            <a:schemeClr val="accent1"/>
          </a:solidFill>
          <a:ln/>
        </p:spPr>
        <p:txBody>
          <a:bodyPr wrap="square" lIns="0" tIns="0" rIns="0" bIns="0" rtlCol="0" anchor="ctr"/>
          <a:lstStyle/>
          <a:p>
            <a:pPr algn="ctr" indent="0" marL="0">
              <a:buNone/>
            </a:pPr>
            <a:r>
              <a:rPr lang="en-US" sz="1250" b="1" dirty="0">
                <a:solidFill>
                  <a:schemeClr val="bg1"/>
                </a:solidFill>
              </a:rPr>
              <a:t>layout_di</a:t>
            </a:r>
            <a:endParaRPr lang="en-US" sz="1250" dirty="0"/>
          </a:p>
        </p:txBody>
      </p:sp>
      <p:sp>
        <p:nvSpPr>
          <p:cNvPr id="10" name="text-195"/>
          <p:cNvSpPr txBox="1"/>
          <p:nvPr/>
        </p:nvSpPr>
        <p:spPr>
          <a:xfrm>
            <a:off x="548640" y="2441448"/>
            <a:ext cx="1417320" cy="237744"/>
          </a:xfrm>
          <a:prstGeom prst="rect">
            <a:avLst/>
          </a:prstGeom>
          <a:noFill/>
          <a:ln/>
        </p:spPr>
        <p:txBody>
          <a:bodyPr wrap="square" lIns="0" tIns="0" rIns="0" bIns="0" rtlCol="0" anchor="t"/>
          <a:lstStyle/>
          <a:p>
            <a:pPr algn="ctr" indent="0" marL="0">
              <a:buNone/>
            </a:pPr>
            <a:r>
              <a:rPr lang="en-US" sz="1050" dirty="0">
                <a:solidFill>
                  <a:schemeClr val="tx2"/>
                </a:solidFill>
              </a:rPr>
              <a:t>default</a:t>
            </a:r>
            <a:endParaRPr lang="en-US" sz="1050" dirty="0"/>
          </a:p>
        </p:txBody>
      </p:sp>
      <p:sp>
        <p:nvSpPr>
          <p:cNvPr id="11" name="text-196"/>
          <p:cNvSpPr txBox="1"/>
          <p:nvPr/>
        </p:nvSpPr>
        <p:spPr>
          <a:xfrm>
            <a:off x="2697480" y="2039112"/>
            <a:ext cx="5760720" cy="640080"/>
          </a:xfrm>
          <a:prstGeom prst="rect">
            <a:avLst/>
          </a:prstGeom>
          <a:noFill/>
          <a:ln/>
        </p:spPr>
        <p:txBody>
          <a:bodyPr wrap="square" lIns="0" tIns="0" rIns="0" bIns="0" rtlCol="0" anchor="t"/>
          <a:lstStyle/>
          <a:p>
            <a:pPr indent="0" marL="0">
              <a:buNone/>
            </a:pPr>
            <a:r>
              <a:rPr lang="en-US" sz="1300" dirty="0">
                <a:solidFill>
                  <a:schemeClr val="tx1"/>
                </a:solidFill>
              </a:rPr>
              <a:t>Uses Azure Layout structure: roles become «title &gt; section» breadcrumbs, furniture is dropped, tables become markdown chunks with the header repeated, checkbox states are kept.</a:t>
            </a:r>
            <a:endParaRPr lang="en-US" sz="1300" dirty="0"/>
          </a:p>
        </p:txBody>
      </p:sp>
      <p:sp>
        <p:nvSpPr>
          <p:cNvPr id="12" name="text-197"/>
          <p:cNvSpPr txBox="1"/>
          <p:nvPr/>
        </p:nvSpPr>
        <p:spPr>
          <a:xfrm>
            <a:off x="8732520" y="2039112"/>
            <a:ext cx="2910535" cy="640080"/>
          </a:xfrm>
          <a:prstGeom prst="rect">
            <a:avLst/>
          </a:prstGeom>
          <a:noFill/>
          <a:ln/>
        </p:spPr>
        <p:txBody>
          <a:bodyPr wrap="square" lIns="0" tIns="0" rIns="0" bIns="0" rtlCol="0" anchor="t"/>
          <a:lstStyle/>
          <a:p>
            <a:pPr indent="0" marL="0">
              <a:buNone/>
            </a:pPr>
            <a:r>
              <a:rPr lang="en-US" sz="1300" dirty="0">
                <a:solidFill>
                  <a:schemeClr val="tx2"/>
                </a:solidFill>
              </a:rPr>
              <a:t>KYC forms and other structured documents</a:t>
            </a:r>
            <a:endParaRPr lang="en-US" sz="1300" dirty="0"/>
          </a:p>
        </p:txBody>
      </p:sp>
      <p:sp>
        <p:nvSpPr>
          <p:cNvPr id="13" name="link-198"/>
          <p:cNvSpPr/>
          <p:nvPr/>
        </p:nvSpPr>
        <p:spPr>
          <a:xfrm>
            <a:off x="548640" y="2715768"/>
            <a:ext cx="11094415" cy="0"/>
          </a:xfrm>
          <a:prstGeom prst="line">
            <a:avLst/>
          </a:prstGeom>
          <a:noFill/>
          <a:ln w="9525">
            <a:solidFill>
              <a:schemeClr val="accent6"/>
            </a:solidFill>
            <a:prstDash val="solid"/>
          </a:ln>
        </p:spPr>
      </p:sp>
      <p:sp>
        <p:nvSpPr>
          <p:cNvPr id="14" name="pill-199"/>
          <p:cNvSpPr/>
          <p:nvPr/>
        </p:nvSpPr>
        <p:spPr>
          <a:xfrm>
            <a:off x="548640" y="2843784"/>
            <a:ext cx="1417320" cy="329184"/>
          </a:xfrm>
          <a:prstGeom prst="roundRect">
            <a:avLst>
              <a:gd name="adj" fmla="val 50000"/>
            </a:avLst>
          </a:prstGeom>
          <a:solidFill>
            <a:schemeClr val="bg2"/>
          </a:solidFill>
          <a:ln/>
        </p:spPr>
        <p:txBody>
          <a:bodyPr wrap="square" lIns="0" tIns="0" rIns="0" bIns="0" rtlCol="0" anchor="ctr"/>
          <a:lstStyle/>
          <a:p>
            <a:pPr algn="ctr" indent="0" marL="0">
              <a:buNone/>
            </a:pPr>
            <a:r>
              <a:rPr lang="en-US" sz="1250" b="1" dirty="0">
                <a:solidFill>
                  <a:schemeClr val="tx1"/>
                </a:solidFill>
              </a:rPr>
              <a:t>layout</a:t>
            </a:r>
            <a:endParaRPr lang="en-US" sz="1250" dirty="0"/>
          </a:p>
        </p:txBody>
      </p:sp>
      <p:sp>
        <p:nvSpPr>
          <p:cNvPr id="15" name="text-200"/>
          <p:cNvSpPr txBox="1"/>
          <p:nvPr/>
        </p:nvSpPr>
        <p:spPr>
          <a:xfrm>
            <a:off x="548640" y="3191256"/>
            <a:ext cx="1417320" cy="237744"/>
          </a:xfrm>
          <a:prstGeom prst="rect">
            <a:avLst/>
          </a:prstGeom>
          <a:noFill/>
          <a:ln/>
        </p:spPr>
        <p:txBody>
          <a:bodyPr wrap="square" lIns="0" tIns="0" rIns="0" bIns="0" rtlCol="0" anchor="t"/>
          <a:lstStyle/>
          <a:p>
            <a:pPr algn="ctr" indent="0" marL="0">
              <a:buNone/>
            </a:pPr>
            <a:r>
              <a:rPr lang="en-US" sz="1050" dirty="0">
                <a:solidFill>
                  <a:schemeClr val="tx2"/>
                </a:solidFill>
              </a:rPr>
              <a:t>geometric</a:t>
            </a:r>
            <a:endParaRPr lang="en-US" sz="1050" dirty="0"/>
          </a:p>
        </p:txBody>
      </p:sp>
      <p:sp>
        <p:nvSpPr>
          <p:cNvPr id="16" name="text-201"/>
          <p:cNvSpPr txBox="1"/>
          <p:nvPr/>
        </p:nvSpPr>
        <p:spPr>
          <a:xfrm>
            <a:off x="2697480" y="2788920"/>
            <a:ext cx="5760720" cy="640080"/>
          </a:xfrm>
          <a:prstGeom prst="rect">
            <a:avLst/>
          </a:prstGeom>
          <a:noFill/>
          <a:ln/>
        </p:spPr>
        <p:txBody>
          <a:bodyPr wrap="square" lIns="0" tIns="0" rIns="0" bIns="0" rtlCol="0" anchor="t"/>
          <a:lstStyle/>
          <a:p>
            <a:pPr indent="0" marL="0">
              <a:buNone/>
            </a:pPr>
            <a:r>
              <a:rPr lang="en-US" sz="1300" dirty="0">
                <a:solidFill>
                  <a:schemeClr val="tx1"/>
                </a:solidFill>
              </a:rPr>
              <a:t>Geometry only: paragraphs from vertical-gap clustering, headings by line height, tables from aligned gutters; paragraphs continue across page breaks.</a:t>
            </a:r>
            <a:endParaRPr lang="en-US" sz="1300" dirty="0"/>
          </a:p>
        </p:txBody>
      </p:sp>
      <p:sp>
        <p:nvSpPr>
          <p:cNvPr id="17" name="text-202"/>
          <p:cNvSpPr txBox="1"/>
          <p:nvPr/>
        </p:nvSpPr>
        <p:spPr>
          <a:xfrm>
            <a:off x="8732520" y="2788920"/>
            <a:ext cx="2910535" cy="640080"/>
          </a:xfrm>
          <a:prstGeom prst="rect">
            <a:avLst/>
          </a:prstGeom>
          <a:noFill/>
          <a:ln/>
        </p:spPr>
        <p:txBody>
          <a:bodyPr wrap="square" lIns="0" tIns="0" rIns="0" bIns="0" rtlCol="0" anchor="t"/>
          <a:lstStyle/>
          <a:p>
            <a:pPr indent="0" marL="0">
              <a:buNone/>
            </a:pPr>
            <a:r>
              <a:rPr lang="en-US" sz="1300" dirty="0">
                <a:solidFill>
                  <a:schemeClr val="tx2"/>
                </a:solidFill>
              </a:rPr>
              <a:t>Documents Layout cannot structure (automatic fallback)</a:t>
            </a:r>
            <a:endParaRPr lang="en-US" sz="1300" dirty="0"/>
          </a:p>
        </p:txBody>
      </p:sp>
      <p:sp>
        <p:nvSpPr>
          <p:cNvPr id="18" name="link-203"/>
          <p:cNvSpPr/>
          <p:nvPr/>
        </p:nvSpPr>
        <p:spPr>
          <a:xfrm>
            <a:off x="548640" y="3465576"/>
            <a:ext cx="11094415" cy="0"/>
          </a:xfrm>
          <a:prstGeom prst="line">
            <a:avLst/>
          </a:prstGeom>
          <a:noFill/>
          <a:ln w="9525">
            <a:solidFill>
              <a:schemeClr val="accent6"/>
            </a:solidFill>
            <a:prstDash val="solid"/>
          </a:ln>
        </p:spPr>
      </p:sp>
      <p:sp>
        <p:nvSpPr>
          <p:cNvPr id="19" name="pill-204"/>
          <p:cNvSpPr/>
          <p:nvPr/>
        </p:nvSpPr>
        <p:spPr>
          <a:xfrm>
            <a:off x="548640" y="3593592"/>
            <a:ext cx="1417320" cy="329184"/>
          </a:xfrm>
          <a:prstGeom prst="roundRect">
            <a:avLst>
              <a:gd name="adj" fmla="val 50000"/>
            </a:avLst>
          </a:prstGeom>
          <a:solidFill>
            <a:schemeClr val="bg2"/>
          </a:solidFill>
          <a:ln/>
        </p:spPr>
        <p:txBody>
          <a:bodyPr wrap="square" lIns="0" tIns="0" rIns="0" bIns="0" rtlCol="0" anchor="ctr"/>
          <a:lstStyle/>
          <a:p>
            <a:pPr algn="ctr" indent="0" marL="0">
              <a:buNone/>
            </a:pPr>
            <a:r>
              <a:rPr lang="en-US" sz="1250" b="1" dirty="0">
                <a:solidFill>
                  <a:schemeClr val="tx1"/>
                </a:solidFill>
              </a:rPr>
              <a:t>recursive</a:t>
            </a:r>
            <a:endParaRPr lang="en-US" sz="1250" dirty="0"/>
          </a:p>
        </p:txBody>
      </p:sp>
      <p:sp>
        <p:nvSpPr>
          <p:cNvPr id="20" name="text-205"/>
          <p:cNvSpPr txBox="1"/>
          <p:nvPr/>
        </p:nvSpPr>
        <p:spPr>
          <a:xfrm>
            <a:off x="548640" y="3941064"/>
            <a:ext cx="1417320" cy="237744"/>
          </a:xfrm>
          <a:prstGeom prst="rect">
            <a:avLst/>
          </a:prstGeom>
          <a:noFill/>
          <a:ln/>
        </p:spPr>
        <p:txBody>
          <a:bodyPr wrap="square" lIns="0" tIns="0" rIns="0" bIns="0" rtlCol="0" anchor="t"/>
          <a:lstStyle/>
          <a:p>
            <a:pPr algn="ctr" indent="0" marL="0">
              <a:buNone/>
            </a:pPr>
            <a:r>
              <a:rPr lang="en-US" sz="1050" dirty="0">
                <a:solidFill>
                  <a:schemeClr val="tx2"/>
                </a:solidFill>
              </a:rPr>
              <a:t>baseline</a:t>
            </a:r>
            <a:endParaRPr lang="en-US" sz="1050" dirty="0"/>
          </a:p>
        </p:txBody>
      </p:sp>
      <p:sp>
        <p:nvSpPr>
          <p:cNvPr id="21" name="text-206"/>
          <p:cNvSpPr txBox="1"/>
          <p:nvPr/>
        </p:nvSpPr>
        <p:spPr>
          <a:xfrm>
            <a:off x="2697480" y="3538728"/>
            <a:ext cx="5760720" cy="640080"/>
          </a:xfrm>
          <a:prstGeom prst="rect">
            <a:avLst/>
          </a:prstGeom>
          <a:noFill/>
          <a:ln/>
        </p:spPr>
        <p:txBody>
          <a:bodyPr wrap="square" lIns="0" tIns="0" rIns="0" bIns="0" rtlCol="0" anchor="t"/>
          <a:lstStyle/>
          <a:p>
            <a:pPr indent="0" marL="0">
              <a:buNone/>
            </a:pPr>
            <a:r>
              <a:rPr lang="en-US" sz="1300" dirty="0">
                <a:solidFill>
                  <a:schemeClr val="tx1"/>
                </a:solidFill>
              </a:rPr>
              <a:t>Splits on paragraph, line, sentence, then word boundaries to the target size, with 60 tokens of overlap mapped back to OCR lines.</a:t>
            </a:r>
            <a:endParaRPr lang="en-US" sz="1300" dirty="0"/>
          </a:p>
        </p:txBody>
      </p:sp>
      <p:sp>
        <p:nvSpPr>
          <p:cNvPr id="22" name="text-207"/>
          <p:cNvSpPr txBox="1"/>
          <p:nvPr/>
        </p:nvSpPr>
        <p:spPr>
          <a:xfrm>
            <a:off x="8732520" y="3538728"/>
            <a:ext cx="2910535" cy="640080"/>
          </a:xfrm>
          <a:prstGeom prst="rect">
            <a:avLst/>
          </a:prstGeom>
          <a:noFill/>
          <a:ln/>
        </p:spPr>
        <p:txBody>
          <a:bodyPr wrap="square" lIns="0" tIns="0" rIns="0" bIns="0" rtlCol="0" anchor="t"/>
          <a:lstStyle/>
          <a:p>
            <a:pPr indent="0" marL="0">
              <a:buNone/>
            </a:pPr>
            <a:r>
              <a:rPr lang="en-US" sz="1300" dirty="0">
                <a:solidFill>
                  <a:schemeClr val="tx2"/>
                </a:solidFill>
              </a:rPr>
              <a:t>Plain prose; a predictable baseline</a:t>
            </a:r>
            <a:endParaRPr lang="en-US" sz="1300" dirty="0"/>
          </a:p>
        </p:txBody>
      </p:sp>
      <p:sp>
        <p:nvSpPr>
          <p:cNvPr id="23" name="link-208"/>
          <p:cNvSpPr/>
          <p:nvPr/>
        </p:nvSpPr>
        <p:spPr>
          <a:xfrm>
            <a:off x="548640" y="4215384"/>
            <a:ext cx="11094415" cy="0"/>
          </a:xfrm>
          <a:prstGeom prst="line">
            <a:avLst/>
          </a:prstGeom>
          <a:noFill/>
          <a:ln w="9525">
            <a:solidFill>
              <a:schemeClr val="accent6"/>
            </a:solidFill>
            <a:prstDash val="solid"/>
          </a:ln>
        </p:spPr>
      </p:sp>
      <p:sp>
        <p:nvSpPr>
          <p:cNvPr id="24" name="pill-209"/>
          <p:cNvSpPr/>
          <p:nvPr/>
        </p:nvSpPr>
        <p:spPr>
          <a:xfrm>
            <a:off x="548640" y="4343400"/>
            <a:ext cx="1417320" cy="329184"/>
          </a:xfrm>
          <a:prstGeom prst="roundRect">
            <a:avLst>
              <a:gd name="adj" fmla="val 50000"/>
            </a:avLst>
          </a:prstGeom>
          <a:solidFill>
            <a:schemeClr val="bg2"/>
          </a:solidFill>
          <a:ln/>
        </p:spPr>
        <p:txBody>
          <a:bodyPr wrap="square" lIns="0" tIns="0" rIns="0" bIns="0" rtlCol="0" anchor="ctr"/>
          <a:lstStyle/>
          <a:p>
            <a:pPr algn="ctr" indent="0" marL="0">
              <a:buNone/>
            </a:pPr>
            <a:r>
              <a:rPr lang="en-US" sz="1250" b="1" dirty="0">
                <a:solidFill>
                  <a:schemeClr val="tx1"/>
                </a:solidFill>
              </a:rPr>
              <a:t>semantic</a:t>
            </a:r>
            <a:endParaRPr lang="en-US" sz="1250" dirty="0"/>
          </a:p>
        </p:txBody>
      </p:sp>
      <p:sp>
        <p:nvSpPr>
          <p:cNvPr id="25" name="text-210"/>
          <p:cNvSpPr txBox="1"/>
          <p:nvPr/>
        </p:nvSpPr>
        <p:spPr>
          <a:xfrm>
            <a:off x="548640" y="4690872"/>
            <a:ext cx="1417320" cy="237744"/>
          </a:xfrm>
          <a:prstGeom prst="rect">
            <a:avLst/>
          </a:prstGeom>
          <a:noFill/>
          <a:ln/>
        </p:spPr>
        <p:txBody>
          <a:bodyPr wrap="square" lIns="0" tIns="0" rIns="0" bIns="0" rtlCol="0" anchor="t"/>
          <a:lstStyle/>
          <a:p>
            <a:pPr algn="ctr" indent="0" marL="0">
              <a:buNone/>
            </a:pPr>
            <a:r>
              <a:rPr lang="en-US" sz="1050" dirty="0">
                <a:solidFill>
                  <a:schemeClr val="tx2"/>
                </a:solidFill>
              </a:rPr>
              <a:t>Kamradt</a:t>
            </a:r>
            <a:endParaRPr lang="en-US" sz="1050" dirty="0"/>
          </a:p>
        </p:txBody>
      </p:sp>
      <p:sp>
        <p:nvSpPr>
          <p:cNvPr id="26" name="text-211"/>
          <p:cNvSpPr txBox="1"/>
          <p:nvPr/>
        </p:nvSpPr>
        <p:spPr>
          <a:xfrm>
            <a:off x="2697480" y="4288536"/>
            <a:ext cx="5760720" cy="640080"/>
          </a:xfrm>
          <a:prstGeom prst="rect">
            <a:avLst/>
          </a:prstGeom>
          <a:noFill/>
          <a:ln/>
        </p:spPr>
        <p:txBody>
          <a:bodyPr wrap="square" lIns="0" tIns="0" rIns="0" bIns="0" rtlCol="0" anchor="t"/>
          <a:lstStyle/>
          <a:p>
            <a:pPr indent="0" marL="0">
              <a:buNone/>
            </a:pPr>
            <a:r>
              <a:rPr lang="en-US" sz="1300" dirty="0">
                <a:solidFill>
                  <a:schemeClr val="tx1"/>
                </a:solidFill>
              </a:rPr>
              <a:t>Embeds 3-sentence windows and breaks where the distance between neighbours exceeds the 90th percentile.</a:t>
            </a:r>
            <a:endParaRPr lang="en-US" sz="1300" dirty="0"/>
          </a:p>
        </p:txBody>
      </p:sp>
      <p:sp>
        <p:nvSpPr>
          <p:cNvPr id="27" name="text-212"/>
          <p:cNvSpPr txBox="1"/>
          <p:nvPr/>
        </p:nvSpPr>
        <p:spPr>
          <a:xfrm>
            <a:off x="8732520" y="4288536"/>
            <a:ext cx="2910535" cy="640080"/>
          </a:xfrm>
          <a:prstGeom prst="rect">
            <a:avLst/>
          </a:prstGeom>
          <a:noFill/>
          <a:ln/>
        </p:spPr>
        <p:txBody>
          <a:bodyPr wrap="square" lIns="0" tIns="0" rIns="0" bIns="0" rtlCol="0" anchor="t"/>
          <a:lstStyle/>
          <a:p>
            <a:pPr indent="0" marL="0">
              <a:buNone/>
            </a:pPr>
            <a:r>
              <a:rPr lang="en-US" sz="1300" dirty="0">
                <a:solidFill>
                  <a:schemeClr val="tx2"/>
                </a:solidFill>
              </a:rPr>
              <a:t>Long narrative text with topic shifts</a:t>
            </a:r>
            <a:endParaRPr lang="en-US" sz="1300" dirty="0"/>
          </a:p>
        </p:txBody>
      </p:sp>
      <p:sp>
        <p:nvSpPr>
          <p:cNvPr id="28" name="link-213"/>
          <p:cNvSpPr/>
          <p:nvPr/>
        </p:nvSpPr>
        <p:spPr>
          <a:xfrm>
            <a:off x="548640" y="4965192"/>
            <a:ext cx="11094415" cy="0"/>
          </a:xfrm>
          <a:prstGeom prst="line">
            <a:avLst/>
          </a:prstGeom>
          <a:noFill/>
          <a:ln w="9525">
            <a:solidFill>
              <a:schemeClr val="accent6"/>
            </a:solidFill>
            <a:prstDash val="solid"/>
          </a:ln>
        </p:spPr>
      </p:sp>
      <p:sp>
        <p:nvSpPr>
          <p:cNvPr id="29" name="pill-214"/>
          <p:cNvSpPr/>
          <p:nvPr/>
        </p:nvSpPr>
        <p:spPr>
          <a:xfrm>
            <a:off x="548640" y="5093208"/>
            <a:ext cx="1417320" cy="329184"/>
          </a:xfrm>
          <a:prstGeom prst="roundRect">
            <a:avLst>
              <a:gd name="adj" fmla="val 50000"/>
            </a:avLst>
          </a:prstGeom>
          <a:solidFill>
            <a:schemeClr val="accent1"/>
          </a:solidFill>
          <a:ln/>
        </p:spPr>
        <p:txBody>
          <a:bodyPr wrap="square" lIns="0" tIns="0" rIns="0" bIns="0" rtlCol="0" anchor="ctr"/>
          <a:lstStyle/>
          <a:p>
            <a:pPr algn="ctr" indent="0" marL="0">
              <a:buNone/>
            </a:pPr>
            <a:r>
              <a:rPr lang="en-US" sz="1250" b="1" dirty="0">
                <a:solidFill>
                  <a:schemeClr val="bg1"/>
                </a:solidFill>
              </a:rPr>
              <a:t>parts</a:t>
            </a:r>
            <a:endParaRPr lang="en-US" sz="1250" dirty="0"/>
          </a:p>
        </p:txBody>
      </p:sp>
      <p:sp>
        <p:nvSpPr>
          <p:cNvPr id="30" name="text-215"/>
          <p:cNvSpPr txBox="1"/>
          <p:nvPr/>
        </p:nvSpPr>
        <p:spPr>
          <a:xfrm>
            <a:off x="548640" y="5440680"/>
            <a:ext cx="1417320" cy="237744"/>
          </a:xfrm>
          <a:prstGeom prst="rect">
            <a:avLst/>
          </a:prstGeom>
          <a:noFill/>
          <a:ln/>
        </p:spPr>
        <p:txBody>
          <a:bodyPr wrap="square" lIns="0" tIns="0" rIns="0" bIns="0" rtlCol="0" anchor="t"/>
          <a:lstStyle/>
          <a:p>
            <a:pPr algn="ctr" indent="0" marL="0">
              <a:buNone/>
            </a:pPr>
            <a:r>
              <a:rPr lang="en-US" sz="1050" dirty="0">
                <a:solidFill>
                  <a:schemeClr val="tx2"/>
                </a:solidFill>
              </a:rPr>
              <a:t>superset mode</a:t>
            </a:r>
            <a:endParaRPr lang="en-US" sz="1050" dirty="0"/>
          </a:p>
        </p:txBody>
      </p:sp>
      <p:sp>
        <p:nvSpPr>
          <p:cNvPr id="31" name="text-216"/>
          <p:cNvSpPr txBox="1"/>
          <p:nvPr/>
        </p:nvSpPr>
        <p:spPr>
          <a:xfrm>
            <a:off x="2697480" y="5038344"/>
            <a:ext cx="5760720" cy="640080"/>
          </a:xfrm>
          <a:prstGeom prst="rect">
            <a:avLst/>
          </a:prstGeom>
          <a:noFill/>
          <a:ln/>
        </p:spPr>
        <p:txBody>
          <a:bodyPr wrap="square" lIns="0" tIns="0" rIns="0" bIns="0" rtlCol="0" anchor="t"/>
          <a:lstStyle/>
          <a:p>
            <a:pPr indent="0" marL="0">
              <a:buNone/>
            </a:pPr>
            <a:r>
              <a:rPr lang="en-US" sz="1300" dirty="0">
                <a:solidFill>
                  <a:schemeClr val="tx1"/>
                </a:solidFill>
              </a:rPr>
              <a:t>Gap-spaced part ids, column-aware splicing, tables and 300 dpi figures in flow, heading prefixes, PII masking, full provenance.</a:t>
            </a:r>
            <a:endParaRPr lang="en-US" sz="1300" dirty="0"/>
          </a:p>
        </p:txBody>
      </p:sp>
      <p:sp>
        <p:nvSpPr>
          <p:cNvPr id="32" name="text-217"/>
          <p:cNvSpPr txBox="1"/>
          <p:nvPr/>
        </p:nvSpPr>
        <p:spPr>
          <a:xfrm>
            <a:off x="8732520" y="5038344"/>
            <a:ext cx="2910535" cy="640080"/>
          </a:xfrm>
          <a:prstGeom prst="rect">
            <a:avLst/>
          </a:prstGeom>
          <a:noFill/>
          <a:ln/>
        </p:spPr>
        <p:txBody>
          <a:bodyPr wrap="square" lIns="0" tIns="0" rIns="0" bIns="0" rtlCol="0" anchor="t"/>
          <a:lstStyle/>
          <a:p>
            <a:pPr indent="0" marL="0">
              <a:buNone/>
            </a:pPr>
            <a:r>
              <a:rPr lang="en-US" sz="1300" dirty="0">
                <a:solidFill>
                  <a:schemeClr val="tx2"/>
                </a:solidFill>
              </a:rPr>
              <a:t>Wega-format output when needed</a:t>
            </a:r>
            <a:endParaRPr lang="en-US" sz="1300" dirty="0"/>
          </a:p>
        </p:txBody>
      </p:sp>
      <p:sp>
        <p:nvSpPr>
          <p:cNvPr id="33" name="link-218"/>
          <p:cNvSpPr/>
          <p:nvPr/>
        </p:nvSpPr>
        <p:spPr>
          <a:xfrm>
            <a:off x="548640" y="5715000"/>
            <a:ext cx="11094415" cy="0"/>
          </a:xfrm>
          <a:prstGeom prst="line">
            <a:avLst/>
          </a:prstGeom>
          <a:noFill/>
          <a:ln w="9525">
            <a:solidFill>
              <a:schemeClr val="accent6"/>
            </a:solidFill>
            <a:prstDash val="solid"/>
          </a:ln>
        </p:spPr>
      </p:sp>
      <p:sp>
        <p:nvSpPr>
          <p:cNvPr id="34" name="text-219"/>
          <p:cNvSpPr txBox="1"/>
          <p:nvPr/>
        </p:nvSpPr>
        <p:spPr>
          <a:xfrm>
            <a:off x="548640" y="5870448"/>
            <a:ext cx="11094415" cy="329184"/>
          </a:xfrm>
          <a:prstGeom prst="rect">
            <a:avLst/>
          </a:prstGeom>
          <a:noFill/>
          <a:ln/>
        </p:spPr>
        <p:txBody>
          <a:bodyPr wrap="square" lIns="0" tIns="0" rIns="0" bIns="0" rtlCol="0" anchor="t"/>
          <a:lstStyle/>
          <a:p>
            <a:pPr indent="0" marL="0">
              <a:buNone/>
            </a:pPr>
            <a:r>
              <a:rPr lang="en-US" sz="1200" dirty="0">
                <a:solidFill>
                  <a:schemeClr val="tx2"/>
                </a:solidFill>
              </a:rPr>
              <a:t>Failures degrade instead of failing: Layout falls back to Read v3.2, layout_di to the geometric chunker, and a failed context call to an empty prefix.</a:t>
            </a:r>
            <a:endParaRPr lang="en-US" sz="1200" dirty="0"/>
          </a:p>
        </p:txBody>
      </p:sp>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10896"/>
            <a:ext cx="8229600" cy="274320"/>
          </a:xfrm>
          <a:prstGeom prst="rect">
            <a:avLst/>
          </a:prstGeom>
          <a:noFill/>
          <a:ln/>
        </p:spPr>
        <p:txBody>
          <a:bodyPr wrap="square" lIns="0" tIns="0" rIns="0" bIns="0" rtlCol="0" anchor="ctr"/>
          <a:lstStyle/>
          <a:p>
            <a:pPr algn="l" indent="0" marL="0">
              <a:buNone/>
            </a:pPr>
            <a:r>
              <a:rPr lang="en-US" sz="1200" b="1" spc="150" kern="0" dirty="0">
                <a:solidFill>
                  <a:schemeClr val="accent1"/>
                </a:solidFill>
              </a:rPr>
              <a:t>DES · PARTS ALGORITHM (1/2)</a:t>
            </a:r>
            <a:endParaRPr lang="en-US" sz="1200" dirty="0"/>
          </a:p>
        </p:txBody>
      </p:sp>
      <p:sp>
        <p:nvSpPr>
          <p:cNvPr id="3" name="Text 0"/>
          <p:cNvSpPr/>
          <p:nvPr>
            <p:ph idx="101" type="title" hasCustomPrompt="1"/>
          </p:nvPr>
        </p:nvSpPr>
        <p:spPr>
          <a:xfrm>
            <a:off x="548640" y="603504"/>
            <a:ext cx="11094415" cy="868680"/>
          </a:xfrm>
          <a:prstGeom prst="rect">
            <a:avLst/>
          </a:prstGeom>
          <a:noFill/>
          <a:ln/>
        </p:spPr>
        <p:txBody>
          <a:bodyPr wrap="square" lIns="0" tIns="0" rIns="0" bIns="0" rtlCol="0" anchor="t"/>
          <a:lstStyle/>
          <a:p>
            <a:pPr algn="l" indent="0" marL="0">
              <a:buNone/>
            </a:pPr>
            <a:r>
              <a:rPr lang="en-US" sz="2800" b="1" dirty="0">
                <a:solidFill>
                  <a:schemeClr val="tx1"/>
                </a:solidFill>
              </a:rPr>
              <a:t>Part IDs spaced by 100 give a stable, column-aware reading order</a:t>
            </a:r>
            <a:endParaRPr lang="en-US" sz="2800" dirty="0"/>
          </a:p>
        </p:txBody>
      </p:sp>
      <p:sp>
        <p:nvSpPr>
          <p:cNvPr id="5" name="card-220"/>
          <p:cNvSpPr/>
          <p:nvPr/>
        </p:nvSpPr>
        <p:spPr>
          <a:xfrm>
            <a:off x="548640" y="1645920"/>
            <a:ext cx="4297680" cy="4526280"/>
          </a:xfrm>
          <a:prstGeom prst="roundRect">
            <a:avLst>
              <a:gd name="adj" fmla="val 851"/>
            </a:avLst>
          </a:prstGeom>
          <a:solidFill>
            <a:schemeClr val="bg1"/>
          </a:solidFill>
          <a:ln w="9525">
            <a:solidFill>
              <a:schemeClr val="accent6"/>
            </a:solidFill>
            <a:prstDash val="solid"/>
          </a:ln>
          <a:effectLst>
            <a:outerShdw sx="100000" sy="100000" kx="0" ky="0" algn="bl" rotWithShape="0" blurRad="76200" dist="25400" dir="5400000">
              <a:srgbClr val="0B1F3A">
                <a:alpha val="12000"/>
              </a:srgbClr>
            </a:outerShdw>
          </a:effectLst>
        </p:spPr>
      </p:sp>
      <p:sp>
        <p:nvSpPr>
          <p:cNvPr id="6" name="furniture-221"/>
          <p:cNvSpPr/>
          <p:nvPr/>
        </p:nvSpPr>
        <p:spPr>
          <a:xfrm>
            <a:off x="777240" y="1783080"/>
            <a:ext cx="3840480" cy="237744"/>
          </a:xfrm>
          <a:prstGeom prst="rect">
            <a:avLst/>
          </a:prstGeom>
          <a:solidFill>
            <a:schemeClr val="bg1"/>
          </a:solidFill>
          <a:ln w="9525">
            <a:solidFill>
              <a:schemeClr val="accent5"/>
            </a:solidFill>
            <a:prstDash val="dash"/>
          </a:ln>
        </p:spPr>
        <p:txBody>
          <a:bodyPr wrap="square" lIns="0" tIns="0" rIns="0" bIns="0" rtlCol="0" anchor="ctr"/>
          <a:lstStyle/>
          <a:p>
            <a:pPr algn="ctr" indent="0" marL="0">
              <a:buNone/>
            </a:pPr>
            <a:r>
              <a:rPr lang="en-US" sz="1000" i="1" dirty="0">
                <a:solidFill>
                  <a:schemeClr val="tx2"/>
                </a:solidFill>
              </a:rPr>
              <a:t>pageHeader · dropped</a:t>
            </a:r>
            <a:endParaRPr lang="en-US" sz="1000" dirty="0"/>
          </a:p>
        </p:txBody>
      </p:sp>
      <p:sp>
        <p:nvSpPr>
          <p:cNvPr id="7" name="block-222"/>
          <p:cNvSpPr/>
          <p:nvPr/>
        </p:nvSpPr>
        <p:spPr>
          <a:xfrm>
            <a:off x="777240" y="2148840"/>
            <a:ext cx="3840480" cy="384048"/>
          </a:xfrm>
          <a:prstGeom prst="rect">
            <a:avLst/>
          </a:prstGeom>
          <a:solidFill>
            <a:schemeClr val="accent1">
              <a:alpha val="12000"/>
            </a:schemeClr>
          </a:solidFill>
          <a:ln/>
        </p:spPr>
      </p:sp>
      <p:sp>
        <p:nvSpPr>
          <p:cNvPr id="8" name="link-223"/>
          <p:cNvSpPr/>
          <p:nvPr/>
        </p:nvSpPr>
        <p:spPr>
          <a:xfrm>
            <a:off x="777240" y="2148840"/>
            <a:ext cx="91440" cy="0"/>
          </a:xfrm>
          <a:prstGeom prst="line">
            <a:avLst/>
          </a:prstGeom>
          <a:noFill/>
          <a:ln w="15875">
            <a:solidFill>
              <a:schemeClr val="accent1"/>
            </a:solidFill>
            <a:prstDash val="solid"/>
          </a:ln>
        </p:spPr>
      </p:sp>
      <p:sp>
        <p:nvSpPr>
          <p:cNvPr id="9" name="link-224"/>
          <p:cNvSpPr/>
          <p:nvPr/>
        </p:nvSpPr>
        <p:spPr>
          <a:xfrm>
            <a:off x="777240" y="2148840"/>
            <a:ext cx="0" cy="91440"/>
          </a:xfrm>
          <a:prstGeom prst="line">
            <a:avLst/>
          </a:prstGeom>
          <a:noFill/>
          <a:ln w="15875">
            <a:solidFill>
              <a:schemeClr val="accent1"/>
            </a:solidFill>
            <a:prstDash val="solid"/>
          </a:ln>
        </p:spPr>
      </p:sp>
      <p:sp>
        <p:nvSpPr>
          <p:cNvPr id="10" name="link-225"/>
          <p:cNvSpPr/>
          <p:nvPr/>
        </p:nvSpPr>
        <p:spPr>
          <a:xfrm>
            <a:off x="4526280" y="2148840"/>
            <a:ext cx="91440" cy="0"/>
          </a:xfrm>
          <a:prstGeom prst="line">
            <a:avLst/>
          </a:prstGeom>
          <a:noFill/>
          <a:ln w="15875">
            <a:solidFill>
              <a:schemeClr val="accent1"/>
            </a:solidFill>
            <a:prstDash val="solid"/>
          </a:ln>
        </p:spPr>
      </p:sp>
      <p:sp>
        <p:nvSpPr>
          <p:cNvPr id="11" name="link-226"/>
          <p:cNvSpPr/>
          <p:nvPr/>
        </p:nvSpPr>
        <p:spPr>
          <a:xfrm>
            <a:off x="4617720" y="2148840"/>
            <a:ext cx="0" cy="91440"/>
          </a:xfrm>
          <a:prstGeom prst="line">
            <a:avLst/>
          </a:prstGeom>
          <a:noFill/>
          <a:ln w="15875">
            <a:solidFill>
              <a:schemeClr val="accent1"/>
            </a:solidFill>
            <a:prstDash val="solid"/>
          </a:ln>
        </p:spPr>
      </p:sp>
      <p:sp>
        <p:nvSpPr>
          <p:cNvPr id="12" name="link-227"/>
          <p:cNvSpPr/>
          <p:nvPr/>
        </p:nvSpPr>
        <p:spPr>
          <a:xfrm>
            <a:off x="777240" y="2532888"/>
            <a:ext cx="91440" cy="0"/>
          </a:xfrm>
          <a:prstGeom prst="line">
            <a:avLst/>
          </a:prstGeom>
          <a:noFill/>
          <a:ln w="15875">
            <a:solidFill>
              <a:schemeClr val="accent1"/>
            </a:solidFill>
            <a:prstDash val="solid"/>
          </a:ln>
        </p:spPr>
      </p:sp>
      <p:sp>
        <p:nvSpPr>
          <p:cNvPr id="13" name="link-228"/>
          <p:cNvSpPr/>
          <p:nvPr/>
        </p:nvSpPr>
        <p:spPr>
          <a:xfrm>
            <a:off x="777240" y="2441448"/>
            <a:ext cx="0" cy="91440"/>
          </a:xfrm>
          <a:prstGeom prst="line">
            <a:avLst/>
          </a:prstGeom>
          <a:noFill/>
          <a:ln w="15875">
            <a:solidFill>
              <a:schemeClr val="accent1"/>
            </a:solidFill>
            <a:prstDash val="solid"/>
          </a:ln>
        </p:spPr>
      </p:sp>
      <p:sp>
        <p:nvSpPr>
          <p:cNvPr id="14" name="link-229"/>
          <p:cNvSpPr/>
          <p:nvPr/>
        </p:nvSpPr>
        <p:spPr>
          <a:xfrm>
            <a:off x="4526280" y="2532888"/>
            <a:ext cx="91440" cy="0"/>
          </a:xfrm>
          <a:prstGeom prst="line">
            <a:avLst/>
          </a:prstGeom>
          <a:noFill/>
          <a:ln w="15875">
            <a:solidFill>
              <a:schemeClr val="accent1"/>
            </a:solidFill>
            <a:prstDash val="solid"/>
          </a:ln>
        </p:spPr>
      </p:sp>
      <p:sp>
        <p:nvSpPr>
          <p:cNvPr id="15" name="link-230"/>
          <p:cNvSpPr/>
          <p:nvPr/>
        </p:nvSpPr>
        <p:spPr>
          <a:xfrm>
            <a:off x="4617720" y="2441448"/>
            <a:ext cx="0" cy="91440"/>
          </a:xfrm>
          <a:prstGeom prst="line">
            <a:avLst/>
          </a:prstGeom>
          <a:noFill/>
          <a:ln w="15875">
            <a:solidFill>
              <a:schemeClr val="accent1"/>
            </a:solidFill>
            <a:prstDash val="solid"/>
          </a:ln>
        </p:spPr>
      </p:sp>
      <p:sp>
        <p:nvSpPr>
          <p:cNvPr id="16" name="pill-231"/>
          <p:cNvSpPr/>
          <p:nvPr/>
        </p:nvSpPr>
        <p:spPr>
          <a:xfrm>
            <a:off x="832104" y="2203704"/>
            <a:ext cx="475488" cy="219456"/>
          </a:xfrm>
          <a:prstGeom prst="roundRect">
            <a:avLst>
              <a:gd name="adj" fmla="val 50000"/>
            </a:avLst>
          </a:prstGeom>
          <a:solidFill>
            <a:schemeClr val="tx1"/>
          </a:solidFill>
          <a:ln/>
        </p:spPr>
        <p:txBody>
          <a:bodyPr wrap="square" lIns="0" tIns="0" rIns="0" bIns="0" rtlCol="0" anchor="ctr"/>
          <a:lstStyle/>
          <a:p>
            <a:pPr algn="ctr" indent="0" marL="0">
              <a:buNone/>
            </a:pPr>
            <a:r>
              <a:rPr lang="en-US" sz="1000" b="1" dirty="0">
                <a:solidFill>
                  <a:schemeClr val="bg1"/>
                </a:solidFill>
              </a:rPr>
              <a:t>100</a:t>
            </a:r>
            <a:endParaRPr lang="en-US" sz="1000" dirty="0"/>
          </a:p>
        </p:txBody>
      </p:sp>
      <p:sp>
        <p:nvSpPr>
          <p:cNvPr id="17" name="text-232"/>
          <p:cNvSpPr txBox="1"/>
          <p:nvPr/>
        </p:nvSpPr>
        <p:spPr>
          <a:xfrm>
            <a:off x="1362456" y="2194560"/>
            <a:ext cx="3200400" cy="237744"/>
          </a:xfrm>
          <a:prstGeom prst="rect">
            <a:avLst/>
          </a:prstGeom>
          <a:noFill/>
          <a:ln/>
        </p:spPr>
        <p:txBody>
          <a:bodyPr wrap="square" lIns="0" tIns="0" rIns="0" bIns="0" rtlCol="0" anchor="ctr"/>
          <a:lstStyle/>
          <a:p>
            <a:pPr indent="0" marL="0">
              <a:buNone/>
            </a:pPr>
            <a:r>
              <a:rPr lang="en-US" sz="1000" dirty="0">
                <a:solidFill>
                  <a:schemeClr val="tx2"/>
                </a:solidFill>
              </a:rPr>
              <a:t>title</a:t>
            </a:r>
            <a:endParaRPr lang="en-US" sz="1000" dirty="0"/>
          </a:p>
        </p:txBody>
      </p:sp>
      <p:sp>
        <p:nvSpPr>
          <p:cNvPr id="18" name="block-233"/>
          <p:cNvSpPr/>
          <p:nvPr/>
        </p:nvSpPr>
        <p:spPr>
          <a:xfrm>
            <a:off x="777240" y="2624328"/>
            <a:ext cx="2688336" cy="329184"/>
          </a:xfrm>
          <a:prstGeom prst="rect">
            <a:avLst/>
          </a:prstGeom>
          <a:solidFill>
            <a:schemeClr val="accent1">
              <a:alpha val="12000"/>
            </a:schemeClr>
          </a:solidFill>
          <a:ln/>
        </p:spPr>
      </p:sp>
      <p:sp>
        <p:nvSpPr>
          <p:cNvPr id="19" name="link-234"/>
          <p:cNvSpPr/>
          <p:nvPr/>
        </p:nvSpPr>
        <p:spPr>
          <a:xfrm>
            <a:off x="777240" y="2624328"/>
            <a:ext cx="91440" cy="0"/>
          </a:xfrm>
          <a:prstGeom prst="line">
            <a:avLst/>
          </a:prstGeom>
          <a:noFill/>
          <a:ln w="15875">
            <a:solidFill>
              <a:schemeClr val="accent1"/>
            </a:solidFill>
            <a:prstDash val="solid"/>
          </a:ln>
        </p:spPr>
      </p:sp>
      <p:sp>
        <p:nvSpPr>
          <p:cNvPr id="20" name="link-235"/>
          <p:cNvSpPr/>
          <p:nvPr/>
        </p:nvSpPr>
        <p:spPr>
          <a:xfrm>
            <a:off x="777240" y="2624328"/>
            <a:ext cx="0" cy="91440"/>
          </a:xfrm>
          <a:prstGeom prst="line">
            <a:avLst/>
          </a:prstGeom>
          <a:noFill/>
          <a:ln w="15875">
            <a:solidFill>
              <a:schemeClr val="accent1"/>
            </a:solidFill>
            <a:prstDash val="solid"/>
          </a:ln>
        </p:spPr>
      </p:sp>
      <p:sp>
        <p:nvSpPr>
          <p:cNvPr id="21" name="link-236"/>
          <p:cNvSpPr/>
          <p:nvPr/>
        </p:nvSpPr>
        <p:spPr>
          <a:xfrm>
            <a:off x="3374136" y="2624328"/>
            <a:ext cx="91440" cy="0"/>
          </a:xfrm>
          <a:prstGeom prst="line">
            <a:avLst/>
          </a:prstGeom>
          <a:noFill/>
          <a:ln w="15875">
            <a:solidFill>
              <a:schemeClr val="accent1"/>
            </a:solidFill>
            <a:prstDash val="solid"/>
          </a:ln>
        </p:spPr>
      </p:sp>
      <p:sp>
        <p:nvSpPr>
          <p:cNvPr id="22" name="link-237"/>
          <p:cNvSpPr/>
          <p:nvPr/>
        </p:nvSpPr>
        <p:spPr>
          <a:xfrm>
            <a:off x="3465576" y="2624328"/>
            <a:ext cx="0" cy="91440"/>
          </a:xfrm>
          <a:prstGeom prst="line">
            <a:avLst/>
          </a:prstGeom>
          <a:noFill/>
          <a:ln w="15875">
            <a:solidFill>
              <a:schemeClr val="accent1"/>
            </a:solidFill>
            <a:prstDash val="solid"/>
          </a:ln>
        </p:spPr>
      </p:sp>
      <p:sp>
        <p:nvSpPr>
          <p:cNvPr id="23" name="link-238"/>
          <p:cNvSpPr/>
          <p:nvPr/>
        </p:nvSpPr>
        <p:spPr>
          <a:xfrm>
            <a:off x="777240" y="2953512"/>
            <a:ext cx="91440" cy="0"/>
          </a:xfrm>
          <a:prstGeom prst="line">
            <a:avLst/>
          </a:prstGeom>
          <a:noFill/>
          <a:ln w="15875">
            <a:solidFill>
              <a:schemeClr val="accent1"/>
            </a:solidFill>
            <a:prstDash val="solid"/>
          </a:ln>
        </p:spPr>
      </p:sp>
      <p:sp>
        <p:nvSpPr>
          <p:cNvPr id="24" name="link-239"/>
          <p:cNvSpPr/>
          <p:nvPr/>
        </p:nvSpPr>
        <p:spPr>
          <a:xfrm>
            <a:off x="777240" y="2862072"/>
            <a:ext cx="0" cy="91440"/>
          </a:xfrm>
          <a:prstGeom prst="line">
            <a:avLst/>
          </a:prstGeom>
          <a:noFill/>
          <a:ln w="15875">
            <a:solidFill>
              <a:schemeClr val="accent1"/>
            </a:solidFill>
            <a:prstDash val="solid"/>
          </a:ln>
        </p:spPr>
      </p:sp>
      <p:sp>
        <p:nvSpPr>
          <p:cNvPr id="25" name="link-240"/>
          <p:cNvSpPr/>
          <p:nvPr/>
        </p:nvSpPr>
        <p:spPr>
          <a:xfrm>
            <a:off x="3374136" y="2953512"/>
            <a:ext cx="91440" cy="0"/>
          </a:xfrm>
          <a:prstGeom prst="line">
            <a:avLst/>
          </a:prstGeom>
          <a:noFill/>
          <a:ln w="15875">
            <a:solidFill>
              <a:schemeClr val="accent1"/>
            </a:solidFill>
            <a:prstDash val="solid"/>
          </a:ln>
        </p:spPr>
      </p:sp>
      <p:sp>
        <p:nvSpPr>
          <p:cNvPr id="26" name="link-241"/>
          <p:cNvSpPr/>
          <p:nvPr/>
        </p:nvSpPr>
        <p:spPr>
          <a:xfrm>
            <a:off x="3465576" y="2862072"/>
            <a:ext cx="0" cy="91440"/>
          </a:xfrm>
          <a:prstGeom prst="line">
            <a:avLst/>
          </a:prstGeom>
          <a:noFill/>
          <a:ln w="15875">
            <a:solidFill>
              <a:schemeClr val="accent1"/>
            </a:solidFill>
            <a:prstDash val="solid"/>
          </a:ln>
        </p:spPr>
      </p:sp>
      <p:sp>
        <p:nvSpPr>
          <p:cNvPr id="27" name="pill-242"/>
          <p:cNvSpPr/>
          <p:nvPr/>
        </p:nvSpPr>
        <p:spPr>
          <a:xfrm>
            <a:off x="832104" y="2679192"/>
            <a:ext cx="475488" cy="219456"/>
          </a:xfrm>
          <a:prstGeom prst="roundRect">
            <a:avLst>
              <a:gd name="adj" fmla="val 50000"/>
            </a:avLst>
          </a:prstGeom>
          <a:solidFill>
            <a:schemeClr val="tx1"/>
          </a:solidFill>
          <a:ln/>
        </p:spPr>
        <p:txBody>
          <a:bodyPr wrap="square" lIns="0" tIns="0" rIns="0" bIns="0" rtlCol="0" anchor="ctr"/>
          <a:lstStyle/>
          <a:p>
            <a:pPr algn="ctr" indent="0" marL="0">
              <a:buNone/>
            </a:pPr>
            <a:r>
              <a:rPr lang="en-US" sz="1000" b="1" dirty="0">
                <a:solidFill>
                  <a:schemeClr val="bg1"/>
                </a:solidFill>
              </a:rPr>
              <a:t>200</a:t>
            </a:r>
            <a:endParaRPr lang="en-US" sz="1000" dirty="0"/>
          </a:p>
        </p:txBody>
      </p:sp>
      <p:sp>
        <p:nvSpPr>
          <p:cNvPr id="28" name="text-243"/>
          <p:cNvSpPr txBox="1"/>
          <p:nvPr/>
        </p:nvSpPr>
        <p:spPr>
          <a:xfrm>
            <a:off x="1362456" y="2670048"/>
            <a:ext cx="2048256" cy="237744"/>
          </a:xfrm>
          <a:prstGeom prst="rect">
            <a:avLst/>
          </a:prstGeom>
          <a:noFill/>
          <a:ln/>
        </p:spPr>
        <p:txBody>
          <a:bodyPr wrap="square" lIns="0" tIns="0" rIns="0" bIns="0" rtlCol="0" anchor="ctr"/>
          <a:lstStyle/>
          <a:p>
            <a:pPr indent="0" marL="0">
              <a:buNone/>
            </a:pPr>
            <a:r>
              <a:rPr lang="en-US" sz="1000" dirty="0">
                <a:solidFill>
                  <a:schemeClr val="tx2"/>
                </a:solidFill>
              </a:rPr>
              <a:t>sectionHeading</a:t>
            </a:r>
            <a:endParaRPr lang="en-US" sz="1000" dirty="0"/>
          </a:p>
        </p:txBody>
      </p:sp>
      <p:sp>
        <p:nvSpPr>
          <p:cNvPr id="29" name="block-244"/>
          <p:cNvSpPr/>
          <p:nvPr/>
        </p:nvSpPr>
        <p:spPr>
          <a:xfrm>
            <a:off x="777240" y="3063240"/>
            <a:ext cx="1828800" cy="640080"/>
          </a:xfrm>
          <a:prstGeom prst="rect">
            <a:avLst/>
          </a:prstGeom>
          <a:solidFill>
            <a:schemeClr val="accent1">
              <a:alpha val="12000"/>
            </a:schemeClr>
          </a:solidFill>
          <a:ln/>
        </p:spPr>
      </p:sp>
      <p:sp>
        <p:nvSpPr>
          <p:cNvPr id="30" name="link-245"/>
          <p:cNvSpPr/>
          <p:nvPr/>
        </p:nvSpPr>
        <p:spPr>
          <a:xfrm>
            <a:off x="777240" y="3063240"/>
            <a:ext cx="91440" cy="0"/>
          </a:xfrm>
          <a:prstGeom prst="line">
            <a:avLst/>
          </a:prstGeom>
          <a:noFill/>
          <a:ln w="15875">
            <a:solidFill>
              <a:schemeClr val="accent1"/>
            </a:solidFill>
            <a:prstDash val="solid"/>
          </a:ln>
        </p:spPr>
      </p:sp>
      <p:sp>
        <p:nvSpPr>
          <p:cNvPr id="31" name="link-246"/>
          <p:cNvSpPr/>
          <p:nvPr/>
        </p:nvSpPr>
        <p:spPr>
          <a:xfrm>
            <a:off x="777240" y="3063240"/>
            <a:ext cx="0" cy="91440"/>
          </a:xfrm>
          <a:prstGeom prst="line">
            <a:avLst/>
          </a:prstGeom>
          <a:noFill/>
          <a:ln w="15875">
            <a:solidFill>
              <a:schemeClr val="accent1"/>
            </a:solidFill>
            <a:prstDash val="solid"/>
          </a:ln>
        </p:spPr>
      </p:sp>
      <p:sp>
        <p:nvSpPr>
          <p:cNvPr id="32" name="link-247"/>
          <p:cNvSpPr/>
          <p:nvPr/>
        </p:nvSpPr>
        <p:spPr>
          <a:xfrm>
            <a:off x="2514600" y="3063240"/>
            <a:ext cx="91440" cy="0"/>
          </a:xfrm>
          <a:prstGeom prst="line">
            <a:avLst/>
          </a:prstGeom>
          <a:noFill/>
          <a:ln w="15875">
            <a:solidFill>
              <a:schemeClr val="accent1"/>
            </a:solidFill>
            <a:prstDash val="solid"/>
          </a:ln>
        </p:spPr>
      </p:sp>
      <p:sp>
        <p:nvSpPr>
          <p:cNvPr id="33" name="link-248"/>
          <p:cNvSpPr/>
          <p:nvPr/>
        </p:nvSpPr>
        <p:spPr>
          <a:xfrm>
            <a:off x="2606040" y="3063240"/>
            <a:ext cx="0" cy="91440"/>
          </a:xfrm>
          <a:prstGeom prst="line">
            <a:avLst/>
          </a:prstGeom>
          <a:noFill/>
          <a:ln w="15875">
            <a:solidFill>
              <a:schemeClr val="accent1"/>
            </a:solidFill>
            <a:prstDash val="solid"/>
          </a:ln>
        </p:spPr>
      </p:sp>
      <p:sp>
        <p:nvSpPr>
          <p:cNvPr id="34" name="link-249"/>
          <p:cNvSpPr/>
          <p:nvPr/>
        </p:nvSpPr>
        <p:spPr>
          <a:xfrm>
            <a:off x="777240" y="3703320"/>
            <a:ext cx="91440" cy="0"/>
          </a:xfrm>
          <a:prstGeom prst="line">
            <a:avLst/>
          </a:prstGeom>
          <a:noFill/>
          <a:ln w="15875">
            <a:solidFill>
              <a:schemeClr val="accent1"/>
            </a:solidFill>
            <a:prstDash val="solid"/>
          </a:ln>
        </p:spPr>
      </p:sp>
      <p:sp>
        <p:nvSpPr>
          <p:cNvPr id="35" name="link-250"/>
          <p:cNvSpPr/>
          <p:nvPr/>
        </p:nvSpPr>
        <p:spPr>
          <a:xfrm>
            <a:off x="777240" y="3611880"/>
            <a:ext cx="0" cy="91440"/>
          </a:xfrm>
          <a:prstGeom prst="line">
            <a:avLst/>
          </a:prstGeom>
          <a:noFill/>
          <a:ln w="15875">
            <a:solidFill>
              <a:schemeClr val="accent1"/>
            </a:solidFill>
            <a:prstDash val="solid"/>
          </a:ln>
        </p:spPr>
      </p:sp>
      <p:sp>
        <p:nvSpPr>
          <p:cNvPr id="36" name="link-251"/>
          <p:cNvSpPr/>
          <p:nvPr/>
        </p:nvSpPr>
        <p:spPr>
          <a:xfrm>
            <a:off x="2514600" y="3703320"/>
            <a:ext cx="91440" cy="0"/>
          </a:xfrm>
          <a:prstGeom prst="line">
            <a:avLst/>
          </a:prstGeom>
          <a:noFill/>
          <a:ln w="15875">
            <a:solidFill>
              <a:schemeClr val="accent1"/>
            </a:solidFill>
            <a:prstDash val="solid"/>
          </a:ln>
        </p:spPr>
      </p:sp>
      <p:sp>
        <p:nvSpPr>
          <p:cNvPr id="37" name="link-252"/>
          <p:cNvSpPr/>
          <p:nvPr/>
        </p:nvSpPr>
        <p:spPr>
          <a:xfrm>
            <a:off x="2606040" y="3611880"/>
            <a:ext cx="0" cy="91440"/>
          </a:xfrm>
          <a:prstGeom prst="line">
            <a:avLst/>
          </a:prstGeom>
          <a:noFill/>
          <a:ln w="15875">
            <a:solidFill>
              <a:schemeClr val="accent1"/>
            </a:solidFill>
            <a:prstDash val="solid"/>
          </a:ln>
        </p:spPr>
      </p:sp>
      <p:sp>
        <p:nvSpPr>
          <p:cNvPr id="38" name="pill-253"/>
          <p:cNvSpPr/>
          <p:nvPr/>
        </p:nvSpPr>
        <p:spPr>
          <a:xfrm>
            <a:off x="832104" y="3118104"/>
            <a:ext cx="475488" cy="219456"/>
          </a:xfrm>
          <a:prstGeom prst="roundRect">
            <a:avLst>
              <a:gd name="adj" fmla="val 50000"/>
            </a:avLst>
          </a:prstGeom>
          <a:solidFill>
            <a:schemeClr val="tx1"/>
          </a:solidFill>
          <a:ln/>
        </p:spPr>
        <p:txBody>
          <a:bodyPr wrap="square" lIns="0" tIns="0" rIns="0" bIns="0" rtlCol="0" anchor="ctr"/>
          <a:lstStyle/>
          <a:p>
            <a:pPr algn="ctr" indent="0" marL="0">
              <a:buNone/>
            </a:pPr>
            <a:r>
              <a:rPr lang="en-US" sz="1000" b="1" dirty="0">
                <a:solidFill>
                  <a:schemeClr val="bg1"/>
                </a:solidFill>
              </a:rPr>
              <a:t>300</a:t>
            </a:r>
            <a:endParaRPr lang="en-US" sz="1000" dirty="0"/>
          </a:p>
        </p:txBody>
      </p:sp>
      <p:sp>
        <p:nvSpPr>
          <p:cNvPr id="39" name="text-254"/>
          <p:cNvSpPr txBox="1"/>
          <p:nvPr/>
        </p:nvSpPr>
        <p:spPr>
          <a:xfrm>
            <a:off x="1362456" y="3108960"/>
            <a:ext cx="1188720" cy="237744"/>
          </a:xfrm>
          <a:prstGeom prst="rect">
            <a:avLst/>
          </a:prstGeom>
          <a:noFill/>
          <a:ln/>
        </p:spPr>
        <p:txBody>
          <a:bodyPr wrap="square" lIns="0" tIns="0" rIns="0" bIns="0" rtlCol="0" anchor="ctr"/>
          <a:lstStyle/>
          <a:p>
            <a:pPr indent="0" marL="0">
              <a:buNone/>
            </a:pPr>
            <a:r>
              <a:rPr lang="en-US" sz="1000" dirty="0">
                <a:solidFill>
                  <a:schemeClr val="tx2"/>
                </a:solidFill>
              </a:rPr>
              <a:t>paragraph</a:t>
            </a:r>
            <a:endParaRPr lang="en-US" sz="1000" dirty="0"/>
          </a:p>
        </p:txBody>
      </p:sp>
      <p:sp>
        <p:nvSpPr>
          <p:cNvPr id="40" name="block-255"/>
          <p:cNvSpPr/>
          <p:nvPr/>
        </p:nvSpPr>
        <p:spPr>
          <a:xfrm>
            <a:off x="777240" y="3858768"/>
            <a:ext cx="1828800" cy="804672"/>
          </a:xfrm>
          <a:prstGeom prst="rect">
            <a:avLst/>
          </a:prstGeom>
          <a:solidFill>
            <a:schemeClr val="accent3">
              <a:alpha val="18000"/>
            </a:schemeClr>
          </a:solidFill>
          <a:ln/>
        </p:spPr>
      </p:sp>
      <p:sp>
        <p:nvSpPr>
          <p:cNvPr id="41" name="link-256"/>
          <p:cNvSpPr/>
          <p:nvPr/>
        </p:nvSpPr>
        <p:spPr>
          <a:xfrm>
            <a:off x="777240" y="3858768"/>
            <a:ext cx="91440" cy="0"/>
          </a:xfrm>
          <a:prstGeom prst="line">
            <a:avLst/>
          </a:prstGeom>
          <a:noFill/>
          <a:ln w="15875">
            <a:solidFill>
              <a:schemeClr val="accent3"/>
            </a:solidFill>
            <a:prstDash val="solid"/>
          </a:ln>
        </p:spPr>
      </p:sp>
      <p:sp>
        <p:nvSpPr>
          <p:cNvPr id="42" name="link-257"/>
          <p:cNvSpPr/>
          <p:nvPr/>
        </p:nvSpPr>
        <p:spPr>
          <a:xfrm>
            <a:off x="777240" y="3858768"/>
            <a:ext cx="0" cy="91440"/>
          </a:xfrm>
          <a:prstGeom prst="line">
            <a:avLst/>
          </a:prstGeom>
          <a:noFill/>
          <a:ln w="15875">
            <a:solidFill>
              <a:schemeClr val="accent3"/>
            </a:solidFill>
            <a:prstDash val="solid"/>
          </a:ln>
        </p:spPr>
      </p:sp>
      <p:sp>
        <p:nvSpPr>
          <p:cNvPr id="43" name="link-258"/>
          <p:cNvSpPr/>
          <p:nvPr/>
        </p:nvSpPr>
        <p:spPr>
          <a:xfrm>
            <a:off x="2514600" y="3858768"/>
            <a:ext cx="91440" cy="0"/>
          </a:xfrm>
          <a:prstGeom prst="line">
            <a:avLst/>
          </a:prstGeom>
          <a:noFill/>
          <a:ln w="15875">
            <a:solidFill>
              <a:schemeClr val="accent3"/>
            </a:solidFill>
            <a:prstDash val="solid"/>
          </a:ln>
        </p:spPr>
      </p:sp>
      <p:sp>
        <p:nvSpPr>
          <p:cNvPr id="44" name="link-259"/>
          <p:cNvSpPr/>
          <p:nvPr/>
        </p:nvSpPr>
        <p:spPr>
          <a:xfrm>
            <a:off x="2606040" y="3858768"/>
            <a:ext cx="0" cy="91440"/>
          </a:xfrm>
          <a:prstGeom prst="line">
            <a:avLst/>
          </a:prstGeom>
          <a:noFill/>
          <a:ln w="15875">
            <a:solidFill>
              <a:schemeClr val="accent3"/>
            </a:solidFill>
            <a:prstDash val="solid"/>
          </a:ln>
        </p:spPr>
      </p:sp>
      <p:sp>
        <p:nvSpPr>
          <p:cNvPr id="45" name="link-260"/>
          <p:cNvSpPr/>
          <p:nvPr/>
        </p:nvSpPr>
        <p:spPr>
          <a:xfrm>
            <a:off x="777240" y="4663440"/>
            <a:ext cx="91440" cy="0"/>
          </a:xfrm>
          <a:prstGeom prst="line">
            <a:avLst/>
          </a:prstGeom>
          <a:noFill/>
          <a:ln w="15875">
            <a:solidFill>
              <a:schemeClr val="accent3"/>
            </a:solidFill>
            <a:prstDash val="solid"/>
          </a:ln>
        </p:spPr>
      </p:sp>
      <p:sp>
        <p:nvSpPr>
          <p:cNvPr id="46" name="link-261"/>
          <p:cNvSpPr/>
          <p:nvPr/>
        </p:nvSpPr>
        <p:spPr>
          <a:xfrm>
            <a:off x="777240" y="4572000"/>
            <a:ext cx="0" cy="91440"/>
          </a:xfrm>
          <a:prstGeom prst="line">
            <a:avLst/>
          </a:prstGeom>
          <a:noFill/>
          <a:ln w="15875">
            <a:solidFill>
              <a:schemeClr val="accent3"/>
            </a:solidFill>
            <a:prstDash val="solid"/>
          </a:ln>
        </p:spPr>
      </p:sp>
      <p:sp>
        <p:nvSpPr>
          <p:cNvPr id="47" name="link-262"/>
          <p:cNvSpPr/>
          <p:nvPr/>
        </p:nvSpPr>
        <p:spPr>
          <a:xfrm>
            <a:off x="2514600" y="4663440"/>
            <a:ext cx="91440" cy="0"/>
          </a:xfrm>
          <a:prstGeom prst="line">
            <a:avLst/>
          </a:prstGeom>
          <a:noFill/>
          <a:ln w="15875">
            <a:solidFill>
              <a:schemeClr val="accent3"/>
            </a:solidFill>
            <a:prstDash val="solid"/>
          </a:ln>
        </p:spPr>
      </p:sp>
      <p:sp>
        <p:nvSpPr>
          <p:cNvPr id="48" name="link-263"/>
          <p:cNvSpPr/>
          <p:nvPr/>
        </p:nvSpPr>
        <p:spPr>
          <a:xfrm>
            <a:off x="2606040" y="4572000"/>
            <a:ext cx="0" cy="91440"/>
          </a:xfrm>
          <a:prstGeom prst="line">
            <a:avLst/>
          </a:prstGeom>
          <a:noFill/>
          <a:ln w="15875">
            <a:solidFill>
              <a:schemeClr val="accent3"/>
            </a:solidFill>
            <a:prstDash val="solid"/>
          </a:ln>
        </p:spPr>
      </p:sp>
      <p:sp>
        <p:nvSpPr>
          <p:cNvPr id="49" name="pill-264"/>
          <p:cNvSpPr/>
          <p:nvPr/>
        </p:nvSpPr>
        <p:spPr>
          <a:xfrm>
            <a:off x="832104" y="3913632"/>
            <a:ext cx="475488" cy="219456"/>
          </a:xfrm>
          <a:prstGeom prst="roundRect">
            <a:avLst>
              <a:gd name="adj" fmla="val 50000"/>
            </a:avLst>
          </a:prstGeom>
          <a:solidFill>
            <a:schemeClr val="accent3"/>
          </a:solidFill>
          <a:ln/>
        </p:spPr>
        <p:txBody>
          <a:bodyPr wrap="square" lIns="0" tIns="0" rIns="0" bIns="0" rtlCol="0" anchor="ctr"/>
          <a:lstStyle/>
          <a:p>
            <a:pPr algn="ctr" indent="0" marL="0">
              <a:buNone/>
            </a:pPr>
            <a:r>
              <a:rPr lang="en-US" sz="1000" b="1" dirty="0">
                <a:solidFill>
                  <a:schemeClr val="tx1"/>
                </a:solidFill>
              </a:rPr>
              <a:t>350</a:t>
            </a:r>
            <a:endParaRPr lang="en-US" sz="1000" dirty="0"/>
          </a:p>
        </p:txBody>
      </p:sp>
      <p:sp>
        <p:nvSpPr>
          <p:cNvPr id="50" name="text-265"/>
          <p:cNvSpPr txBox="1"/>
          <p:nvPr/>
        </p:nvSpPr>
        <p:spPr>
          <a:xfrm>
            <a:off x="1362456" y="3904488"/>
            <a:ext cx="1188720" cy="237744"/>
          </a:xfrm>
          <a:prstGeom prst="rect">
            <a:avLst/>
          </a:prstGeom>
          <a:noFill/>
          <a:ln/>
        </p:spPr>
        <p:txBody>
          <a:bodyPr wrap="square" lIns="0" tIns="0" rIns="0" bIns="0" rtlCol="0" anchor="ctr"/>
          <a:lstStyle/>
          <a:p>
            <a:pPr indent="0" marL="0">
              <a:buNone/>
            </a:pPr>
            <a:r>
              <a:rPr lang="en-US" sz="1000" dirty="0">
                <a:solidFill>
                  <a:schemeClr val="tx2"/>
                </a:solidFill>
              </a:rPr>
              <a:t>table</a:t>
            </a:r>
            <a:endParaRPr lang="en-US" sz="1000" dirty="0"/>
          </a:p>
        </p:txBody>
      </p:sp>
      <p:sp>
        <p:nvSpPr>
          <p:cNvPr id="51" name="link-266"/>
          <p:cNvSpPr/>
          <p:nvPr/>
        </p:nvSpPr>
        <p:spPr>
          <a:xfrm>
            <a:off x="850392" y="4169664"/>
            <a:ext cx="1682496" cy="0"/>
          </a:xfrm>
          <a:prstGeom prst="line">
            <a:avLst/>
          </a:prstGeom>
          <a:noFill/>
          <a:ln w="9525">
            <a:solidFill>
              <a:schemeClr val="accent3"/>
            </a:solidFill>
            <a:prstDash val="solid"/>
          </a:ln>
        </p:spPr>
      </p:sp>
      <p:sp>
        <p:nvSpPr>
          <p:cNvPr id="52" name="link-267"/>
          <p:cNvSpPr/>
          <p:nvPr/>
        </p:nvSpPr>
        <p:spPr>
          <a:xfrm>
            <a:off x="850392" y="4407408"/>
            <a:ext cx="1682496" cy="0"/>
          </a:xfrm>
          <a:prstGeom prst="line">
            <a:avLst/>
          </a:prstGeom>
          <a:noFill/>
          <a:ln w="9525">
            <a:solidFill>
              <a:schemeClr val="accent3"/>
            </a:solidFill>
            <a:prstDash val="solid"/>
          </a:ln>
        </p:spPr>
      </p:sp>
      <p:sp>
        <p:nvSpPr>
          <p:cNvPr id="53" name="block-268"/>
          <p:cNvSpPr/>
          <p:nvPr/>
        </p:nvSpPr>
        <p:spPr>
          <a:xfrm>
            <a:off x="777240" y="4818888"/>
            <a:ext cx="1828800" cy="713232"/>
          </a:xfrm>
          <a:prstGeom prst="rect">
            <a:avLst/>
          </a:prstGeom>
          <a:solidFill>
            <a:schemeClr val="accent1">
              <a:alpha val="12000"/>
            </a:schemeClr>
          </a:solidFill>
          <a:ln/>
        </p:spPr>
      </p:sp>
      <p:sp>
        <p:nvSpPr>
          <p:cNvPr id="54" name="link-269"/>
          <p:cNvSpPr/>
          <p:nvPr/>
        </p:nvSpPr>
        <p:spPr>
          <a:xfrm>
            <a:off x="777240" y="4818888"/>
            <a:ext cx="91440" cy="0"/>
          </a:xfrm>
          <a:prstGeom prst="line">
            <a:avLst/>
          </a:prstGeom>
          <a:noFill/>
          <a:ln w="15875">
            <a:solidFill>
              <a:schemeClr val="accent1"/>
            </a:solidFill>
            <a:prstDash val="solid"/>
          </a:ln>
        </p:spPr>
      </p:sp>
      <p:sp>
        <p:nvSpPr>
          <p:cNvPr id="55" name="link-270"/>
          <p:cNvSpPr/>
          <p:nvPr/>
        </p:nvSpPr>
        <p:spPr>
          <a:xfrm>
            <a:off x="777240" y="4818888"/>
            <a:ext cx="0" cy="91440"/>
          </a:xfrm>
          <a:prstGeom prst="line">
            <a:avLst/>
          </a:prstGeom>
          <a:noFill/>
          <a:ln w="15875">
            <a:solidFill>
              <a:schemeClr val="accent1"/>
            </a:solidFill>
            <a:prstDash val="solid"/>
          </a:ln>
        </p:spPr>
      </p:sp>
      <p:sp>
        <p:nvSpPr>
          <p:cNvPr id="56" name="link-271"/>
          <p:cNvSpPr/>
          <p:nvPr/>
        </p:nvSpPr>
        <p:spPr>
          <a:xfrm>
            <a:off x="2514600" y="4818888"/>
            <a:ext cx="91440" cy="0"/>
          </a:xfrm>
          <a:prstGeom prst="line">
            <a:avLst/>
          </a:prstGeom>
          <a:noFill/>
          <a:ln w="15875">
            <a:solidFill>
              <a:schemeClr val="accent1"/>
            </a:solidFill>
            <a:prstDash val="solid"/>
          </a:ln>
        </p:spPr>
      </p:sp>
      <p:sp>
        <p:nvSpPr>
          <p:cNvPr id="57" name="link-272"/>
          <p:cNvSpPr/>
          <p:nvPr/>
        </p:nvSpPr>
        <p:spPr>
          <a:xfrm>
            <a:off x="2606040" y="4818888"/>
            <a:ext cx="0" cy="91440"/>
          </a:xfrm>
          <a:prstGeom prst="line">
            <a:avLst/>
          </a:prstGeom>
          <a:noFill/>
          <a:ln w="15875">
            <a:solidFill>
              <a:schemeClr val="accent1"/>
            </a:solidFill>
            <a:prstDash val="solid"/>
          </a:ln>
        </p:spPr>
      </p:sp>
      <p:sp>
        <p:nvSpPr>
          <p:cNvPr id="58" name="link-273"/>
          <p:cNvSpPr/>
          <p:nvPr/>
        </p:nvSpPr>
        <p:spPr>
          <a:xfrm>
            <a:off x="777240" y="5532120"/>
            <a:ext cx="91440" cy="0"/>
          </a:xfrm>
          <a:prstGeom prst="line">
            <a:avLst/>
          </a:prstGeom>
          <a:noFill/>
          <a:ln w="15875">
            <a:solidFill>
              <a:schemeClr val="accent1"/>
            </a:solidFill>
            <a:prstDash val="solid"/>
          </a:ln>
        </p:spPr>
      </p:sp>
      <p:sp>
        <p:nvSpPr>
          <p:cNvPr id="59" name="link-274"/>
          <p:cNvSpPr/>
          <p:nvPr/>
        </p:nvSpPr>
        <p:spPr>
          <a:xfrm>
            <a:off x="777240" y="5440680"/>
            <a:ext cx="0" cy="91440"/>
          </a:xfrm>
          <a:prstGeom prst="line">
            <a:avLst/>
          </a:prstGeom>
          <a:noFill/>
          <a:ln w="15875">
            <a:solidFill>
              <a:schemeClr val="accent1"/>
            </a:solidFill>
            <a:prstDash val="solid"/>
          </a:ln>
        </p:spPr>
      </p:sp>
      <p:sp>
        <p:nvSpPr>
          <p:cNvPr id="60" name="link-275"/>
          <p:cNvSpPr/>
          <p:nvPr/>
        </p:nvSpPr>
        <p:spPr>
          <a:xfrm>
            <a:off x="2514600" y="5532120"/>
            <a:ext cx="91440" cy="0"/>
          </a:xfrm>
          <a:prstGeom prst="line">
            <a:avLst/>
          </a:prstGeom>
          <a:noFill/>
          <a:ln w="15875">
            <a:solidFill>
              <a:schemeClr val="accent1"/>
            </a:solidFill>
            <a:prstDash val="solid"/>
          </a:ln>
        </p:spPr>
      </p:sp>
      <p:sp>
        <p:nvSpPr>
          <p:cNvPr id="61" name="link-276"/>
          <p:cNvSpPr/>
          <p:nvPr/>
        </p:nvSpPr>
        <p:spPr>
          <a:xfrm>
            <a:off x="2606040" y="5440680"/>
            <a:ext cx="0" cy="91440"/>
          </a:xfrm>
          <a:prstGeom prst="line">
            <a:avLst/>
          </a:prstGeom>
          <a:noFill/>
          <a:ln w="15875">
            <a:solidFill>
              <a:schemeClr val="accent1"/>
            </a:solidFill>
            <a:prstDash val="solid"/>
          </a:ln>
        </p:spPr>
      </p:sp>
      <p:sp>
        <p:nvSpPr>
          <p:cNvPr id="62" name="pill-277"/>
          <p:cNvSpPr/>
          <p:nvPr/>
        </p:nvSpPr>
        <p:spPr>
          <a:xfrm>
            <a:off x="832104" y="4873752"/>
            <a:ext cx="475488" cy="219456"/>
          </a:xfrm>
          <a:prstGeom prst="roundRect">
            <a:avLst>
              <a:gd name="adj" fmla="val 50000"/>
            </a:avLst>
          </a:prstGeom>
          <a:solidFill>
            <a:schemeClr val="tx1"/>
          </a:solidFill>
          <a:ln/>
        </p:spPr>
        <p:txBody>
          <a:bodyPr wrap="square" lIns="0" tIns="0" rIns="0" bIns="0" rtlCol="0" anchor="ctr"/>
          <a:lstStyle/>
          <a:p>
            <a:pPr algn="ctr" indent="0" marL="0">
              <a:buNone/>
            </a:pPr>
            <a:r>
              <a:rPr lang="en-US" sz="1000" b="1" dirty="0">
                <a:solidFill>
                  <a:schemeClr val="bg1"/>
                </a:solidFill>
              </a:rPr>
              <a:t>400</a:t>
            </a:r>
            <a:endParaRPr lang="en-US" sz="1000" dirty="0"/>
          </a:p>
        </p:txBody>
      </p:sp>
      <p:sp>
        <p:nvSpPr>
          <p:cNvPr id="63" name="text-278"/>
          <p:cNvSpPr txBox="1"/>
          <p:nvPr/>
        </p:nvSpPr>
        <p:spPr>
          <a:xfrm>
            <a:off x="1362456" y="4864608"/>
            <a:ext cx="1188720" cy="237744"/>
          </a:xfrm>
          <a:prstGeom prst="rect">
            <a:avLst/>
          </a:prstGeom>
          <a:noFill/>
          <a:ln/>
        </p:spPr>
        <p:txBody>
          <a:bodyPr wrap="square" lIns="0" tIns="0" rIns="0" bIns="0" rtlCol="0" anchor="ctr"/>
          <a:lstStyle/>
          <a:p>
            <a:pPr indent="0" marL="0">
              <a:buNone/>
            </a:pPr>
            <a:r>
              <a:rPr lang="en-US" sz="1000" dirty="0">
                <a:solidFill>
                  <a:schemeClr val="tx2"/>
                </a:solidFill>
              </a:rPr>
              <a:t>paragraph</a:t>
            </a:r>
            <a:endParaRPr lang="en-US" sz="1000" dirty="0"/>
          </a:p>
        </p:txBody>
      </p:sp>
      <p:sp>
        <p:nvSpPr>
          <p:cNvPr id="64" name="block-279"/>
          <p:cNvSpPr/>
          <p:nvPr/>
        </p:nvSpPr>
        <p:spPr>
          <a:xfrm>
            <a:off x="2788920" y="3063240"/>
            <a:ext cx="1828800" cy="822960"/>
          </a:xfrm>
          <a:prstGeom prst="rect">
            <a:avLst/>
          </a:prstGeom>
          <a:solidFill>
            <a:schemeClr val="accent1">
              <a:alpha val="12000"/>
            </a:schemeClr>
          </a:solidFill>
          <a:ln/>
        </p:spPr>
      </p:sp>
      <p:sp>
        <p:nvSpPr>
          <p:cNvPr id="65" name="link-280"/>
          <p:cNvSpPr/>
          <p:nvPr/>
        </p:nvSpPr>
        <p:spPr>
          <a:xfrm>
            <a:off x="2788920" y="3063240"/>
            <a:ext cx="91440" cy="0"/>
          </a:xfrm>
          <a:prstGeom prst="line">
            <a:avLst/>
          </a:prstGeom>
          <a:noFill/>
          <a:ln w="15875">
            <a:solidFill>
              <a:schemeClr val="accent1"/>
            </a:solidFill>
            <a:prstDash val="solid"/>
          </a:ln>
        </p:spPr>
      </p:sp>
      <p:sp>
        <p:nvSpPr>
          <p:cNvPr id="66" name="link-281"/>
          <p:cNvSpPr/>
          <p:nvPr/>
        </p:nvSpPr>
        <p:spPr>
          <a:xfrm>
            <a:off x="2788920" y="3063240"/>
            <a:ext cx="0" cy="91440"/>
          </a:xfrm>
          <a:prstGeom prst="line">
            <a:avLst/>
          </a:prstGeom>
          <a:noFill/>
          <a:ln w="15875">
            <a:solidFill>
              <a:schemeClr val="accent1"/>
            </a:solidFill>
            <a:prstDash val="solid"/>
          </a:ln>
        </p:spPr>
      </p:sp>
      <p:sp>
        <p:nvSpPr>
          <p:cNvPr id="67" name="link-282"/>
          <p:cNvSpPr/>
          <p:nvPr/>
        </p:nvSpPr>
        <p:spPr>
          <a:xfrm>
            <a:off x="4526280" y="3063240"/>
            <a:ext cx="91440" cy="0"/>
          </a:xfrm>
          <a:prstGeom prst="line">
            <a:avLst/>
          </a:prstGeom>
          <a:noFill/>
          <a:ln w="15875">
            <a:solidFill>
              <a:schemeClr val="accent1"/>
            </a:solidFill>
            <a:prstDash val="solid"/>
          </a:ln>
        </p:spPr>
      </p:sp>
      <p:sp>
        <p:nvSpPr>
          <p:cNvPr id="68" name="link-283"/>
          <p:cNvSpPr/>
          <p:nvPr/>
        </p:nvSpPr>
        <p:spPr>
          <a:xfrm>
            <a:off x="4617720" y="3063240"/>
            <a:ext cx="0" cy="91440"/>
          </a:xfrm>
          <a:prstGeom prst="line">
            <a:avLst/>
          </a:prstGeom>
          <a:noFill/>
          <a:ln w="15875">
            <a:solidFill>
              <a:schemeClr val="accent1"/>
            </a:solidFill>
            <a:prstDash val="solid"/>
          </a:ln>
        </p:spPr>
      </p:sp>
      <p:sp>
        <p:nvSpPr>
          <p:cNvPr id="69" name="link-284"/>
          <p:cNvSpPr/>
          <p:nvPr/>
        </p:nvSpPr>
        <p:spPr>
          <a:xfrm>
            <a:off x="2788920" y="3886200"/>
            <a:ext cx="91440" cy="0"/>
          </a:xfrm>
          <a:prstGeom prst="line">
            <a:avLst/>
          </a:prstGeom>
          <a:noFill/>
          <a:ln w="15875">
            <a:solidFill>
              <a:schemeClr val="accent1"/>
            </a:solidFill>
            <a:prstDash val="solid"/>
          </a:ln>
        </p:spPr>
      </p:sp>
      <p:sp>
        <p:nvSpPr>
          <p:cNvPr id="70" name="link-285"/>
          <p:cNvSpPr/>
          <p:nvPr/>
        </p:nvSpPr>
        <p:spPr>
          <a:xfrm>
            <a:off x="2788920" y="3794760"/>
            <a:ext cx="0" cy="91440"/>
          </a:xfrm>
          <a:prstGeom prst="line">
            <a:avLst/>
          </a:prstGeom>
          <a:noFill/>
          <a:ln w="15875">
            <a:solidFill>
              <a:schemeClr val="accent1"/>
            </a:solidFill>
            <a:prstDash val="solid"/>
          </a:ln>
        </p:spPr>
      </p:sp>
      <p:sp>
        <p:nvSpPr>
          <p:cNvPr id="71" name="link-286"/>
          <p:cNvSpPr/>
          <p:nvPr/>
        </p:nvSpPr>
        <p:spPr>
          <a:xfrm>
            <a:off x="4526280" y="3886200"/>
            <a:ext cx="91440" cy="0"/>
          </a:xfrm>
          <a:prstGeom prst="line">
            <a:avLst/>
          </a:prstGeom>
          <a:noFill/>
          <a:ln w="15875">
            <a:solidFill>
              <a:schemeClr val="accent1"/>
            </a:solidFill>
            <a:prstDash val="solid"/>
          </a:ln>
        </p:spPr>
      </p:sp>
      <p:sp>
        <p:nvSpPr>
          <p:cNvPr id="72" name="link-287"/>
          <p:cNvSpPr/>
          <p:nvPr/>
        </p:nvSpPr>
        <p:spPr>
          <a:xfrm>
            <a:off x="4617720" y="3794760"/>
            <a:ext cx="0" cy="91440"/>
          </a:xfrm>
          <a:prstGeom prst="line">
            <a:avLst/>
          </a:prstGeom>
          <a:noFill/>
          <a:ln w="15875">
            <a:solidFill>
              <a:schemeClr val="accent1"/>
            </a:solidFill>
            <a:prstDash val="solid"/>
          </a:ln>
        </p:spPr>
      </p:sp>
      <p:sp>
        <p:nvSpPr>
          <p:cNvPr id="73" name="pill-288"/>
          <p:cNvSpPr/>
          <p:nvPr/>
        </p:nvSpPr>
        <p:spPr>
          <a:xfrm>
            <a:off x="2843784" y="3118104"/>
            <a:ext cx="475488" cy="219456"/>
          </a:xfrm>
          <a:prstGeom prst="roundRect">
            <a:avLst>
              <a:gd name="adj" fmla="val 50000"/>
            </a:avLst>
          </a:prstGeom>
          <a:solidFill>
            <a:schemeClr val="tx1"/>
          </a:solidFill>
          <a:ln/>
        </p:spPr>
        <p:txBody>
          <a:bodyPr wrap="square" lIns="0" tIns="0" rIns="0" bIns="0" rtlCol="0" anchor="ctr"/>
          <a:lstStyle/>
          <a:p>
            <a:pPr algn="ctr" indent="0" marL="0">
              <a:buNone/>
            </a:pPr>
            <a:r>
              <a:rPr lang="en-US" sz="1000" b="1" dirty="0">
                <a:solidFill>
                  <a:schemeClr val="bg1"/>
                </a:solidFill>
              </a:rPr>
              <a:t>500</a:t>
            </a:r>
            <a:endParaRPr lang="en-US" sz="1000" dirty="0"/>
          </a:p>
        </p:txBody>
      </p:sp>
      <p:sp>
        <p:nvSpPr>
          <p:cNvPr id="74" name="text-289"/>
          <p:cNvSpPr txBox="1"/>
          <p:nvPr/>
        </p:nvSpPr>
        <p:spPr>
          <a:xfrm>
            <a:off x="3374136" y="3108960"/>
            <a:ext cx="1188720" cy="237744"/>
          </a:xfrm>
          <a:prstGeom prst="rect">
            <a:avLst/>
          </a:prstGeom>
          <a:noFill/>
          <a:ln/>
        </p:spPr>
        <p:txBody>
          <a:bodyPr wrap="square" lIns="0" tIns="0" rIns="0" bIns="0" rtlCol="0" anchor="ctr"/>
          <a:lstStyle/>
          <a:p>
            <a:pPr indent="0" marL="0">
              <a:buNone/>
            </a:pPr>
            <a:r>
              <a:rPr lang="en-US" sz="1000" dirty="0">
                <a:solidFill>
                  <a:schemeClr val="tx2"/>
                </a:solidFill>
              </a:rPr>
              <a:t>paragraph</a:t>
            </a:r>
            <a:endParaRPr lang="en-US" sz="1000" dirty="0"/>
          </a:p>
        </p:txBody>
      </p:sp>
      <p:sp>
        <p:nvSpPr>
          <p:cNvPr id="75" name="block-290"/>
          <p:cNvSpPr/>
          <p:nvPr/>
        </p:nvSpPr>
        <p:spPr>
          <a:xfrm>
            <a:off x="2788920" y="4041648"/>
            <a:ext cx="1828800" cy="896112"/>
          </a:xfrm>
          <a:prstGeom prst="rect">
            <a:avLst/>
          </a:prstGeom>
          <a:solidFill>
            <a:schemeClr val="accent3">
              <a:alpha val="18000"/>
            </a:schemeClr>
          </a:solidFill>
          <a:ln/>
        </p:spPr>
      </p:sp>
      <p:sp>
        <p:nvSpPr>
          <p:cNvPr id="76" name="link-291"/>
          <p:cNvSpPr/>
          <p:nvPr/>
        </p:nvSpPr>
        <p:spPr>
          <a:xfrm>
            <a:off x="2788920" y="4041648"/>
            <a:ext cx="91440" cy="0"/>
          </a:xfrm>
          <a:prstGeom prst="line">
            <a:avLst/>
          </a:prstGeom>
          <a:noFill/>
          <a:ln w="15875">
            <a:solidFill>
              <a:schemeClr val="accent3"/>
            </a:solidFill>
            <a:prstDash val="solid"/>
          </a:ln>
        </p:spPr>
      </p:sp>
      <p:sp>
        <p:nvSpPr>
          <p:cNvPr id="77" name="link-292"/>
          <p:cNvSpPr/>
          <p:nvPr/>
        </p:nvSpPr>
        <p:spPr>
          <a:xfrm>
            <a:off x="2788920" y="4041648"/>
            <a:ext cx="0" cy="91440"/>
          </a:xfrm>
          <a:prstGeom prst="line">
            <a:avLst/>
          </a:prstGeom>
          <a:noFill/>
          <a:ln w="15875">
            <a:solidFill>
              <a:schemeClr val="accent3"/>
            </a:solidFill>
            <a:prstDash val="solid"/>
          </a:ln>
        </p:spPr>
      </p:sp>
      <p:sp>
        <p:nvSpPr>
          <p:cNvPr id="78" name="link-293"/>
          <p:cNvSpPr/>
          <p:nvPr/>
        </p:nvSpPr>
        <p:spPr>
          <a:xfrm>
            <a:off x="4526280" y="4041648"/>
            <a:ext cx="91440" cy="0"/>
          </a:xfrm>
          <a:prstGeom prst="line">
            <a:avLst/>
          </a:prstGeom>
          <a:noFill/>
          <a:ln w="15875">
            <a:solidFill>
              <a:schemeClr val="accent3"/>
            </a:solidFill>
            <a:prstDash val="solid"/>
          </a:ln>
        </p:spPr>
      </p:sp>
      <p:sp>
        <p:nvSpPr>
          <p:cNvPr id="79" name="link-294"/>
          <p:cNvSpPr/>
          <p:nvPr/>
        </p:nvSpPr>
        <p:spPr>
          <a:xfrm>
            <a:off x="4617720" y="4041648"/>
            <a:ext cx="0" cy="91440"/>
          </a:xfrm>
          <a:prstGeom prst="line">
            <a:avLst/>
          </a:prstGeom>
          <a:noFill/>
          <a:ln w="15875">
            <a:solidFill>
              <a:schemeClr val="accent3"/>
            </a:solidFill>
            <a:prstDash val="solid"/>
          </a:ln>
        </p:spPr>
      </p:sp>
      <p:sp>
        <p:nvSpPr>
          <p:cNvPr id="80" name="link-295"/>
          <p:cNvSpPr/>
          <p:nvPr/>
        </p:nvSpPr>
        <p:spPr>
          <a:xfrm>
            <a:off x="2788920" y="4937760"/>
            <a:ext cx="91440" cy="0"/>
          </a:xfrm>
          <a:prstGeom prst="line">
            <a:avLst/>
          </a:prstGeom>
          <a:noFill/>
          <a:ln w="15875">
            <a:solidFill>
              <a:schemeClr val="accent3"/>
            </a:solidFill>
            <a:prstDash val="solid"/>
          </a:ln>
        </p:spPr>
      </p:sp>
      <p:sp>
        <p:nvSpPr>
          <p:cNvPr id="81" name="link-296"/>
          <p:cNvSpPr/>
          <p:nvPr/>
        </p:nvSpPr>
        <p:spPr>
          <a:xfrm>
            <a:off x="2788920" y="4846320"/>
            <a:ext cx="0" cy="91440"/>
          </a:xfrm>
          <a:prstGeom prst="line">
            <a:avLst/>
          </a:prstGeom>
          <a:noFill/>
          <a:ln w="15875">
            <a:solidFill>
              <a:schemeClr val="accent3"/>
            </a:solidFill>
            <a:prstDash val="solid"/>
          </a:ln>
        </p:spPr>
      </p:sp>
      <p:sp>
        <p:nvSpPr>
          <p:cNvPr id="82" name="link-297"/>
          <p:cNvSpPr/>
          <p:nvPr/>
        </p:nvSpPr>
        <p:spPr>
          <a:xfrm>
            <a:off x="4526280" y="4937760"/>
            <a:ext cx="91440" cy="0"/>
          </a:xfrm>
          <a:prstGeom prst="line">
            <a:avLst/>
          </a:prstGeom>
          <a:noFill/>
          <a:ln w="15875">
            <a:solidFill>
              <a:schemeClr val="accent3"/>
            </a:solidFill>
            <a:prstDash val="solid"/>
          </a:ln>
        </p:spPr>
      </p:sp>
      <p:sp>
        <p:nvSpPr>
          <p:cNvPr id="83" name="link-298"/>
          <p:cNvSpPr/>
          <p:nvPr/>
        </p:nvSpPr>
        <p:spPr>
          <a:xfrm>
            <a:off x="4617720" y="4846320"/>
            <a:ext cx="0" cy="91440"/>
          </a:xfrm>
          <a:prstGeom prst="line">
            <a:avLst/>
          </a:prstGeom>
          <a:noFill/>
          <a:ln w="15875">
            <a:solidFill>
              <a:schemeClr val="accent3"/>
            </a:solidFill>
            <a:prstDash val="solid"/>
          </a:ln>
        </p:spPr>
      </p:sp>
      <p:sp>
        <p:nvSpPr>
          <p:cNvPr id="84" name="pill-299"/>
          <p:cNvSpPr/>
          <p:nvPr/>
        </p:nvSpPr>
        <p:spPr>
          <a:xfrm>
            <a:off x="2843784" y="4096512"/>
            <a:ext cx="475488" cy="219456"/>
          </a:xfrm>
          <a:prstGeom prst="roundRect">
            <a:avLst>
              <a:gd name="adj" fmla="val 50000"/>
            </a:avLst>
          </a:prstGeom>
          <a:solidFill>
            <a:schemeClr val="accent3"/>
          </a:solidFill>
          <a:ln/>
        </p:spPr>
        <p:txBody>
          <a:bodyPr wrap="square" lIns="0" tIns="0" rIns="0" bIns="0" rtlCol="0" anchor="ctr"/>
          <a:lstStyle/>
          <a:p>
            <a:pPr algn="ctr" indent="0" marL="0">
              <a:buNone/>
            </a:pPr>
            <a:r>
              <a:rPr lang="en-US" sz="1000" b="1" dirty="0">
                <a:solidFill>
                  <a:schemeClr val="tx1"/>
                </a:solidFill>
              </a:rPr>
              <a:t>550</a:t>
            </a:r>
            <a:endParaRPr lang="en-US" sz="1000" dirty="0"/>
          </a:p>
        </p:txBody>
      </p:sp>
      <p:sp>
        <p:nvSpPr>
          <p:cNvPr id="85" name="text-300"/>
          <p:cNvSpPr txBox="1"/>
          <p:nvPr/>
        </p:nvSpPr>
        <p:spPr>
          <a:xfrm>
            <a:off x="3374136" y="4087368"/>
            <a:ext cx="1188720" cy="237744"/>
          </a:xfrm>
          <a:prstGeom prst="rect">
            <a:avLst/>
          </a:prstGeom>
          <a:noFill/>
          <a:ln/>
        </p:spPr>
        <p:txBody>
          <a:bodyPr wrap="square" lIns="0" tIns="0" rIns="0" bIns="0" rtlCol="0" anchor="ctr"/>
          <a:lstStyle/>
          <a:p>
            <a:pPr indent="0" marL="0">
              <a:buNone/>
            </a:pPr>
            <a:r>
              <a:rPr lang="en-US" sz="1000" dirty="0">
                <a:solidFill>
                  <a:schemeClr val="tx2"/>
                </a:solidFill>
              </a:rPr>
              <a:t>figure</a:t>
            </a:r>
            <a:endParaRPr lang="en-US" sz="1000" dirty="0"/>
          </a:p>
        </p:txBody>
      </p:sp>
      <p:pic>
        <p:nvPicPr>
          <p:cNvPr id="86" name="icon-TbPhoto-301" descr="Photo">    </p:cNvPr>
          <p:cNvPicPr>
            <a:picLocks noChangeAspect="1"/>
          </p:cNvPicPr>
          <p:nvPr/>
        </p:nvPicPr>
        <p:blipFill>
          <a:blip r:embed="rId1"/>
          <a:stretch>
            <a:fillRect/>
          </a:stretch>
        </p:blipFill>
        <p:spPr>
          <a:xfrm>
            <a:off x="3538728" y="4389120"/>
            <a:ext cx="329184" cy="329184"/>
          </a:xfrm>
          <a:prstGeom prst="rect">
            <a:avLst/>
          </a:prstGeom>
        </p:spPr>
      </p:pic>
      <p:sp>
        <p:nvSpPr>
          <p:cNvPr id="87" name="block-302"/>
          <p:cNvSpPr/>
          <p:nvPr/>
        </p:nvSpPr>
        <p:spPr>
          <a:xfrm>
            <a:off x="2788920" y="5093208"/>
            <a:ext cx="1828800" cy="438912"/>
          </a:xfrm>
          <a:prstGeom prst="rect">
            <a:avLst/>
          </a:prstGeom>
          <a:solidFill>
            <a:schemeClr val="accent1">
              <a:alpha val="12000"/>
            </a:schemeClr>
          </a:solidFill>
          <a:ln/>
        </p:spPr>
      </p:sp>
      <p:sp>
        <p:nvSpPr>
          <p:cNvPr id="88" name="link-303"/>
          <p:cNvSpPr/>
          <p:nvPr/>
        </p:nvSpPr>
        <p:spPr>
          <a:xfrm>
            <a:off x="2788920" y="5093208"/>
            <a:ext cx="91440" cy="0"/>
          </a:xfrm>
          <a:prstGeom prst="line">
            <a:avLst/>
          </a:prstGeom>
          <a:noFill/>
          <a:ln w="15875">
            <a:solidFill>
              <a:schemeClr val="accent1"/>
            </a:solidFill>
            <a:prstDash val="solid"/>
          </a:ln>
        </p:spPr>
      </p:sp>
      <p:sp>
        <p:nvSpPr>
          <p:cNvPr id="89" name="link-304"/>
          <p:cNvSpPr/>
          <p:nvPr/>
        </p:nvSpPr>
        <p:spPr>
          <a:xfrm>
            <a:off x="2788920" y="5093208"/>
            <a:ext cx="0" cy="91440"/>
          </a:xfrm>
          <a:prstGeom prst="line">
            <a:avLst/>
          </a:prstGeom>
          <a:noFill/>
          <a:ln w="15875">
            <a:solidFill>
              <a:schemeClr val="accent1"/>
            </a:solidFill>
            <a:prstDash val="solid"/>
          </a:ln>
        </p:spPr>
      </p:sp>
      <p:sp>
        <p:nvSpPr>
          <p:cNvPr id="90" name="link-305"/>
          <p:cNvSpPr/>
          <p:nvPr/>
        </p:nvSpPr>
        <p:spPr>
          <a:xfrm>
            <a:off x="4526280" y="5093208"/>
            <a:ext cx="91440" cy="0"/>
          </a:xfrm>
          <a:prstGeom prst="line">
            <a:avLst/>
          </a:prstGeom>
          <a:noFill/>
          <a:ln w="15875">
            <a:solidFill>
              <a:schemeClr val="accent1"/>
            </a:solidFill>
            <a:prstDash val="solid"/>
          </a:ln>
        </p:spPr>
      </p:sp>
      <p:sp>
        <p:nvSpPr>
          <p:cNvPr id="91" name="link-306"/>
          <p:cNvSpPr/>
          <p:nvPr/>
        </p:nvSpPr>
        <p:spPr>
          <a:xfrm>
            <a:off x="4617720" y="5093208"/>
            <a:ext cx="0" cy="91440"/>
          </a:xfrm>
          <a:prstGeom prst="line">
            <a:avLst/>
          </a:prstGeom>
          <a:noFill/>
          <a:ln w="15875">
            <a:solidFill>
              <a:schemeClr val="accent1"/>
            </a:solidFill>
            <a:prstDash val="solid"/>
          </a:ln>
        </p:spPr>
      </p:sp>
      <p:sp>
        <p:nvSpPr>
          <p:cNvPr id="92" name="link-307"/>
          <p:cNvSpPr/>
          <p:nvPr/>
        </p:nvSpPr>
        <p:spPr>
          <a:xfrm>
            <a:off x="2788920" y="5532120"/>
            <a:ext cx="91440" cy="0"/>
          </a:xfrm>
          <a:prstGeom prst="line">
            <a:avLst/>
          </a:prstGeom>
          <a:noFill/>
          <a:ln w="15875">
            <a:solidFill>
              <a:schemeClr val="accent1"/>
            </a:solidFill>
            <a:prstDash val="solid"/>
          </a:ln>
        </p:spPr>
      </p:sp>
      <p:sp>
        <p:nvSpPr>
          <p:cNvPr id="93" name="link-308"/>
          <p:cNvSpPr/>
          <p:nvPr/>
        </p:nvSpPr>
        <p:spPr>
          <a:xfrm>
            <a:off x="2788920" y="5440680"/>
            <a:ext cx="0" cy="91440"/>
          </a:xfrm>
          <a:prstGeom prst="line">
            <a:avLst/>
          </a:prstGeom>
          <a:noFill/>
          <a:ln w="15875">
            <a:solidFill>
              <a:schemeClr val="accent1"/>
            </a:solidFill>
            <a:prstDash val="solid"/>
          </a:ln>
        </p:spPr>
      </p:sp>
      <p:sp>
        <p:nvSpPr>
          <p:cNvPr id="94" name="link-309"/>
          <p:cNvSpPr/>
          <p:nvPr/>
        </p:nvSpPr>
        <p:spPr>
          <a:xfrm>
            <a:off x="4526280" y="5532120"/>
            <a:ext cx="91440" cy="0"/>
          </a:xfrm>
          <a:prstGeom prst="line">
            <a:avLst/>
          </a:prstGeom>
          <a:noFill/>
          <a:ln w="15875">
            <a:solidFill>
              <a:schemeClr val="accent1"/>
            </a:solidFill>
            <a:prstDash val="solid"/>
          </a:ln>
        </p:spPr>
      </p:sp>
      <p:sp>
        <p:nvSpPr>
          <p:cNvPr id="95" name="link-310"/>
          <p:cNvSpPr/>
          <p:nvPr/>
        </p:nvSpPr>
        <p:spPr>
          <a:xfrm>
            <a:off x="4617720" y="5440680"/>
            <a:ext cx="0" cy="91440"/>
          </a:xfrm>
          <a:prstGeom prst="line">
            <a:avLst/>
          </a:prstGeom>
          <a:noFill/>
          <a:ln w="15875">
            <a:solidFill>
              <a:schemeClr val="accent1"/>
            </a:solidFill>
            <a:prstDash val="solid"/>
          </a:ln>
        </p:spPr>
      </p:sp>
      <p:sp>
        <p:nvSpPr>
          <p:cNvPr id="96" name="pill-311"/>
          <p:cNvSpPr/>
          <p:nvPr/>
        </p:nvSpPr>
        <p:spPr>
          <a:xfrm>
            <a:off x="2843784" y="5148072"/>
            <a:ext cx="475488" cy="219456"/>
          </a:xfrm>
          <a:prstGeom prst="roundRect">
            <a:avLst>
              <a:gd name="adj" fmla="val 50000"/>
            </a:avLst>
          </a:prstGeom>
          <a:solidFill>
            <a:schemeClr val="tx1"/>
          </a:solidFill>
          <a:ln/>
        </p:spPr>
        <p:txBody>
          <a:bodyPr wrap="square" lIns="0" tIns="0" rIns="0" bIns="0" rtlCol="0" anchor="ctr"/>
          <a:lstStyle/>
          <a:p>
            <a:pPr algn="ctr" indent="0" marL="0">
              <a:buNone/>
            </a:pPr>
            <a:r>
              <a:rPr lang="en-US" sz="1000" b="1" dirty="0">
                <a:solidFill>
                  <a:schemeClr val="bg1"/>
                </a:solidFill>
              </a:rPr>
              <a:t>600</a:t>
            </a:r>
            <a:endParaRPr lang="en-US" sz="1000" dirty="0"/>
          </a:p>
        </p:txBody>
      </p:sp>
      <p:sp>
        <p:nvSpPr>
          <p:cNvPr id="97" name="text-312"/>
          <p:cNvSpPr txBox="1"/>
          <p:nvPr/>
        </p:nvSpPr>
        <p:spPr>
          <a:xfrm>
            <a:off x="3374136" y="5138928"/>
            <a:ext cx="1188720" cy="237744"/>
          </a:xfrm>
          <a:prstGeom prst="rect">
            <a:avLst/>
          </a:prstGeom>
          <a:noFill/>
          <a:ln/>
        </p:spPr>
        <p:txBody>
          <a:bodyPr wrap="square" lIns="0" tIns="0" rIns="0" bIns="0" rtlCol="0" anchor="ctr"/>
          <a:lstStyle/>
          <a:p>
            <a:pPr indent="0" marL="0">
              <a:buNone/>
            </a:pPr>
            <a:r>
              <a:rPr lang="en-US" sz="1000" dirty="0">
                <a:solidFill>
                  <a:schemeClr val="tx2"/>
                </a:solidFill>
              </a:rPr>
              <a:t>paragraph</a:t>
            </a:r>
            <a:endParaRPr lang="en-US" sz="1000" dirty="0"/>
          </a:p>
        </p:txBody>
      </p:sp>
      <p:sp>
        <p:nvSpPr>
          <p:cNvPr id="98" name="furniture-313"/>
          <p:cNvSpPr/>
          <p:nvPr/>
        </p:nvSpPr>
        <p:spPr>
          <a:xfrm>
            <a:off x="777240" y="5760720"/>
            <a:ext cx="3840480" cy="237744"/>
          </a:xfrm>
          <a:prstGeom prst="rect">
            <a:avLst/>
          </a:prstGeom>
          <a:solidFill>
            <a:schemeClr val="bg1"/>
          </a:solidFill>
          <a:ln w="9525">
            <a:solidFill>
              <a:schemeClr val="accent5"/>
            </a:solidFill>
            <a:prstDash val="dash"/>
          </a:ln>
        </p:spPr>
        <p:txBody>
          <a:bodyPr wrap="square" lIns="0" tIns="0" rIns="0" bIns="0" rtlCol="0" anchor="ctr"/>
          <a:lstStyle/>
          <a:p>
            <a:pPr algn="ctr" indent="0" marL="0">
              <a:buNone/>
            </a:pPr>
            <a:r>
              <a:rPr lang="en-US" sz="1000" i="1" dirty="0">
                <a:solidFill>
                  <a:schemeClr val="tx2"/>
                </a:solidFill>
              </a:rPr>
              <a:t>pageFooter · pageNumber · dropped</a:t>
            </a:r>
            <a:endParaRPr lang="en-US" sz="1000" dirty="0"/>
          </a:p>
        </p:txBody>
      </p:sp>
      <p:sp>
        <p:nvSpPr>
          <p:cNvPr id="99" name="chip-314"/>
          <p:cNvSpPr/>
          <p:nvPr/>
        </p:nvSpPr>
        <p:spPr>
          <a:xfrm>
            <a:off x="5257800" y="1664208"/>
            <a:ext cx="384048" cy="384048"/>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00" name="block-315"/>
          <p:cNvSpPr txBox="1"/>
          <p:nvPr/>
        </p:nvSpPr>
        <p:spPr>
          <a:xfrm>
            <a:off x="5806440" y="1645920"/>
            <a:ext cx="5836615" cy="822960"/>
          </a:xfrm>
          <a:prstGeom prst="rect">
            <a:avLst/>
          </a:prstGeom>
          <a:noFill/>
          <a:ln/>
        </p:spPr>
        <p:txBody>
          <a:bodyPr wrap="square" lIns="0" tIns="0" rIns="0" bIns="0" rtlCol="0" anchor="t"/>
          <a:lstStyle/>
          <a:p>
            <a:pPr indent="0" marL="0">
              <a:spcAft>
                <a:spcPts val="400"/>
              </a:spcAft>
              <a:buNone/>
            </a:pPr>
            <a:r>
              <a:rPr lang="en-US" sz="1600" b="1" dirty="0">
                <a:solidFill>
                  <a:schemeClr val="tx1"/>
                </a:solidFill>
              </a:rPr>
              <a:t>Normalize</a:t>
            </a:r>
            <a:endParaRPr lang="en-US" sz="1600" dirty="0"/>
          </a:p>
          <a:p>
            <a:pPr indent="0" marL="0">
              <a:spcAft>
                <a:spcPts val="200"/>
              </a:spcAft>
              <a:buNone/>
            </a:pPr>
            <a:r>
              <a:rPr lang="en-US" sz="1350" dirty="0">
                <a:solidFill>
                  <a:schemeClr val="tx2"/>
                </a:solidFill>
              </a:rPr>
              <a:t>Each polygon keeps its raw quad and gains normalizedBoundingBox = quad ÷ page width and height, in 0..1.</a:t>
            </a:r>
            <a:endParaRPr lang="en-US" sz="1600" dirty="0"/>
          </a:p>
        </p:txBody>
      </p:sp>
      <p:sp>
        <p:nvSpPr>
          <p:cNvPr id="101" name="chip-316"/>
          <p:cNvSpPr/>
          <p:nvPr/>
        </p:nvSpPr>
        <p:spPr>
          <a:xfrm>
            <a:off x="5257800" y="2532888"/>
            <a:ext cx="384048" cy="384048"/>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02" name="block-317"/>
          <p:cNvSpPr txBox="1"/>
          <p:nvPr/>
        </p:nvSpPr>
        <p:spPr>
          <a:xfrm>
            <a:off x="5806440" y="2514600"/>
            <a:ext cx="5836615" cy="822960"/>
          </a:xfrm>
          <a:prstGeom prst="rect">
            <a:avLst/>
          </a:prstGeom>
          <a:noFill/>
          <a:ln/>
        </p:spPr>
        <p:txBody>
          <a:bodyPr wrap="square" lIns="0" tIns="0" rIns="0" bIns="0" rtlCol="0" anchor="t"/>
          <a:lstStyle/>
          <a:p>
            <a:pPr indent="0" marL="0">
              <a:spcAft>
                <a:spcPts val="400"/>
              </a:spcAft>
              <a:buNone/>
            </a:pPr>
            <a:r>
              <a:rPr lang="en-US" sz="1600" b="1" dirty="0">
                <a:solidFill>
                  <a:schemeClr val="tx1"/>
                </a:solidFill>
              </a:rPr>
              <a:t>Number</a:t>
            </a:r>
            <a:endParaRPr lang="en-US" sz="1600" dirty="0"/>
          </a:p>
          <a:p>
            <a:pPr indent="0" marL="0">
              <a:spcAft>
                <a:spcPts val="200"/>
              </a:spcAft>
              <a:buNone/>
            </a:pPr>
            <a:r>
              <a:rPr lang="en-US" sz="1350" dirty="0">
                <a:solidFill>
                  <a:schemeClr val="tx2"/>
                </a:solidFill>
              </a:rPr>
              <a:t>Furniture is dropped, then every block gets partId = (i + 1) × 100 in Azure order, leaving room to insert.</a:t>
            </a:r>
            <a:endParaRPr lang="en-US" sz="1600" dirty="0"/>
          </a:p>
        </p:txBody>
      </p:sp>
      <p:sp>
        <p:nvSpPr>
          <p:cNvPr id="103" name="chip-318"/>
          <p:cNvSpPr/>
          <p:nvPr/>
        </p:nvSpPr>
        <p:spPr>
          <a:xfrm>
            <a:off x="5257800" y="3401568"/>
            <a:ext cx="384048" cy="384048"/>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04" name="block-319"/>
          <p:cNvSpPr txBox="1"/>
          <p:nvPr/>
        </p:nvSpPr>
        <p:spPr>
          <a:xfrm>
            <a:off x="5806440" y="3383280"/>
            <a:ext cx="5836615" cy="822960"/>
          </a:xfrm>
          <a:prstGeom prst="rect">
            <a:avLst/>
          </a:prstGeom>
          <a:noFill/>
          <a:ln/>
        </p:spPr>
        <p:txBody>
          <a:bodyPr wrap="square" lIns="0" tIns="0" rIns="0" bIns="0" rtlCol="0" anchor="t"/>
          <a:lstStyle/>
          <a:p>
            <a:pPr indent="0" marL="0">
              <a:spcAft>
                <a:spcPts val="400"/>
              </a:spcAft>
              <a:buNone/>
            </a:pPr>
            <a:r>
              <a:rPr lang="en-US" sz="1600" b="1" dirty="0">
                <a:solidFill>
                  <a:schemeClr val="tx1"/>
                </a:solidFill>
              </a:rPr>
              <a:t>Splice</a:t>
            </a:r>
            <a:endParaRPr lang="en-US" sz="1600" dirty="0"/>
          </a:p>
          <a:p>
            <a:pPr indent="0" marL="0">
              <a:spcAft>
                <a:spcPts val="200"/>
              </a:spcAft>
              <a:buNone/>
            </a:pPr>
            <a:r>
              <a:rPr lang="en-US" sz="1350" dirty="0">
                <a:solidFill>
                  <a:schemeClr val="tx2"/>
                </a:solidFill>
              </a:rPr>
              <a:t>get_sorted_layout puts each table and figure after the closest part above it in the same column, at the midpoint id: 300 → 350 → 400.</a:t>
            </a:r>
            <a:endParaRPr lang="en-US" sz="1600" dirty="0"/>
          </a:p>
        </p:txBody>
      </p:sp>
      <p:sp>
        <p:nvSpPr>
          <p:cNvPr id="105" name="chip-320"/>
          <p:cNvSpPr/>
          <p:nvPr/>
        </p:nvSpPr>
        <p:spPr>
          <a:xfrm>
            <a:off x="5257800" y="4270248"/>
            <a:ext cx="384048" cy="384048"/>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06" name="block-321"/>
          <p:cNvSpPr txBox="1"/>
          <p:nvPr/>
        </p:nvSpPr>
        <p:spPr>
          <a:xfrm>
            <a:off x="5806440" y="4251960"/>
            <a:ext cx="5836615" cy="822960"/>
          </a:xfrm>
          <a:prstGeom prst="rect">
            <a:avLst/>
          </a:prstGeom>
          <a:noFill/>
          <a:ln/>
        </p:spPr>
        <p:txBody>
          <a:bodyPr wrap="square" lIns="0" tIns="0" rIns="0" bIns="0" rtlCol="0" anchor="t"/>
          <a:lstStyle/>
          <a:p>
            <a:pPr indent="0" marL="0">
              <a:spcAft>
                <a:spcPts val="400"/>
              </a:spcAft>
              <a:buNone/>
            </a:pPr>
            <a:r>
              <a:rPr lang="en-US" sz="1600" b="1" dirty="0">
                <a:solidFill>
                  <a:schemeClr val="tx1"/>
                </a:solidFill>
              </a:rPr>
              <a:t>Shift</a:t>
            </a:r>
            <a:endParaRPr lang="en-US" sz="1600" dirty="0"/>
          </a:p>
          <a:p>
            <a:pPr indent="0" marL="0">
              <a:spcAft>
                <a:spcPts val="200"/>
              </a:spcAft>
              <a:buNone/>
            </a:pPr>
            <a:r>
              <a:rPr lang="en-US" sz="1350" dirty="0">
                <a:solidFill>
                  <a:schemeClr val="tx2"/>
                </a:solidFill>
              </a:rPr>
              <a:t>When no integer gap is left, later ids shift by 100 first. The same Layout result always yields the same order.</a:t>
            </a:r>
            <a:endParaRPr lang="en-US" sz="1600" dirty="0"/>
          </a:p>
        </p:txBody>
      </p:sp>
      <p:sp>
        <p:nvSpPr>
          <p:cNvPr id="107" name="text-322"/>
          <p:cNvSpPr txBox="1"/>
          <p:nvPr/>
        </p:nvSpPr>
        <p:spPr>
          <a:xfrm>
            <a:off x="5257800" y="5385816"/>
            <a:ext cx="3657600" cy="274320"/>
          </a:xfrm>
          <a:prstGeom prst="rect">
            <a:avLst/>
          </a:prstGeom>
          <a:noFill/>
          <a:ln/>
        </p:spPr>
        <p:txBody>
          <a:bodyPr wrap="square" lIns="0" tIns="0" rIns="0" bIns="0" rtlCol="0" anchor="t"/>
          <a:lstStyle/>
          <a:p>
            <a:pPr indent="0" marL="0">
              <a:buNone/>
            </a:pPr>
            <a:r>
              <a:rPr lang="en-US" sz="1200" b="1" dirty="0">
                <a:solidFill>
                  <a:schemeClr val="tx2"/>
                </a:solidFill>
              </a:rPr>
              <a:t>Resulting reading order</a:t>
            </a:r>
            <a:endParaRPr lang="en-US" sz="1200" dirty="0"/>
          </a:p>
        </p:txBody>
      </p:sp>
      <p:sp>
        <p:nvSpPr>
          <p:cNvPr id="108" name="pill-323"/>
          <p:cNvSpPr/>
          <p:nvPr/>
        </p:nvSpPr>
        <p:spPr>
          <a:xfrm>
            <a:off x="5257800" y="5715000"/>
            <a:ext cx="548640" cy="292608"/>
          </a:xfrm>
          <a:prstGeom prst="roundRect">
            <a:avLst>
              <a:gd name="adj" fmla="val 50000"/>
            </a:avLst>
          </a:prstGeom>
          <a:solidFill>
            <a:schemeClr val="tx1"/>
          </a:solidFill>
          <a:ln/>
        </p:spPr>
        <p:txBody>
          <a:bodyPr wrap="square" lIns="0" tIns="0" rIns="0" bIns="0" rtlCol="0" anchor="ctr"/>
          <a:lstStyle/>
          <a:p>
            <a:pPr algn="ctr" indent="0" marL="0">
              <a:buNone/>
            </a:pPr>
            <a:r>
              <a:rPr lang="en-US" sz="1100" b="1" dirty="0">
                <a:solidFill>
                  <a:schemeClr val="bg1"/>
                </a:solidFill>
              </a:rPr>
              <a:t>100</a:t>
            </a:r>
            <a:endParaRPr lang="en-US" sz="1100" dirty="0"/>
          </a:p>
        </p:txBody>
      </p:sp>
      <p:sp>
        <p:nvSpPr>
          <p:cNvPr id="109" name="link-324"/>
          <p:cNvSpPr/>
          <p:nvPr/>
        </p:nvSpPr>
        <p:spPr>
          <a:xfrm>
            <a:off x="5833872" y="5861304"/>
            <a:ext cx="230298" cy="0"/>
          </a:xfrm>
          <a:prstGeom prst="line">
            <a:avLst/>
          </a:prstGeom>
          <a:noFill/>
          <a:ln w="12700">
            <a:solidFill>
              <a:schemeClr val="accent5"/>
            </a:solidFill>
            <a:prstDash val="solid"/>
            <a:tailEnd type="triangle"/>
          </a:ln>
        </p:spPr>
      </p:sp>
      <p:sp>
        <p:nvSpPr>
          <p:cNvPr id="110" name="pill-325"/>
          <p:cNvSpPr/>
          <p:nvPr/>
        </p:nvSpPr>
        <p:spPr>
          <a:xfrm>
            <a:off x="6091602" y="5715000"/>
            <a:ext cx="548640" cy="292608"/>
          </a:xfrm>
          <a:prstGeom prst="roundRect">
            <a:avLst>
              <a:gd name="adj" fmla="val 50000"/>
            </a:avLst>
          </a:prstGeom>
          <a:solidFill>
            <a:schemeClr val="tx1"/>
          </a:solidFill>
          <a:ln/>
        </p:spPr>
        <p:txBody>
          <a:bodyPr wrap="square" lIns="0" tIns="0" rIns="0" bIns="0" rtlCol="0" anchor="ctr"/>
          <a:lstStyle/>
          <a:p>
            <a:pPr algn="ctr" indent="0" marL="0">
              <a:buNone/>
            </a:pPr>
            <a:r>
              <a:rPr lang="en-US" sz="1100" b="1" dirty="0">
                <a:solidFill>
                  <a:schemeClr val="bg1"/>
                </a:solidFill>
              </a:rPr>
              <a:t>200</a:t>
            </a:r>
            <a:endParaRPr lang="en-US" sz="1100" dirty="0"/>
          </a:p>
        </p:txBody>
      </p:sp>
      <p:sp>
        <p:nvSpPr>
          <p:cNvPr id="111" name="link-326"/>
          <p:cNvSpPr/>
          <p:nvPr/>
        </p:nvSpPr>
        <p:spPr>
          <a:xfrm>
            <a:off x="6667674" y="5861304"/>
            <a:ext cx="230298" cy="0"/>
          </a:xfrm>
          <a:prstGeom prst="line">
            <a:avLst/>
          </a:prstGeom>
          <a:noFill/>
          <a:ln w="12700">
            <a:solidFill>
              <a:schemeClr val="accent5"/>
            </a:solidFill>
            <a:prstDash val="solid"/>
            <a:tailEnd type="triangle"/>
          </a:ln>
        </p:spPr>
      </p:sp>
      <p:sp>
        <p:nvSpPr>
          <p:cNvPr id="112" name="pill-327"/>
          <p:cNvSpPr/>
          <p:nvPr/>
        </p:nvSpPr>
        <p:spPr>
          <a:xfrm>
            <a:off x="6925404" y="5715000"/>
            <a:ext cx="548640" cy="292608"/>
          </a:xfrm>
          <a:prstGeom prst="roundRect">
            <a:avLst>
              <a:gd name="adj" fmla="val 50000"/>
            </a:avLst>
          </a:prstGeom>
          <a:solidFill>
            <a:schemeClr val="tx1"/>
          </a:solidFill>
          <a:ln/>
        </p:spPr>
        <p:txBody>
          <a:bodyPr wrap="square" lIns="0" tIns="0" rIns="0" bIns="0" rtlCol="0" anchor="ctr"/>
          <a:lstStyle/>
          <a:p>
            <a:pPr algn="ctr" indent="0" marL="0">
              <a:buNone/>
            </a:pPr>
            <a:r>
              <a:rPr lang="en-US" sz="1100" b="1" dirty="0">
                <a:solidFill>
                  <a:schemeClr val="bg1"/>
                </a:solidFill>
              </a:rPr>
              <a:t>300</a:t>
            </a:r>
            <a:endParaRPr lang="en-US" sz="1100" dirty="0"/>
          </a:p>
        </p:txBody>
      </p:sp>
      <p:sp>
        <p:nvSpPr>
          <p:cNvPr id="113" name="link-328"/>
          <p:cNvSpPr/>
          <p:nvPr/>
        </p:nvSpPr>
        <p:spPr>
          <a:xfrm>
            <a:off x="7501476" y="5861304"/>
            <a:ext cx="230298" cy="0"/>
          </a:xfrm>
          <a:prstGeom prst="line">
            <a:avLst/>
          </a:prstGeom>
          <a:noFill/>
          <a:ln w="12700">
            <a:solidFill>
              <a:schemeClr val="accent5"/>
            </a:solidFill>
            <a:prstDash val="solid"/>
            <a:tailEnd type="triangle"/>
          </a:ln>
        </p:spPr>
      </p:sp>
      <p:sp>
        <p:nvSpPr>
          <p:cNvPr id="114" name="pill-329"/>
          <p:cNvSpPr/>
          <p:nvPr/>
        </p:nvSpPr>
        <p:spPr>
          <a:xfrm>
            <a:off x="7759207" y="5715000"/>
            <a:ext cx="548640" cy="292608"/>
          </a:xfrm>
          <a:prstGeom prst="roundRect">
            <a:avLst>
              <a:gd name="adj" fmla="val 50000"/>
            </a:avLst>
          </a:prstGeom>
          <a:solidFill>
            <a:schemeClr val="accent3"/>
          </a:solidFill>
          <a:ln/>
        </p:spPr>
        <p:txBody>
          <a:bodyPr wrap="square" lIns="0" tIns="0" rIns="0" bIns="0" rtlCol="0" anchor="ctr"/>
          <a:lstStyle/>
          <a:p>
            <a:pPr algn="ctr" indent="0" marL="0">
              <a:buNone/>
            </a:pPr>
            <a:r>
              <a:rPr lang="en-US" sz="1100" b="1" dirty="0">
                <a:solidFill>
                  <a:schemeClr val="tx1"/>
                </a:solidFill>
              </a:rPr>
              <a:t>350</a:t>
            </a:r>
            <a:endParaRPr lang="en-US" sz="1100" dirty="0"/>
          </a:p>
        </p:txBody>
      </p:sp>
      <p:sp>
        <p:nvSpPr>
          <p:cNvPr id="115" name="link-330"/>
          <p:cNvSpPr/>
          <p:nvPr/>
        </p:nvSpPr>
        <p:spPr>
          <a:xfrm>
            <a:off x="8335279" y="5861304"/>
            <a:ext cx="230298" cy="0"/>
          </a:xfrm>
          <a:prstGeom prst="line">
            <a:avLst/>
          </a:prstGeom>
          <a:noFill/>
          <a:ln w="12700">
            <a:solidFill>
              <a:schemeClr val="accent5"/>
            </a:solidFill>
            <a:prstDash val="solid"/>
            <a:tailEnd type="triangle"/>
          </a:ln>
        </p:spPr>
      </p:sp>
      <p:sp>
        <p:nvSpPr>
          <p:cNvPr id="116" name="pill-331"/>
          <p:cNvSpPr/>
          <p:nvPr/>
        </p:nvSpPr>
        <p:spPr>
          <a:xfrm>
            <a:off x="8593009" y="5715000"/>
            <a:ext cx="548640" cy="292608"/>
          </a:xfrm>
          <a:prstGeom prst="roundRect">
            <a:avLst>
              <a:gd name="adj" fmla="val 50000"/>
            </a:avLst>
          </a:prstGeom>
          <a:solidFill>
            <a:schemeClr val="tx1"/>
          </a:solidFill>
          <a:ln/>
        </p:spPr>
        <p:txBody>
          <a:bodyPr wrap="square" lIns="0" tIns="0" rIns="0" bIns="0" rtlCol="0" anchor="ctr"/>
          <a:lstStyle/>
          <a:p>
            <a:pPr algn="ctr" indent="0" marL="0">
              <a:buNone/>
            </a:pPr>
            <a:r>
              <a:rPr lang="en-US" sz="1100" b="1" dirty="0">
                <a:solidFill>
                  <a:schemeClr val="bg1"/>
                </a:solidFill>
              </a:rPr>
              <a:t>400</a:t>
            </a:r>
            <a:endParaRPr lang="en-US" sz="1100" dirty="0"/>
          </a:p>
        </p:txBody>
      </p:sp>
      <p:sp>
        <p:nvSpPr>
          <p:cNvPr id="117" name="link-332"/>
          <p:cNvSpPr/>
          <p:nvPr/>
        </p:nvSpPr>
        <p:spPr>
          <a:xfrm>
            <a:off x="9169081" y="5861304"/>
            <a:ext cx="230298" cy="0"/>
          </a:xfrm>
          <a:prstGeom prst="line">
            <a:avLst/>
          </a:prstGeom>
          <a:noFill/>
          <a:ln w="12700">
            <a:solidFill>
              <a:schemeClr val="accent5"/>
            </a:solidFill>
            <a:prstDash val="solid"/>
            <a:tailEnd type="triangle"/>
          </a:ln>
        </p:spPr>
      </p:sp>
      <p:sp>
        <p:nvSpPr>
          <p:cNvPr id="118" name="pill-333"/>
          <p:cNvSpPr/>
          <p:nvPr/>
        </p:nvSpPr>
        <p:spPr>
          <a:xfrm>
            <a:off x="9426811" y="5715000"/>
            <a:ext cx="548640" cy="292608"/>
          </a:xfrm>
          <a:prstGeom prst="roundRect">
            <a:avLst>
              <a:gd name="adj" fmla="val 50000"/>
            </a:avLst>
          </a:prstGeom>
          <a:solidFill>
            <a:schemeClr val="tx1"/>
          </a:solidFill>
          <a:ln/>
        </p:spPr>
        <p:txBody>
          <a:bodyPr wrap="square" lIns="0" tIns="0" rIns="0" bIns="0" rtlCol="0" anchor="ctr"/>
          <a:lstStyle/>
          <a:p>
            <a:pPr algn="ctr" indent="0" marL="0">
              <a:buNone/>
            </a:pPr>
            <a:r>
              <a:rPr lang="en-US" sz="1100" b="1" dirty="0">
                <a:solidFill>
                  <a:schemeClr val="bg1"/>
                </a:solidFill>
              </a:rPr>
              <a:t>500</a:t>
            </a:r>
            <a:endParaRPr lang="en-US" sz="1100" dirty="0"/>
          </a:p>
        </p:txBody>
      </p:sp>
      <p:sp>
        <p:nvSpPr>
          <p:cNvPr id="119" name="link-334"/>
          <p:cNvSpPr/>
          <p:nvPr/>
        </p:nvSpPr>
        <p:spPr>
          <a:xfrm>
            <a:off x="10002883" y="5861304"/>
            <a:ext cx="230298" cy="0"/>
          </a:xfrm>
          <a:prstGeom prst="line">
            <a:avLst/>
          </a:prstGeom>
          <a:noFill/>
          <a:ln w="12700">
            <a:solidFill>
              <a:schemeClr val="accent5"/>
            </a:solidFill>
            <a:prstDash val="solid"/>
            <a:tailEnd type="triangle"/>
          </a:ln>
        </p:spPr>
      </p:sp>
      <p:sp>
        <p:nvSpPr>
          <p:cNvPr id="120" name="pill-335"/>
          <p:cNvSpPr/>
          <p:nvPr/>
        </p:nvSpPr>
        <p:spPr>
          <a:xfrm>
            <a:off x="10260613" y="5715000"/>
            <a:ext cx="548640" cy="292608"/>
          </a:xfrm>
          <a:prstGeom prst="roundRect">
            <a:avLst>
              <a:gd name="adj" fmla="val 50000"/>
            </a:avLst>
          </a:prstGeom>
          <a:solidFill>
            <a:schemeClr val="accent3"/>
          </a:solidFill>
          <a:ln/>
        </p:spPr>
        <p:txBody>
          <a:bodyPr wrap="square" lIns="0" tIns="0" rIns="0" bIns="0" rtlCol="0" anchor="ctr"/>
          <a:lstStyle/>
          <a:p>
            <a:pPr algn="ctr" indent="0" marL="0">
              <a:buNone/>
            </a:pPr>
            <a:r>
              <a:rPr lang="en-US" sz="1100" b="1" dirty="0">
                <a:solidFill>
                  <a:schemeClr val="tx1"/>
                </a:solidFill>
              </a:rPr>
              <a:t>550</a:t>
            </a:r>
            <a:endParaRPr lang="en-US" sz="1100" dirty="0"/>
          </a:p>
        </p:txBody>
      </p:sp>
      <p:sp>
        <p:nvSpPr>
          <p:cNvPr id="121" name="link-336"/>
          <p:cNvSpPr/>
          <p:nvPr/>
        </p:nvSpPr>
        <p:spPr>
          <a:xfrm>
            <a:off x="10836685" y="5861304"/>
            <a:ext cx="230298" cy="0"/>
          </a:xfrm>
          <a:prstGeom prst="line">
            <a:avLst/>
          </a:prstGeom>
          <a:noFill/>
          <a:ln w="12700">
            <a:solidFill>
              <a:schemeClr val="accent5"/>
            </a:solidFill>
            <a:prstDash val="solid"/>
            <a:tailEnd type="triangle"/>
          </a:ln>
        </p:spPr>
      </p:sp>
      <p:sp>
        <p:nvSpPr>
          <p:cNvPr id="122" name="pill-337"/>
          <p:cNvSpPr/>
          <p:nvPr/>
        </p:nvSpPr>
        <p:spPr>
          <a:xfrm>
            <a:off x="11094415" y="5715000"/>
            <a:ext cx="548640" cy="292608"/>
          </a:xfrm>
          <a:prstGeom prst="roundRect">
            <a:avLst>
              <a:gd name="adj" fmla="val 50000"/>
            </a:avLst>
          </a:prstGeom>
          <a:solidFill>
            <a:schemeClr val="tx1"/>
          </a:solidFill>
          <a:ln/>
        </p:spPr>
        <p:txBody>
          <a:bodyPr wrap="square" lIns="0" tIns="0" rIns="0" bIns="0" rtlCol="0" anchor="ctr"/>
          <a:lstStyle/>
          <a:p>
            <a:pPr algn="ctr" indent="0" marL="0">
              <a:buNone/>
            </a:pPr>
            <a:r>
              <a:rPr lang="en-US" sz="1100" b="1" dirty="0">
                <a:solidFill>
                  <a:schemeClr val="bg1"/>
                </a:solidFill>
              </a:rPr>
              <a:t>600</a:t>
            </a:r>
            <a:endParaRPr lang="en-US" sz="1100" dirty="0"/>
          </a:p>
        </p:txBody>
      </p:sp>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10896"/>
            <a:ext cx="8229600" cy="274320"/>
          </a:xfrm>
          <a:prstGeom prst="rect">
            <a:avLst/>
          </a:prstGeom>
          <a:noFill/>
          <a:ln/>
        </p:spPr>
        <p:txBody>
          <a:bodyPr wrap="square" lIns="0" tIns="0" rIns="0" bIns="0" rtlCol="0" anchor="ctr"/>
          <a:lstStyle/>
          <a:p>
            <a:pPr algn="l" indent="0" marL="0">
              <a:buNone/>
            </a:pPr>
            <a:r>
              <a:rPr lang="en-US" sz="1200" b="1" spc="150" kern="0" dirty="0">
                <a:solidFill>
                  <a:schemeClr val="accent1"/>
                </a:solidFill>
              </a:rPr>
              <a:t>DES · PARTS ALGORITHM (2/2)</a:t>
            </a:r>
            <a:endParaRPr lang="en-US" sz="1200" dirty="0"/>
          </a:p>
        </p:txBody>
      </p:sp>
      <p:sp>
        <p:nvSpPr>
          <p:cNvPr id="3" name="Text 0"/>
          <p:cNvSpPr/>
          <p:nvPr>
            <p:ph idx="101" type="title" hasCustomPrompt="1"/>
          </p:nvPr>
        </p:nvSpPr>
        <p:spPr>
          <a:xfrm>
            <a:off x="548640" y="603504"/>
            <a:ext cx="11094415" cy="868680"/>
          </a:xfrm>
          <a:prstGeom prst="rect">
            <a:avLst/>
          </a:prstGeom>
          <a:noFill/>
          <a:ln/>
        </p:spPr>
        <p:txBody>
          <a:bodyPr wrap="square" lIns="0" tIns="0" rIns="0" bIns="0" rtlCol="0" anchor="t"/>
          <a:lstStyle/>
          <a:p>
            <a:pPr algn="l" indent="0" marL="0">
              <a:buNone/>
            </a:pPr>
            <a:r>
              <a:rPr lang="en-US" sz="2800" b="1" dirty="0">
                <a:solidFill>
                  <a:schemeClr val="tx1"/>
                </a:solidFill>
              </a:rPr>
              <a:t>Every chunk is self-describing: structure, context, lineage</a:t>
            </a:r>
            <a:endParaRPr lang="en-US" sz="2800" dirty="0"/>
          </a:p>
        </p:txBody>
      </p:sp>
      <p:sp>
        <p:nvSpPr>
          <p:cNvPr id="5" name="card-338"/>
          <p:cNvSpPr/>
          <p:nvPr/>
        </p:nvSpPr>
        <p:spPr>
          <a:xfrm>
            <a:off x="548640" y="1627632"/>
            <a:ext cx="3049524" cy="2130552"/>
          </a:xfrm>
          <a:prstGeom prst="roundRect">
            <a:avLst>
              <a:gd name="adj" fmla="val 3433"/>
            </a:avLst>
          </a:prstGeom>
          <a:solidFill>
            <a:schemeClr val="bg1"/>
          </a:solidFill>
          <a:ln w="9525">
            <a:solidFill>
              <a:schemeClr val="accent6"/>
            </a:solidFill>
            <a:prstDash val="solid"/>
          </a:ln>
        </p:spPr>
      </p:sp>
      <p:sp>
        <p:nvSpPr>
          <p:cNvPr id="6" name="badge-339"/>
          <p:cNvSpPr/>
          <p:nvPr/>
        </p:nvSpPr>
        <p:spPr>
          <a:xfrm>
            <a:off x="786384" y="1865376"/>
            <a:ext cx="457200" cy="457200"/>
          </a:xfrm>
          <a:prstGeom prst="ellipse">
            <a:avLst/>
          </a:prstGeom>
          <a:solidFill>
            <a:schemeClr val="accent1"/>
          </a:solidFill>
          <a:ln/>
        </p:spPr>
      </p:sp>
      <p:pic>
        <p:nvPicPr>
          <p:cNvPr id="7" name="icon-TbTable-340" descr="Table">    </p:cNvPr>
          <p:cNvPicPr>
            <a:picLocks noChangeAspect="1"/>
          </p:cNvPicPr>
          <p:nvPr/>
        </p:nvPicPr>
        <p:blipFill>
          <a:blip r:embed="rId1"/>
          <a:stretch>
            <a:fillRect/>
          </a:stretch>
        </p:blipFill>
        <p:spPr>
          <a:xfrm>
            <a:off x="886968" y="1965960"/>
            <a:ext cx="256032" cy="256032"/>
          </a:xfrm>
          <a:prstGeom prst="rect">
            <a:avLst/>
          </a:prstGeom>
        </p:spPr>
      </p:pic>
      <p:sp>
        <p:nvSpPr>
          <p:cNvPr id="8" name="block-341"/>
          <p:cNvSpPr txBox="1"/>
          <p:nvPr/>
        </p:nvSpPr>
        <p:spPr>
          <a:xfrm>
            <a:off x="786384" y="2468880"/>
            <a:ext cx="2574036" cy="1170432"/>
          </a:xfrm>
          <a:prstGeom prst="rect">
            <a:avLst/>
          </a:prstGeom>
          <a:noFill/>
          <a:ln/>
        </p:spPr>
        <p:txBody>
          <a:bodyPr wrap="square" lIns="0" tIns="0" rIns="0" bIns="0" rtlCol="0" anchor="t"/>
          <a:lstStyle/>
          <a:p>
            <a:pPr indent="0" marL="0">
              <a:spcAft>
                <a:spcPts val="400"/>
              </a:spcAft>
              <a:buNone/>
            </a:pPr>
            <a:r>
              <a:rPr lang="en-US" sz="1550" b="1" dirty="0">
                <a:solidFill>
                  <a:schemeClr val="tx1"/>
                </a:solidFill>
              </a:rPr>
              <a:t>Tables stay tables</a:t>
            </a:r>
            <a:endParaRPr lang="en-US" sz="1550" dirty="0"/>
          </a:p>
          <a:p>
            <a:pPr indent="0" marL="0">
              <a:spcAft>
                <a:spcPts val="200"/>
              </a:spcAft>
              <a:buNone/>
            </a:pPr>
            <a:r>
              <a:rPr lang="en-US" sz="1250" dirty="0">
                <a:solidFill>
                  <a:schemeClr val="tx2"/>
                </a:solidFill>
              </a:rPr>
              <a:t>Markdown, split only at row boundaries with the whole header block repeated; caption on every part, footnotes on the last.</a:t>
            </a:r>
            <a:endParaRPr lang="en-US" sz="1550" dirty="0"/>
          </a:p>
        </p:txBody>
      </p:sp>
      <p:sp>
        <p:nvSpPr>
          <p:cNvPr id="9" name="card-342"/>
          <p:cNvSpPr/>
          <p:nvPr/>
        </p:nvSpPr>
        <p:spPr>
          <a:xfrm>
            <a:off x="3854196" y="1627632"/>
            <a:ext cx="3049524" cy="2130552"/>
          </a:xfrm>
          <a:prstGeom prst="roundRect">
            <a:avLst>
              <a:gd name="adj" fmla="val 3433"/>
            </a:avLst>
          </a:prstGeom>
          <a:solidFill>
            <a:schemeClr val="bg1"/>
          </a:solidFill>
          <a:ln w="9525">
            <a:solidFill>
              <a:schemeClr val="accent6"/>
            </a:solidFill>
            <a:prstDash val="solid"/>
          </a:ln>
        </p:spPr>
      </p:sp>
      <p:sp>
        <p:nvSpPr>
          <p:cNvPr id="10" name="badge-343"/>
          <p:cNvSpPr/>
          <p:nvPr/>
        </p:nvSpPr>
        <p:spPr>
          <a:xfrm>
            <a:off x="4091940" y="1865376"/>
            <a:ext cx="457200" cy="457200"/>
          </a:xfrm>
          <a:prstGeom prst="ellipse">
            <a:avLst/>
          </a:prstGeom>
          <a:solidFill>
            <a:schemeClr val="accent1"/>
          </a:solidFill>
          <a:ln/>
        </p:spPr>
      </p:sp>
      <p:pic>
        <p:nvPicPr>
          <p:cNvPr id="11" name="icon-TbPhoto-344" descr="Photo">    </p:cNvPr>
          <p:cNvPicPr>
            <a:picLocks noChangeAspect="1"/>
          </p:cNvPicPr>
          <p:nvPr/>
        </p:nvPicPr>
        <p:blipFill>
          <a:blip r:embed="rId2"/>
          <a:stretch>
            <a:fillRect/>
          </a:stretch>
        </p:blipFill>
        <p:spPr>
          <a:xfrm>
            <a:off x="4192524" y="1965960"/>
            <a:ext cx="256032" cy="256032"/>
          </a:xfrm>
          <a:prstGeom prst="rect">
            <a:avLst/>
          </a:prstGeom>
        </p:spPr>
      </p:pic>
      <p:sp>
        <p:nvSpPr>
          <p:cNvPr id="12" name="block-345"/>
          <p:cNvSpPr txBox="1"/>
          <p:nvPr/>
        </p:nvSpPr>
        <p:spPr>
          <a:xfrm>
            <a:off x="4091940" y="2468880"/>
            <a:ext cx="2574036" cy="1170432"/>
          </a:xfrm>
          <a:prstGeom prst="rect">
            <a:avLst/>
          </a:prstGeom>
          <a:noFill/>
          <a:ln/>
        </p:spPr>
        <p:txBody>
          <a:bodyPr wrap="square" lIns="0" tIns="0" rIns="0" bIns="0" rtlCol="0" anchor="t"/>
          <a:lstStyle/>
          <a:p>
            <a:pPr indent="0" marL="0">
              <a:spcAft>
                <a:spcPts val="400"/>
              </a:spcAft>
              <a:buNone/>
            </a:pPr>
            <a:r>
              <a:rPr lang="en-US" sz="1550" b="1" dirty="0">
                <a:solidFill>
                  <a:schemeClr val="tx1"/>
                </a:solidFill>
              </a:rPr>
              <a:t>Figures stay visible</a:t>
            </a:r>
            <a:endParaRPr lang="en-US" sz="1550" dirty="0"/>
          </a:p>
          <a:p>
            <a:pPr indent="0" marL="0">
              <a:spcAft>
                <a:spcPts val="200"/>
              </a:spcAft>
              <a:buNone/>
            </a:pPr>
            <a:r>
              <a:rPr lang="en-US" sz="1250" dirty="0">
                <a:solidFill>
                  <a:schemeClr val="tx2"/>
                </a:solidFill>
              </a:rPr>
              <a:t>Cropped from the source at 300 dpi and inlined as &lt;img&gt; with the caption as alt text; a crop never fails a document.</a:t>
            </a:r>
            <a:endParaRPr lang="en-US" sz="1550" dirty="0"/>
          </a:p>
        </p:txBody>
      </p:sp>
      <p:sp>
        <p:nvSpPr>
          <p:cNvPr id="13" name="card-346"/>
          <p:cNvSpPr/>
          <p:nvPr/>
        </p:nvSpPr>
        <p:spPr>
          <a:xfrm>
            <a:off x="548640" y="4014216"/>
            <a:ext cx="3049524" cy="2130552"/>
          </a:xfrm>
          <a:prstGeom prst="roundRect">
            <a:avLst>
              <a:gd name="adj" fmla="val 3433"/>
            </a:avLst>
          </a:prstGeom>
          <a:solidFill>
            <a:schemeClr val="bg1"/>
          </a:solidFill>
          <a:ln w="9525">
            <a:solidFill>
              <a:schemeClr val="accent6"/>
            </a:solidFill>
            <a:prstDash val="solid"/>
          </a:ln>
        </p:spPr>
      </p:sp>
      <p:sp>
        <p:nvSpPr>
          <p:cNvPr id="14" name="badge-347"/>
          <p:cNvSpPr/>
          <p:nvPr/>
        </p:nvSpPr>
        <p:spPr>
          <a:xfrm>
            <a:off x="786384" y="4251960"/>
            <a:ext cx="457200" cy="457200"/>
          </a:xfrm>
          <a:prstGeom prst="ellipse">
            <a:avLst/>
          </a:prstGeom>
          <a:solidFill>
            <a:schemeClr val="accent1"/>
          </a:solidFill>
          <a:ln/>
        </p:spPr>
      </p:sp>
      <p:pic>
        <p:nvPicPr>
          <p:cNvPr id="15" name="icon-TbHierarchy2-348" descr="Hierarchy2">    </p:cNvPr>
          <p:cNvPicPr>
            <a:picLocks noChangeAspect="1"/>
          </p:cNvPicPr>
          <p:nvPr/>
        </p:nvPicPr>
        <p:blipFill>
          <a:blip r:embed="rId3"/>
          <a:stretch>
            <a:fillRect/>
          </a:stretch>
        </p:blipFill>
        <p:spPr>
          <a:xfrm>
            <a:off x="886968" y="4352544"/>
            <a:ext cx="256032" cy="256032"/>
          </a:xfrm>
          <a:prstGeom prst="rect">
            <a:avLst/>
          </a:prstGeom>
        </p:spPr>
      </p:pic>
      <p:sp>
        <p:nvSpPr>
          <p:cNvPr id="16" name="block-349"/>
          <p:cNvSpPr txBox="1"/>
          <p:nvPr/>
        </p:nvSpPr>
        <p:spPr>
          <a:xfrm>
            <a:off x="786384" y="4855464"/>
            <a:ext cx="2574036" cy="1170432"/>
          </a:xfrm>
          <a:prstGeom prst="rect">
            <a:avLst/>
          </a:prstGeom>
          <a:noFill/>
          <a:ln/>
        </p:spPr>
        <p:txBody>
          <a:bodyPr wrap="square" lIns="0" tIns="0" rIns="0" bIns="0" rtlCol="0" anchor="t"/>
          <a:lstStyle/>
          <a:p>
            <a:pPr indent="0" marL="0">
              <a:spcAft>
                <a:spcPts val="400"/>
              </a:spcAft>
              <a:buNone/>
            </a:pPr>
            <a:r>
              <a:rPr lang="en-US" sz="1550" b="1" dirty="0">
                <a:solidFill>
                  <a:schemeClr val="tx1"/>
                </a:solidFill>
              </a:rPr>
              <a:t>Context on every chunk</a:t>
            </a:r>
            <a:endParaRPr lang="en-US" sz="1550" dirty="0"/>
          </a:p>
          <a:p>
            <a:pPr indent="0" marL="0">
              <a:spcAft>
                <a:spcPts val="200"/>
              </a:spcAft>
              <a:buNone/>
            </a:pPr>
            <a:r>
              <a:rPr lang="en-US" sz="1250" dirty="0">
                <a:solidFill>
                  <a:schemeClr val="tx2"/>
                </a:solidFill>
              </a:rPr>
              <a:t>Same-role fragments merge into one part, and every chunk starts with its running title and section heading.</a:t>
            </a:r>
            <a:endParaRPr lang="en-US" sz="1550" dirty="0"/>
          </a:p>
        </p:txBody>
      </p:sp>
      <p:sp>
        <p:nvSpPr>
          <p:cNvPr id="17" name="card-350"/>
          <p:cNvSpPr/>
          <p:nvPr/>
        </p:nvSpPr>
        <p:spPr>
          <a:xfrm>
            <a:off x="3854196" y="4014216"/>
            <a:ext cx="3049524" cy="2130552"/>
          </a:xfrm>
          <a:prstGeom prst="roundRect">
            <a:avLst>
              <a:gd name="adj" fmla="val 3433"/>
            </a:avLst>
          </a:prstGeom>
          <a:solidFill>
            <a:schemeClr val="bg1"/>
          </a:solidFill>
          <a:ln w="9525">
            <a:solidFill>
              <a:schemeClr val="accent6"/>
            </a:solidFill>
            <a:prstDash val="solid"/>
          </a:ln>
        </p:spPr>
      </p:sp>
      <p:sp>
        <p:nvSpPr>
          <p:cNvPr id="18" name="badge-351"/>
          <p:cNvSpPr/>
          <p:nvPr/>
        </p:nvSpPr>
        <p:spPr>
          <a:xfrm>
            <a:off x="4091940" y="4251960"/>
            <a:ext cx="457200" cy="457200"/>
          </a:xfrm>
          <a:prstGeom prst="ellipse">
            <a:avLst/>
          </a:prstGeom>
          <a:solidFill>
            <a:schemeClr val="accent1"/>
          </a:solidFill>
          <a:ln/>
        </p:spPr>
      </p:sp>
      <p:pic>
        <p:nvPicPr>
          <p:cNvPr id="19" name="icon-TbArrowsSplit-352" descr="ArrowsSplit">    </p:cNvPr>
          <p:cNvPicPr>
            <a:picLocks noChangeAspect="1"/>
          </p:cNvPicPr>
          <p:nvPr/>
        </p:nvPicPr>
        <p:blipFill>
          <a:blip r:embed="rId4"/>
          <a:stretch>
            <a:fillRect/>
          </a:stretch>
        </p:blipFill>
        <p:spPr>
          <a:xfrm>
            <a:off x="4192524" y="4352544"/>
            <a:ext cx="256032" cy="256032"/>
          </a:xfrm>
          <a:prstGeom prst="rect">
            <a:avLst/>
          </a:prstGeom>
        </p:spPr>
      </p:pic>
      <p:sp>
        <p:nvSpPr>
          <p:cNvPr id="20" name="block-353"/>
          <p:cNvSpPr txBox="1"/>
          <p:nvPr/>
        </p:nvSpPr>
        <p:spPr>
          <a:xfrm>
            <a:off x="4091940" y="4855464"/>
            <a:ext cx="2574036" cy="1170432"/>
          </a:xfrm>
          <a:prstGeom prst="rect">
            <a:avLst/>
          </a:prstGeom>
          <a:noFill/>
          <a:ln/>
        </p:spPr>
        <p:txBody>
          <a:bodyPr wrap="square" lIns="0" tIns="0" rIns="0" bIns="0" rtlCol="0" anchor="t"/>
          <a:lstStyle/>
          <a:p>
            <a:pPr indent="0" marL="0">
              <a:spcAft>
                <a:spcPts val="400"/>
              </a:spcAft>
              <a:buNone/>
            </a:pPr>
            <a:r>
              <a:rPr lang="en-US" sz="1550" b="1" dirty="0">
                <a:solidFill>
                  <a:schemeClr val="tx1"/>
                </a:solidFill>
              </a:rPr>
              <a:t>Split only inside a part</a:t>
            </a:r>
            <a:endParaRPr lang="en-US" sz="1550" dirty="0"/>
          </a:p>
          <a:p>
            <a:pPr indent="0" marL="0">
              <a:spcAft>
                <a:spcPts val="200"/>
              </a:spcAft>
              <a:buNone/>
            </a:pPr>
            <a:r>
              <a:rPr lang="en-US" sz="1250" dirty="0">
                <a:solidFill>
                  <a:schemeClr val="tx2"/>
                </a:solidFill>
              </a:rPr>
              <a:t>Recursive splitting inside each part, four characters per token and no overlap; equal headings share one UUIDv5 group id.</a:t>
            </a:r>
            <a:endParaRPr lang="en-US" sz="1550" dirty="0"/>
          </a:p>
        </p:txBody>
      </p:sp>
      <p:sp>
        <p:nvSpPr>
          <p:cNvPr id="21" name="text-354"/>
          <p:cNvSpPr txBox="1"/>
          <p:nvPr/>
        </p:nvSpPr>
        <p:spPr>
          <a:xfrm>
            <a:off x="7178040" y="1627632"/>
            <a:ext cx="4465015" cy="274320"/>
          </a:xfrm>
          <a:prstGeom prst="rect">
            <a:avLst/>
          </a:prstGeom>
          <a:noFill/>
          <a:ln/>
        </p:spPr>
        <p:txBody>
          <a:bodyPr wrap="square" lIns="0" tIns="0" rIns="0" bIns="0" rtlCol="0" anchor="ctr"/>
          <a:lstStyle/>
          <a:p>
            <a:pPr indent="0" marL="0">
              <a:buNone/>
            </a:pPr>
            <a:r>
              <a:rPr lang="en-US" sz="1200" b="1" dirty="0">
                <a:solidFill>
                  <a:schemeClr val="tx2"/>
                </a:solidFill>
              </a:rPr>
              <a:t>One chunk from chunks.json (abridged)</a:t>
            </a:r>
            <a:endParaRPr lang="en-US" sz="1200" dirty="0"/>
          </a:p>
        </p:txBody>
      </p:sp>
      <p:sp>
        <p:nvSpPr>
          <p:cNvPr id="22" name="code-355"/>
          <p:cNvSpPr/>
          <p:nvPr/>
        </p:nvSpPr>
        <p:spPr>
          <a:xfrm>
            <a:off x="7178040" y="1956816"/>
            <a:ext cx="4465015" cy="4206240"/>
          </a:xfrm>
          <a:prstGeom prst="roundRect">
            <a:avLst>
              <a:gd name="adj" fmla="val 1304"/>
            </a:avLst>
          </a:prstGeom>
          <a:solidFill>
            <a:schemeClr val="tx1"/>
          </a:solidFill>
          <a:ln/>
        </p:spPr>
        <p:txBody>
          <a:bodyPr wrap="square" lIns="127000" tIns="114300" rIns="127000" bIns="101600" rtlCol="0" anchor="t"/>
          <a:lstStyle/>
          <a:p>
            <a:pPr indent="0" marL="0">
              <a:buNone/>
            </a:pPr>
            <a:r>
              <a:rPr lang="en-US" sz="1150" dirty="0">
                <a:solidFill>
                  <a:schemeClr val="bg1"/>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"id": "doc-7f3a:12",</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"chunkUUID": "6b1e…",</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"partId": 350,</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"partNumber": 2, "totalPartNumber": 3,</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"chunkType": "table",</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"pageNumber": 4,</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"normalizedBoundingBox": [0.081, 0.412, …],</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"tokenCount": 498,</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"imageCount": 0,</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"fileSha256": "c1f9…e07a",</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"ocrModelVersion":</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"prebuilt-layout@2024-11-30",</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"layoutModelVersion": "des-layout-map/2",</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"piiRedacted": true,</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"piiEntities": { "PERSON": 2 },</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"content": "{title}\n{section}\n\n| … |"</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a:t>
            </a:r>
            <a:endParaRPr lang="en-US" sz="1150" dirty="0"/>
          </a:p>
        </p:txBody>
      </p:sp>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10896"/>
            <a:ext cx="8229600" cy="274320"/>
          </a:xfrm>
          <a:prstGeom prst="rect">
            <a:avLst/>
          </a:prstGeom>
          <a:noFill/>
          <a:ln/>
        </p:spPr>
        <p:txBody>
          <a:bodyPr wrap="square" lIns="0" tIns="0" rIns="0" bIns="0" rtlCol="0" anchor="ctr"/>
          <a:lstStyle/>
          <a:p>
            <a:pPr algn="l" indent="0" marL="0">
              <a:buNone/>
            </a:pPr>
            <a:r>
              <a:rPr lang="en-US" sz="1200" b="1" spc="150" kern="0" dirty="0">
                <a:solidFill>
                  <a:schemeClr val="accent1"/>
                </a:solidFill>
              </a:rPr>
              <a:t>DES · PRIVACY</a:t>
            </a:r>
            <a:endParaRPr lang="en-US" sz="1200" dirty="0"/>
          </a:p>
        </p:txBody>
      </p:sp>
      <p:sp>
        <p:nvSpPr>
          <p:cNvPr id="3" name="Text 0"/>
          <p:cNvSpPr/>
          <p:nvPr>
            <p:ph idx="101" type="title" hasCustomPrompt="1"/>
          </p:nvPr>
        </p:nvSpPr>
        <p:spPr>
          <a:xfrm>
            <a:off x="548640" y="603504"/>
            <a:ext cx="11094415" cy="868680"/>
          </a:xfrm>
          <a:prstGeom prst="rect">
            <a:avLst/>
          </a:prstGeom>
          <a:noFill/>
          <a:ln/>
        </p:spPr>
        <p:txBody>
          <a:bodyPr wrap="square" lIns="0" tIns="0" rIns="0" bIns="0" rtlCol="0" anchor="t"/>
          <a:lstStyle/>
          <a:p>
            <a:pPr algn="l" indent="0" marL="0">
              <a:buNone/>
            </a:pPr>
            <a:r>
              <a:rPr lang="en-US" sz="2800" b="1" dirty="0">
                <a:solidFill>
                  <a:schemeClr val="tx1"/>
                </a:solidFill>
              </a:rPr>
              <a:t>PII is masked before chunk boundaries exist, and no box moves</a:t>
            </a:r>
            <a:endParaRPr lang="en-US" sz="2800" dirty="0"/>
          </a:p>
        </p:txBody>
      </p:sp>
      <p:sp>
        <p:nvSpPr>
          <p:cNvPr id="5" name="text-356"/>
          <p:cNvSpPr txBox="1"/>
          <p:nvPr/>
        </p:nvSpPr>
        <p:spPr>
          <a:xfrm>
            <a:off x="548640" y="1600200"/>
            <a:ext cx="6355080" cy="274320"/>
          </a:xfrm>
          <a:prstGeom prst="rect">
            <a:avLst/>
          </a:prstGeom>
          <a:noFill/>
          <a:ln/>
        </p:spPr>
        <p:txBody>
          <a:bodyPr wrap="square" lIns="0" tIns="0" rIns="0" bIns="0" rtlCol="0" anchor="t"/>
          <a:lstStyle/>
          <a:p>
            <a:pPr indent="0" marL="0">
              <a:buNone/>
            </a:pPr>
            <a:r>
              <a:rPr lang="en-US" sz="1200" b="1" dirty="0">
                <a:solidFill>
                  <a:schemeClr val="tx2"/>
                </a:solidFill>
              </a:rPr>
              <a:t>Before: OCR text (PII detection on)</a:t>
            </a:r>
            <a:endParaRPr lang="en-US" sz="1200" dirty="0"/>
          </a:p>
        </p:txBody>
      </p:sp>
      <p:sp>
        <p:nvSpPr>
          <p:cNvPr id="6" name="pii-panel-357"/>
          <p:cNvSpPr/>
          <p:nvPr/>
        </p:nvSpPr>
        <p:spPr>
          <a:xfrm>
            <a:off x="548640" y="1929384"/>
            <a:ext cx="6355080" cy="1051560"/>
          </a:xfrm>
          <a:prstGeom prst="roundRect">
            <a:avLst>
              <a:gd name="adj" fmla="val 5217"/>
            </a:avLst>
          </a:prstGeom>
          <a:solidFill>
            <a:schemeClr val="bg2"/>
          </a:solidFill>
          <a:ln w="9525">
            <a:solidFill>
              <a:schemeClr val="accent6"/>
            </a:solidFill>
            <a:prstDash val="solid"/>
          </a:ln>
        </p:spPr>
      </p:sp>
      <p:sp>
        <p:nvSpPr>
          <p:cNvPr id="7" name="pii-text-358"/>
          <p:cNvSpPr txBox="1"/>
          <p:nvPr/>
        </p:nvSpPr>
        <p:spPr>
          <a:xfrm>
            <a:off x="777240" y="2057400"/>
            <a:ext cx="5897880" cy="822960"/>
          </a:xfrm>
          <a:prstGeom prst="rect">
            <a:avLst/>
          </a:prstGeom>
          <a:noFill/>
          <a:ln/>
        </p:spPr>
        <p:txBody>
          <a:bodyPr wrap="square" lIns="0" tIns="0" rIns="0" bIns="0" rtlCol="0" anchor="ctr"/>
          <a:lstStyle/>
          <a:p>
            <a:pPr indent="0" marL="0">
              <a:buNone/>
            </a:pPr>
            <a:r>
              <a:rPr lang="en-US" sz="1500" dirty="0">
                <a:solidFill>
                  <a:schemeClr val="tx1"/>
                </a:solidFill>
                <a:latin typeface="Courier New" pitchFamily="34" charset="0"/>
                <a:ea typeface="Courier New" pitchFamily="34" charset="-122"/>
                <a:cs typeface="Courier New" pitchFamily="34" charset="-120"/>
              </a:rPr>
              <a:t>Contact </a:t>
            </a:r>
            <a:pPr indent="0" marL="0">
              <a:buNone/>
            </a:pPr>
            <a:r>
              <a:rPr lang="en-US" sz="1500" b="1" dirty="0">
                <a:solidFill>
                  <a:schemeClr val="tx1"/>
                </a:solidFill>
                <a:highlight>
                  <a:srgbClr val="F2D27A"/>
                </a:highlight>
                <a:latin typeface="Courier New" pitchFamily="34" charset="0"/>
                <a:ea typeface="Courier New" pitchFamily="34" charset="-122"/>
                <a:cs typeface="Courier New" pitchFamily="34" charset="-120"/>
              </a:rPr>
              <a:t>Jane Doe</a:t>
            </a:r>
            <a:pPr indent="0" marL="0">
              <a:buNone/>
            </a:pPr>
            <a:r>
              <a:rPr lang="en-US" sz="1500" dirty="0">
                <a:solidFill>
                  <a:schemeClr val="tx1"/>
                </a:solidFill>
                <a:latin typeface="Courier New" pitchFamily="34" charset="0"/>
                <a:ea typeface="Courier New" pitchFamily="34" charset="-122"/>
                <a:cs typeface="Courier New" pitchFamily="34" charset="-120"/>
              </a:rPr>
              <a:t> at </a:t>
            </a:r>
            <a:pPr indent="0" marL="0">
              <a:buNone/>
            </a:pPr>
            <a:r>
              <a:rPr lang="en-US" sz="1500" b="1" dirty="0">
                <a:solidFill>
                  <a:schemeClr val="tx1"/>
                </a:solidFill>
                <a:highlight>
                  <a:srgbClr val="F2D27A"/>
                </a:highlight>
                <a:latin typeface="Courier New" pitchFamily="34" charset="0"/>
                <a:ea typeface="Courier New" pitchFamily="34" charset="-122"/>
                <a:cs typeface="Courier New" pitchFamily="34" charset="-120"/>
              </a:rPr>
              <a:t>jane.doe@example.com</a:t>
            </a:r>
            <a:endParaRPr lang="en-US" sz="1500" dirty="0"/>
          </a:p>
          <a:p>
            <a:pPr indent="0" marL="0">
              <a:buNone/>
            </a:pPr>
            <a:r>
              <a:rPr lang="en-US" sz="1500" dirty="0">
                <a:solidFill>
                  <a:schemeClr val="tx1"/>
                </a:solidFill>
                <a:latin typeface="Courier New" pitchFamily="34" charset="0"/>
                <a:ea typeface="Courier New" pitchFamily="34" charset="-122"/>
                <a:cs typeface="Courier New" pitchFamily="34" charset="-120"/>
              </a:rPr>
              <a:t>Phone </a:t>
            </a:r>
            <a:pPr indent="0" marL="0">
              <a:buNone/>
            </a:pPr>
            <a:r>
              <a:rPr lang="en-US" sz="1500" b="1" dirty="0">
                <a:solidFill>
                  <a:schemeClr val="tx1"/>
                </a:solidFill>
                <a:highlight>
                  <a:srgbClr val="F2D27A"/>
                </a:highlight>
                <a:latin typeface="Courier New" pitchFamily="34" charset="0"/>
                <a:ea typeface="Courier New" pitchFamily="34" charset="-122"/>
                <a:cs typeface="Courier New" pitchFamily="34" charset="-120"/>
              </a:rPr>
              <a:t>415-555-0123</a:t>
            </a:r>
            <a:pPr indent="0" marL="0">
              <a:buNone/>
            </a:pPr>
            <a:r>
              <a:rPr lang="en-US" sz="1500" dirty="0">
                <a:solidFill>
                  <a:schemeClr val="tx1"/>
                </a:solidFill>
                <a:latin typeface="Courier New" pitchFamily="34" charset="0"/>
                <a:ea typeface="Courier New" pitchFamily="34" charset="-122"/>
                <a:cs typeface="Courier New" pitchFamily="34" charset="-120"/>
              </a:rPr>
              <a:t>, ref 88-1042</a:t>
            </a:r>
            <a:endParaRPr lang="en-US" sz="1500" dirty="0"/>
          </a:p>
        </p:txBody>
      </p:sp>
      <p:sp>
        <p:nvSpPr>
          <p:cNvPr id="8" name="text-359"/>
          <p:cNvSpPr txBox="1"/>
          <p:nvPr/>
        </p:nvSpPr>
        <p:spPr>
          <a:xfrm>
            <a:off x="548640" y="3154680"/>
            <a:ext cx="6355080" cy="274320"/>
          </a:xfrm>
          <a:prstGeom prst="rect">
            <a:avLst/>
          </a:prstGeom>
          <a:noFill/>
          <a:ln/>
        </p:spPr>
        <p:txBody>
          <a:bodyPr wrap="square" lIns="0" tIns="0" rIns="0" bIns="0" rtlCol="0" anchor="t"/>
          <a:lstStyle/>
          <a:p>
            <a:pPr indent="0" marL="0">
              <a:buNone/>
            </a:pPr>
            <a:r>
              <a:rPr lang="en-US" sz="1200" b="1" dirty="0">
                <a:solidFill>
                  <a:schemeClr val="accent1"/>
                </a:solidFill>
              </a:rPr>
              <a:t>After: what the chunks and the vector index contain</a:t>
            </a:r>
            <a:endParaRPr lang="en-US" sz="1200" dirty="0"/>
          </a:p>
        </p:txBody>
      </p:sp>
      <p:sp>
        <p:nvSpPr>
          <p:cNvPr id="9" name="pii-panel-360"/>
          <p:cNvSpPr/>
          <p:nvPr/>
        </p:nvSpPr>
        <p:spPr>
          <a:xfrm>
            <a:off x="548640" y="3483864"/>
            <a:ext cx="6355080" cy="1051560"/>
          </a:xfrm>
          <a:prstGeom prst="roundRect">
            <a:avLst>
              <a:gd name="adj" fmla="val 5217"/>
            </a:avLst>
          </a:prstGeom>
          <a:solidFill>
            <a:schemeClr val="bg1"/>
          </a:solidFill>
          <a:ln w="15875">
            <a:solidFill>
              <a:schemeClr val="accent1"/>
            </a:solidFill>
            <a:prstDash val="solid"/>
          </a:ln>
        </p:spPr>
      </p:sp>
      <p:sp>
        <p:nvSpPr>
          <p:cNvPr id="10" name="pii-text-361"/>
          <p:cNvSpPr txBox="1"/>
          <p:nvPr/>
        </p:nvSpPr>
        <p:spPr>
          <a:xfrm>
            <a:off x="777240" y="3611880"/>
            <a:ext cx="5897880" cy="822960"/>
          </a:xfrm>
          <a:prstGeom prst="rect">
            <a:avLst/>
          </a:prstGeom>
          <a:noFill/>
          <a:ln/>
        </p:spPr>
        <p:txBody>
          <a:bodyPr wrap="square" lIns="0" tIns="0" rIns="0" bIns="0" rtlCol="0" anchor="ctr"/>
          <a:lstStyle/>
          <a:p>
            <a:pPr indent="0" marL="0">
              <a:buNone/>
            </a:pPr>
            <a:r>
              <a:rPr lang="en-US" sz="1500" dirty="0">
                <a:solidFill>
                  <a:schemeClr val="tx1"/>
                </a:solidFill>
                <a:latin typeface="Courier New" pitchFamily="34" charset="0"/>
                <a:ea typeface="Courier New" pitchFamily="34" charset="-122"/>
                <a:cs typeface="Courier New" pitchFamily="34" charset="-120"/>
              </a:rPr>
              <a:t>Contact </a:t>
            </a:r>
            <a:pPr indent="0" marL="0">
              <a:buNone/>
            </a:pPr>
            <a:r>
              <a:rPr lang="en-US" sz="1500" b="1" dirty="0">
                <a:solidFill>
                  <a:schemeClr val="accent1"/>
                </a:solidFill>
                <a:latin typeface="Courier New" pitchFamily="34" charset="0"/>
                <a:ea typeface="Courier New" pitchFamily="34" charset="-122"/>
                <a:cs typeface="Courier New" pitchFamily="34" charset="-120"/>
              </a:rPr>
              <a:t>********</a:t>
            </a:r>
            <a:pPr indent="0" marL="0">
              <a:buNone/>
            </a:pPr>
            <a:r>
              <a:rPr lang="en-US" sz="1500" dirty="0">
                <a:solidFill>
                  <a:schemeClr val="tx1"/>
                </a:solidFill>
                <a:latin typeface="Courier New" pitchFamily="34" charset="0"/>
                <a:ea typeface="Courier New" pitchFamily="34" charset="-122"/>
                <a:cs typeface="Courier New" pitchFamily="34" charset="-120"/>
              </a:rPr>
              <a:t> at </a:t>
            </a:r>
            <a:pPr indent="0" marL="0">
              <a:buNone/>
            </a:pPr>
            <a:r>
              <a:rPr lang="en-US" sz="1500" b="1" dirty="0">
                <a:solidFill>
                  <a:schemeClr val="accent1"/>
                </a:solidFill>
                <a:latin typeface="Courier New" pitchFamily="34" charset="0"/>
                <a:ea typeface="Courier New" pitchFamily="34" charset="-122"/>
                <a:cs typeface="Courier New" pitchFamily="34" charset="-120"/>
              </a:rPr>
              <a:t>********************</a:t>
            </a:r>
            <a:endParaRPr lang="en-US" sz="1500" dirty="0"/>
          </a:p>
          <a:p>
            <a:pPr indent="0" marL="0">
              <a:buNone/>
            </a:pPr>
            <a:r>
              <a:rPr lang="en-US" sz="1500" dirty="0">
                <a:solidFill>
                  <a:schemeClr val="tx1"/>
                </a:solidFill>
                <a:latin typeface="Courier New" pitchFamily="34" charset="0"/>
                <a:ea typeface="Courier New" pitchFamily="34" charset="-122"/>
                <a:cs typeface="Courier New" pitchFamily="34" charset="-120"/>
              </a:rPr>
              <a:t>Phone </a:t>
            </a:r>
            <a:pPr indent="0" marL="0">
              <a:buNone/>
            </a:pPr>
            <a:r>
              <a:rPr lang="en-US" sz="1500" b="1" dirty="0">
                <a:solidFill>
                  <a:schemeClr val="accent1"/>
                </a:solidFill>
                <a:latin typeface="Courier New" pitchFamily="34" charset="0"/>
                <a:ea typeface="Courier New" pitchFamily="34" charset="-122"/>
                <a:cs typeface="Courier New" pitchFamily="34" charset="-120"/>
              </a:rPr>
              <a:t>************</a:t>
            </a:r>
            <a:pPr indent="0" marL="0">
              <a:buNone/>
            </a:pPr>
            <a:r>
              <a:rPr lang="en-US" sz="1500" dirty="0">
                <a:solidFill>
                  <a:schemeClr val="tx1"/>
                </a:solidFill>
                <a:latin typeface="Courier New" pitchFamily="34" charset="0"/>
                <a:ea typeface="Courier New" pitchFamily="34" charset="-122"/>
                <a:cs typeface="Courier New" pitchFamily="34" charset="-120"/>
              </a:rPr>
              <a:t>, ref 88-1042</a:t>
            </a:r>
            <a:endParaRPr lang="en-US" sz="1500" dirty="0"/>
          </a:p>
        </p:txBody>
      </p:sp>
      <p:sp>
        <p:nvSpPr>
          <p:cNvPr id="11" name="badge-362"/>
          <p:cNvSpPr/>
          <p:nvPr/>
        </p:nvSpPr>
        <p:spPr>
          <a:xfrm>
            <a:off x="548640" y="4846320"/>
            <a:ext cx="457200" cy="457200"/>
          </a:xfrm>
          <a:prstGeom prst="ellipse">
            <a:avLst/>
          </a:prstGeom>
          <a:solidFill>
            <a:schemeClr val="accent1"/>
          </a:solidFill>
          <a:ln/>
        </p:spPr>
      </p:sp>
      <p:pic>
        <p:nvPicPr>
          <p:cNvPr id="12" name="icon-TbRuler-363" descr="Ruler">    </p:cNvPr>
          <p:cNvPicPr>
            <a:picLocks noChangeAspect="1"/>
          </p:cNvPicPr>
          <p:nvPr/>
        </p:nvPicPr>
        <p:blipFill>
          <a:blip r:embed="rId1"/>
          <a:stretch>
            <a:fillRect/>
          </a:stretch>
        </p:blipFill>
        <p:spPr>
          <a:xfrm>
            <a:off x="649224" y="4946904"/>
            <a:ext cx="256032" cy="256032"/>
          </a:xfrm>
          <a:prstGeom prst="rect">
            <a:avLst/>
          </a:prstGeom>
        </p:spPr>
      </p:pic>
      <p:sp>
        <p:nvSpPr>
          <p:cNvPr id="13" name="block-364"/>
          <p:cNvSpPr txBox="1"/>
          <p:nvPr/>
        </p:nvSpPr>
        <p:spPr>
          <a:xfrm>
            <a:off x="1188720" y="4818888"/>
            <a:ext cx="5715000" cy="1280160"/>
          </a:xfrm>
          <a:prstGeom prst="rect">
            <a:avLst/>
          </a:prstGeom>
          <a:noFill/>
          <a:ln/>
        </p:spPr>
        <p:txBody>
          <a:bodyPr wrap="square" lIns="0" tIns="0" rIns="0" bIns="0" rtlCol="0" anchor="t"/>
          <a:lstStyle/>
          <a:p>
            <a:pPr indent="0" marL="0">
              <a:spcAft>
                <a:spcPts val="400"/>
              </a:spcAft>
              <a:buNone/>
            </a:pPr>
            <a:r>
              <a:rPr lang="en-US" sz="1500" b="1" dirty="0">
                <a:solidFill>
                  <a:schemeClr val="tx1"/>
                </a:solidFill>
              </a:rPr>
              <a:t>Length-preserving by design</a:t>
            </a:r>
            <a:endParaRPr lang="en-US" sz="1500" dirty="0"/>
          </a:p>
          <a:p>
            <a:pPr indent="0" marL="0">
              <a:spcAft>
                <a:spcPts val="200"/>
              </a:spcAft>
              <a:buNone/>
            </a:pPr>
            <a:r>
              <a:rPr lang="en-US" sz="1350" dirty="0">
                <a:solidFill>
                  <a:schemeClr val="tx2"/>
                </a:solidFill>
              </a:rPr>
              <a:t>Each masked span keeps its exact length, so character offsets, polygons and bounding boxes still line up with the page and citations stay correct.</a:t>
            </a:r>
            <a:endParaRPr lang="en-US" sz="1500" dirty="0"/>
          </a:p>
        </p:txBody>
      </p:sp>
      <p:sp>
        <p:nvSpPr>
          <p:cNvPr id="14" name="card-365"/>
          <p:cNvSpPr/>
          <p:nvPr/>
        </p:nvSpPr>
        <p:spPr>
          <a:xfrm>
            <a:off x="7269480" y="1600200"/>
            <a:ext cx="4373575" cy="4526280"/>
          </a:xfrm>
          <a:prstGeom prst="roundRect">
            <a:avLst>
              <a:gd name="adj" fmla="val 1673"/>
            </a:avLst>
          </a:prstGeom>
          <a:solidFill>
            <a:schemeClr val="bg2"/>
          </a:solidFill>
          <a:ln/>
        </p:spPr>
      </p:sp>
      <p:sp>
        <p:nvSpPr>
          <p:cNvPr id="15" name="text-366"/>
          <p:cNvSpPr txBox="1"/>
          <p:nvPr/>
        </p:nvSpPr>
        <p:spPr>
          <a:xfrm>
            <a:off x="7543800" y="1783080"/>
            <a:ext cx="3824935" cy="320040"/>
          </a:xfrm>
          <a:prstGeom prst="rect">
            <a:avLst/>
          </a:prstGeom>
          <a:noFill/>
          <a:ln/>
        </p:spPr>
        <p:txBody>
          <a:bodyPr wrap="square" lIns="0" tIns="0" rIns="0" bIns="0" rtlCol="0" anchor="t"/>
          <a:lstStyle/>
          <a:p>
            <a:pPr indent="0" marL="0">
              <a:buNone/>
            </a:pPr>
            <a:r>
              <a:rPr lang="en-US" sz="1600" b="1" dirty="0">
                <a:solidFill>
                  <a:schemeClr val="tx1"/>
                </a:solidFill>
              </a:rPr>
              <a:t>Configured, not hard-coded</a:t>
            </a:r>
            <a:endParaRPr lang="en-US" sz="1600" dirty="0"/>
          </a:p>
        </p:txBody>
      </p:sp>
      <p:sp>
        <p:nvSpPr>
          <p:cNvPr id="16" name="pill-367"/>
          <p:cNvSpPr/>
          <p:nvPr/>
        </p:nvSpPr>
        <p:spPr>
          <a:xfrm>
            <a:off x="7543800" y="2240280"/>
            <a:ext cx="1843888" cy="292608"/>
          </a:xfrm>
          <a:prstGeom prst="roundRect">
            <a:avLst>
              <a:gd name="adj" fmla="val 50000"/>
            </a:avLst>
          </a:prstGeom>
          <a:solidFill>
            <a:schemeClr val="bg1"/>
          </a:solidFill>
          <a:ln w="9525">
            <a:solidFill>
              <a:schemeClr val="accent6"/>
            </a:solidFill>
          </a:ln>
        </p:spPr>
        <p:txBody>
          <a:bodyPr wrap="square" lIns="0" tIns="0" rIns="0" bIns="0" rtlCol="0" anchor="ctr"/>
          <a:lstStyle/>
          <a:p>
            <a:pPr algn="ctr" indent="0" marL="0">
              <a:buNone/>
            </a:pPr>
            <a:r>
              <a:rPr lang="en-US" sz="1050" b="1" dirty="0">
                <a:solidFill>
                  <a:schemeClr val="tx1"/>
                </a:solidFill>
              </a:rPr>
              <a:t>PERSON</a:t>
            </a:r>
            <a:endParaRPr lang="en-US" sz="1050" dirty="0"/>
          </a:p>
        </p:txBody>
      </p:sp>
      <p:sp>
        <p:nvSpPr>
          <p:cNvPr id="17" name="pill-368"/>
          <p:cNvSpPr/>
          <p:nvPr/>
        </p:nvSpPr>
        <p:spPr>
          <a:xfrm>
            <a:off x="9524848" y="2240280"/>
            <a:ext cx="1843888" cy="292608"/>
          </a:xfrm>
          <a:prstGeom prst="roundRect">
            <a:avLst>
              <a:gd name="adj" fmla="val 50000"/>
            </a:avLst>
          </a:prstGeom>
          <a:solidFill>
            <a:schemeClr val="bg1"/>
          </a:solidFill>
          <a:ln w="9525">
            <a:solidFill>
              <a:schemeClr val="accent6"/>
            </a:solidFill>
          </a:ln>
        </p:spPr>
        <p:txBody>
          <a:bodyPr wrap="square" lIns="0" tIns="0" rIns="0" bIns="0" rtlCol="0" anchor="ctr"/>
          <a:lstStyle/>
          <a:p>
            <a:pPr algn="ctr" indent="0" marL="0">
              <a:buNone/>
            </a:pPr>
            <a:r>
              <a:rPr lang="en-US" sz="1050" b="1" dirty="0">
                <a:solidFill>
                  <a:schemeClr val="tx1"/>
                </a:solidFill>
              </a:rPr>
              <a:t>EMAIL_ADDRESS</a:t>
            </a:r>
            <a:endParaRPr lang="en-US" sz="1050" dirty="0"/>
          </a:p>
        </p:txBody>
      </p:sp>
      <p:sp>
        <p:nvSpPr>
          <p:cNvPr id="18" name="pill-369"/>
          <p:cNvSpPr/>
          <p:nvPr/>
        </p:nvSpPr>
        <p:spPr>
          <a:xfrm>
            <a:off x="7543800" y="2624328"/>
            <a:ext cx="1843888" cy="292608"/>
          </a:xfrm>
          <a:prstGeom prst="roundRect">
            <a:avLst>
              <a:gd name="adj" fmla="val 50000"/>
            </a:avLst>
          </a:prstGeom>
          <a:solidFill>
            <a:schemeClr val="bg1"/>
          </a:solidFill>
          <a:ln w="9525">
            <a:solidFill>
              <a:schemeClr val="accent6"/>
            </a:solidFill>
          </a:ln>
        </p:spPr>
        <p:txBody>
          <a:bodyPr wrap="square" lIns="0" tIns="0" rIns="0" bIns="0" rtlCol="0" anchor="ctr"/>
          <a:lstStyle/>
          <a:p>
            <a:pPr algn="ctr" indent="0" marL="0">
              <a:buNone/>
            </a:pPr>
            <a:r>
              <a:rPr lang="en-US" sz="1050" b="1" dirty="0">
                <a:solidFill>
                  <a:schemeClr val="tx1"/>
                </a:solidFill>
              </a:rPr>
              <a:t>PHONE_NUMBER</a:t>
            </a:r>
            <a:endParaRPr lang="en-US" sz="1050" dirty="0"/>
          </a:p>
        </p:txBody>
      </p:sp>
      <p:sp>
        <p:nvSpPr>
          <p:cNvPr id="19" name="pill-370"/>
          <p:cNvSpPr/>
          <p:nvPr/>
        </p:nvSpPr>
        <p:spPr>
          <a:xfrm>
            <a:off x="9524848" y="2624328"/>
            <a:ext cx="1843888" cy="292608"/>
          </a:xfrm>
          <a:prstGeom prst="roundRect">
            <a:avLst>
              <a:gd name="adj" fmla="val 50000"/>
            </a:avLst>
          </a:prstGeom>
          <a:solidFill>
            <a:schemeClr val="bg1"/>
          </a:solidFill>
          <a:ln w="9525">
            <a:solidFill>
              <a:schemeClr val="accent6"/>
            </a:solidFill>
          </a:ln>
        </p:spPr>
        <p:txBody>
          <a:bodyPr wrap="square" lIns="0" tIns="0" rIns="0" bIns="0" rtlCol="0" anchor="ctr"/>
          <a:lstStyle/>
          <a:p>
            <a:pPr algn="ctr" indent="0" marL="0">
              <a:buNone/>
            </a:pPr>
            <a:r>
              <a:rPr lang="en-US" sz="1050" b="1" dirty="0">
                <a:solidFill>
                  <a:schemeClr val="tx1"/>
                </a:solidFill>
              </a:rPr>
              <a:t>CREDIT_CARD</a:t>
            </a:r>
            <a:endParaRPr lang="en-US" sz="1050" dirty="0"/>
          </a:p>
        </p:txBody>
      </p:sp>
      <p:sp>
        <p:nvSpPr>
          <p:cNvPr id="20" name="pill-371"/>
          <p:cNvSpPr/>
          <p:nvPr/>
        </p:nvSpPr>
        <p:spPr>
          <a:xfrm>
            <a:off x="7543800" y="3008376"/>
            <a:ext cx="1843888" cy="292608"/>
          </a:xfrm>
          <a:prstGeom prst="roundRect">
            <a:avLst>
              <a:gd name="adj" fmla="val 50000"/>
            </a:avLst>
          </a:prstGeom>
          <a:solidFill>
            <a:schemeClr val="bg1"/>
          </a:solidFill>
          <a:ln w="9525">
            <a:solidFill>
              <a:schemeClr val="accent6"/>
            </a:solidFill>
          </a:ln>
        </p:spPr>
        <p:txBody>
          <a:bodyPr wrap="square" lIns="0" tIns="0" rIns="0" bIns="0" rtlCol="0" anchor="ctr"/>
          <a:lstStyle/>
          <a:p>
            <a:pPr algn="ctr" indent="0" marL="0">
              <a:buNone/>
            </a:pPr>
            <a:r>
              <a:rPr lang="en-US" sz="1050" b="1" dirty="0">
                <a:solidFill>
                  <a:schemeClr val="tx1"/>
                </a:solidFill>
              </a:rPr>
              <a:t>IBAN_CODE</a:t>
            </a:r>
            <a:endParaRPr lang="en-US" sz="1050" dirty="0"/>
          </a:p>
        </p:txBody>
      </p:sp>
      <p:sp>
        <p:nvSpPr>
          <p:cNvPr id="21" name="pill-372"/>
          <p:cNvSpPr/>
          <p:nvPr/>
        </p:nvSpPr>
        <p:spPr>
          <a:xfrm>
            <a:off x="9524848" y="3008376"/>
            <a:ext cx="1843888" cy="292608"/>
          </a:xfrm>
          <a:prstGeom prst="roundRect">
            <a:avLst>
              <a:gd name="adj" fmla="val 50000"/>
            </a:avLst>
          </a:prstGeom>
          <a:solidFill>
            <a:schemeClr val="bg1"/>
          </a:solidFill>
          <a:ln w="9525">
            <a:solidFill>
              <a:schemeClr val="accent6"/>
            </a:solidFill>
          </a:ln>
        </p:spPr>
        <p:txBody>
          <a:bodyPr wrap="square" lIns="0" tIns="0" rIns="0" bIns="0" rtlCol="0" anchor="ctr"/>
          <a:lstStyle/>
          <a:p>
            <a:pPr algn="ctr" indent="0" marL="0">
              <a:buNone/>
            </a:pPr>
            <a:r>
              <a:rPr lang="en-US" sz="1050" b="1" dirty="0">
                <a:solidFill>
                  <a:schemeClr val="tx1"/>
                </a:solidFill>
              </a:rPr>
              <a:t>US_SSN</a:t>
            </a:r>
            <a:endParaRPr lang="en-US" sz="1050" dirty="0"/>
          </a:p>
        </p:txBody>
      </p:sp>
      <p:sp>
        <p:nvSpPr>
          <p:cNvPr id="22" name="pill-373"/>
          <p:cNvSpPr/>
          <p:nvPr/>
        </p:nvSpPr>
        <p:spPr>
          <a:xfrm>
            <a:off x="7543800" y="3392424"/>
            <a:ext cx="1843888" cy="292608"/>
          </a:xfrm>
          <a:prstGeom prst="roundRect">
            <a:avLst>
              <a:gd name="adj" fmla="val 50000"/>
            </a:avLst>
          </a:prstGeom>
          <a:solidFill>
            <a:schemeClr val="bg1"/>
          </a:solidFill>
          <a:ln w="9525">
            <a:solidFill>
              <a:schemeClr val="accent6"/>
            </a:solidFill>
          </a:ln>
        </p:spPr>
        <p:txBody>
          <a:bodyPr wrap="square" lIns="0" tIns="0" rIns="0" bIns="0" rtlCol="0" anchor="ctr"/>
          <a:lstStyle/>
          <a:p>
            <a:pPr algn="ctr" indent="0" marL="0">
              <a:buNone/>
            </a:pPr>
            <a:r>
              <a:rPr lang="en-US" sz="1050" b="1" dirty="0">
                <a:solidFill>
                  <a:schemeClr val="tx1"/>
                </a:solidFill>
              </a:rPr>
              <a:t>IP_ADDRESS</a:t>
            </a:r>
            <a:endParaRPr lang="en-US" sz="1050" dirty="0"/>
          </a:p>
        </p:txBody>
      </p:sp>
      <p:sp>
        <p:nvSpPr>
          <p:cNvPr id="23" name="pill-374"/>
          <p:cNvSpPr/>
          <p:nvPr/>
        </p:nvSpPr>
        <p:spPr>
          <a:xfrm>
            <a:off x="9524848" y="3392424"/>
            <a:ext cx="1843888" cy="292608"/>
          </a:xfrm>
          <a:prstGeom prst="roundRect">
            <a:avLst>
              <a:gd name="adj" fmla="val 50000"/>
            </a:avLst>
          </a:prstGeom>
          <a:solidFill>
            <a:schemeClr val="bg1"/>
          </a:solidFill>
          <a:ln w="9525">
            <a:solidFill>
              <a:schemeClr val="accent6"/>
            </a:solidFill>
          </a:ln>
        </p:spPr>
        <p:txBody>
          <a:bodyPr wrap="square" lIns="0" tIns="0" rIns="0" bIns="0" rtlCol="0" anchor="ctr"/>
          <a:lstStyle/>
          <a:p>
            <a:pPr algn="ctr" indent="0" marL="0">
              <a:buNone/>
            </a:pPr>
            <a:r>
              <a:rPr lang="en-US" sz="1050" b="1" dirty="0">
                <a:solidFill>
                  <a:schemeClr val="tx1"/>
                </a:solidFill>
              </a:rPr>
              <a:t>LOCATION</a:t>
            </a:r>
            <a:endParaRPr lang="en-US" sz="1050" dirty="0"/>
          </a:p>
        </p:txBody>
      </p:sp>
      <p:sp>
        <p:nvSpPr>
          <p:cNvPr id="24" name="block-375"/>
          <p:cNvSpPr txBox="1"/>
          <p:nvPr/>
        </p:nvSpPr>
        <p:spPr>
          <a:xfrm>
            <a:off x="7543800" y="3886200"/>
            <a:ext cx="3824935" cy="2148840"/>
          </a:xfrm>
          <a:prstGeom prst="rect">
            <a:avLst/>
          </a:prstGeom>
          <a:noFill/>
          <a:ln/>
        </p:spPr>
        <p:txBody>
          <a:bodyPr wrap="square" lIns="0" tIns="0" rIns="0" bIns="0" rtlCol="0" anchor="t"/>
          <a:lstStyle/>
          <a:p>
            <a:pPr marL="152400" indent="-152400">
              <a:spcAft>
                <a:spcPts val="300"/>
              </a:spcAft>
              <a:buSzPct val="100000"/>
              <a:buChar char="•"/>
            </a:pPr>
            <a:r>
              <a:rPr lang="en-US" sz="1300" dirty="0">
                <a:solidFill>
                  <a:schemeClr val="tx1"/>
                </a:solidFill>
              </a:rPr>
              <a:t>DATE_TIME supported, off: dates are KYC substance</a:t>
            </a:r>
            <a:endParaRPr lang="en-US" sz="1300" dirty="0"/>
          </a:p>
          <a:p>
            <a:pPr marL="152400" indent="-152400">
              <a:spcAft>
                <a:spcPts val="300"/>
              </a:spcAft>
              <a:buSzPct val="100000"/>
              <a:buChar char="•"/>
            </a:pPr>
            <a:r>
              <a:rPr lang="en-US" sz="1300" dirty="0">
                <a:solidFill>
                  <a:schemeClr val="tx1"/>
                </a:solidFill>
              </a:rPr>
              <a:t>Custom recognizers from YAML; score threshold 0.35</a:t>
            </a:r>
            <a:endParaRPr lang="en-US" sz="1300" dirty="0"/>
          </a:p>
          <a:p>
            <a:pPr marL="152400" indent="-152400">
              <a:spcAft>
                <a:spcPts val="300"/>
              </a:spcAft>
              <a:buSzPct val="100000"/>
              <a:buChar char="•"/>
            </a:pPr>
            <a:r>
              <a:rPr lang="en-US" sz="1300" dirty="0">
                <a:solidFill>
                  <a:schemeClr val="tx1"/>
                </a:solidFill>
              </a:rPr>
              <a:t>Air-gap safe: spaCy model installed, never downloaded</a:t>
            </a:r>
            <a:endParaRPr lang="en-US" sz="1300" dirty="0"/>
          </a:p>
          <a:p>
            <a:pPr marL="152400" indent="-152400">
              <a:spcAft>
                <a:spcPts val="300"/>
              </a:spcAft>
              <a:buSzPct val="100000"/>
              <a:buChar char="•"/>
            </a:pPr>
            <a:r>
              <a:rPr lang="en-US" sz="1300" dirty="0">
                <a:solidFill>
                  <a:schemeClr val="tx1"/>
                </a:solidFill>
              </a:rPr>
              <a:t>Redact → merge → split; chunks record entity counts, never values</a:t>
            </a:r>
            <a:endParaRPr lang="en-US" sz="1300" dirty="0"/>
          </a:p>
        </p:txBody>
      </p:sp>
      <p:pic>
        <p:nvPicPr>
          <p:cNvPr id="25" name="icon-TbAlertTriangle-376" descr="AlertTriangle">    </p:cNvPr>
          <p:cNvPicPr>
            <a:picLocks noChangeAspect="1"/>
          </p:cNvPicPr>
          <p:nvPr/>
        </p:nvPicPr>
        <p:blipFill>
          <a:blip r:embed="rId2"/>
          <a:stretch>
            <a:fillRect/>
          </a:stretch>
        </p:blipFill>
        <p:spPr>
          <a:xfrm>
            <a:off x="7543800" y="5504688"/>
            <a:ext cx="329184" cy="329184"/>
          </a:xfrm>
          <a:prstGeom prst="rect">
            <a:avLst/>
          </a:prstGeom>
        </p:spPr>
      </p:pic>
      <p:sp>
        <p:nvSpPr>
          <p:cNvPr id="26" name="text-377"/>
          <p:cNvSpPr txBox="1"/>
          <p:nvPr/>
        </p:nvSpPr>
        <p:spPr>
          <a:xfrm>
            <a:off x="8001000" y="5468112"/>
            <a:ext cx="3367735" cy="457200"/>
          </a:xfrm>
          <a:prstGeom prst="rect">
            <a:avLst/>
          </a:prstGeom>
          <a:noFill/>
          <a:ln/>
        </p:spPr>
        <p:txBody>
          <a:bodyPr wrap="square" lIns="0" tIns="0" rIns="0" bIns="0" rtlCol="0" anchor="ctr"/>
          <a:lstStyle/>
          <a:p>
            <a:pPr indent="0" marL="0">
              <a:buNone/>
            </a:pPr>
            <a:r>
              <a:rPr lang="en-US" sz="1250" dirty="0">
                <a:solidFill>
                  <a:schemeClr val="tx1"/>
                </a:solidFill>
              </a:rPr>
              <a:t>Open item: figure crops are images and are not redacted; only text is.</a:t>
            </a:r>
            <a:endParaRPr lang="en-US" sz="1250" dirty="0"/>
          </a:p>
        </p:txBody>
      </p:sp>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10896"/>
            <a:ext cx="8229600" cy="274320"/>
          </a:xfrm>
          <a:prstGeom prst="rect">
            <a:avLst/>
          </a:prstGeom>
          <a:noFill/>
          <a:ln/>
        </p:spPr>
        <p:txBody>
          <a:bodyPr wrap="square" lIns="0" tIns="0" rIns="0" bIns="0" rtlCol="0" anchor="ctr"/>
          <a:lstStyle/>
          <a:p>
            <a:pPr algn="l" indent="0" marL="0">
              <a:buNone/>
            </a:pPr>
            <a:r>
              <a:rPr lang="en-US" sz="1200" b="1" spc="150" kern="0" dirty="0">
                <a:solidFill>
                  <a:schemeClr val="accent1"/>
                </a:solidFill>
              </a:rPr>
              <a:t>DES · CHUNKING COMPARED</a:t>
            </a:r>
            <a:endParaRPr lang="en-US" sz="1200" dirty="0"/>
          </a:p>
        </p:txBody>
      </p:sp>
      <p:sp>
        <p:nvSpPr>
          <p:cNvPr id="3" name="Text 0"/>
          <p:cNvSpPr/>
          <p:nvPr>
            <p:ph idx="101" type="title" hasCustomPrompt="1"/>
          </p:nvPr>
        </p:nvSpPr>
        <p:spPr>
          <a:xfrm>
            <a:off x="548640" y="603504"/>
            <a:ext cx="11094415" cy="868680"/>
          </a:xfrm>
          <a:prstGeom prst="rect">
            <a:avLst/>
          </a:prstGeom>
          <a:noFill/>
          <a:ln/>
        </p:spPr>
        <p:txBody>
          <a:bodyPr wrap="square" lIns="0" tIns="0" rIns="0" bIns="0" rtlCol="0" anchor="t"/>
          <a:lstStyle/>
          <a:p>
            <a:pPr algn="l" indent="0" marL="0">
              <a:buNone/>
            </a:pPr>
            <a:r>
              <a:rPr lang="en-US" sz="2800" b="1" dirty="0">
                <a:solidFill>
                  <a:schemeClr val="tx1"/>
                </a:solidFill>
              </a:rPr>
              <a:t>Better chunking than Wega: the same six qualities, done better</a:t>
            </a:r>
            <a:endParaRPr lang="en-US" sz="2800" dirty="0"/>
          </a:p>
        </p:txBody>
      </p:sp>
      <p:sp>
        <p:nvSpPr>
          <p:cNvPr id="5" name="text-378"/>
          <p:cNvSpPr txBox="1"/>
          <p:nvPr/>
        </p:nvSpPr>
        <p:spPr>
          <a:xfrm>
            <a:off x="1051560" y="1627632"/>
            <a:ext cx="3611880" cy="310896"/>
          </a:xfrm>
          <a:prstGeom prst="rect">
            <a:avLst/>
          </a:prstGeom>
          <a:noFill/>
          <a:ln/>
        </p:spPr>
        <p:txBody>
          <a:bodyPr wrap="square" lIns="0" tIns="0" rIns="0" bIns="0" rtlCol="0" anchor="ctr"/>
          <a:lstStyle/>
          <a:p>
            <a:pPr indent="0" marL="0">
              <a:buNone/>
            </a:pPr>
            <a:r>
              <a:rPr lang="en-US" sz="1250" b="1" dirty="0">
                <a:solidFill>
                  <a:schemeClr val="tx2"/>
                </a:solidFill>
              </a:rPr>
              <a:t>Wega chunk quality</a:t>
            </a:r>
            <a:endParaRPr lang="en-US" sz="1250" dirty="0"/>
          </a:p>
        </p:txBody>
      </p:sp>
      <p:sp>
        <p:nvSpPr>
          <p:cNvPr id="6" name="text-379"/>
          <p:cNvSpPr txBox="1"/>
          <p:nvPr/>
        </p:nvSpPr>
        <p:spPr>
          <a:xfrm>
            <a:off x="4983480" y="1627632"/>
            <a:ext cx="6476695" cy="310896"/>
          </a:xfrm>
          <a:prstGeom prst="rect">
            <a:avLst/>
          </a:prstGeom>
          <a:noFill/>
          <a:ln/>
        </p:spPr>
        <p:txBody>
          <a:bodyPr wrap="square" lIns="0" tIns="0" rIns="0" bIns="0" rtlCol="0" anchor="ctr"/>
          <a:lstStyle/>
          <a:p>
            <a:pPr indent="0" marL="0">
              <a:buNone/>
            </a:pPr>
            <a:r>
              <a:rPr lang="en-US" sz="1250" b="1" dirty="0">
                <a:solidFill>
                  <a:schemeClr val="accent1"/>
                </a:solidFill>
              </a:rPr>
              <a:t>How DES does it better</a:t>
            </a:r>
            <a:endParaRPr lang="en-US" sz="1250" dirty="0"/>
          </a:p>
        </p:txBody>
      </p:sp>
      <p:sp>
        <p:nvSpPr>
          <p:cNvPr id="7" name="band-380"/>
          <p:cNvSpPr/>
          <p:nvPr/>
        </p:nvSpPr>
        <p:spPr>
          <a:xfrm>
            <a:off x="4800600" y="1975104"/>
            <a:ext cx="6842455" cy="3803904"/>
          </a:xfrm>
          <a:prstGeom prst="roundRect">
            <a:avLst>
              <a:gd name="adj" fmla="val 1923"/>
            </a:avLst>
          </a:prstGeom>
          <a:solidFill>
            <a:schemeClr val="accent1">
              <a:alpha val="9000"/>
            </a:schemeClr>
          </a:solidFill>
          <a:ln/>
        </p:spPr>
      </p:sp>
      <p:sp>
        <p:nvSpPr>
          <p:cNvPr id="8" name="chip-381"/>
          <p:cNvSpPr/>
          <p:nvPr/>
        </p:nvSpPr>
        <p:spPr>
          <a:xfrm>
            <a:off x="548640" y="2148840"/>
            <a:ext cx="347472" cy="347472"/>
          </a:xfrm>
          <a:prstGeom prst="ellipse">
            <a:avLst/>
          </a:prstGeom>
          <a:solidFill>
            <a:schemeClr val="tx1"/>
          </a:solid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9" name="text-382"/>
          <p:cNvSpPr txBox="1"/>
          <p:nvPr/>
        </p:nvSpPr>
        <p:spPr>
          <a:xfrm>
            <a:off x="1051560" y="2048256"/>
            <a:ext cx="3611880" cy="548640"/>
          </a:xfrm>
          <a:prstGeom prst="rect">
            <a:avLst/>
          </a:prstGeom>
          <a:noFill/>
          <a:ln/>
        </p:spPr>
        <p:txBody>
          <a:bodyPr wrap="square" lIns="0" tIns="0" rIns="0" bIns="0" rtlCol="0" anchor="ctr"/>
          <a:lstStyle/>
          <a:p>
            <a:pPr indent="0" marL="0">
              <a:buNone/>
            </a:pPr>
            <a:r>
              <a:rPr lang="en-US" sz="1250" dirty="0">
                <a:solidFill>
                  <a:schemeClr val="tx2"/>
                </a:solidFill>
              </a:rPr>
              <a:t>Layout paragraphs with roles and normalized boxes; page furniture dropped</a:t>
            </a:r>
            <a:endParaRPr lang="en-US" sz="1250" dirty="0"/>
          </a:p>
        </p:txBody>
      </p:sp>
      <p:sp>
        <p:nvSpPr>
          <p:cNvPr id="10" name="text-383"/>
          <p:cNvSpPr txBox="1"/>
          <p:nvPr/>
        </p:nvSpPr>
        <p:spPr>
          <a:xfrm>
            <a:off x="4983480" y="2048256"/>
            <a:ext cx="6476695" cy="548640"/>
          </a:xfrm>
          <a:prstGeom prst="rect">
            <a:avLst/>
          </a:prstGeom>
          <a:noFill/>
          <a:ln/>
        </p:spPr>
        <p:txBody>
          <a:bodyPr wrap="square" lIns="0" tIns="0" rIns="0" bIns="0" rtlCol="0" anchor="ctr"/>
          <a:lstStyle/>
          <a:p>
            <a:pPr indent="0" marL="0">
              <a:buNone/>
            </a:pPr>
            <a:r>
              <a:rPr lang="en-US" sz="1250" dirty="0">
                <a:solidFill>
                  <a:schemeClr val="tx1"/>
                </a:solidFill>
              </a:rPr>
              <a:t>Raw quad plus a box normalized to 0..1 and per-page regions for paragraphs that cross pages; furniture counted; captions and cell text never duplicated; checkboxes kept.</a:t>
            </a:r>
            <a:endParaRPr lang="en-US" sz="1250" dirty="0"/>
          </a:p>
        </p:txBody>
      </p:sp>
      <p:sp>
        <p:nvSpPr>
          <p:cNvPr id="11" name="link-384"/>
          <p:cNvSpPr/>
          <p:nvPr/>
        </p:nvSpPr>
        <p:spPr>
          <a:xfrm>
            <a:off x="548640" y="2633472"/>
            <a:ext cx="11094415" cy="0"/>
          </a:xfrm>
          <a:prstGeom prst="line">
            <a:avLst/>
          </a:prstGeom>
          <a:noFill/>
          <a:ln w="9525">
            <a:solidFill>
              <a:schemeClr val="accent6"/>
            </a:solidFill>
            <a:prstDash val="solid"/>
          </a:ln>
        </p:spPr>
      </p:sp>
      <p:sp>
        <p:nvSpPr>
          <p:cNvPr id="12" name="chip-385"/>
          <p:cNvSpPr/>
          <p:nvPr/>
        </p:nvSpPr>
        <p:spPr>
          <a:xfrm>
            <a:off x="548640" y="2770632"/>
            <a:ext cx="347472" cy="347472"/>
          </a:xfrm>
          <a:prstGeom prst="ellipse">
            <a:avLst/>
          </a:prstGeom>
          <a:solidFill>
            <a:schemeClr val="tx1"/>
          </a:solid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13" name="text-386"/>
          <p:cNvSpPr txBox="1"/>
          <p:nvPr/>
        </p:nvSpPr>
        <p:spPr>
          <a:xfrm>
            <a:off x="1051560" y="2670048"/>
            <a:ext cx="3611880" cy="548640"/>
          </a:xfrm>
          <a:prstGeom prst="rect">
            <a:avLst/>
          </a:prstGeom>
          <a:noFill/>
          <a:ln/>
        </p:spPr>
        <p:txBody>
          <a:bodyPr wrap="square" lIns="0" tIns="0" rIns="0" bIns="0" rtlCol="0" anchor="ctr"/>
          <a:lstStyle/>
          <a:p>
            <a:pPr indent="0" marL="0">
              <a:buNone/>
            </a:pPr>
            <a:r>
              <a:rPr lang="en-US" sz="1250" dirty="0">
                <a:solidFill>
                  <a:schemeClr val="tx2"/>
                </a:solidFill>
              </a:rPr>
              <a:t>Part ids spaced by 100, with tables and figures spliced in</a:t>
            </a:r>
            <a:endParaRPr lang="en-US" sz="1250" dirty="0"/>
          </a:p>
        </p:txBody>
      </p:sp>
      <p:sp>
        <p:nvSpPr>
          <p:cNvPr id="14" name="text-387"/>
          <p:cNvSpPr txBox="1"/>
          <p:nvPr/>
        </p:nvSpPr>
        <p:spPr>
          <a:xfrm>
            <a:off x="4983480" y="2670048"/>
            <a:ext cx="6476695" cy="548640"/>
          </a:xfrm>
          <a:prstGeom prst="rect">
            <a:avLst/>
          </a:prstGeom>
          <a:noFill/>
          <a:ln/>
        </p:spPr>
        <p:txBody>
          <a:bodyPr wrap="square" lIns="0" tIns="0" rIns="0" bIns="0" rtlCol="0" anchor="ctr"/>
          <a:lstStyle/>
          <a:p>
            <a:pPr indent="0" marL="0">
              <a:buNone/>
            </a:pPr>
            <a:r>
              <a:rPr lang="en-US" sz="1250" dirty="0">
                <a:solidFill>
                  <a:schemeClr val="tx1"/>
                </a:solidFill>
              </a:rPr>
              <a:t>Column-aware placement with a strict shift rule when a gap runs out, checked against a reference splicer on 400 random layouts.</a:t>
            </a:r>
            <a:endParaRPr lang="en-US" sz="1250" dirty="0"/>
          </a:p>
        </p:txBody>
      </p:sp>
      <p:sp>
        <p:nvSpPr>
          <p:cNvPr id="15" name="link-388"/>
          <p:cNvSpPr/>
          <p:nvPr/>
        </p:nvSpPr>
        <p:spPr>
          <a:xfrm>
            <a:off x="548640" y="3255264"/>
            <a:ext cx="11094415" cy="0"/>
          </a:xfrm>
          <a:prstGeom prst="line">
            <a:avLst/>
          </a:prstGeom>
          <a:noFill/>
          <a:ln w="9525">
            <a:solidFill>
              <a:schemeClr val="accent6"/>
            </a:solidFill>
            <a:prstDash val="solid"/>
          </a:ln>
        </p:spPr>
      </p:sp>
      <p:sp>
        <p:nvSpPr>
          <p:cNvPr id="16" name="chip-389"/>
          <p:cNvSpPr/>
          <p:nvPr/>
        </p:nvSpPr>
        <p:spPr>
          <a:xfrm>
            <a:off x="548640" y="3392424"/>
            <a:ext cx="347472" cy="347472"/>
          </a:xfrm>
          <a:prstGeom prst="ellipse">
            <a:avLst/>
          </a:prstGeom>
          <a:solidFill>
            <a:schemeClr val="tx1"/>
          </a:solid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17" name="text-390"/>
          <p:cNvSpPr txBox="1"/>
          <p:nvPr/>
        </p:nvSpPr>
        <p:spPr>
          <a:xfrm>
            <a:off x="1051560" y="3291840"/>
            <a:ext cx="3611880" cy="548640"/>
          </a:xfrm>
          <a:prstGeom prst="rect">
            <a:avLst/>
          </a:prstGeom>
          <a:noFill/>
          <a:ln/>
        </p:spPr>
        <p:txBody>
          <a:bodyPr wrap="square" lIns="0" tIns="0" rIns="0" bIns="0" rtlCol="0" anchor="ctr"/>
          <a:lstStyle/>
          <a:p>
            <a:pPr indent="0" marL="0">
              <a:buNone/>
            </a:pPr>
            <a:r>
              <a:rPr lang="en-US" sz="1250" dirty="0">
                <a:solidFill>
                  <a:schemeClr val="tx2"/>
                </a:solidFill>
              </a:rPr>
              <a:t>Tables as markdown; figures cropped at 300 dpi, in flow</a:t>
            </a:r>
            <a:endParaRPr lang="en-US" sz="1250" dirty="0"/>
          </a:p>
        </p:txBody>
      </p:sp>
      <p:sp>
        <p:nvSpPr>
          <p:cNvPr id="18" name="text-391"/>
          <p:cNvSpPr txBox="1"/>
          <p:nvPr/>
        </p:nvSpPr>
        <p:spPr>
          <a:xfrm>
            <a:off x="4983480" y="3291840"/>
            <a:ext cx="6476695" cy="548640"/>
          </a:xfrm>
          <a:prstGeom prst="rect">
            <a:avLst/>
          </a:prstGeom>
          <a:noFill/>
          <a:ln/>
        </p:spPr>
        <p:txBody>
          <a:bodyPr wrap="square" lIns="0" tIns="0" rIns="0" bIns="0" rtlCol="0" anchor="ctr"/>
          <a:lstStyle/>
          <a:p>
            <a:pPr indent="0" marL="0">
              <a:buNone/>
            </a:pPr>
            <a:r>
              <a:rPr lang="en-US" sz="1250" dirty="0">
                <a:solidFill>
                  <a:schemeClr val="tx1"/>
                </a:solidFill>
              </a:rPr>
              <a:t>The whole multi-row header repeats on every split; splits run in linear time (8,000 rows in 0.8 s); a failed crop never fails the document.</a:t>
            </a:r>
            <a:endParaRPr lang="en-US" sz="1250" dirty="0"/>
          </a:p>
        </p:txBody>
      </p:sp>
      <p:sp>
        <p:nvSpPr>
          <p:cNvPr id="19" name="link-392"/>
          <p:cNvSpPr/>
          <p:nvPr/>
        </p:nvSpPr>
        <p:spPr>
          <a:xfrm>
            <a:off x="548640" y="3877056"/>
            <a:ext cx="11094415" cy="0"/>
          </a:xfrm>
          <a:prstGeom prst="line">
            <a:avLst/>
          </a:prstGeom>
          <a:noFill/>
          <a:ln w="9525">
            <a:solidFill>
              <a:schemeClr val="accent6"/>
            </a:solidFill>
            <a:prstDash val="solid"/>
          </a:ln>
        </p:spPr>
      </p:sp>
      <p:sp>
        <p:nvSpPr>
          <p:cNvPr id="20" name="chip-393"/>
          <p:cNvSpPr/>
          <p:nvPr/>
        </p:nvSpPr>
        <p:spPr>
          <a:xfrm>
            <a:off x="548640" y="4014216"/>
            <a:ext cx="347472" cy="347472"/>
          </a:xfrm>
          <a:prstGeom prst="ellipse">
            <a:avLst/>
          </a:prstGeom>
          <a:solidFill>
            <a:schemeClr val="tx1"/>
          </a:solid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21" name="text-394"/>
          <p:cNvSpPr txBox="1"/>
          <p:nvPr/>
        </p:nvSpPr>
        <p:spPr>
          <a:xfrm>
            <a:off x="1051560" y="3913632"/>
            <a:ext cx="3611880" cy="548640"/>
          </a:xfrm>
          <a:prstGeom prst="rect">
            <a:avLst/>
          </a:prstGeom>
          <a:noFill/>
          <a:ln/>
        </p:spPr>
        <p:txBody>
          <a:bodyPr wrap="square" lIns="0" tIns="0" rIns="0" bIns="0" rtlCol="0" anchor="ctr"/>
          <a:lstStyle/>
          <a:p>
            <a:pPr indent="0" marL="0">
              <a:buNone/>
            </a:pPr>
            <a:r>
              <a:rPr lang="en-US" sz="1250" dirty="0">
                <a:solidFill>
                  <a:schemeClr val="tx2"/>
                </a:solidFill>
              </a:rPr>
              <a:t>Same-role fragments merged; title and section prefixed</a:t>
            </a:r>
            <a:endParaRPr lang="en-US" sz="1250" dirty="0"/>
          </a:p>
        </p:txBody>
      </p:sp>
      <p:sp>
        <p:nvSpPr>
          <p:cNvPr id="22" name="text-395"/>
          <p:cNvSpPr txBox="1"/>
          <p:nvPr/>
        </p:nvSpPr>
        <p:spPr>
          <a:xfrm>
            <a:off x="4983480" y="3913632"/>
            <a:ext cx="6476695" cy="548640"/>
          </a:xfrm>
          <a:prstGeom prst="rect">
            <a:avLst/>
          </a:prstGeom>
          <a:noFill/>
          <a:ln/>
        </p:spPr>
        <p:txBody>
          <a:bodyPr wrap="square" lIns="0" tIns="0" rIns="0" bIns="0" rtlCol="0" anchor="ctr"/>
          <a:lstStyle/>
          <a:p>
            <a:pPr indent="0" marL="0">
              <a:buNone/>
            </a:pPr>
            <a:r>
              <a:rPr lang="en-US" sz="1250" dirty="0">
                <a:solidFill>
                  <a:schemeClr val="tx1"/>
                </a:solidFill>
              </a:rPr>
              <a:t>Footnotes stay their own parts, orphan headings become heading chunks, and a new title resets the running section.</a:t>
            </a:r>
            <a:endParaRPr lang="en-US" sz="1250" dirty="0"/>
          </a:p>
        </p:txBody>
      </p:sp>
      <p:sp>
        <p:nvSpPr>
          <p:cNvPr id="23" name="link-396"/>
          <p:cNvSpPr/>
          <p:nvPr/>
        </p:nvSpPr>
        <p:spPr>
          <a:xfrm>
            <a:off x="548640" y="4498848"/>
            <a:ext cx="11094415" cy="0"/>
          </a:xfrm>
          <a:prstGeom prst="line">
            <a:avLst/>
          </a:prstGeom>
          <a:noFill/>
          <a:ln w="9525">
            <a:solidFill>
              <a:schemeClr val="accent6"/>
            </a:solidFill>
            <a:prstDash val="solid"/>
          </a:ln>
        </p:spPr>
      </p:sp>
      <p:sp>
        <p:nvSpPr>
          <p:cNvPr id="24" name="chip-397"/>
          <p:cNvSpPr/>
          <p:nvPr/>
        </p:nvSpPr>
        <p:spPr>
          <a:xfrm>
            <a:off x="548640" y="4636008"/>
            <a:ext cx="347472" cy="347472"/>
          </a:xfrm>
          <a:prstGeom prst="ellipse">
            <a:avLst/>
          </a:prstGeom>
          <a:solidFill>
            <a:schemeClr val="tx1"/>
          </a:solidFill>
          <a:ln/>
        </p:spPr>
        <p:txBody>
          <a:bodyPr wrap="square" lIns="0" tIns="0" rIns="0" bIns="0" rtlCol="0" anchor="ctr"/>
          <a:lstStyle/>
          <a:p>
            <a:pPr algn="ctr" indent="0" marL="0">
              <a:buNone/>
            </a:pPr>
            <a:r>
              <a:rPr lang="en-US" sz="1200" b="1" dirty="0">
                <a:solidFill>
                  <a:schemeClr val="bg1"/>
                </a:solidFill>
              </a:rPr>
              <a:t>5</a:t>
            </a:r>
            <a:endParaRPr lang="en-US" sz="1200" dirty="0"/>
          </a:p>
        </p:txBody>
      </p:sp>
      <p:sp>
        <p:nvSpPr>
          <p:cNvPr id="25" name="text-398"/>
          <p:cNvSpPr txBox="1"/>
          <p:nvPr/>
        </p:nvSpPr>
        <p:spPr>
          <a:xfrm>
            <a:off x="1051560" y="4535424"/>
            <a:ext cx="3611880" cy="548640"/>
          </a:xfrm>
          <a:prstGeom prst="rect">
            <a:avLst/>
          </a:prstGeom>
          <a:noFill/>
          <a:ln/>
        </p:spPr>
        <p:txBody>
          <a:bodyPr wrap="square" lIns="0" tIns="0" rIns="0" bIns="0" rtlCol="0" anchor="ctr"/>
          <a:lstStyle/>
          <a:p>
            <a:pPr indent="0" marL="0">
              <a:buNone/>
            </a:pPr>
            <a:r>
              <a:rPr lang="en-US" sz="1250" dirty="0">
                <a:solidFill>
                  <a:schemeClr val="tx2"/>
                </a:solidFill>
              </a:rPr>
              <a:t>Recursive splitter with part numbers and chunk UUIDs</a:t>
            </a:r>
            <a:endParaRPr lang="en-US" sz="1250" dirty="0"/>
          </a:p>
        </p:txBody>
      </p:sp>
      <p:sp>
        <p:nvSpPr>
          <p:cNvPr id="26" name="text-399"/>
          <p:cNvSpPr txBox="1"/>
          <p:nvPr/>
        </p:nvSpPr>
        <p:spPr>
          <a:xfrm>
            <a:off x="4983480" y="4535424"/>
            <a:ext cx="6476695" cy="548640"/>
          </a:xfrm>
          <a:prstGeom prst="rect">
            <a:avLst/>
          </a:prstGeom>
          <a:noFill/>
          <a:ln/>
        </p:spPr>
        <p:txBody>
          <a:bodyPr wrap="square" lIns="0" tIns="0" rIns="0" bIns="0" rtlCol="0" anchor="ctr"/>
          <a:lstStyle/>
          <a:p>
            <a:pPr indent="0" marL="0">
              <a:buNone/>
            </a:pPr>
            <a:r>
              <a:rPr lang="en-US" sz="1250" dirty="0">
                <a:solidFill>
                  <a:schemeClr val="tx1"/>
                </a:solidFill>
              </a:rPr>
              <a:t>UUIDv5 group ids and byte-identical output across runs, processes and hash seeds, pinned by tests and dependency bounds.</a:t>
            </a:r>
            <a:endParaRPr lang="en-US" sz="1250" dirty="0"/>
          </a:p>
        </p:txBody>
      </p:sp>
      <p:sp>
        <p:nvSpPr>
          <p:cNvPr id="27" name="link-400"/>
          <p:cNvSpPr/>
          <p:nvPr/>
        </p:nvSpPr>
        <p:spPr>
          <a:xfrm>
            <a:off x="548640" y="5120640"/>
            <a:ext cx="11094415" cy="0"/>
          </a:xfrm>
          <a:prstGeom prst="line">
            <a:avLst/>
          </a:prstGeom>
          <a:noFill/>
          <a:ln w="9525">
            <a:solidFill>
              <a:schemeClr val="accent6"/>
            </a:solidFill>
            <a:prstDash val="solid"/>
          </a:ln>
        </p:spPr>
      </p:sp>
      <p:sp>
        <p:nvSpPr>
          <p:cNvPr id="28" name="chip-401"/>
          <p:cNvSpPr/>
          <p:nvPr/>
        </p:nvSpPr>
        <p:spPr>
          <a:xfrm>
            <a:off x="548640" y="5257800"/>
            <a:ext cx="347472" cy="347472"/>
          </a:xfrm>
          <a:prstGeom prst="ellipse">
            <a:avLst/>
          </a:prstGeom>
          <a:solidFill>
            <a:schemeClr val="tx1"/>
          </a:solidFill>
          <a:ln/>
        </p:spPr>
        <p:txBody>
          <a:bodyPr wrap="square" lIns="0" tIns="0" rIns="0" bIns="0" rtlCol="0" anchor="ctr"/>
          <a:lstStyle/>
          <a:p>
            <a:pPr algn="ctr" indent="0" marL="0">
              <a:buNone/>
            </a:pPr>
            <a:r>
              <a:rPr lang="en-US" sz="1200" b="1" dirty="0">
                <a:solidFill>
                  <a:schemeClr val="bg1"/>
                </a:solidFill>
              </a:rPr>
              <a:t>6</a:t>
            </a:r>
            <a:endParaRPr lang="en-US" sz="1200" dirty="0"/>
          </a:p>
        </p:txBody>
      </p:sp>
      <p:sp>
        <p:nvSpPr>
          <p:cNvPr id="29" name="text-402"/>
          <p:cNvSpPr txBox="1"/>
          <p:nvPr/>
        </p:nvSpPr>
        <p:spPr>
          <a:xfrm>
            <a:off x="1051560" y="5157216"/>
            <a:ext cx="3611880" cy="548640"/>
          </a:xfrm>
          <a:prstGeom prst="rect">
            <a:avLst/>
          </a:prstGeom>
          <a:noFill/>
          <a:ln/>
        </p:spPr>
        <p:txBody>
          <a:bodyPr wrap="square" lIns="0" tIns="0" rIns="0" bIns="0" rtlCol="0" anchor="ctr"/>
          <a:lstStyle/>
          <a:p>
            <a:pPr indent="0" marL="0">
              <a:buNone/>
            </a:pPr>
            <a:r>
              <a:rPr lang="en-US" sz="1250" dirty="0">
                <a:solidFill>
                  <a:schemeClr val="tx2"/>
                </a:solidFill>
              </a:rPr>
              <a:t>Presidio PII redaction before chunking; provenance per chunk</a:t>
            </a:r>
            <a:endParaRPr lang="en-US" sz="1250" dirty="0"/>
          </a:p>
        </p:txBody>
      </p:sp>
      <p:sp>
        <p:nvSpPr>
          <p:cNvPr id="30" name="text-403"/>
          <p:cNvSpPr txBox="1"/>
          <p:nvPr/>
        </p:nvSpPr>
        <p:spPr>
          <a:xfrm>
            <a:off x="4983480" y="5157216"/>
            <a:ext cx="6476695" cy="548640"/>
          </a:xfrm>
          <a:prstGeom prst="rect">
            <a:avLst/>
          </a:prstGeom>
          <a:noFill/>
          <a:ln/>
        </p:spPr>
        <p:txBody>
          <a:bodyPr wrap="square" lIns="0" tIns="0" rIns="0" bIns="0" rtlCol="0" anchor="ctr"/>
          <a:lstStyle/>
          <a:p>
            <a:pPr indent="0" marL="0">
              <a:buNone/>
            </a:pPr>
            <a:r>
              <a:rPr lang="en-US" sz="1250" dirty="0">
                <a:solidFill>
                  <a:schemeClr val="tx1"/>
                </a:solidFill>
              </a:rPr>
              <a:t>Length-preserving masks keep every offset and box valid; no model is ever downloaded; entity counts recorded, never values.</a:t>
            </a:r>
            <a:endParaRPr lang="en-US" sz="1250" dirty="0"/>
          </a:p>
        </p:txBody>
      </p:sp>
      <p:sp>
        <p:nvSpPr>
          <p:cNvPr id="31" name="link-404"/>
          <p:cNvSpPr/>
          <p:nvPr/>
        </p:nvSpPr>
        <p:spPr>
          <a:xfrm>
            <a:off x="4736592" y="1911096"/>
            <a:ext cx="201168" cy="0"/>
          </a:xfrm>
          <a:prstGeom prst="line">
            <a:avLst/>
          </a:prstGeom>
          <a:noFill/>
          <a:ln w="28575">
            <a:solidFill>
              <a:schemeClr val="accent3"/>
            </a:solidFill>
            <a:prstDash val="solid"/>
          </a:ln>
        </p:spPr>
      </p:sp>
      <p:sp>
        <p:nvSpPr>
          <p:cNvPr id="32" name="link-405"/>
          <p:cNvSpPr/>
          <p:nvPr/>
        </p:nvSpPr>
        <p:spPr>
          <a:xfrm>
            <a:off x="4736592" y="1911096"/>
            <a:ext cx="0" cy="201168"/>
          </a:xfrm>
          <a:prstGeom prst="line">
            <a:avLst/>
          </a:prstGeom>
          <a:noFill/>
          <a:ln w="28575">
            <a:solidFill>
              <a:schemeClr val="accent3"/>
            </a:solidFill>
            <a:prstDash val="solid"/>
          </a:ln>
        </p:spPr>
      </p:sp>
      <p:sp>
        <p:nvSpPr>
          <p:cNvPr id="33" name="link-406"/>
          <p:cNvSpPr/>
          <p:nvPr/>
        </p:nvSpPr>
        <p:spPr>
          <a:xfrm>
            <a:off x="11505895" y="1911096"/>
            <a:ext cx="201168" cy="0"/>
          </a:xfrm>
          <a:prstGeom prst="line">
            <a:avLst/>
          </a:prstGeom>
          <a:noFill/>
          <a:ln w="28575">
            <a:solidFill>
              <a:schemeClr val="accent3"/>
            </a:solidFill>
            <a:prstDash val="solid"/>
          </a:ln>
        </p:spPr>
      </p:sp>
      <p:sp>
        <p:nvSpPr>
          <p:cNvPr id="34" name="link-407"/>
          <p:cNvSpPr/>
          <p:nvPr/>
        </p:nvSpPr>
        <p:spPr>
          <a:xfrm>
            <a:off x="11707063" y="1911096"/>
            <a:ext cx="0" cy="201168"/>
          </a:xfrm>
          <a:prstGeom prst="line">
            <a:avLst/>
          </a:prstGeom>
          <a:noFill/>
          <a:ln w="28575">
            <a:solidFill>
              <a:schemeClr val="accent3"/>
            </a:solidFill>
            <a:prstDash val="solid"/>
          </a:ln>
        </p:spPr>
      </p:sp>
      <p:sp>
        <p:nvSpPr>
          <p:cNvPr id="35" name="link-408"/>
          <p:cNvSpPr/>
          <p:nvPr/>
        </p:nvSpPr>
        <p:spPr>
          <a:xfrm>
            <a:off x="4736592" y="5843016"/>
            <a:ext cx="201168" cy="0"/>
          </a:xfrm>
          <a:prstGeom prst="line">
            <a:avLst/>
          </a:prstGeom>
          <a:noFill/>
          <a:ln w="28575">
            <a:solidFill>
              <a:schemeClr val="accent3"/>
            </a:solidFill>
            <a:prstDash val="solid"/>
          </a:ln>
        </p:spPr>
      </p:sp>
      <p:sp>
        <p:nvSpPr>
          <p:cNvPr id="36" name="link-409"/>
          <p:cNvSpPr/>
          <p:nvPr/>
        </p:nvSpPr>
        <p:spPr>
          <a:xfrm>
            <a:off x="4736592" y="5641848"/>
            <a:ext cx="0" cy="201168"/>
          </a:xfrm>
          <a:prstGeom prst="line">
            <a:avLst/>
          </a:prstGeom>
          <a:noFill/>
          <a:ln w="28575">
            <a:solidFill>
              <a:schemeClr val="accent3"/>
            </a:solidFill>
            <a:prstDash val="solid"/>
          </a:ln>
        </p:spPr>
      </p:sp>
      <p:sp>
        <p:nvSpPr>
          <p:cNvPr id="37" name="link-410"/>
          <p:cNvSpPr/>
          <p:nvPr/>
        </p:nvSpPr>
        <p:spPr>
          <a:xfrm>
            <a:off x="11505895" y="5843016"/>
            <a:ext cx="201168" cy="0"/>
          </a:xfrm>
          <a:prstGeom prst="line">
            <a:avLst/>
          </a:prstGeom>
          <a:noFill/>
          <a:ln w="28575">
            <a:solidFill>
              <a:schemeClr val="accent3"/>
            </a:solidFill>
            <a:prstDash val="solid"/>
          </a:ln>
        </p:spPr>
      </p:sp>
      <p:sp>
        <p:nvSpPr>
          <p:cNvPr id="38" name="link-411"/>
          <p:cNvSpPr/>
          <p:nvPr/>
        </p:nvSpPr>
        <p:spPr>
          <a:xfrm>
            <a:off x="11707063" y="5641848"/>
            <a:ext cx="0" cy="201168"/>
          </a:xfrm>
          <a:prstGeom prst="line">
            <a:avLst/>
          </a:prstGeom>
          <a:noFill/>
          <a:ln w="28575">
            <a:solidFill>
              <a:schemeClr val="accent3"/>
            </a:solidFill>
            <a:prstDash val="solid"/>
          </a:ln>
        </p:spPr>
      </p:sp>
      <p:pic>
        <p:nvPicPr>
          <p:cNvPr id="39" name="icon-TbCircleCheck-412" descr="CircleCheck">    </p:cNvPr>
          <p:cNvPicPr>
            <a:picLocks noChangeAspect="1"/>
          </p:cNvPicPr>
          <p:nvPr/>
        </p:nvPicPr>
        <p:blipFill>
          <a:blip r:embed="rId1"/>
          <a:stretch>
            <a:fillRect/>
          </a:stretch>
        </p:blipFill>
        <p:spPr>
          <a:xfrm>
            <a:off x="548640" y="5943600"/>
            <a:ext cx="274320" cy="274320"/>
          </a:xfrm>
          <a:prstGeom prst="rect">
            <a:avLst/>
          </a:prstGeom>
        </p:spPr>
      </p:pic>
      <p:sp>
        <p:nvSpPr>
          <p:cNvPr id="40" name="text-413"/>
          <p:cNvSpPr txBox="1"/>
          <p:nvPr/>
        </p:nvSpPr>
        <p:spPr>
          <a:xfrm>
            <a:off x="932688" y="5907024"/>
            <a:ext cx="10710367" cy="347472"/>
          </a:xfrm>
          <a:prstGeom prst="rect">
            <a:avLst/>
          </a:prstGeom>
          <a:noFill/>
          <a:ln/>
        </p:spPr>
        <p:txBody>
          <a:bodyPr wrap="square" lIns="0" tIns="0" rIns="0" bIns="0" rtlCol="0" anchor="ctr"/>
          <a:lstStyle/>
          <a:p>
            <a:pPr indent="0" marL="0">
              <a:buNone/>
            </a:pPr>
            <a:r>
              <a:rPr lang="en-US" sz="1250" b="1" dirty="0">
                <a:solidFill>
                  <a:schemeClr val="tx1"/>
                </a:solidFill>
              </a:rPr>
              <a:t>Verified, not asserted: DES runs Wega’s own chunk-contract checker on all four output modes, and all 419 tests pass.</a:t>
            </a:r>
            <a:endParaRPr lang="en-US" sz="1250" dirty="0"/>
          </a:p>
        </p:txBody>
      </p:sp>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10896"/>
            <a:ext cx="8229600" cy="274320"/>
          </a:xfrm>
          <a:prstGeom prst="rect">
            <a:avLst/>
          </a:prstGeom>
          <a:noFill/>
          <a:ln/>
        </p:spPr>
        <p:txBody>
          <a:bodyPr wrap="square" lIns="0" tIns="0" rIns="0" bIns="0" rtlCol="0" anchor="ctr"/>
          <a:lstStyle/>
          <a:p>
            <a:pPr algn="l" indent="0" marL="0">
              <a:buNone/>
            </a:pPr>
            <a:r>
              <a:rPr lang="en-US" sz="1200" b="1" spc="150" kern="0" dirty="0">
                <a:solidFill>
                  <a:schemeClr val="accent1"/>
                </a:solidFill>
              </a:rPr>
              <a:t>DES · POSITIONING</a:t>
            </a:r>
            <a:endParaRPr lang="en-US" sz="1200" dirty="0"/>
          </a:p>
        </p:txBody>
      </p:sp>
      <p:sp>
        <p:nvSpPr>
          <p:cNvPr id="3" name="Text 0"/>
          <p:cNvSpPr/>
          <p:nvPr>
            <p:ph idx="101" type="title" hasCustomPrompt="1"/>
          </p:nvPr>
        </p:nvSpPr>
        <p:spPr>
          <a:xfrm>
            <a:off x="548640" y="603504"/>
            <a:ext cx="11094415" cy="868680"/>
          </a:xfrm>
          <a:prstGeom prst="rect">
            <a:avLst/>
          </a:prstGeom>
          <a:noFill/>
          <a:ln/>
        </p:spPr>
        <p:txBody>
          <a:bodyPr wrap="square" lIns="0" tIns="0" rIns="0" bIns="0" rtlCol="0" anchor="t"/>
          <a:lstStyle/>
          <a:p>
            <a:pPr algn="l" indent="0" marL="0">
              <a:buNone/>
            </a:pPr>
            <a:r>
              <a:rPr lang="en-US" sz="2800" b="1" dirty="0">
                <a:solidFill>
                  <a:schemeClr val="tx1"/>
                </a:solidFill>
              </a:rPr>
              <a:t>A superset pipeline: DES can also produce Wega’s chunks</a:t>
            </a:r>
            <a:endParaRPr lang="en-US" sz="2800" dirty="0"/>
          </a:p>
        </p:txBody>
      </p:sp>
      <p:sp>
        <p:nvSpPr>
          <p:cNvPr id="5" name="outer-414"/>
          <p:cNvSpPr/>
          <p:nvPr/>
        </p:nvSpPr>
        <p:spPr>
          <a:xfrm>
            <a:off x="548640" y="1645920"/>
            <a:ext cx="6446520" cy="4498848"/>
          </a:xfrm>
          <a:prstGeom prst="roundRect">
            <a:avLst>
              <a:gd name="adj" fmla="val 2439"/>
            </a:avLst>
          </a:prstGeom>
          <a:solidFill>
            <a:schemeClr val="bg1"/>
          </a:solidFill>
          <a:ln w="19050">
            <a:solidFill>
              <a:schemeClr val="accent1"/>
            </a:solidFill>
            <a:prstDash val="solid"/>
          </a:ln>
        </p:spPr>
      </p:sp>
      <p:sp>
        <p:nvSpPr>
          <p:cNvPr id="6" name="text-415"/>
          <p:cNvSpPr txBox="1"/>
          <p:nvPr/>
        </p:nvSpPr>
        <p:spPr>
          <a:xfrm>
            <a:off x="777240" y="1783080"/>
            <a:ext cx="5989320" cy="329184"/>
          </a:xfrm>
          <a:prstGeom prst="rect">
            <a:avLst/>
          </a:prstGeom>
          <a:noFill/>
          <a:ln/>
        </p:spPr>
        <p:txBody>
          <a:bodyPr wrap="square" lIns="0" tIns="0" rIns="0" bIns="0" rtlCol="0" anchor="ctr"/>
          <a:lstStyle/>
          <a:p>
            <a:pPr indent="0" marL="0">
              <a:buNone/>
            </a:pPr>
            <a:r>
              <a:rPr lang="en-US" sz="1500" b="1" dirty="0">
                <a:solidFill>
                  <a:schemeClr val="accent1"/>
                </a:solidFill>
              </a:rPr>
              <a:t>DES  ·  Document Embedding Service</a:t>
            </a:r>
            <a:endParaRPr lang="en-US" sz="1500" dirty="0"/>
          </a:p>
        </p:txBody>
      </p:sp>
      <p:sp>
        <p:nvSpPr>
          <p:cNvPr id="7" name="pill-416"/>
          <p:cNvSpPr/>
          <p:nvPr/>
        </p:nvSpPr>
        <p:spPr>
          <a:xfrm>
            <a:off x="777240" y="2267712"/>
            <a:ext cx="1051560" cy="438912"/>
          </a:xfrm>
          <a:prstGeom prst="roundRect">
            <a:avLst>
              <a:gd name="adj" fmla="val 50000"/>
            </a:avLst>
          </a:prstGeom>
          <a:solidFill>
            <a:schemeClr val="tx1"/>
          </a:solidFill>
          <a:ln/>
        </p:spPr>
        <p:txBody>
          <a:bodyPr wrap="square" lIns="0" tIns="0" rIns="0" bIns="0" rtlCol="0" anchor="ctr"/>
          <a:lstStyle/>
          <a:p>
            <a:pPr algn="ctr" indent="0" marL="0">
              <a:buNone/>
            </a:pPr>
            <a:r>
              <a:rPr lang="en-US" sz="1200" b="1" dirty="0">
                <a:solidFill>
                  <a:schemeClr val="bg1"/>
                </a:solidFill>
              </a:rPr>
              <a:t>Layout OCR</a:t>
            </a:r>
            <a:endParaRPr lang="en-US" sz="1200" dirty="0"/>
          </a:p>
        </p:txBody>
      </p:sp>
      <p:sp>
        <p:nvSpPr>
          <p:cNvPr id="8" name="link-417"/>
          <p:cNvSpPr/>
          <p:nvPr/>
        </p:nvSpPr>
        <p:spPr>
          <a:xfrm>
            <a:off x="1847088" y="2487168"/>
            <a:ext cx="146304" cy="0"/>
          </a:xfrm>
          <a:prstGeom prst="line">
            <a:avLst/>
          </a:prstGeom>
          <a:noFill/>
          <a:ln w="15875">
            <a:solidFill>
              <a:schemeClr val="tx2"/>
            </a:solidFill>
            <a:prstDash val="solid"/>
            <a:tailEnd type="triangle"/>
          </a:ln>
        </p:spPr>
      </p:sp>
      <p:sp>
        <p:nvSpPr>
          <p:cNvPr id="9" name="pill-418"/>
          <p:cNvSpPr/>
          <p:nvPr/>
        </p:nvSpPr>
        <p:spPr>
          <a:xfrm>
            <a:off x="2011680" y="2267712"/>
            <a:ext cx="1051560" cy="438912"/>
          </a:xfrm>
          <a:prstGeom prst="roundRect">
            <a:avLst>
              <a:gd name="adj" fmla="val 50000"/>
            </a:avLst>
          </a:prstGeom>
          <a:solidFill>
            <a:schemeClr val="accent1"/>
          </a:solidFill>
          <a:ln/>
        </p:spPr>
        <p:txBody>
          <a:bodyPr wrap="square" lIns="0" tIns="0" rIns="0" bIns="0" rtlCol="0" anchor="ctr"/>
          <a:lstStyle/>
          <a:p>
            <a:pPr algn="ctr" indent="0" marL="0">
              <a:buNone/>
            </a:pPr>
            <a:r>
              <a:rPr lang="en-US" sz="1200" b="1" dirty="0">
                <a:solidFill>
                  <a:schemeClr val="bg1"/>
                </a:solidFill>
              </a:rPr>
              <a:t>Chunking</a:t>
            </a:r>
            <a:endParaRPr lang="en-US" sz="1200" dirty="0"/>
          </a:p>
        </p:txBody>
      </p:sp>
      <p:sp>
        <p:nvSpPr>
          <p:cNvPr id="10" name="link-419"/>
          <p:cNvSpPr/>
          <p:nvPr/>
        </p:nvSpPr>
        <p:spPr>
          <a:xfrm>
            <a:off x="3081528" y="2487168"/>
            <a:ext cx="146304" cy="0"/>
          </a:xfrm>
          <a:prstGeom prst="line">
            <a:avLst/>
          </a:prstGeom>
          <a:noFill/>
          <a:ln w="15875">
            <a:solidFill>
              <a:schemeClr val="tx2"/>
            </a:solidFill>
            <a:prstDash val="solid"/>
            <a:tailEnd type="triangle"/>
          </a:ln>
        </p:spPr>
      </p:sp>
      <p:sp>
        <p:nvSpPr>
          <p:cNvPr id="11" name="pill-420"/>
          <p:cNvSpPr/>
          <p:nvPr/>
        </p:nvSpPr>
        <p:spPr>
          <a:xfrm>
            <a:off x="3246120" y="2267712"/>
            <a:ext cx="1051560" cy="438912"/>
          </a:xfrm>
          <a:prstGeom prst="roundRect">
            <a:avLst>
              <a:gd name="adj" fmla="val 50000"/>
            </a:avLst>
          </a:prstGeom>
          <a:solidFill>
            <a:schemeClr val="tx1"/>
          </a:solidFill>
          <a:ln/>
        </p:spPr>
        <p:txBody>
          <a:bodyPr wrap="square" lIns="0" tIns="0" rIns="0" bIns="0" rtlCol="0" anchor="ctr"/>
          <a:lstStyle/>
          <a:p>
            <a:pPr algn="ctr" indent="0" marL="0">
              <a:buNone/>
            </a:pPr>
            <a:r>
              <a:rPr lang="en-US" sz="1200" b="1" dirty="0">
                <a:solidFill>
                  <a:schemeClr val="bg1"/>
                </a:solidFill>
              </a:rPr>
              <a:t>Context</a:t>
            </a:r>
            <a:endParaRPr lang="en-US" sz="1200" dirty="0"/>
          </a:p>
        </p:txBody>
      </p:sp>
      <p:sp>
        <p:nvSpPr>
          <p:cNvPr id="12" name="link-421"/>
          <p:cNvSpPr/>
          <p:nvPr/>
        </p:nvSpPr>
        <p:spPr>
          <a:xfrm>
            <a:off x="4315968" y="2487168"/>
            <a:ext cx="146304" cy="0"/>
          </a:xfrm>
          <a:prstGeom prst="line">
            <a:avLst/>
          </a:prstGeom>
          <a:noFill/>
          <a:ln w="15875">
            <a:solidFill>
              <a:schemeClr val="tx2"/>
            </a:solidFill>
            <a:prstDash val="solid"/>
            <a:tailEnd type="triangle"/>
          </a:ln>
        </p:spPr>
      </p:sp>
      <p:sp>
        <p:nvSpPr>
          <p:cNvPr id="13" name="pill-422"/>
          <p:cNvSpPr/>
          <p:nvPr/>
        </p:nvSpPr>
        <p:spPr>
          <a:xfrm>
            <a:off x="4480560" y="2267712"/>
            <a:ext cx="1051560" cy="438912"/>
          </a:xfrm>
          <a:prstGeom prst="roundRect">
            <a:avLst>
              <a:gd name="adj" fmla="val 50000"/>
            </a:avLst>
          </a:prstGeom>
          <a:solidFill>
            <a:schemeClr val="tx1"/>
          </a:solidFill>
          <a:ln/>
        </p:spPr>
        <p:txBody>
          <a:bodyPr wrap="square" lIns="0" tIns="0" rIns="0" bIns="0" rtlCol="0" anchor="ctr"/>
          <a:lstStyle/>
          <a:p>
            <a:pPr algn="ctr" indent="0" marL="0">
              <a:buNone/>
            </a:pPr>
            <a:r>
              <a:rPr lang="en-US" sz="1200" b="1" dirty="0">
                <a:solidFill>
                  <a:schemeClr val="bg1"/>
                </a:solidFill>
              </a:rPr>
              <a:t>Embedding</a:t>
            </a:r>
            <a:endParaRPr lang="en-US" sz="1200" dirty="0"/>
          </a:p>
        </p:txBody>
      </p:sp>
      <p:sp>
        <p:nvSpPr>
          <p:cNvPr id="14" name="link-423"/>
          <p:cNvSpPr/>
          <p:nvPr/>
        </p:nvSpPr>
        <p:spPr>
          <a:xfrm>
            <a:off x="5550408" y="2487168"/>
            <a:ext cx="146304" cy="0"/>
          </a:xfrm>
          <a:prstGeom prst="line">
            <a:avLst/>
          </a:prstGeom>
          <a:noFill/>
          <a:ln w="15875">
            <a:solidFill>
              <a:schemeClr val="tx2"/>
            </a:solidFill>
            <a:prstDash val="solid"/>
            <a:tailEnd type="triangle"/>
          </a:ln>
        </p:spPr>
      </p:sp>
      <p:sp>
        <p:nvSpPr>
          <p:cNvPr id="15" name="pill-424"/>
          <p:cNvSpPr/>
          <p:nvPr/>
        </p:nvSpPr>
        <p:spPr>
          <a:xfrm>
            <a:off x="5715000" y="2267712"/>
            <a:ext cx="1051560" cy="438912"/>
          </a:xfrm>
          <a:prstGeom prst="roundRect">
            <a:avLst>
              <a:gd name="adj" fmla="val 50000"/>
            </a:avLst>
          </a:prstGeom>
          <a:solidFill>
            <a:schemeClr val="tx1"/>
          </a:solidFill>
          <a:ln/>
        </p:spPr>
        <p:txBody>
          <a:bodyPr wrap="square" lIns="0" tIns="0" rIns="0" bIns="0" rtlCol="0" anchor="ctr"/>
          <a:lstStyle/>
          <a:p>
            <a:pPr algn="ctr" indent="0" marL="0">
              <a:buNone/>
            </a:pPr>
            <a:r>
              <a:rPr lang="en-US" sz="1200" b="1" dirty="0">
                <a:solidFill>
                  <a:schemeClr val="bg1"/>
                </a:solidFill>
              </a:rPr>
              <a:t>pgvector</a:t>
            </a:r>
            <a:endParaRPr lang="en-US" sz="1200" dirty="0"/>
          </a:p>
        </p:txBody>
      </p:sp>
      <p:sp>
        <p:nvSpPr>
          <p:cNvPr id="16" name="link-425"/>
          <p:cNvSpPr/>
          <p:nvPr/>
        </p:nvSpPr>
        <p:spPr>
          <a:xfrm>
            <a:off x="2537460" y="2724912"/>
            <a:ext cx="0" cy="310896"/>
          </a:xfrm>
          <a:prstGeom prst="line">
            <a:avLst/>
          </a:prstGeom>
          <a:noFill/>
          <a:ln w="19050">
            <a:solidFill>
              <a:schemeClr val="accent3"/>
            </a:solidFill>
            <a:prstDash val="dash"/>
            <a:tailEnd type="triangle"/>
          </a:ln>
        </p:spPr>
      </p:sp>
      <p:sp>
        <p:nvSpPr>
          <p:cNvPr id="17" name="inner-426"/>
          <p:cNvSpPr/>
          <p:nvPr/>
        </p:nvSpPr>
        <p:spPr>
          <a:xfrm>
            <a:off x="777240" y="3127248"/>
            <a:ext cx="2926080" cy="2331720"/>
          </a:xfrm>
          <a:prstGeom prst="roundRect">
            <a:avLst>
              <a:gd name="adj" fmla="val 3137"/>
            </a:avLst>
          </a:prstGeom>
          <a:solidFill>
            <a:schemeClr val="accent3">
              <a:alpha val="12000"/>
            </a:schemeClr>
          </a:solidFill>
          <a:ln/>
        </p:spPr>
      </p:sp>
      <p:sp>
        <p:nvSpPr>
          <p:cNvPr id="18" name="link-427"/>
          <p:cNvSpPr/>
          <p:nvPr/>
        </p:nvSpPr>
        <p:spPr>
          <a:xfrm>
            <a:off x="777240" y="3127248"/>
            <a:ext cx="182880" cy="0"/>
          </a:xfrm>
          <a:prstGeom prst="line">
            <a:avLst/>
          </a:prstGeom>
          <a:noFill/>
          <a:ln w="28575">
            <a:solidFill>
              <a:schemeClr val="accent3"/>
            </a:solidFill>
            <a:prstDash val="solid"/>
          </a:ln>
        </p:spPr>
      </p:sp>
      <p:sp>
        <p:nvSpPr>
          <p:cNvPr id="19" name="link-428"/>
          <p:cNvSpPr/>
          <p:nvPr/>
        </p:nvSpPr>
        <p:spPr>
          <a:xfrm>
            <a:off x="777240" y="3127248"/>
            <a:ext cx="0" cy="182880"/>
          </a:xfrm>
          <a:prstGeom prst="line">
            <a:avLst/>
          </a:prstGeom>
          <a:noFill/>
          <a:ln w="28575">
            <a:solidFill>
              <a:schemeClr val="accent3"/>
            </a:solidFill>
            <a:prstDash val="solid"/>
          </a:ln>
        </p:spPr>
      </p:sp>
      <p:sp>
        <p:nvSpPr>
          <p:cNvPr id="20" name="link-429"/>
          <p:cNvSpPr/>
          <p:nvPr/>
        </p:nvSpPr>
        <p:spPr>
          <a:xfrm>
            <a:off x="3520440" y="3127248"/>
            <a:ext cx="182880" cy="0"/>
          </a:xfrm>
          <a:prstGeom prst="line">
            <a:avLst/>
          </a:prstGeom>
          <a:noFill/>
          <a:ln w="28575">
            <a:solidFill>
              <a:schemeClr val="accent3"/>
            </a:solidFill>
            <a:prstDash val="solid"/>
          </a:ln>
        </p:spPr>
      </p:sp>
      <p:sp>
        <p:nvSpPr>
          <p:cNvPr id="21" name="link-430"/>
          <p:cNvSpPr/>
          <p:nvPr/>
        </p:nvSpPr>
        <p:spPr>
          <a:xfrm>
            <a:off x="3703320" y="3127248"/>
            <a:ext cx="0" cy="182880"/>
          </a:xfrm>
          <a:prstGeom prst="line">
            <a:avLst/>
          </a:prstGeom>
          <a:noFill/>
          <a:ln w="28575">
            <a:solidFill>
              <a:schemeClr val="accent3"/>
            </a:solidFill>
            <a:prstDash val="solid"/>
          </a:ln>
        </p:spPr>
      </p:sp>
      <p:sp>
        <p:nvSpPr>
          <p:cNvPr id="22" name="link-431"/>
          <p:cNvSpPr/>
          <p:nvPr/>
        </p:nvSpPr>
        <p:spPr>
          <a:xfrm>
            <a:off x="777240" y="5458968"/>
            <a:ext cx="182880" cy="0"/>
          </a:xfrm>
          <a:prstGeom prst="line">
            <a:avLst/>
          </a:prstGeom>
          <a:noFill/>
          <a:ln w="28575">
            <a:solidFill>
              <a:schemeClr val="accent3"/>
            </a:solidFill>
            <a:prstDash val="solid"/>
          </a:ln>
        </p:spPr>
      </p:sp>
      <p:sp>
        <p:nvSpPr>
          <p:cNvPr id="23" name="link-432"/>
          <p:cNvSpPr/>
          <p:nvPr/>
        </p:nvSpPr>
        <p:spPr>
          <a:xfrm>
            <a:off x="777240" y="5276088"/>
            <a:ext cx="0" cy="182880"/>
          </a:xfrm>
          <a:prstGeom prst="line">
            <a:avLst/>
          </a:prstGeom>
          <a:noFill/>
          <a:ln w="28575">
            <a:solidFill>
              <a:schemeClr val="accent3"/>
            </a:solidFill>
            <a:prstDash val="solid"/>
          </a:ln>
        </p:spPr>
      </p:sp>
      <p:sp>
        <p:nvSpPr>
          <p:cNvPr id="24" name="link-433"/>
          <p:cNvSpPr/>
          <p:nvPr/>
        </p:nvSpPr>
        <p:spPr>
          <a:xfrm>
            <a:off x="3520440" y="5458968"/>
            <a:ext cx="182880" cy="0"/>
          </a:xfrm>
          <a:prstGeom prst="line">
            <a:avLst/>
          </a:prstGeom>
          <a:noFill/>
          <a:ln w="28575">
            <a:solidFill>
              <a:schemeClr val="accent3"/>
            </a:solidFill>
            <a:prstDash val="solid"/>
          </a:ln>
        </p:spPr>
      </p:sp>
      <p:sp>
        <p:nvSpPr>
          <p:cNvPr id="25" name="link-434"/>
          <p:cNvSpPr/>
          <p:nvPr/>
        </p:nvSpPr>
        <p:spPr>
          <a:xfrm>
            <a:off x="3703320" y="5276088"/>
            <a:ext cx="0" cy="182880"/>
          </a:xfrm>
          <a:prstGeom prst="line">
            <a:avLst/>
          </a:prstGeom>
          <a:noFill/>
          <a:ln w="28575">
            <a:solidFill>
              <a:schemeClr val="accent3"/>
            </a:solidFill>
            <a:prstDash val="solid"/>
          </a:ln>
        </p:spPr>
      </p:sp>
      <p:sp>
        <p:nvSpPr>
          <p:cNvPr id="26" name="block-435"/>
          <p:cNvSpPr txBox="1"/>
          <p:nvPr/>
        </p:nvSpPr>
        <p:spPr>
          <a:xfrm>
            <a:off x="978408" y="3310128"/>
            <a:ext cx="2523744" cy="2011680"/>
          </a:xfrm>
          <a:prstGeom prst="rect">
            <a:avLst/>
          </a:prstGeom>
          <a:noFill/>
          <a:ln/>
        </p:spPr>
        <p:txBody>
          <a:bodyPr wrap="square" lIns="0" tIns="0" rIns="0" bIns="0" rtlCol="0" anchor="t"/>
          <a:lstStyle/>
          <a:p>
            <a:pPr indent="0" marL="0">
              <a:spcAft>
                <a:spcPts val="400"/>
              </a:spcAft>
              <a:buNone/>
            </a:pPr>
            <a:r>
              <a:rPr lang="en-US" sz="1450" b="1" dirty="0">
                <a:solidFill>
                  <a:schemeClr val="tx1"/>
                </a:solidFill>
              </a:rPr>
              <a:t>Wega-compatible mode</a:t>
            </a:r>
            <a:endParaRPr lang="en-US" sz="1450" dirty="0"/>
          </a:p>
          <a:p>
            <a:pPr indent="0" marL="0">
              <a:spcAft>
                <a:spcPts val="200"/>
              </a:spcAft>
              <a:buNone/>
            </a:pPr>
            <a:r>
              <a:rPr lang="en-US" sz="1250" dirty="0">
                <a:solidFill>
                  <a:schemeClr val="tx2"/>
                </a:solidFill>
              </a:rPr>
              <a:t>Wega’s six chunk qualities and its chunk contract 1.1, produced by DES’s own parts engine and checked by Wega’s own validator.</a:t>
            </a:r>
            <a:endParaRPr lang="en-US" sz="1450" dirty="0"/>
          </a:p>
        </p:txBody>
      </p:sp>
      <p:sp>
        <p:nvSpPr>
          <p:cNvPr id="27" name="text-436"/>
          <p:cNvSpPr txBox="1"/>
          <p:nvPr/>
        </p:nvSpPr>
        <p:spPr>
          <a:xfrm>
            <a:off x="3977640" y="3127248"/>
            <a:ext cx="2788920" cy="292608"/>
          </a:xfrm>
          <a:prstGeom prst="rect">
            <a:avLst/>
          </a:prstGeom>
          <a:noFill/>
          <a:ln/>
        </p:spPr>
        <p:txBody>
          <a:bodyPr wrap="square" lIns="0" tIns="0" rIns="0" bIns="0" rtlCol="0" anchor="ctr"/>
          <a:lstStyle/>
          <a:p>
            <a:pPr indent="0" marL="0">
              <a:buNone/>
            </a:pPr>
            <a:r>
              <a:rPr lang="en-US" sz="1350" b="1" dirty="0">
                <a:solidFill>
                  <a:schemeClr val="accent1"/>
                </a:solidFill>
              </a:rPr>
              <a:t>Only in DES</a:t>
            </a:r>
            <a:endParaRPr lang="en-US" sz="1350" dirty="0"/>
          </a:p>
        </p:txBody>
      </p:sp>
      <p:pic>
        <p:nvPicPr>
          <p:cNvPr id="28" name="icon-TbCheck-437" descr="Check">    </p:cNvPr>
          <p:cNvPicPr>
            <a:picLocks noChangeAspect="1"/>
          </p:cNvPicPr>
          <p:nvPr/>
        </p:nvPicPr>
        <p:blipFill>
          <a:blip r:embed="rId1"/>
          <a:stretch>
            <a:fillRect/>
          </a:stretch>
        </p:blipFill>
        <p:spPr>
          <a:xfrm>
            <a:off x="3977640" y="3557016"/>
            <a:ext cx="219456" cy="219456"/>
          </a:xfrm>
          <a:prstGeom prst="rect">
            <a:avLst/>
          </a:prstGeom>
        </p:spPr>
      </p:pic>
      <p:sp>
        <p:nvSpPr>
          <p:cNvPr id="29" name="text-438"/>
          <p:cNvSpPr txBox="1"/>
          <p:nvPr/>
        </p:nvSpPr>
        <p:spPr>
          <a:xfrm>
            <a:off x="4270248" y="3511296"/>
            <a:ext cx="2496312" cy="310896"/>
          </a:xfrm>
          <a:prstGeom prst="rect">
            <a:avLst/>
          </a:prstGeom>
          <a:noFill/>
          <a:ln/>
        </p:spPr>
        <p:txBody>
          <a:bodyPr wrap="square" lIns="0" tIns="0" rIns="0" bIns="0" rtlCol="0" anchor="ctr"/>
          <a:lstStyle/>
          <a:p>
            <a:pPr indent="0" marL="0">
              <a:buNone/>
            </a:pPr>
            <a:r>
              <a:rPr lang="en-US" sz="1250" dirty="0">
                <a:solidFill>
                  <a:schemeClr val="tx1"/>
                </a:solidFill>
              </a:rPr>
              <a:t>Four more chunking strategies</a:t>
            </a:r>
            <a:endParaRPr lang="en-US" sz="1250" dirty="0"/>
          </a:p>
        </p:txBody>
      </p:sp>
      <p:pic>
        <p:nvPicPr>
          <p:cNvPr id="30" name="icon-TbCheck-439" descr="Check">    </p:cNvPr>
          <p:cNvPicPr>
            <a:picLocks noChangeAspect="1"/>
          </p:cNvPicPr>
          <p:nvPr/>
        </p:nvPicPr>
        <p:blipFill>
          <a:blip r:embed="rId2"/>
          <a:stretch>
            <a:fillRect/>
          </a:stretch>
        </p:blipFill>
        <p:spPr>
          <a:xfrm>
            <a:off x="3977640" y="3886200"/>
            <a:ext cx="219456" cy="219456"/>
          </a:xfrm>
          <a:prstGeom prst="rect">
            <a:avLst/>
          </a:prstGeom>
        </p:spPr>
      </p:pic>
      <p:sp>
        <p:nvSpPr>
          <p:cNvPr id="31" name="text-440"/>
          <p:cNvSpPr txBox="1"/>
          <p:nvPr/>
        </p:nvSpPr>
        <p:spPr>
          <a:xfrm>
            <a:off x="4270248" y="3840480"/>
            <a:ext cx="2496312" cy="310896"/>
          </a:xfrm>
          <a:prstGeom prst="rect">
            <a:avLst/>
          </a:prstGeom>
          <a:noFill/>
          <a:ln/>
        </p:spPr>
        <p:txBody>
          <a:bodyPr wrap="square" lIns="0" tIns="0" rIns="0" bIns="0" rtlCol="0" anchor="ctr"/>
          <a:lstStyle/>
          <a:p>
            <a:pPr indent="0" marL="0">
              <a:buNone/>
            </a:pPr>
            <a:r>
              <a:rPr lang="en-US" sz="1250" dirty="0">
                <a:solidFill>
                  <a:schemeClr val="tx1"/>
                </a:solidFill>
              </a:rPr>
              <a:t>Contextual prefixes per chunk</a:t>
            </a:r>
            <a:endParaRPr lang="en-US" sz="1250" dirty="0"/>
          </a:p>
        </p:txBody>
      </p:sp>
      <p:pic>
        <p:nvPicPr>
          <p:cNvPr id="32" name="icon-TbCheck-441" descr="Check">    </p:cNvPr>
          <p:cNvPicPr>
            <a:picLocks noChangeAspect="1"/>
          </p:cNvPicPr>
          <p:nvPr/>
        </p:nvPicPr>
        <p:blipFill>
          <a:blip r:embed="rId3"/>
          <a:stretch>
            <a:fillRect/>
          </a:stretch>
        </p:blipFill>
        <p:spPr>
          <a:xfrm>
            <a:off x="3977640" y="4215384"/>
            <a:ext cx="219456" cy="219456"/>
          </a:xfrm>
          <a:prstGeom prst="rect">
            <a:avLst/>
          </a:prstGeom>
        </p:spPr>
      </p:pic>
      <p:sp>
        <p:nvSpPr>
          <p:cNvPr id="33" name="text-442"/>
          <p:cNvSpPr txBox="1"/>
          <p:nvPr/>
        </p:nvSpPr>
        <p:spPr>
          <a:xfrm>
            <a:off x="4270248" y="4169664"/>
            <a:ext cx="2496312" cy="310896"/>
          </a:xfrm>
          <a:prstGeom prst="rect">
            <a:avLst/>
          </a:prstGeom>
          <a:noFill/>
          <a:ln/>
        </p:spPr>
        <p:txBody>
          <a:bodyPr wrap="square" lIns="0" tIns="0" rIns="0" bIns="0" rtlCol="0" anchor="ctr"/>
          <a:lstStyle/>
          <a:p>
            <a:pPr indent="0" marL="0">
              <a:buNone/>
            </a:pPr>
            <a:r>
              <a:rPr lang="en-US" sz="1250" dirty="0">
                <a:solidFill>
                  <a:schemeClr val="tx1"/>
                </a:solidFill>
              </a:rPr>
              <a:t>Dimension-guarded embeddings</a:t>
            </a:r>
            <a:endParaRPr lang="en-US" sz="1250" dirty="0"/>
          </a:p>
        </p:txBody>
      </p:sp>
      <p:pic>
        <p:nvPicPr>
          <p:cNvPr id="34" name="icon-TbCheck-443" descr="Check">    </p:cNvPr>
          <p:cNvPicPr>
            <a:picLocks noChangeAspect="1"/>
          </p:cNvPicPr>
          <p:nvPr/>
        </p:nvPicPr>
        <p:blipFill>
          <a:blip r:embed="rId4"/>
          <a:stretch>
            <a:fillRect/>
          </a:stretch>
        </p:blipFill>
        <p:spPr>
          <a:xfrm>
            <a:off x="3977640" y="4544568"/>
            <a:ext cx="219456" cy="219456"/>
          </a:xfrm>
          <a:prstGeom prst="rect">
            <a:avLst/>
          </a:prstGeom>
        </p:spPr>
      </p:pic>
      <p:sp>
        <p:nvSpPr>
          <p:cNvPr id="35" name="text-444"/>
          <p:cNvSpPr txBox="1"/>
          <p:nvPr/>
        </p:nvSpPr>
        <p:spPr>
          <a:xfrm>
            <a:off x="4270248" y="4498848"/>
            <a:ext cx="2496312" cy="310896"/>
          </a:xfrm>
          <a:prstGeom prst="rect">
            <a:avLst/>
          </a:prstGeom>
          <a:noFill/>
          <a:ln/>
        </p:spPr>
        <p:txBody>
          <a:bodyPr wrap="square" lIns="0" tIns="0" rIns="0" bIns="0" rtlCol="0" anchor="ctr"/>
          <a:lstStyle/>
          <a:p>
            <a:pPr indent="0" marL="0">
              <a:buNone/>
            </a:pPr>
            <a:r>
              <a:rPr lang="en-US" sz="1250" dirty="0">
                <a:solidFill>
                  <a:schemeClr val="tx1"/>
                </a:solidFill>
              </a:rPr>
              <a:t>Retrieval-ready pgvector schema</a:t>
            </a:r>
            <a:endParaRPr lang="en-US" sz="1250" dirty="0"/>
          </a:p>
        </p:txBody>
      </p:sp>
      <p:pic>
        <p:nvPicPr>
          <p:cNvPr id="36" name="icon-TbCheck-445" descr="Check">    </p:cNvPr>
          <p:cNvPicPr>
            <a:picLocks noChangeAspect="1"/>
          </p:cNvPicPr>
          <p:nvPr/>
        </p:nvPicPr>
        <p:blipFill>
          <a:blip r:embed="rId5"/>
          <a:stretch>
            <a:fillRect/>
          </a:stretch>
        </p:blipFill>
        <p:spPr>
          <a:xfrm>
            <a:off x="3977640" y="4873752"/>
            <a:ext cx="219456" cy="219456"/>
          </a:xfrm>
          <a:prstGeom prst="rect">
            <a:avLst/>
          </a:prstGeom>
        </p:spPr>
      </p:pic>
      <p:sp>
        <p:nvSpPr>
          <p:cNvPr id="37" name="text-446"/>
          <p:cNvSpPr txBox="1"/>
          <p:nvPr/>
        </p:nvSpPr>
        <p:spPr>
          <a:xfrm>
            <a:off x="4270248" y="4828032"/>
            <a:ext cx="2496312" cy="310896"/>
          </a:xfrm>
          <a:prstGeom prst="rect">
            <a:avLst/>
          </a:prstGeom>
          <a:noFill/>
          <a:ln/>
        </p:spPr>
        <p:txBody>
          <a:bodyPr wrap="square" lIns="0" tIns="0" rIns="0" bIns="0" rtlCol="0" anchor="ctr"/>
          <a:lstStyle/>
          <a:p>
            <a:pPr indent="0" marL="0">
              <a:buNone/>
            </a:pPr>
            <a:r>
              <a:rPr lang="en-US" sz="1250" dirty="0">
                <a:solidFill>
                  <a:schemeClr val="tx1"/>
                </a:solidFill>
              </a:rPr>
              <a:t>Bounding-box console and export API</a:t>
            </a:r>
            <a:endParaRPr lang="en-US" sz="1250" dirty="0"/>
          </a:p>
        </p:txBody>
      </p:sp>
      <p:pic>
        <p:nvPicPr>
          <p:cNvPr id="38" name="icon-TbCheck-447" descr="Check">    </p:cNvPr>
          <p:cNvPicPr>
            <a:picLocks noChangeAspect="1"/>
          </p:cNvPicPr>
          <p:nvPr/>
        </p:nvPicPr>
        <p:blipFill>
          <a:blip r:embed="rId6"/>
          <a:stretch>
            <a:fillRect/>
          </a:stretch>
        </p:blipFill>
        <p:spPr>
          <a:xfrm>
            <a:off x="3977640" y="5202936"/>
            <a:ext cx="219456" cy="219456"/>
          </a:xfrm>
          <a:prstGeom prst="rect">
            <a:avLst/>
          </a:prstGeom>
        </p:spPr>
      </p:pic>
      <p:sp>
        <p:nvSpPr>
          <p:cNvPr id="39" name="text-448"/>
          <p:cNvSpPr txBox="1"/>
          <p:nvPr/>
        </p:nvSpPr>
        <p:spPr>
          <a:xfrm>
            <a:off x="4270248" y="5157216"/>
            <a:ext cx="2496312" cy="310896"/>
          </a:xfrm>
          <a:prstGeom prst="rect">
            <a:avLst/>
          </a:prstGeom>
          <a:noFill/>
          <a:ln/>
        </p:spPr>
        <p:txBody>
          <a:bodyPr wrap="square" lIns="0" tIns="0" rIns="0" bIns="0" rtlCol="0" anchor="ctr"/>
          <a:lstStyle/>
          <a:p>
            <a:pPr indent="0" marL="0">
              <a:buNone/>
            </a:pPr>
            <a:r>
              <a:rPr lang="en-US" sz="1250" dirty="0">
                <a:solidFill>
                  <a:schemeClr val="tx1"/>
                </a:solidFill>
              </a:rPr>
              <a:t>Offline Azure mocks for testing</a:t>
            </a:r>
            <a:endParaRPr lang="en-US" sz="1250" dirty="0"/>
          </a:p>
        </p:txBody>
      </p:sp>
      <p:sp>
        <p:nvSpPr>
          <p:cNvPr id="40" name="text-449"/>
          <p:cNvSpPr txBox="1"/>
          <p:nvPr/>
        </p:nvSpPr>
        <p:spPr>
          <a:xfrm>
            <a:off x="777240" y="5641848"/>
            <a:ext cx="5989320" cy="329184"/>
          </a:xfrm>
          <a:prstGeom prst="rect">
            <a:avLst/>
          </a:prstGeom>
          <a:noFill/>
          <a:ln/>
        </p:spPr>
        <p:txBody>
          <a:bodyPr wrap="square" lIns="0" tIns="0" rIns="0" bIns="0" rtlCol="0" anchor="ctr"/>
          <a:lstStyle/>
          <a:p>
            <a:pPr indent="0" marL="0">
              <a:buNone/>
            </a:pPr>
            <a:r>
              <a:rPr lang="en-US" sz="1300" i="1" dirty="0">
                <a:solidFill>
                  <a:schemeClr val="tx2"/>
                </a:solidFill>
              </a:rPr>
              <a:t>Everything Wega’s chunker needs is one mode of this engine.</a:t>
            </a:r>
            <a:endParaRPr lang="en-US" sz="1300" dirty="0"/>
          </a:p>
        </p:txBody>
      </p:sp>
      <p:sp>
        <p:nvSpPr>
          <p:cNvPr id="41" name="card-450"/>
          <p:cNvSpPr/>
          <p:nvPr/>
        </p:nvSpPr>
        <p:spPr>
          <a:xfrm>
            <a:off x="7315200" y="1645920"/>
            <a:ext cx="4327855" cy="1371600"/>
          </a:xfrm>
          <a:prstGeom prst="roundRect">
            <a:avLst>
              <a:gd name="adj" fmla="val 5333"/>
            </a:avLst>
          </a:prstGeom>
          <a:solidFill>
            <a:schemeClr val="bg1"/>
          </a:solidFill>
          <a:ln w="9525">
            <a:solidFill>
              <a:schemeClr val="accent6"/>
            </a:solidFill>
            <a:prstDash val="solid"/>
          </a:ln>
        </p:spPr>
      </p:sp>
      <p:sp>
        <p:nvSpPr>
          <p:cNvPr id="42" name="badge-451"/>
          <p:cNvSpPr/>
          <p:nvPr/>
        </p:nvSpPr>
        <p:spPr>
          <a:xfrm>
            <a:off x="7516368" y="1847088"/>
            <a:ext cx="457200" cy="457200"/>
          </a:xfrm>
          <a:prstGeom prst="ellipse">
            <a:avLst/>
          </a:prstGeom>
          <a:solidFill>
            <a:schemeClr val="accent1"/>
          </a:solidFill>
          <a:ln/>
        </p:spPr>
      </p:sp>
      <p:pic>
        <p:nvPicPr>
          <p:cNvPr id="43" name="icon-TbArrowsSplit-452" descr="ArrowsSplit">    </p:cNvPr>
          <p:cNvPicPr>
            <a:picLocks noChangeAspect="1"/>
          </p:cNvPicPr>
          <p:nvPr/>
        </p:nvPicPr>
        <p:blipFill>
          <a:blip r:embed="rId7"/>
          <a:stretch>
            <a:fillRect/>
          </a:stretch>
        </p:blipFill>
        <p:spPr>
          <a:xfrm>
            <a:off x="7616952" y="1947672"/>
            <a:ext cx="256032" cy="256032"/>
          </a:xfrm>
          <a:prstGeom prst="rect">
            <a:avLst/>
          </a:prstGeom>
        </p:spPr>
      </p:pic>
      <p:sp>
        <p:nvSpPr>
          <p:cNvPr id="44" name="block-453"/>
          <p:cNvSpPr txBox="1"/>
          <p:nvPr/>
        </p:nvSpPr>
        <p:spPr>
          <a:xfrm>
            <a:off x="8119872" y="1801368"/>
            <a:ext cx="3340303" cy="1152144"/>
          </a:xfrm>
          <a:prstGeom prst="rect">
            <a:avLst/>
          </a:prstGeom>
          <a:noFill/>
          <a:ln/>
        </p:spPr>
        <p:txBody>
          <a:bodyPr wrap="square" lIns="0" tIns="0" rIns="0" bIns="0" rtlCol="0" anchor="t"/>
          <a:lstStyle/>
          <a:p>
            <a:pPr indent="0" marL="0">
              <a:spcAft>
                <a:spcPts val="400"/>
              </a:spcAft>
              <a:buNone/>
            </a:pPr>
            <a:r>
              <a:rPr lang="en-US" sz="1500" b="1" dirty="0">
                <a:solidFill>
                  <a:schemeClr val="tx1"/>
                </a:solidFill>
              </a:rPr>
              <a:t>Same engine, Wega output</a:t>
            </a:r>
            <a:endParaRPr lang="en-US" sz="1500" dirty="0"/>
          </a:p>
          <a:p>
            <a:pPr indent="0" marL="0">
              <a:spcAft>
                <a:spcPts val="200"/>
              </a:spcAft>
              <a:buNone/>
            </a:pPr>
            <a:r>
              <a:rPr lang="en-US" sz="1250" dirty="0">
                <a:solidFill>
                  <a:schemeClr val="tx2"/>
                </a:solidFill>
              </a:rPr>
              <a:t>The parts engine emits Wega’s chunk contract; Wega’s own checker passes it inside DES’s test suite.</a:t>
            </a:r>
            <a:endParaRPr lang="en-US" sz="1500" dirty="0"/>
          </a:p>
        </p:txBody>
      </p:sp>
      <p:sp>
        <p:nvSpPr>
          <p:cNvPr id="45" name="card-454"/>
          <p:cNvSpPr/>
          <p:nvPr/>
        </p:nvSpPr>
        <p:spPr>
          <a:xfrm>
            <a:off x="7315200" y="3163824"/>
            <a:ext cx="4327855" cy="1371600"/>
          </a:xfrm>
          <a:prstGeom prst="roundRect">
            <a:avLst>
              <a:gd name="adj" fmla="val 5333"/>
            </a:avLst>
          </a:prstGeom>
          <a:solidFill>
            <a:schemeClr val="bg1"/>
          </a:solidFill>
          <a:ln w="9525">
            <a:solidFill>
              <a:schemeClr val="accent6"/>
            </a:solidFill>
            <a:prstDash val="solid"/>
          </a:ln>
        </p:spPr>
      </p:sp>
      <p:sp>
        <p:nvSpPr>
          <p:cNvPr id="46" name="badge-455"/>
          <p:cNvSpPr/>
          <p:nvPr/>
        </p:nvSpPr>
        <p:spPr>
          <a:xfrm>
            <a:off x="7516368" y="3364992"/>
            <a:ext cx="457200" cy="457200"/>
          </a:xfrm>
          <a:prstGeom prst="ellipse">
            <a:avLst/>
          </a:prstGeom>
          <a:solidFill>
            <a:schemeClr val="accent1"/>
          </a:solidFill>
          <a:ln/>
        </p:spPr>
      </p:sp>
      <p:pic>
        <p:nvPicPr>
          <p:cNvPr id="47" name="icon-TbDatabase-456" descr="Database">    </p:cNvPr>
          <p:cNvPicPr>
            <a:picLocks noChangeAspect="1"/>
          </p:cNvPicPr>
          <p:nvPr/>
        </p:nvPicPr>
        <p:blipFill>
          <a:blip r:embed="rId8"/>
          <a:stretch>
            <a:fillRect/>
          </a:stretch>
        </p:blipFill>
        <p:spPr>
          <a:xfrm>
            <a:off x="7616952" y="3465576"/>
            <a:ext cx="256032" cy="256032"/>
          </a:xfrm>
          <a:prstGeom prst="rect">
            <a:avLst/>
          </a:prstGeom>
        </p:spPr>
      </p:pic>
      <p:sp>
        <p:nvSpPr>
          <p:cNvPr id="48" name="block-457"/>
          <p:cNvSpPr txBox="1"/>
          <p:nvPr/>
        </p:nvSpPr>
        <p:spPr>
          <a:xfrm>
            <a:off x="8119872" y="3319272"/>
            <a:ext cx="3340303" cy="1152144"/>
          </a:xfrm>
          <a:prstGeom prst="rect">
            <a:avLst/>
          </a:prstGeom>
          <a:noFill/>
          <a:ln/>
        </p:spPr>
        <p:txBody>
          <a:bodyPr wrap="square" lIns="0" tIns="0" rIns="0" bIns="0" rtlCol="0" anchor="t"/>
          <a:lstStyle/>
          <a:p>
            <a:pPr indent="0" marL="0">
              <a:spcAft>
                <a:spcPts val="400"/>
              </a:spcAft>
              <a:buNone/>
            </a:pPr>
            <a:r>
              <a:rPr lang="en-US" sz="1500" b="1" dirty="0">
                <a:solidFill>
                  <a:schemeClr val="tx1"/>
                </a:solidFill>
              </a:rPr>
              <a:t>Same vector schema</a:t>
            </a:r>
            <a:endParaRPr lang="en-US" sz="1500" dirty="0"/>
          </a:p>
          <a:p>
            <a:pPr indent="0" marL="0">
              <a:spcAft>
                <a:spcPts val="200"/>
              </a:spcAft>
              <a:buNone/>
            </a:pPr>
            <a:r>
              <a:rPr lang="en-US" sz="1250" dirty="0">
                <a:solidFill>
                  <a:schemeClr val="tx2"/>
                </a:solidFill>
              </a:rPr>
              <a:t>Wega’s vector store uses DES’s table definitions, so retrieval reads either store the same way.</a:t>
            </a:r>
            <a:endParaRPr lang="en-US" sz="1500" dirty="0"/>
          </a:p>
        </p:txBody>
      </p:sp>
      <p:sp>
        <p:nvSpPr>
          <p:cNvPr id="49" name="card-458"/>
          <p:cNvSpPr/>
          <p:nvPr/>
        </p:nvSpPr>
        <p:spPr>
          <a:xfrm>
            <a:off x="7315200" y="4681728"/>
            <a:ext cx="4327855" cy="1371600"/>
          </a:xfrm>
          <a:prstGeom prst="roundRect">
            <a:avLst>
              <a:gd name="adj" fmla="val 5333"/>
            </a:avLst>
          </a:prstGeom>
          <a:solidFill>
            <a:schemeClr val="bg1"/>
          </a:solidFill>
          <a:ln w="9525">
            <a:solidFill>
              <a:schemeClr val="accent6"/>
            </a:solidFill>
            <a:prstDash val="solid"/>
          </a:ln>
        </p:spPr>
      </p:sp>
      <p:sp>
        <p:nvSpPr>
          <p:cNvPr id="50" name="badge-459"/>
          <p:cNvSpPr/>
          <p:nvPr/>
        </p:nvSpPr>
        <p:spPr>
          <a:xfrm>
            <a:off x="7516368" y="4882896"/>
            <a:ext cx="457200" cy="457200"/>
          </a:xfrm>
          <a:prstGeom prst="ellipse">
            <a:avLst/>
          </a:prstGeom>
          <a:solidFill>
            <a:schemeClr val="accent1"/>
          </a:solidFill>
          <a:ln/>
        </p:spPr>
      </p:sp>
      <p:pic>
        <p:nvPicPr>
          <p:cNvPr id="51" name="icon-TbAdjustments-460" descr="Adjustments">    </p:cNvPr>
          <p:cNvPicPr>
            <a:picLocks noChangeAspect="1"/>
          </p:cNvPicPr>
          <p:nvPr/>
        </p:nvPicPr>
        <p:blipFill>
          <a:blip r:embed="rId9"/>
          <a:stretch>
            <a:fillRect/>
          </a:stretch>
        </p:blipFill>
        <p:spPr>
          <a:xfrm>
            <a:off x="7616952" y="4983480"/>
            <a:ext cx="256032" cy="256032"/>
          </a:xfrm>
          <a:prstGeom prst="rect">
            <a:avLst/>
          </a:prstGeom>
        </p:spPr>
      </p:pic>
      <p:sp>
        <p:nvSpPr>
          <p:cNvPr id="52" name="block-461"/>
          <p:cNvSpPr txBox="1"/>
          <p:nvPr/>
        </p:nvSpPr>
        <p:spPr>
          <a:xfrm>
            <a:off x="8119872" y="4837176"/>
            <a:ext cx="3340303" cy="1152144"/>
          </a:xfrm>
          <a:prstGeom prst="rect">
            <a:avLst/>
          </a:prstGeom>
          <a:noFill/>
          <a:ln/>
        </p:spPr>
        <p:txBody>
          <a:bodyPr wrap="square" lIns="0" tIns="0" rIns="0" bIns="0" rtlCol="0" anchor="t"/>
          <a:lstStyle/>
          <a:p>
            <a:pPr indent="0" marL="0">
              <a:spcAft>
                <a:spcPts val="400"/>
              </a:spcAft>
              <a:buNone/>
            </a:pPr>
            <a:r>
              <a:rPr lang="en-US" sz="1500" b="1" dirty="0">
                <a:solidFill>
                  <a:schemeClr val="tx1"/>
                </a:solidFill>
              </a:rPr>
              <a:t>A mode, not a fork</a:t>
            </a:r>
            <a:endParaRPr lang="en-US" sz="1500" dirty="0"/>
          </a:p>
          <a:p>
            <a:pPr indent="0" marL="0">
              <a:spcAft>
                <a:spcPts val="200"/>
              </a:spcAft>
              <a:buNone/>
            </a:pPr>
            <a:r>
              <a:rPr lang="en-US" sz="1250" dirty="0">
                <a:solidFill>
                  <a:schemeClr val="tx2"/>
                </a:solidFill>
              </a:rPr>
              <a:t>One setting selects the strategy; OCR, context, embeddings, storage and the console stay the same.</a:t>
            </a:r>
            <a:endParaRPr lang="en-US" sz="1500" dirty="0"/>
          </a:p>
        </p:txBody>
      </p:sp>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310896"/>
            <a:ext cx="8229600" cy="274320"/>
          </a:xfrm>
          <a:prstGeom prst="rect">
            <a:avLst/>
          </a:prstGeom>
          <a:noFill/>
          <a:ln/>
        </p:spPr>
        <p:txBody>
          <a:bodyPr wrap="square" lIns="0" tIns="0" rIns="0" bIns="0" rtlCol="0" anchor="ctr"/>
          <a:lstStyle/>
          <a:p>
            <a:pPr algn="l" indent="0" marL="0">
              <a:buNone/>
            </a:pPr>
            <a:r>
              <a:rPr lang="en-US" sz="1200" b="1" spc="150" kern="0" dirty="0">
                <a:solidFill>
                  <a:schemeClr val="accent1"/>
                </a:solidFill>
              </a:rPr>
              <a:t>DES · EMBEDDINGS</a:t>
            </a:r>
            <a:endParaRPr lang="en-US" sz="1200" dirty="0"/>
          </a:p>
        </p:txBody>
      </p:sp>
      <p:sp>
        <p:nvSpPr>
          <p:cNvPr id="3" name="Text 0"/>
          <p:cNvSpPr/>
          <p:nvPr>
            <p:ph idx="101" type="title" hasCustomPrompt="1"/>
          </p:nvPr>
        </p:nvSpPr>
        <p:spPr>
          <a:xfrm>
            <a:off x="548640" y="603504"/>
            <a:ext cx="11094415" cy="868680"/>
          </a:xfrm>
          <a:prstGeom prst="rect">
            <a:avLst/>
          </a:prstGeom>
          <a:noFill/>
          <a:ln/>
        </p:spPr>
        <p:txBody>
          <a:bodyPr wrap="square" lIns="0" tIns="0" rIns="0" bIns="0" rtlCol="0" anchor="t"/>
          <a:lstStyle/>
          <a:p>
            <a:pPr algn="l" indent="0" marL="0">
              <a:buNone/>
            </a:pPr>
            <a:r>
              <a:rPr lang="en-US" sz="2800" b="1" dirty="0">
                <a:solidFill>
                  <a:schemeClr val="tx1"/>
                </a:solidFill>
              </a:rPr>
              <a:t>One embedding contract for the fleet, guarded at four layers</a:t>
            </a:r>
            <a:endParaRPr lang="en-US" sz="2800" dirty="0"/>
          </a:p>
        </p:txBody>
      </p:sp>
      <p:sp>
        <p:nvSpPr>
          <p:cNvPr id="5" name="box-462"/>
          <p:cNvSpPr/>
          <p:nvPr/>
        </p:nvSpPr>
        <p:spPr>
          <a:xfrm>
            <a:off x="548640" y="1645920"/>
            <a:ext cx="3246120" cy="457200"/>
          </a:xfrm>
          <a:prstGeom prst="roundRect">
            <a:avLst>
              <a:gd name="adj" fmla="val 12000"/>
            </a:avLst>
          </a:prstGeom>
          <a:solidFill>
            <a:schemeClr val="bg1"/>
          </a:solidFill>
          <a:ln w="12700">
            <a:solidFill>
              <a:schemeClr val="accent6"/>
            </a:solidFill>
          </a:ln>
        </p:spPr>
        <p:txBody>
          <a:bodyPr wrap="square" lIns="114300" tIns="25400" rIns="76200" bIns="25400" rtlCol="0" anchor="ctr"/>
          <a:lstStyle/>
          <a:p>
            <a:pPr algn="l" indent="0" marL="0">
              <a:buNone/>
            </a:pPr>
            <a:r>
              <a:rPr lang="en-US" sz="1250" b="1" dirty="0">
                <a:solidFill>
                  <a:schemeClr val="tx1"/>
                </a:solidFill>
              </a:rPr>
              <a:t>http  ·  production</a:t>
            </a:r>
            <a:endParaRPr lang="en-US" sz="1250" dirty="0"/>
          </a:p>
          <a:p>
            <a:pPr algn="l" indent="0" marL="0">
              <a:buNone/>
            </a:pPr>
            <a:r>
              <a:rPr lang="en-US" sz="1100" dirty="0">
                <a:solidFill>
                  <a:schemeClr val="tx1"/>
                </a:solidFill>
              </a:rPr>
              <a:t>TEI /embed or OpenAI /v1/embeddings</a:t>
            </a:r>
            <a:endParaRPr lang="en-US" sz="1250" dirty="0"/>
          </a:p>
        </p:txBody>
      </p:sp>
      <p:sp>
        <p:nvSpPr>
          <p:cNvPr id="6" name="box-463"/>
          <p:cNvSpPr/>
          <p:nvPr/>
        </p:nvSpPr>
        <p:spPr>
          <a:xfrm>
            <a:off x="548640" y="2194560"/>
            <a:ext cx="3246120" cy="457200"/>
          </a:xfrm>
          <a:prstGeom prst="roundRect">
            <a:avLst>
              <a:gd name="adj" fmla="val 12000"/>
            </a:avLst>
          </a:prstGeom>
          <a:solidFill>
            <a:schemeClr val="bg1"/>
          </a:solidFill>
          <a:ln w="12700">
            <a:solidFill>
              <a:schemeClr val="accent6"/>
            </a:solidFill>
          </a:ln>
        </p:spPr>
        <p:txBody>
          <a:bodyPr wrap="square" lIns="114300" tIns="25400" rIns="76200" bIns="25400" rtlCol="0" anchor="ctr"/>
          <a:lstStyle/>
          <a:p>
            <a:pPr algn="l" indent="0" marL="0">
              <a:buNone/>
            </a:pPr>
            <a:r>
              <a:rPr lang="en-US" sz="1250" b="1" dirty="0">
                <a:solidFill>
                  <a:schemeClr val="tx1"/>
                </a:solidFill>
              </a:rPr>
              <a:t>local  ·  offline dev</a:t>
            </a:r>
            <a:endParaRPr lang="en-US" sz="1250" dirty="0"/>
          </a:p>
          <a:p>
            <a:pPr algn="l" indent="0" marL="0">
              <a:buNone/>
            </a:pPr>
            <a:r>
              <a:rPr lang="en-US" sz="1100" dirty="0">
                <a:solidFill>
                  <a:schemeClr val="tx1"/>
                </a:solidFill>
              </a:rPr>
              <a:t>sentence-transformers on CPU</a:t>
            </a:r>
            <a:endParaRPr lang="en-US" sz="1250" dirty="0"/>
          </a:p>
        </p:txBody>
      </p:sp>
      <p:sp>
        <p:nvSpPr>
          <p:cNvPr id="7" name="box-464"/>
          <p:cNvSpPr/>
          <p:nvPr/>
        </p:nvSpPr>
        <p:spPr>
          <a:xfrm>
            <a:off x="548640" y="2743200"/>
            <a:ext cx="3246120" cy="457200"/>
          </a:xfrm>
          <a:prstGeom prst="roundRect">
            <a:avLst>
              <a:gd name="adj" fmla="val 12000"/>
            </a:avLst>
          </a:prstGeom>
          <a:solidFill>
            <a:schemeClr val="bg1"/>
          </a:solidFill>
          <a:ln w="12700">
            <a:solidFill>
              <a:schemeClr val="accent6"/>
            </a:solidFill>
          </a:ln>
        </p:spPr>
        <p:txBody>
          <a:bodyPr wrap="square" lIns="114300" tIns="25400" rIns="76200" bIns="25400" rtlCol="0" anchor="ctr"/>
          <a:lstStyle/>
          <a:p>
            <a:pPr algn="l" indent="0" marL="0">
              <a:buNone/>
            </a:pPr>
            <a:r>
              <a:rPr lang="en-US" sz="1250" b="1" dirty="0">
                <a:solidFill>
                  <a:schemeClr val="tx1"/>
                </a:solidFill>
              </a:rPr>
              <a:t>stub  ·  tests</a:t>
            </a:r>
            <a:endParaRPr lang="en-US" sz="1250" dirty="0"/>
          </a:p>
          <a:p>
            <a:pPr algn="l" indent="0" marL="0">
              <a:buNone/>
            </a:pPr>
            <a:r>
              <a:rPr lang="en-US" sz="1100" dirty="0">
                <a:solidFill>
                  <a:schemeClr val="tx1"/>
                </a:solidFill>
              </a:rPr>
              <a:t>deterministic unit vectors</a:t>
            </a:r>
            <a:endParaRPr lang="en-US" sz="1250" dirty="0"/>
          </a:p>
        </p:txBody>
      </p:sp>
      <p:sp>
        <p:nvSpPr>
          <p:cNvPr id="8" name="box-465"/>
          <p:cNvSpPr/>
          <p:nvPr/>
        </p:nvSpPr>
        <p:spPr>
          <a:xfrm>
            <a:off x="548640" y="3291840"/>
            <a:ext cx="3246120" cy="457200"/>
          </a:xfrm>
          <a:prstGeom prst="roundRect">
            <a:avLst>
              <a:gd name="adj" fmla="val 12000"/>
            </a:avLst>
          </a:prstGeom>
          <a:solidFill>
            <a:schemeClr val="bg2"/>
          </a:solidFill>
          <a:ln w="12700">
            <a:solidFill>
              <a:schemeClr val="accent4"/>
            </a:solidFill>
          </a:ln>
        </p:spPr>
        <p:txBody>
          <a:bodyPr wrap="square" lIns="114300" tIns="25400" rIns="76200" bIns="25400" rtlCol="0" anchor="ctr"/>
          <a:lstStyle/>
          <a:p>
            <a:pPr algn="l" indent="0" marL="0">
              <a:buNone/>
            </a:pPr>
            <a:r>
              <a:rPr lang="en-US" sz="1250" b="1" dirty="0">
                <a:solidFill>
                  <a:schemeClr val="tx1"/>
                </a:solidFill>
              </a:rPr>
              <a:t>vertex  ·  legacy</a:t>
            </a:r>
            <a:endParaRPr lang="en-US" sz="1250" dirty="0"/>
          </a:p>
          <a:p>
            <a:pPr algn="l" indent="0" marL="0">
              <a:buNone/>
            </a:pPr>
            <a:r>
              <a:rPr lang="en-US" sz="1100" dirty="0">
                <a:solidFill>
                  <a:schemeClr val="tx1"/>
                </a:solidFill>
              </a:rPr>
              <a:t>text-embedding-005, 768-D: refused</a:t>
            </a:r>
            <a:endParaRPr lang="en-US" sz="1250" dirty="0"/>
          </a:p>
        </p:txBody>
      </p:sp>
      <p:sp>
        <p:nvSpPr>
          <p:cNvPr id="9" name="box-466"/>
          <p:cNvSpPr/>
          <p:nvPr/>
        </p:nvSpPr>
        <p:spPr>
          <a:xfrm>
            <a:off x="4343400" y="1783080"/>
            <a:ext cx="3520440" cy="1783080"/>
          </a:xfrm>
          <a:prstGeom prst="roundRect">
            <a:avLst>
              <a:gd name="adj" fmla="val 3077"/>
            </a:avLst>
          </a:prstGeom>
          <a:solidFill>
            <a:schemeClr val="tx1"/>
          </a:solidFill>
          <a:ln/>
        </p:spPr>
        <p:txBody>
          <a:bodyPr wrap="square" lIns="101600" tIns="38100" rIns="101600" bIns="38100" rtlCol="0" anchor="ctr"/>
          <a:lstStyle/>
          <a:p>
            <a:pPr algn="ctr" indent="0" marL="0">
              <a:buNone/>
            </a:pPr>
            <a:r>
              <a:rPr lang="en-US" sz="2200" b="1" dirty="0">
                <a:solidFill>
                  <a:schemeClr val="bg1"/>
                </a:solidFill>
              </a:rPr>
              <a:t>gte-large-en-v1.5</a:t>
            </a:r>
            <a:endParaRPr lang="en-US" sz="2200" dirty="0"/>
          </a:p>
          <a:p>
            <a:pPr algn="ctr" indent="0" marL="0">
              <a:buNone/>
            </a:pPr>
            <a:r>
              <a:rPr lang="en-US" sz="1300" dirty="0">
                <a:solidFill>
                  <a:schemeClr val="accent5"/>
                </a:solidFill>
              </a:rPr>
              <a:t>1024 dimensions · cosine · one space</a:t>
            </a:r>
            <a:endParaRPr lang="en-US" sz="2200" dirty="0"/>
          </a:p>
        </p:txBody>
      </p:sp>
      <p:sp>
        <p:nvSpPr>
          <p:cNvPr id="10" name="link-467"/>
          <p:cNvSpPr/>
          <p:nvPr/>
        </p:nvSpPr>
        <p:spPr>
          <a:xfrm>
            <a:off x="4270248" y="1709928"/>
            <a:ext cx="219456" cy="0"/>
          </a:xfrm>
          <a:prstGeom prst="line">
            <a:avLst/>
          </a:prstGeom>
          <a:noFill/>
          <a:ln w="28575">
            <a:solidFill>
              <a:schemeClr val="accent3"/>
            </a:solidFill>
            <a:prstDash val="solid"/>
          </a:ln>
        </p:spPr>
      </p:sp>
      <p:sp>
        <p:nvSpPr>
          <p:cNvPr id="11" name="link-468"/>
          <p:cNvSpPr/>
          <p:nvPr/>
        </p:nvSpPr>
        <p:spPr>
          <a:xfrm>
            <a:off x="4270248" y="1709928"/>
            <a:ext cx="0" cy="219456"/>
          </a:xfrm>
          <a:prstGeom prst="line">
            <a:avLst/>
          </a:prstGeom>
          <a:noFill/>
          <a:ln w="28575">
            <a:solidFill>
              <a:schemeClr val="accent3"/>
            </a:solidFill>
            <a:prstDash val="solid"/>
          </a:ln>
        </p:spPr>
      </p:sp>
      <p:sp>
        <p:nvSpPr>
          <p:cNvPr id="12" name="link-469"/>
          <p:cNvSpPr/>
          <p:nvPr/>
        </p:nvSpPr>
        <p:spPr>
          <a:xfrm>
            <a:off x="7717536" y="1709928"/>
            <a:ext cx="219456" cy="0"/>
          </a:xfrm>
          <a:prstGeom prst="line">
            <a:avLst/>
          </a:prstGeom>
          <a:noFill/>
          <a:ln w="28575">
            <a:solidFill>
              <a:schemeClr val="accent3"/>
            </a:solidFill>
            <a:prstDash val="solid"/>
          </a:ln>
        </p:spPr>
      </p:sp>
      <p:sp>
        <p:nvSpPr>
          <p:cNvPr id="13" name="link-470"/>
          <p:cNvSpPr/>
          <p:nvPr/>
        </p:nvSpPr>
        <p:spPr>
          <a:xfrm>
            <a:off x="7936992" y="1709928"/>
            <a:ext cx="0" cy="219456"/>
          </a:xfrm>
          <a:prstGeom prst="line">
            <a:avLst/>
          </a:prstGeom>
          <a:noFill/>
          <a:ln w="28575">
            <a:solidFill>
              <a:schemeClr val="accent3"/>
            </a:solidFill>
            <a:prstDash val="solid"/>
          </a:ln>
        </p:spPr>
      </p:sp>
      <p:sp>
        <p:nvSpPr>
          <p:cNvPr id="14" name="link-471"/>
          <p:cNvSpPr/>
          <p:nvPr/>
        </p:nvSpPr>
        <p:spPr>
          <a:xfrm>
            <a:off x="4270248" y="3639312"/>
            <a:ext cx="219456" cy="0"/>
          </a:xfrm>
          <a:prstGeom prst="line">
            <a:avLst/>
          </a:prstGeom>
          <a:noFill/>
          <a:ln w="28575">
            <a:solidFill>
              <a:schemeClr val="accent3"/>
            </a:solidFill>
            <a:prstDash val="solid"/>
          </a:ln>
        </p:spPr>
      </p:sp>
      <p:sp>
        <p:nvSpPr>
          <p:cNvPr id="15" name="link-472"/>
          <p:cNvSpPr/>
          <p:nvPr/>
        </p:nvSpPr>
        <p:spPr>
          <a:xfrm>
            <a:off x="4270248" y="3419856"/>
            <a:ext cx="0" cy="219456"/>
          </a:xfrm>
          <a:prstGeom prst="line">
            <a:avLst/>
          </a:prstGeom>
          <a:noFill/>
          <a:ln w="28575">
            <a:solidFill>
              <a:schemeClr val="accent3"/>
            </a:solidFill>
            <a:prstDash val="solid"/>
          </a:ln>
        </p:spPr>
      </p:sp>
      <p:sp>
        <p:nvSpPr>
          <p:cNvPr id="16" name="link-473"/>
          <p:cNvSpPr/>
          <p:nvPr/>
        </p:nvSpPr>
        <p:spPr>
          <a:xfrm>
            <a:off x="7717536" y="3639312"/>
            <a:ext cx="219456" cy="0"/>
          </a:xfrm>
          <a:prstGeom prst="line">
            <a:avLst/>
          </a:prstGeom>
          <a:noFill/>
          <a:ln w="28575">
            <a:solidFill>
              <a:schemeClr val="accent3"/>
            </a:solidFill>
            <a:prstDash val="solid"/>
          </a:ln>
        </p:spPr>
      </p:sp>
      <p:sp>
        <p:nvSpPr>
          <p:cNvPr id="17" name="link-474"/>
          <p:cNvSpPr/>
          <p:nvPr/>
        </p:nvSpPr>
        <p:spPr>
          <a:xfrm>
            <a:off x="7936992" y="3419856"/>
            <a:ext cx="0" cy="219456"/>
          </a:xfrm>
          <a:prstGeom prst="line">
            <a:avLst/>
          </a:prstGeom>
          <a:noFill/>
          <a:ln w="28575">
            <a:solidFill>
              <a:schemeClr val="accent3"/>
            </a:solidFill>
            <a:prstDash val="solid"/>
          </a:ln>
        </p:spPr>
      </p:sp>
      <p:sp>
        <p:nvSpPr>
          <p:cNvPr id="18" name="link-475"/>
          <p:cNvSpPr/>
          <p:nvPr/>
        </p:nvSpPr>
        <p:spPr>
          <a:xfrm>
            <a:off x="3840480" y="1874520"/>
            <a:ext cx="393192" cy="182880"/>
          </a:xfrm>
          <a:prstGeom prst="line">
            <a:avLst/>
          </a:prstGeom>
          <a:noFill/>
          <a:ln w="15875">
            <a:solidFill>
              <a:schemeClr val="accent1"/>
            </a:solidFill>
            <a:prstDash val="solid"/>
            <a:tailEnd type="triangle"/>
          </a:ln>
        </p:spPr>
      </p:sp>
      <p:sp>
        <p:nvSpPr>
          <p:cNvPr id="19" name="link-476"/>
          <p:cNvSpPr/>
          <p:nvPr/>
        </p:nvSpPr>
        <p:spPr>
          <a:xfrm>
            <a:off x="3840480" y="2423160"/>
            <a:ext cx="393192" cy="0"/>
          </a:xfrm>
          <a:prstGeom prst="line">
            <a:avLst/>
          </a:prstGeom>
          <a:noFill/>
          <a:ln w="15875">
            <a:solidFill>
              <a:schemeClr val="accent1"/>
            </a:solidFill>
            <a:prstDash val="solid"/>
            <a:tailEnd type="triangle"/>
          </a:ln>
        </p:spPr>
      </p:sp>
      <p:sp>
        <p:nvSpPr>
          <p:cNvPr id="20" name="link-477"/>
          <p:cNvSpPr/>
          <p:nvPr/>
        </p:nvSpPr>
        <p:spPr>
          <a:xfrm>
            <a:off x="3840480" y="2971800"/>
            <a:ext cx="393192" cy="0"/>
          </a:xfrm>
          <a:prstGeom prst="line">
            <a:avLst/>
          </a:prstGeom>
          <a:noFill/>
          <a:ln w="15875">
            <a:solidFill>
              <a:schemeClr val="accent1"/>
            </a:solidFill>
            <a:prstDash val="solid"/>
            <a:tailEnd type="triangle"/>
          </a:ln>
        </p:spPr>
      </p:sp>
      <p:sp>
        <p:nvSpPr>
          <p:cNvPr id="21" name="link-478"/>
          <p:cNvSpPr/>
          <p:nvPr/>
        </p:nvSpPr>
        <p:spPr>
          <a:xfrm flipV="1">
            <a:off x="3840480" y="3291840"/>
            <a:ext cx="393192" cy="228600"/>
          </a:xfrm>
          <a:prstGeom prst="line">
            <a:avLst/>
          </a:prstGeom>
          <a:noFill/>
          <a:ln w="15875">
            <a:solidFill>
              <a:schemeClr val="accent4"/>
            </a:solidFill>
            <a:prstDash val="dash"/>
            <a:tailEnd type="triangle"/>
          </a:ln>
        </p:spPr>
      </p:sp>
      <p:sp>
        <p:nvSpPr>
          <p:cNvPr id="22" name="box-479"/>
          <p:cNvSpPr/>
          <p:nvPr/>
        </p:nvSpPr>
        <p:spPr>
          <a:xfrm>
            <a:off x="8458200" y="1783080"/>
            <a:ext cx="3184855" cy="512064"/>
          </a:xfrm>
          <a:prstGeom prst="roundRect">
            <a:avLst>
              <a:gd name="adj" fmla="val 10714"/>
            </a:avLst>
          </a:prstGeom>
          <a:solidFill>
            <a:schemeClr val="bg1"/>
          </a:solidFill>
          <a:ln w="12700">
            <a:solidFill>
              <a:schemeClr val="accent1"/>
            </a:solidFill>
          </a:ln>
        </p:spPr>
        <p:txBody>
          <a:bodyPr wrap="square" lIns="114300" tIns="25400" rIns="76200" bIns="25400" rtlCol="0" anchor="ctr"/>
          <a:lstStyle/>
          <a:p>
            <a:pPr algn="l" indent="0" marL="0">
              <a:buNone/>
            </a:pPr>
            <a:r>
              <a:rPr lang="en-US" sz="1250" b="1" dirty="0">
                <a:solidFill>
                  <a:schemeClr val="tx1"/>
                </a:solidFill>
              </a:rPr>
              <a:t>DES store</a:t>
            </a:r>
            <a:endParaRPr lang="en-US" sz="1250" dirty="0"/>
          </a:p>
          <a:p>
            <a:pPr algn="l" indent="0" marL="0">
              <a:buNone/>
            </a:pPr>
            <a:r>
              <a:rPr lang="en-US" sz="1100" dirty="0">
                <a:solidFill>
                  <a:schemeClr val="tx2"/>
                </a:solidFill>
              </a:rPr>
              <a:t>vector.chunk_embeddings</a:t>
            </a:r>
            <a:endParaRPr lang="en-US" sz="1250" dirty="0"/>
          </a:p>
        </p:txBody>
      </p:sp>
      <p:sp>
        <p:nvSpPr>
          <p:cNvPr id="23" name="link-480"/>
          <p:cNvSpPr/>
          <p:nvPr/>
        </p:nvSpPr>
        <p:spPr>
          <a:xfrm flipV="1">
            <a:off x="7973568" y="2039112"/>
            <a:ext cx="438912" cy="18288"/>
          </a:xfrm>
          <a:prstGeom prst="line">
            <a:avLst/>
          </a:prstGeom>
          <a:noFill/>
          <a:ln w="15875">
            <a:solidFill>
              <a:schemeClr val="accent1"/>
            </a:solidFill>
            <a:prstDash val="solid"/>
            <a:tailEnd type="triangle"/>
          </a:ln>
        </p:spPr>
      </p:sp>
      <p:sp>
        <p:nvSpPr>
          <p:cNvPr id="24" name="box-481"/>
          <p:cNvSpPr/>
          <p:nvPr/>
        </p:nvSpPr>
        <p:spPr>
          <a:xfrm>
            <a:off x="8458200" y="2404872"/>
            <a:ext cx="3184855" cy="512064"/>
          </a:xfrm>
          <a:prstGeom prst="roundRect">
            <a:avLst>
              <a:gd name="adj" fmla="val 10714"/>
            </a:avLst>
          </a:prstGeom>
          <a:solidFill>
            <a:schemeClr val="bg1"/>
          </a:solidFill>
          <a:ln w="12700">
            <a:solidFill>
              <a:schemeClr val="accent1"/>
            </a:solidFill>
          </a:ln>
        </p:spPr>
        <p:txBody>
          <a:bodyPr wrap="square" lIns="114300" tIns="25400" rIns="76200" bIns="25400" rtlCol="0" anchor="ctr"/>
          <a:lstStyle/>
          <a:p>
            <a:pPr algn="l" indent="0" marL="0">
              <a:buNone/>
            </a:pPr>
            <a:r>
              <a:rPr lang="en-US" sz="1250" b="1" dirty="0">
                <a:solidFill>
                  <a:schemeClr val="tx1"/>
                </a:solidFill>
              </a:rPr>
              <a:t>Export &amp; API</a:t>
            </a:r>
            <a:endParaRPr lang="en-US" sz="1250" dirty="0"/>
          </a:p>
          <a:p>
            <a:pPr algn="l" indent="0" marL="0">
              <a:buNone/>
            </a:pPr>
            <a:r>
              <a:rPr lang="en-US" sz="1100" dirty="0">
                <a:solidFill>
                  <a:schemeClr val="tx2"/>
                </a:solidFill>
              </a:rPr>
              <a:t>vectors in the JSON bundle</a:t>
            </a:r>
            <a:endParaRPr lang="en-US" sz="1250" dirty="0"/>
          </a:p>
        </p:txBody>
      </p:sp>
      <p:sp>
        <p:nvSpPr>
          <p:cNvPr id="25" name="link-482"/>
          <p:cNvSpPr/>
          <p:nvPr/>
        </p:nvSpPr>
        <p:spPr>
          <a:xfrm>
            <a:off x="7973568" y="2660904"/>
            <a:ext cx="438912" cy="0"/>
          </a:xfrm>
          <a:prstGeom prst="line">
            <a:avLst/>
          </a:prstGeom>
          <a:noFill/>
          <a:ln w="15875">
            <a:solidFill>
              <a:schemeClr val="accent1"/>
            </a:solidFill>
            <a:prstDash val="solid"/>
            <a:tailEnd type="triangle"/>
          </a:ln>
        </p:spPr>
      </p:sp>
      <p:sp>
        <p:nvSpPr>
          <p:cNvPr id="26" name="box-483"/>
          <p:cNvSpPr/>
          <p:nvPr/>
        </p:nvSpPr>
        <p:spPr>
          <a:xfrm>
            <a:off x="8458200" y="3026664"/>
            <a:ext cx="3184855" cy="512064"/>
          </a:xfrm>
          <a:prstGeom prst="roundRect">
            <a:avLst>
              <a:gd name="adj" fmla="val 10714"/>
            </a:avLst>
          </a:prstGeom>
          <a:solidFill>
            <a:schemeClr val="bg1"/>
          </a:solidFill>
          <a:ln w="12700">
            <a:solidFill>
              <a:schemeClr val="accent1"/>
            </a:solidFill>
          </a:ln>
        </p:spPr>
        <p:txBody>
          <a:bodyPr wrap="square" lIns="114300" tIns="25400" rIns="76200" bIns="25400" rtlCol="0" anchor="ctr"/>
          <a:lstStyle/>
          <a:p>
            <a:pPr algn="l" indent="0" marL="0">
              <a:buNone/>
            </a:pPr>
            <a:r>
              <a:rPr lang="en-US" sz="1250" b="1" dirty="0">
                <a:solidFill>
                  <a:schemeClr val="tx1"/>
                </a:solidFill>
              </a:rPr>
              <a:t>Retrieval</a:t>
            </a:r>
            <a:endParaRPr lang="en-US" sz="1250" dirty="0"/>
          </a:p>
          <a:p>
            <a:pPr algn="l" indent="0" marL="0">
              <a:buNone/>
            </a:pPr>
            <a:r>
              <a:rPr lang="en-US" sz="1100" dirty="0">
                <a:solidFill>
                  <a:schemeClr val="tx2"/>
                </a:solidFill>
              </a:rPr>
              <a:t>query vectors, same model check</a:t>
            </a:r>
            <a:endParaRPr lang="en-US" sz="1250" dirty="0"/>
          </a:p>
        </p:txBody>
      </p:sp>
      <p:sp>
        <p:nvSpPr>
          <p:cNvPr id="27" name="link-484"/>
          <p:cNvSpPr/>
          <p:nvPr/>
        </p:nvSpPr>
        <p:spPr>
          <a:xfrm>
            <a:off x="7973568" y="3282696"/>
            <a:ext cx="438912" cy="0"/>
          </a:xfrm>
          <a:prstGeom prst="line">
            <a:avLst/>
          </a:prstGeom>
          <a:noFill/>
          <a:ln w="15875">
            <a:solidFill>
              <a:schemeClr val="accent1"/>
            </a:solidFill>
            <a:prstDash val="solid"/>
            <a:tailEnd type="triangle"/>
          </a:ln>
        </p:spPr>
      </p:sp>
      <p:sp>
        <p:nvSpPr>
          <p:cNvPr id="28" name="text-485"/>
          <p:cNvSpPr txBox="1"/>
          <p:nvPr/>
        </p:nvSpPr>
        <p:spPr>
          <a:xfrm>
            <a:off x="548640" y="3886200"/>
            <a:ext cx="11094415" cy="292608"/>
          </a:xfrm>
          <a:prstGeom prst="rect">
            <a:avLst/>
          </a:prstGeom>
          <a:noFill/>
          <a:ln/>
        </p:spPr>
        <p:txBody>
          <a:bodyPr wrap="square" lIns="0" tIns="0" rIns="0" bIns="0" rtlCol="0" anchor="t"/>
          <a:lstStyle/>
          <a:p>
            <a:pPr indent="0" marL="0">
              <a:buNone/>
            </a:pPr>
            <a:r>
              <a:rPr lang="en-US" sz="1250" i="1" dirty="0">
                <a:solidFill>
                  <a:schemeClr val="tx2"/>
                </a:solidFill>
              </a:rPr>
              <a:t>DES embeds a short Gemini context prefix plus the chunk text; the stored content stays unprefixed and the prefix is kept in chunk_context.</a:t>
            </a:r>
            <a:endParaRPr lang="en-US" sz="1250" dirty="0"/>
          </a:p>
        </p:txBody>
      </p:sp>
      <p:sp>
        <p:nvSpPr>
          <p:cNvPr id="29" name="card-486"/>
          <p:cNvSpPr/>
          <p:nvPr/>
        </p:nvSpPr>
        <p:spPr>
          <a:xfrm>
            <a:off x="548640" y="4343400"/>
            <a:ext cx="2567864" cy="1783080"/>
          </a:xfrm>
          <a:prstGeom prst="roundRect">
            <a:avLst>
              <a:gd name="adj" fmla="val 4103"/>
            </a:avLst>
          </a:prstGeom>
          <a:solidFill>
            <a:schemeClr val="bg2"/>
          </a:solidFill>
          <a:ln/>
        </p:spPr>
      </p:sp>
      <p:sp>
        <p:nvSpPr>
          <p:cNvPr id="30" name="chip-487"/>
          <p:cNvSpPr/>
          <p:nvPr/>
        </p:nvSpPr>
        <p:spPr>
          <a:xfrm>
            <a:off x="749808" y="4544568"/>
            <a:ext cx="365760" cy="365760"/>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31" name="block-488"/>
          <p:cNvSpPr txBox="1"/>
          <p:nvPr/>
        </p:nvSpPr>
        <p:spPr>
          <a:xfrm>
            <a:off x="749808" y="5029200"/>
            <a:ext cx="2165528" cy="1005840"/>
          </a:xfrm>
          <a:prstGeom prst="rect">
            <a:avLst/>
          </a:prstGeom>
          <a:noFill/>
          <a:ln/>
        </p:spPr>
        <p:txBody>
          <a:bodyPr wrap="square" lIns="0" tIns="0" rIns="0" bIns="0" rtlCol="0" anchor="t"/>
          <a:lstStyle/>
          <a:p>
            <a:pPr indent="0" marL="0">
              <a:spcAft>
                <a:spcPts val="400"/>
              </a:spcAft>
              <a:buNone/>
            </a:pPr>
            <a:r>
              <a:rPr lang="en-US" sz="1500" b="1" dirty="0">
                <a:solidFill>
                  <a:schemeClr val="tx1"/>
                </a:solidFill>
              </a:rPr>
              <a:t>Embedder</a:t>
            </a:r>
            <a:endParaRPr lang="en-US" sz="1500" dirty="0"/>
          </a:p>
          <a:p>
            <a:pPr indent="0" marL="0">
              <a:spcAft>
                <a:spcPts val="200"/>
              </a:spcAft>
              <a:buNone/>
            </a:pPr>
            <a:r>
              <a:rPr lang="en-US" sz="1250" dirty="0">
                <a:solidFill>
                  <a:schemeClr val="tx2"/>
                </a:solidFill>
              </a:rPr>
              <a:t>Every vector’s length is checked; a mismatch raises an error naming both sizes.</a:t>
            </a:r>
            <a:endParaRPr lang="en-US" sz="1500" dirty="0"/>
          </a:p>
        </p:txBody>
      </p:sp>
      <p:sp>
        <p:nvSpPr>
          <p:cNvPr id="32" name="card-489"/>
          <p:cNvSpPr/>
          <p:nvPr/>
        </p:nvSpPr>
        <p:spPr>
          <a:xfrm>
            <a:off x="3390824" y="4343400"/>
            <a:ext cx="2567864" cy="1783080"/>
          </a:xfrm>
          <a:prstGeom prst="roundRect">
            <a:avLst>
              <a:gd name="adj" fmla="val 4103"/>
            </a:avLst>
          </a:prstGeom>
          <a:solidFill>
            <a:schemeClr val="bg2"/>
          </a:solidFill>
          <a:ln/>
        </p:spPr>
      </p:sp>
      <p:sp>
        <p:nvSpPr>
          <p:cNvPr id="33" name="chip-490"/>
          <p:cNvSpPr/>
          <p:nvPr/>
        </p:nvSpPr>
        <p:spPr>
          <a:xfrm>
            <a:off x="3591992" y="4544568"/>
            <a:ext cx="365760" cy="365760"/>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34" name="block-491"/>
          <p:cNvSpPr txBox="1"/>
          <p:nvPr/>
        </p:nvSpPr>
        <p:spPr>
          <a:xfrm>
            <a:off x="3591992" y="5029200"/>
            <a:ext cx="2165528" cy="1005840"/>
          </a:xfrm>
          <a:prstGeom prst="rect">
            <a:avLst/>
          </a:prstGeom>
          <a:noFill/>
          <a:ln/>
        </p:spPr>
        <p:txBody>
          <a:bodyPr wrap="square" lIns="0" tIns="0" rIns="0" bIns="0" rtlCol="0" anchor="t"/>
          <a:lstStyle/>
          <a:p>
            <a:pPr indent="0" marL="0">
              <a:spcAft>
                <a:spcPts val="400"/>
              </a:spcAft>
              <a:buNone/>
            </a:pPr>
            <a:r>
              <a:rPr lang="en-US" sz="1500" b="1" dirty="0">
                <a:solidFill>
                  <a:schemeClr val="tx1"/>
                </a:solidFill>
              </a:rPr>
              <a:t>Startup</a:t>
            </a:r>
            <a:endParaRPr lang="en-US" sz="1500" dirty="0"/>
          </a:p>
          <a:p>
            <a:pPr indent="0" marL="0">
              <a:spcAft>
                <a:spcPts val="200"/>
              </a:spcAft>
              <a:buNone/>
            </a:pPr>
            <a:r>
              <a:rPr lang="en-US" sz="1250" dirty="0">
                <a:solidFill>
                  <a:schemeClr val="tx2"/>
                </a:solidFill>
              </a:rPr>
              <a:t>Bootstrap reads the column’s real width and logs the remediation.</a:t>
            </a:r>
            <a:endParaRPr lang="en-US" sz="1500" dirty="0"/>
          </a:p>
        </p:txBody>
      </p:sp>
      <p:sp>
        <p:nvSpPr>
          <p:cNvPr id="35" name="card-492"/>
          <p:cNvSpPr/>
          <p:nvPr/>
        </p:nvSpPr>
        <p:spPr>
          <a:xfrm>
            <a:off x="6233008" y="4343400"/>
            <a:ext cx="2567864" cy="1783080"/>
          </a:xfrm>
          <a:prstGeom prst="roundRect">
            <a:avLst>
              <a:gd name="adj" fmla="val 4103"/>
            </a:avLst>
          </a:prstGeom>
          <a:solidFill>
            <a:schemeClr val="bg2"/>
          </a:solidFill>
          <a:ln/>
        </p:spPr>
      </p:sp>
      <p:sp>
        <p:nvSpPr>
          <p:cNvPr id="36" name="chip-493"/>
          <p:cNvSpPr/>
          <p:nvPr/>
        </p:nvSpPr>
        <p:spPr>
          <a:xfrm>
            <a:off x="6434176" y="4544568"/>
            <a:ext cx="365760" cy="365760"/>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37" name="block-494"/>
          <p:cNvSpPr txBox="1"/>
          <p:nvPr/>
        </p:nvSpPr>
        <p:spPr>
          <a:xfrm>
            <a:off x="6434176" y="5029200"/>
            <a:ext cx="2165528" cy="1005840"/>
          </a:xfrm>
          <a:prstGeom prst="rect">
            <a:avLst/>
          </a:prstGeom>
          <a:noFill/>
          <a:ln/>
        </p:spPr>
        <p:txBody>
          <a:bodyPr wrap="square" lIns="0" tIns="0" rIns="0" bIns="0" rtlCol="0" anchor="t"/>
          <a:lstStyle/>
          <a:p>
            <a:pPr indent="0" marL="0">
              <a:spcAft>
                <a:spcPts val="400"/>
              </a:spcAft>
              <a:buNone/>
            </a:pPr>
            <a:r>
              <a:rPr lang="en-US" sz="1500" b="1" dirty="0">
                <a:solidFill>
                  <a:schemeClr val="tx1"/>
                </a:solidFill>
              </a:rPr>
              <a:t>Readiness</a:t>
            </a:r>
            <a:endParaRPr lang="en-US" sz="1500" dirty="0"/>
          </a:p>
          <a:p>
            <a:pPr indent="0" marL="0">
              <a:spcAft>
                <a:spcPts val="200"/>
              </a:spcAft>
              <a:buNone/>
            </a:pPr>
            <a:r>
              <a:rPr lang="en-US" sz="1250" dirty="0">
                <a:solidFill>
                  <a:schemeClr val="tx2"/>
                </a:solidFill>
              </a:rPr>
              <a:t>/api/readyz answers 503 while the stored dimension differs.</a:t>
            </a:r>
            <a:endParaRPr lang="en-US" sz="1500" dirty="0"/>
          </a:p>
        </p:txBody>
      </p:sp>
      <p:sp>
        <p:nvSpPr>
          <p:cNvPr id="38" name="card-495"/>
          <p:cNvSpPr/>
          <p:nvPr/>
        </p:nvSpPr>
        <p:spPr>
          <a:xfrm>
            <a:off x="9075191" y="4343400"/>
            <a:ext cx="2567864" cy="1783080"/>
          </a:xfrm>
          <a:prstGeom prst="roundRect">
            <a:avLst>
              <a:gd name="adj" fmla="val 4103"/>
            </a:avLst>
          </a:prstGeom>
          <a:solidFill>
            <a:schemeClr val="bg2"/>
          </a:solidFill>
          <a:ln/>
        </p:spPr>
      </p:sp>
      <p:sp>
        <p:nvSpPr>
          <p:cNvPr id="39" name="chip-496"/>
          <p:cNvSpPr/>
          <p:nvPr/>
        </p:nvSpPr>
        <p:spPr>
          <a:xfrm>
            <a:off x="9276359" y="4544568"/>
            <a:ext cx="365760" cy="365760"/>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40" name="block-497"/>
          <p:cNvSpPr txBox="1"/>
          <p:nvPr/>
        </p:nvSpPr>
        <p:spPr>
          <a:xfrm>
            <a:off x="9276359" y="5029200"/>
            <a:ext cx="2165528" cy="1005840"/>
          </a:xfrm>
          <a:prstGeom prst="rect">
            <a:avLst/>
          </a:prstGeom>
          <a:noFill/>
          <a:ln/>
        </p:spPr>
        <p:txBody>
          <a:bodyPr wrap="square" lIns="0" tIns="0" rIns="0" bIns="0" rtlCol="0" anchor="t"/>
          <a:lstStyle/>
          <a:p>
            <a:pPr indent="0" marL="0">
              <a:spcAft>
                <a:spcPts val="400"/>
              </a:spcAft>
              <a:buNone/>
            </a:pPr>
            <a:r>
              <a:rPr lang="en-US" sz="1500" b="1" dirty="0">
                <a:solidFill>
                  <a:schemeClr val="tx1"/>
                </a:solidFill>
              </a:rPr>
              <a:t>Postgres</a:t>
            </a:r>
            <a:endParaRPr lang="en-US" sz="1500" dirty="0"/>
          </a:p>
          <a:p>
            <a:pPr indent="0" marL="0">
              <a:spcAft>
                <a:spcPts val="200"/>
              </a:spcAft>
              <a:buNone/>
            </a:pPr>
            <a:r>
              <a:rPr lang="en-US" sz="1250" dirty="0">
                <a:solidFill>
                  <a:schemeClr val="tx2"/>
                </a:solidFill>
              </a:rPr>
              <a:t>vector(1024) is fixed-width, so a wrong-size insert is rejected.</a:t>
            </a:r>
            <a:endParaRPr lang="en-US" sz="1500" dirty="0"/>
          </a:p>
        </p:txBody>
      </p:sp>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tx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310896"/>
            <a:ext cx="8229600" cy="274320"/>
          </a:xfrm>
          <a:prstGeom prst="rect">
            <a:avLst/>
          </a:prstGeom>
          <a:noFill/>
          <a:ln/>
        </p:spPr>
        <p:txBody>
          <a:bodyPr wrap="square" lIns="0" tIns="0" rIns="0" bIns="0" rtlCol="0" anchor="ctr"/>
          <a:lstStyle/>
          <a:p>
            <a:pPr algn="l" indent="0" marL="0">
              <a:buNone/>
            </a:pPr>
            <a:r>
              <a:rPr lang="en-US" sz="1200" b="1" spc="150" kern="0" dirty="0">
                <a:solidFill>
                  <a:schemeClr val="accent1"/>
                </a:solidFill>
              </a:rPr>
              <a:t>DES · STORAGE</a:t>
            </a:r>
            <a:endParaRPr lang="en-US" sz="1200" dirty="0"/>
          </a:p>
        </p:txBody>
      </p:sp>
      <p:sp>
        <p:nvSpPr>
          <p:cNvPr id="3" name="Text 0"/>
          <p:cNvSpPr/>
          <p:nvPr>
            <p:ph idx="101" type="title" hasCustomPrompt="1"/>
          </p:nvPr>
        </p:nvSpPr>
        <p:spPr>
          <a:xfrm>
            <a:off x="548640" y="603504"/>
            <a:ext cx="11094415" cy="868680"/>
          </a:xfrm>
          <a:prstGeom prst="rect">
            <a:avLst/>
          </a:prstGeom>
          <a:noFill/>
          <a:ln/>
        </p:spPr>
        <p:txBody>
          <a:bodyPr wrap="square" lIns="0" tIns="0" rIns="0" bIns="0" rtlCol="0" anchor="t"/>
          <a:lstStyle/>
          <a:p>
            <a:pPr algn="l" indent="0" marL="0">
              <a:buNone/>
            </a:pPr>
            <a:r>
              <a:rPr lang="en-US" sz="2800" b="1" dirty="0">
                <a:solidFill>
                  <a:schemeClr val="tx1"/>
                </a:solidFill>
              </a:rPr>
              <a:t>Vectors, full-text and context in one retrieval-ready schema</a:t>
            </a:r>
            <a:endParaRPr lang="en-US" sz="2800" dirty="0"/>
          </a:p>
        </p:txBody>
      </p:sp>
      <p:sp>
        <p:nvSpPr>
          <p:cNvPr id="5" name="card-498"/>
          <p:cNvSpPr/>
          <p:nvPr/>
        </p:nvSpPr>
        <p:spPr>
          <a:xfrm>
            <a:off x="548640" y="1645920"/>
            <a:ext cx="3154680" cy="2286000"/>
          </a:xfrm>
          <a:prstGeom prst="roundRect">
            <a:avLst>
              <a:gd name="adj" fmla="val 3200"/>
            </a:avLst>
          </a:prstGeom>
          <a:solidFill>
            <a:schemeClr val="bg1"/>
          </a:solidFill>
          <a:ln w="9525">
            <a:solidFill>
              <a:schemeClr val="accent6"/>
            </a:solidFill>
            <a:prstDash val="solid"/>
          </a:ln>
          <a:effectLst>
            <a:outerShdw sx="100000" sy="100000" kx="0" ky="0" algn="bl" rotWithShape="0" blurRad="76200" dist="25400" dir="5400000">
              <a:srgbClr val="0B1F3A">
                <a:alpha val="12000"/>
              </a:srgbClr>
            </a:outerShdw>
          </a:effectLst>
        </p:spPr>
      </p:sp>
      <p:sp>
        <p:nvSpPr>
          <p:cNvPr id="6" name="tbl-head-499"/>
          <p:cNvSpPr/>
          <p:nvPr/>
        </p:nvSpPr>
        <p:spPr>
          <a:xfrm>
            <a:off x="548640" y="1645920"/>
            <a:ext cx="3154680" cy="402336"/>
          </a:xfrm>
          <a:prstGeom prst="roundRect">
            <a:avLst>
              <a:gd name="adj" fmla="val 18182"/>
            </a:avLst>
          </a:prstGeom>
          <a:solidFill>
            <a:schemeClr val="tx1"/>
          </a:solidFill>
          <a:ln/>
        </p:spPr>
        <p:txBody>
          <a:bodyPr wrap="square" lIns="152400" tIns="0" rIns="76200" bIns="0" rtlCol="0" anchor="ctr"/>
          <a:lstStyle/>
          <a:p>
            <a:pPr indent="0" marL="0">
              <a:buNone/>
            </a:pPr>
            <a:r>
              <a:rPr lang="en-US" sz="1350" b="1" dirty="0">
                <a:solidFill>
                  <a:schemeClr val="bg1"/>
                </a:solidFill>
              </a:rPr>
              <a:t>documents</a:t>
            </a:r>
            <a:endParaRPr lang="en-US" sz="1350" dirty="0"/>
          </a:p>
        </p:txBody>
      </p:sp>
      <p:sp>
        <p:nvSpPr>
          <p:cNvPr id="7" name="tbl-cols-500"/>
          <p:cNvSpPr txBox="1"/>
          <p:nvPr/>
        </p:nvSpPr>
        <p:spPr>
          <a:xfrm>
            <a:off x="713232" y="2176272"/>
            <a:ext cx="2825496" cy="1664208"/>
          </a:xfrm>
          <a:prstGeom prst="rect">
            <a:avLst/>
          </a:prstGeom>
          <a:noFill/>
          <a:ln/>
        </p:spPr>
        <p:txBody>
          <a:bodyPr wrap="square" lIns="0" tIns="0" rIns="0" bIns="0" rtlCol="0" anchor="t"/>
          <a:lstStyle/>
          <a:p>
            <a:pPr indent="0" marL="0">
              <a:spcAft>
                <a:spcPts val="450"/>
              </a:spcAft>
              <a:buNone/>
            </a:pPr>
            <a:r>
              <a:rPr lang="en-US" sz="1250" dirty="0">
                <a:solidFill>
                  <a:schemeClr val="tx1"/>
                </a:solidFill>
              </a:rPr>
              <a:t>id  UUID, primary key</a:t>
            </a:r>
            <a:endParaRPr lang="en-US" sz="1250" dirty="0"/>
          </a:p>
          <a:p>
            <a:pPr indent="0" marL="0">
              <a:spcAft>
                <a:spcPts val="450"/>
              </a:spcAft>
              <a:buNone/>
            </a:pPr>
            <a:r>
              <a:rPr lang="en-US" sz="1250" dirty="0">
                <a:solidFill>
                  <a:schemeClr val="tx1"/>
                </a:solidFill>
              </a:rPr>
              <a:t>name · sha256 · s3_uri</a:t>
            </a:r>
            <a:endParaRPr lang="en-US" sz="1250" dirty="0"/>
          </a:p>
          <a:p>
            <a:pPr indent="0" marL="0">
              <a:spcAft>
                <a:spcPts val="450"/>
              </a:spcAft>
              <a:buNone/>
            </a:pPr>
            <a:r>
              <a:rPr lang="en-US" sz="1250" dirty="0">
                <a:solidFill>
                  <a:schemeClr val="tx1"/>
                </a:solidFill>
              </a:rPr>
              <a:t>content_type · size_bytes</a:t>
            </a:r>
            <a:endParaRPr lang="en-US" sz="1250" dirty="0"/>
          </a:p>
          <a:p>
            <a:pPr indent="0" marL="0">
              <a:spcAft>
                <a:spcPts val="450"/>
              </a:spcAft>
              <a:buNone/>
            </a:pPr>
            <a:r>
              <a:rPr lang="en-US" sz="1250" dirty="0">
                <a:solidFill>
                  <a:schemeClr val="tx1"/>
                </a:solidFill>
              </a:rPr>
              <a:t>uploaded_at · deleted_at</a:t>
            </a:r>
            <a:endParaRPr lang="en-US" sz="1250" dirty="0"/>
          </a:p>
          <a:p>
            <a:pPr indent="0" marL="0">
              <a:spcAft>
                <a:spcPts val="450"/>
              </a:spcAft>
              <a:buNone/>
            </a:pPr>
            <a:r>
              <a:rPr lang="en-US" sz="1250" dirty="0">
                <a:solidFill>
                  <a:schemeClr val="tx1"/>
                </a:solidFill>
              </a:rPr>
              <a:t>extra  JSONB</a:t>
            </a:r>
            <a:endParaRPr lang="en-US" sz="1250" dirty="0"/>
          </a:p>
        </p:txBody>
      </p:sp>
      <p:sp>
        <p:nvSpPr>
          <p:cNvPr id="8" name="card-501"/>
          <p:cNvSpPr/>
          <p:nvPr/>
        </p:nvSpPr>
        <p:spPr>
          <a:xfrm>
            <a:off x="548640" y="4160520"/>
            <a:ext cx="3154680" cy="1645920"/>
          </a:xfrm>
          <a:prstGeom prst="roundRect">
            <a:avLst>
              <a:gd name="adj" fmla="val 4444"/>
            </a:avLst>
          </a:prstGeom>
          <a:solidFill>
            <a:schemeClr val="bg1"/>
          </a:solidFill>
          <a:ln w="9525">
            <a:solidFill>
              <a:schemeClr val="accent6"/>
            </a:solidFill>
            <a:prstDash val="solid"/>
          </a:ln>
          <a:effectLst>
            <a:outerShdw sx="100000" sy="100000" kx="0" ky="0" algn="bl" rotWithShape="0" blurRad="76200" dist="25400" dir="5400000">
              <a:srgbClr val="0B1F3A">
                <a:alpha val="12000"/>
              </a:srgbClr>
            </a:outerShdw>
          </a:effectLst>
        </p:spPr>
      </p:sp>
      <p:sp>
        <p:nvSpPr>
          <p:cNvPr id="9" name="tbl-head-502"/>
          <p:cNvSpPr/>
          <p:nvPr/>
        </p:nvSpPr>
        <p:spPr>
          <a:xfrm>
            <a:off x="548640" y="4160520"/>
            <a:ext cx="3154680" cy="402336"/>
          </a:xfrm>
          <a:prstGeom prst="roundRect">
            <a:avLst>
              <a:gd name="adj" fmla="val 18182"/>
            </a:avLst>
          </a:prstGeom>
          <a:solidFill>
            <a:schemeClr val="tx1"/>
          </a:solidFill>
          <a:ln/>
        </p:spPr>
        <p:txBody>
          <a:bodyPr wrap="square" lIns="152400" tIns="0" rIns="76200" bIns="0" rtlCol="0" anchor="ctr"/>
          <a:lstStyle/>
          <a:p>
            <a:pPr indent="0" marL="0">
              <a:buNone/>
            </a:pPr>
            <a:r>
              <a:rPr lang="en-US" sz="1350" b="1" dirty="0">
                <a:solidFill>
                  <a:schemeClr val="bg1"/>
                </a:solidFill>
              </a:rPr>
              <a:t>chunk_context</a:t>
            </a:r>
            <a:endParaRPr lang="en-US" sz="1350" dirty="0"/>
          </a:p>
        </p:txBody>
      </p:sp>
      <p:sp>
        <p:nvSpPr>
          <p:cNvPr id="10" name="tbl-cols-503"/>
          <p:cNvSpPr txBox="1"/>
          <p:nvPr/>
        </p:nvSpPr>
        <p:spPr>
          <a:xfrm>
            <a:off x="713232" y="4690872"/>
            <a:ext cx="2825496" cy="1024128"/>
          </a:xfrm>
          <a:prstGeom prst="rect">
            <a:avLst/>
          </a:prstGeom>
          <a:noFill/>
          <a:ln/>
        </p:spPr>
        <p:txBody>
          <a:bodyPr wrap="square" lIns="0" tIns="0" rIns="0" bIns="0" rtlCol="0" anchor="t"/>
          <a:lstStyle/>
          <a:p>
            <a:pPr indent="0" marL="0">
              <a:spcAft>
                <a:spcPts val="450"/>
              </a:spcAft>
              <a:buNone/>
            </a:pPr>
            <a:r>
              <a:rPr lang="en-US" sz="1250" dirty="0">
                <a:solidFill>
                  <a:schemeClr val="tx1"/>
                </a:solidFill>
              </a:rPr>
              <a:t>chunk_id  → chunk_embeddings.id</a:t>
            </a:r>
            <a:endParaRPr lang="en-US" sz="1250" dirty="0"/>
          </a:p>
          <a:p>
            <a:pPr indent="0" marL="0">
              <a:spcAft>
                <a:spcPts val="450"/>
              </a:spcAft>
              <a:buNone/>
            </a:pPr>
            <a:r>
              <a:rPr lang="en-US" sz="1250" dirty="0">
                <a:solidFill>
                  <a:schemeClr val="tx1"/>
                </a:solidFill>
              </a:rPr>
              <a:t>context_text</a:t>
            </a:r>
            <a:endParaRPr lang="en-US" sz="1250" dirty="0"/>
          </a:p>
          <a:p>
            <a:pPr indent="0" marL="0">
              <a:spcAft>
                <a:spcPts val="450"/>
              </a:spcAft>
              <a:buNone/>
            </a:pPr>
            <a:r>
              <a:rPr lang="en-US" sz="1250" dirty="0">
                <a:solidFill>
                  <a:schemeClr val="tx1"/>
                </a:solidFill>
              </a:rPr>
              <a:t>context_embedding  vector(1024)</a:t>
            </a:r>
            <a:endParaRPr lang="en-US" sz="1250" dirty="0"/>
          </a:p>
          <a:p>
            <a:pPr indent="0" marL="0">
              <a:spcAft>
                <a:spcPts val="450"/>
              </a:spcAft>
              <a:buNone/>
            </a:pPr>
            <a:r>
              <a:rPr lang="en-US" sz="1250" dirty="0">
                <a:solidFill>
                  <a:schemeClr val="tx1"/>
                </a:solidFill>
              </a:rPr>
              <a:t>generator_model · generated_at</a:t>
            </a:r>
            <a:endParaRPr lang="en-US" sz="1250" dirty="0"/>
          </a:p>
        </p:txBody>
      </p:sp>
      <p:sp>
        <p:nvSpPr>
          <p:cNvPr id="11" name="card-504"/>
          <p:cNvSpPr/>
          <p:nvPr/>
        </p:nvSpPr>
        <p:spPr>
          <a:xfrm>
            <a:off x="3977640" y="1645920"/>
            <a:ext cx="3429000" cy="4160520"/>
          </a:xfrm>
          <a:prstGeom prst="roundRect">
            <a:avLst>
              <a:gd name="adj" fmla="val 2133"/>
            </a:avLst>
          </a:prstGeom>
          <a:solidFill>
            <a:schemeClr val="bg1"/>
          </a:solidFill>
          <a:ln w="9525">
            <a:solidFill>
              <a:schemeClr val="accent6"/>
            </a:solidFill>
            <a:prstDash val="solid"/>
          </a:ln>
          <a:effectLst>
            <a:outerShdw sx="100000" sy="100000" kx="0" ky="0" algn="bl" rotWithShape="0" blurRad="76200" dist="25400" dir="5400000">
              <a:srgbClr val="0B1F3A">
                <a:alpha val="12000"/>
              </a:srgbClr>
            </a:outerShdw>
          </a:effectLst>
        </p:spPr>
      </p:sp>
      <p:sp>
        <p:nvSpPr>
          <p:cNvPr id="12" name="tbl-head-505"/>
          <p:cNvSpPr/>
          <p:nvPr/>
        </p:nvSpPr>
        <p:spPr>
          <a:xfrm>
            <a:off x="3977640" y="1645920"/>
            <a:ext cx="3429000" cy="402336"/>
          </a:xfrm>
          <a:prstGeom prst="roundRect">
            <a:avLst>
              <a:gd name="adj" fmla="val 18182"/>
            </a:avLst>
          </a:prstGeom>
          <a:solidFill>
            <a:schemeClr val="tx1"/>
          </a:solidFill>
          <a:ln/>
        </p:spPr>
        <p:txBody>
          <a:bodyPr wrap="square" lIns="152400" tIns="0" rIns="76200" bIns="0" rtlCol="0" anchor="ctr"/>
          <a:lstStyle/>
          <a:p>
            <a:pPr indent="0" marL="0">
              <a:buNone/>
            </a:pPr>
            <a:r>
              <a:rPr lang="en-US" sz="1350" b="1" dirty="0">
                <a:solidFill>
                  <a:schemeClr val="bg1"/>
                </a:solidFill>
              </a:rPr>
              <a:t>chunk_embeddings</a:t>
            </a:r>
            <a:endParaRPr lang="en-US" sz="1350" dirty="0"/>
          </a:p>
        </p:txBody>
      </p:sp>
      <p:sp>
        <p:nvSpPr>
          <p:cNvPr id="13" name="tbl-cols-506"/>
          <p:cNvSpPr txBox="1"/>
          <p:nvPr/>
        </p:nvSpPr>
        <p:spPr>
          <a:xfrm>
            <a:off x="4142232" y="2176272"/>
            <a:ext cx="3099816" cy="3538728"/>
          </a:xfrm>
          <a:prstGeom prst="rect">
            <a:avLst/>
          </a:prstGeom>
          <a:noFill/>
          <a:ln/>
        </p:spPr>
        <p:txBody>
          <a:bodyPr wrap="square" lIns="0" tIns="0" rIns="0" bIns="0" rtlCol="0" anchor="t"/>
          <a:lstStyle/>
          <a:p>
            <a:pPr indent="0" marL="0">
              <a:spcAft>
                <a:spcPts val="450"/>
              </a:spcAft>
              <a:buNone/>
            </a:pPr>
            <a:r>
              <a:rPr lang="en-US" sz="1250" dirty="0">
                <a:solidFill>
                  <a:schemeClr val="tx1"/>
                </a:solidFill>
              </a:rPr>
              <a:t>id  BIGSERIAL</a:t>
            </a:r>
            <a:endParaRPr lang="en-US" sz="1250" dirty="0"/>
          </a:p>
          <a:p>
            <a:pPr indent="0" marL="0">
              <a:spcAft>
                <a:spcPts val="450"/>
              </a:spcAft>
              <a:buNone/>
            </a:pPr>
            <a:r>
              <a:rPr lang="en-US" sz="1250" dirty="0">
                <a:solidFill>
                  <a:schemeClr val="tx1"/>
                </a:solidFill>
              </a:rPr>
              <a:t>content</a:t>
            </a:r>
            <a:endParaRPr lang="en-US" sz="1250" dirty="0"/>
          </a:p>
          <a:p>
            <a:pPr indent="0" marL="0">
              <a:spcAft>
                <a:spcPts val="450"/>
              </a:spcAft>
              <a:buNone/>
            </a:pPr>
            <a:r>
              <a:rPr lang="en-US" sz="1250" dirty="0">
                <a:solidFill>
                  <a:schemeClr val="tx1"/>
                </a:solidFill>
              </a:rPr>
              <a:t>"chunkUUID"  unique</a:t>
            </a:r>
            <a:endParaRPr lang="en-US" sz="1250" dirty="0"/>
          </a:p>
          <a:p>
            <a:pPr indent="0" marL="0">
              <a:spcAft>
                <a:spcPts val="450"/>
              </a:spcAft>
              <a:buNone/>
            </a:pPr>
            <a:r>
              <a:rPr lang="en-US" sz="1250" dirty="0">
                <a:solidFill>
                  <a:schemeClr val="tx1"/>
                </a:solidFill>
              </a:rPr>
              <a:t>"pageNumber" · "tokenCount" · "chunkType"</a:t>
            </a:r>
            <a:endParaRPr lang="en-US" sz="1250" dirty="0"/>
          </a:p>
          <a:p>
            <a:pPr indent="0" marL="0">
              <a:spcAft>
                <a:spcPts val="450"/>
              </a:spcAft>
              <a:buNone/>
            </a:pPr>
            <a:r>
              <a:rPr lang="en-US" sz="1250" dirty="0">
                <a:solidFill>
                  <a:schemeClr val="tx1"/>
                </a:solidFill>
              </a:rPr>
              <a:t>"chunkBoundingBox"  per-page quads</a:t>
            </a:r>
            <a:endParaRPr lang="en-US" sz="1250" dirty="0"/>
          </a:p>
          <a:p>
            <a:pPr indent="0" marL="0">
              <a:spcAft>
                <a:spcPts val="450"/>
              </a:spcAft>
              <a:buNone/>
            </a:pPr>
            <a:r>
              <a:rPr lang="en-US" sz="1250" dirty="0">
                <a:solidFill>
                  <a:schemeClr val="tx1"/>
                </a:solidFill>
              </a:rPr>
              <a:t>"documentName" · "jobId" (run id)</a:t>
            </a:r>
            <a:endParaRPr lang="en-US" sz="1250" dirty="0"/>
          </a:p>
          <a:p>
            <a:pPr indent="0" marL="0">
              <a:spcAft>
                <a:spcPts val="450"/>
              </a:spcAft>
              <a:buNone/>
            </a:pPr>
            <a:r>
              <a:rPr lang="en-US" sz="1250" dirty="0">
                <a:solidFill>
                  <a:schemeClr val="tx1"/>
                </a:solidFill>
              </a:rPr>
              <a:t>document_id  → documents.id</a:t>
            </a:r>
            <a:endParaRPr lang="en-US" sz="1250" dirty="0"/>
          </a:p>
          <a:p>
            <a:pPr indent="0" marL="0">
              <a:spcAft>
                <a:spcPts val="450"/>
              </a:spcAft>
              <a:buNone/>
            </a:pPr>
            <a:r>
              <a:rPr lang="en-US" sz="1250" b="1" dirty="0">
                <a:solidFill>
                  <a:schemeClr val="accent1"/>
                </a:solidFill>
              </a:rPr>
              <a:t>embedding vector(1024)  HNSW cosine</a:t>
            </a:r>
            <a:endParaRPr lang="en-US" sz="1250" dirty="0"/>
          </a:p>
          <a:p>
            <a:pPr indent="0" marL="0">
              <a:spcAft>
                <a:spcPts val="450"/>
              </a:spcAft>
              <a:buNone/>
            </a:pPr>
            <a:r>
              <a:rPr lang="en-US" sz="1250" b="1" dirty="0">
                <a:solidFill>
                  <a:schemeClr val="accent1"/>
                </a:solidFill>
              </a:rPr>
              <a:t>content_tsv  generated, GIN</a:t>
            </a:r>
            <a:endParaRPr lang="en-US" sz="1250" dirty="0"/>
          </a:p>
          <a:p>
            <a:pPr indent="0" marL="0">
              <a:spcAft>
                <a:spcPts val="450"/>
              </a:spcAft>
              <a:buNone/>
            </a:pPr>
            <a:r>
              <a:rPr lang="en-US" sz="1250" dirty="0">
                <a:solidFill>
                  <a:schemeClr val="tx1"/>
                </a:solidFill>
              </a:rPr>
              <a:t>deleted_at  soft delete</a:t>
            </a:r>
            <a:endParaRPr lang="en-US" sz="1250" dirty="0"/>
          </a:p>
          <a:p>
            <a:pPr indent="0" marL="0">
              <a:spcAft>
                <a:spcPts val="450"/>
              </a:spcAft>
              <a:buNone/>
            </a:pPr>
            <a:r>
              <a:rPr lang="en-US" sz="1250" dirty="0">
                <a:solidFill>
                  <a:schemeClr val="tx1"/>
                </a:solidFill>
              </a:rPr>
              <a:t>meta  JSONB, additive metadata</a:t>
            </a:r>
            <a:endParaRPr lang="en-US" sz="1250" dirty="0"/>
          </a:p>
        </p:txBody>
      </p:sp>
      <p:sp>
        <p:nvSpPr>
          <p:cNvPr id="14" name="link-507"/>
          <p:cNvSpPr/>
          <p:nvPr/>
        </p:nvSpPr>
        <p:spPr>
          <a:xfrm flipH="1">
            <a:off x="3739896" y="3749040"/>
            <a:ext cx="219456" cy="0"/>
          </a:xfrm>
          <a:prstGeom prst="line">
            <a:avLst/>
          </a:prstGeom>
          <a:noFill/>
          <a:ln w="15875">
            <a:solidFill>
              <a:schemeClr val="tx2"/>
            </a:solidFill>
            <a:prstDash val="solid"/>
            <a:tailEnd type="triangle"/>
          </a:ln>
        </p:spPr>
      </p:sp>
      <p:sp>
        <p:nvSpPr>
          <p:cNvPr id="15" name="link-508"/>
          <p:cNvSpPr/>
          <p:nvPr/>
        </p:nvSpPr>
        <p:spPr>
          <a:xfrm>
            <a:off x="3739896" y="4782312"/>
            <a:ext cx="219456" cy="0"/>
          </a:xfrm>
          <a:prstGeom prst="line">
            <a:avLst/>
          </a:prstGeom>
          <a:noFill/>
          <a:ln w="15875">
            <a:solidFill>
              <a:schemeClr val="tx2"/>
            </a:solidFill>
            <a:prstDash val="solid"/>
            <a:tailEnd type="triangle"/>
          </a:ln>
        </p:spPr>
      </p:sp>
      <p:sp>
        <p:nvSpPr>
          <p:cNvPr id="16" name="text-509"/>
          <p:cNvSpPr txBox="1"/>
          <p:nvPr/>
        </p:nvSpPr>
        <p:spPr>
          <a:xfrm>
            <a:off x="4142232" y="5422392"/>
            <a:ext cx="3099816" cy="274320"/>
          </a:xfrm>
          <a:prstGeom prst="rect">
            <a:avLst/>
          </a:prstGeom>
          <a:noFill/>
          <a:ln/>
        </p:spPr>
        <p:txBody>
          <a:bodyPr wrap="square" lIns="0" tIns="0" rIns="0" bIns="0" rtlCol="0" anchor="t"/>
          <a:lstStyle/>
          <a:p>
            <a:pPr indent="0" marL="0">
              <a:buNone/>
            </a:pPr>
            <a:r>
              <a:rPr lang="en-US" sz="1100" i="1" dirty="0">
                <a:solidFill>
                  <a:schemeClr val="tx2"/>
                </a:solidFill>
              </a:rPr>
              <a:t>Teal rows: the two indexes retrieval queries.</a:t>
            </a:r>
            <a:endParaRPr lang="en-US" sz="1100" dirty="0"/>
          </a:p>
        </p:txBody>
      </p:sp>
      <p:sp>
        <p:nvSpPr>
          <p:cNvPr id="17" name="text-510"/>
          <p:cNvSpPr txBox="1"/>
          <p:nvPr/>
        </p:nvSpPr>
        <p:spPr>
          <a:xfrm>
            <a:off x="7818120" y="1645920"/>
            <a:ext cx="3824935" cy="329184"/>
          </a:xfrm>
          <a:prstGeom prst="rect">
            <a:avLst/>
          </a:prstGeom>
          <a:noFill/>
          <a:ln/>
        </p:spPr>
        <p:txBody>
          <a:bodyPr wrap="square" lIns="0" tIns="0" rIns="0" bIns="0" rtlCol="0" anchor="t"/>
          <a:lstStyle/>
          <a:p>
            <a:pPr indent="0" marL="0">
              <a:buNone/>
            </a:pPr>
            <a:r>
              <a:rPr lang="en-US" sz="1600" b="1" dirty="0">
                <a:solidFill>
                  <a:schemeClr val="tx1"/>
                </a:solidFill>
              </a:rPr>
              <a:t>What “retrieval-compatible” means</a:t>
            </a:r>
            <a:endParaRPr lang="en-US" sz="1600" dirty="0"/>
          </a:p>
        </p:txBody>
      </p:sp>
      <p:sp>
        <p:nvSpPr>
          <p:cNvPr id="18" name="badge-511"/>
          <p:cNvSpPr/>
          <p:nvPr/>
        </p:nvSpPr>
        <p:spPr>
          <a:xfrm>
            <a:off x="7818120" y="2121408"/>
            <a:ext cx="420624" cy="420624"/>
          </a:xfrm>
          <a:prstGeom prst="ellipse">
            <a:avLst/>
          </a:prstGeom>
          <a:solidFill>
            <a:schemeClr val="accent1"/>
          </a:solidFill>
          <a:ln/>
        </p:spPr>
      </p:sp>
      <p:pic>
        <p:nvPicPr>
          <p:cNvPr id="19" name="icon-TbColumns-512" descr="Columns">    </p:cNvPr>
          <p:cNvPicPr>
            <a:picLocks noChangeAspect="1"/>
          </p:cNvPicPr>
          <p:nvPr/>
        </p:nvPicPr>
        <p:blipFill>
          <a:blip r:embed="rId1"/>
          <a:stretch>
            <a:fillRect/>
          </a:stretch>
        </p:blipFill>
        <p:spPr>
          <a:xfrm>
            <a:off x="7910657" y="2213945"/>
            <a:ext cx="235549" cy="235549"/>
          </a:xfrm>
          <a:prstGeom prst="rect">
            <a:avLst/>
          </a:prstGeom>
        </p:spPr>
      </p:pic>
      <p:sp>
        <p:nvSpPr>
          <p:cNvPr id="20" name="text-513"/>
          <p:cNvSpPr txBox="1"/>
          <p:nvPr/>
        </p:nvSpPr>
        <p:spPr>
          <a:xfrm>
            <a:off x="8385048" y="2084832"/>
            <a:ext cx="3258007" cy="731520"/>
          </a:xfrm>
          <a:prstGeom prst="rect">
            <a:avLst/>
          </a:prstGeom>
          <a:noFill/>
          <a:ln/>
        </p:spPr>
        <p:txBody>
          <a:bodyPr wrap="square" lIns="0" tIns="0" rIns="0" bIns="0" rtlCol="0" anchor="t"/>
          <a:lstStyle/>
          <a:p>
            <a:pPr indent="0" marL="0">
              <a:buNone/>
            </a:pPr>
            <a:r>
              <a:rPr lang="en-US" sz="1300" dirty="0">
                <a:solidFill>
                  <a:schemeClr val="tx1"/>
                </a:solidFill>
              </a:rPr>
              <a:t>Same tables, columns and types retrieval reads, camelCase names quoted.</a:t>
            </a:r>
            <a:endParaRPr lang="en-US" sz="1300" dirty="0"/>
          </a:p>
        </p:txBody>
      </p:sp>
      <p:sp>
        <p:nvSpPr>
          <p:cNvPr id="21" name="badge-514"/>
          <p:cNvSpPr/>
          <p:nvPr/>
        </p:nvSpPr>
        <p:spPr>
          <a:xfrm>
            <a:off x="7818120" y="2907792"/>
            <a:ext cx="420624" cy="420624"/>
          </a:xfrm>
          <a:prstGeom prst="ellipse">
            <a:avLst/>
          </a:prstGeom>
          <a:solidFill>
            <a:schemeClr val="accent1"/>
          </a:solidFill>
          <a:ln/>
        </p:spPr>
      </p:sp>
      <p:pic>
        <p:nvPicPr>
          <p:cNvPr id="22" name="icon-TbTestPipe-515" descr="TestPipe">    </p:cNvPr>
          <p:cNvPicPr>
            <a:picLocks noChangeAspect="1"/>
          </p:cNvPicPr>
          <p:nvPr/>
        </p:nvPicPr>
        <p:blipFill>
          <a:blip r:embed="rId2"/>
          <a:stretch>
            <a:fillRect/>
          </a:stretch>
        </p:blipFill>
        <p:spPr>
          <a:xfrm>
            <a:off x="7910657" y="3000329"/>
            <a:ext cx="235549" cy="235549"/>
          </a:xfrm>
          <a:prstGeom prst="rect">
            <a:avLst/>
          </a:prstGeom>
        </p:spPr>
      </p:pic>
      <p:sp>
        <p:nvSpPr>
          <p:cNvPr id="23" name="text-516"/>
          <p:cNvSpPr txBox="1"/>
          <p:nvPr/>
        </p:nvSpPr>
        <p:spPr>
          <a:xfrm>
            <a:off x="8385048" y="2871216"/>
            <a:ext cx="3258007" cy="731520"/>
          </a:xfrm>
          <a:prstGeom prst="rect">
            <a:avLst/>
          </a:prstGeom>
          <a:noFill/>
          <a:ln/>
        </p:spPr>
        <p:txBody>
          <a:bodyPr wrap="square" lIns="0" tIns="0" rIns="0" bIns="0" rtlCol="0" anchor="t"/>
          <a:lstStyle/>
          <a:p>
            <a:pPr indent="0" marL="0">
              <a:buNone/>
            </a:pPr>
            <a:r>
              <a:rPr lang="en-US" sz="1300" dirty="0">
                <a:solidFill>
                  <a:schemeClr val="tx1"/>
                </a:solidFill>
              </a:rPr>
              <a:t>Retrieval tests its read contract against DES’s DDL and re-derives it to catch drift.</a:t>
            </a:r>
            <a:endParaRPr lang="en-US" sz="1300" dirty="0"/>
          </a:p>
        </p:txBody>
      </p:sp>
      <p:sp>
        <p:nvSpPr>
          <p:cNvPr id="24" name="badge-517"/>
          <p:cNvSpPr/>
          <p:nvPr/>
        </p:nvSpPr>
        <p:spPr>
          <a:xfrm>
            <a:off x="7818120" y="3694176"/>
            <a:ext cx="420624" cy="420624"/>
          </a:xfrm>
          <a:prstGeom prst="ellipse">
            <a:avLst/>
          </a:prstGeom>
          <a:solidFill>
            <a:schemeClr val="accent1"/>
          </a:solidFill>
          <a:ln/>
        </p:spPr>
      </p:sp>
      <p:pic>
        <p:nvPicPr>
          <p:cNvPr id="25" name="icon-TbArrowsShuffle-518" descr="ArrowsShuffle">    </p:cNvPr>
          <p:cNvPicPr>
            <a:picLocks noChangeAspect="1"/>
          </p:cNvPicPr>
          <p:nvPr/>
        </p:nvPicPr>
        <p:blipFill>
          <a:blip r:embed="rId3"/>
          <a:stretch>
            <a:fillRect/>
          </a:stretch>
        </p:blipFill>
        <p:spPr>
          <a:xfrm>
            <a:off x="7910657" y="3786713"/>
            <a:ext cx="235549" cy="235549"/>
          </a:xfrm>
          <a:prstGeom prst="rect">
            <a:avLst/>
          </a:prstGeom>
        </p:spPr>
      </p:pic>
      <p:sp>
        <p:nvSpPr>
          <p:cNvPr id="26" name="text-519"/>
          <p:cNvSpPr txBox="1"/>
          <p:nvPr/>
        </p:nvSpPr>
        <p:spPr>
          <a:xfrm>
            <a:off x="8385048" y="3657600"/>
            <a:ext cx="3258007" cy="731520"/>
          </a:xfrm>
          <a:prstGeom prst="rect">
            <a:avLst/>
          </a:prstGeom>
          <a:noFill/>
          <a:ln/>
        </p:spPr>
        <p:txBody>
          <a:bodyPr wrap="square" lIns="0" tIns="0" rIns="0" bIns="0" rtlCol="0" anchor="t"/>
          <a:lstStyle/>
          <a:p>
            <a:pPr indent="0" marL="0">
              <a:buNone/>
            </a:pPr>
            <a:r>
              <a:rPr lang="en-US" sz="1300" dirty="0">
                <a:solidFill>
                  <a:schemeClr val="tx1"/>
                </a:solidFill>
              </a:rPr>
              <a:t>Hybrid-ready: HNSW cosine for dense search, generated English tsvector + GIN for lexical.</a:t>
            </a:r>
            <a:endParaRPr lang="en-US" sz="1300" dirty="0"/>
          </a:p>
        </p:txBody>
      </p:sp>
      <p:sp>
        <p:nvSpPr>
          <p:cNvPr id="27" name="badge-520"/>
          <p:cNvSpPr/>
          <p:nvPr/>
        </p:nvSpPr>
        <p:spPr>
          <a:xfrm>
            <a:off x="7818120" y="4480560"/>
            <a:ext cx="420624" cy="420624"/>
          </a:xfrm>
          <a:prstGeom prst="ellipse">
            <a:avLst/>
          </a:prstGeom>
          <a:solidFill>
            <a:schemeClr val="accent1"/>
          </a:solidFill>
          <a:ln/>
        </p:spPr>
      </p:sp>
      <p:pic>
        <p:nvPicPr>
          <p:cNvPr id="28" name="icon-TbTrash-521" descr="Trash">    </p:cNvPr>
          <p:cNvPicPr>
            <a:picLocks noChangeAspect="1"/>
          </p:cNvPicPr>
          <p:nvPr/>
        </p:nvPicPr>
        <p:blipFill>
          <a:blip r:embed="rId4"/>
          <a:stretch>
            <a:fillRect/>
          </a:stretch>
        </p:blipFill>
        <p:spPr>
          <a:xfrm>
            <a:off x="7910657" y="4573097"/>
            <a:ext cx="235549" cy="235549"/>
          </a:xfrm>
          <a:prstGeom prst="rect">
            <a:avLst/>
          </a:prstGeom>
        </p:spPr>
      </p:pic>
      <p:sp>
        <p:nvSpPr>
          <p:cNvPr id="29" name="text-522"/>
          <p:cNvSpPr txBox="1"/>
          <p:nvPr/>
        </p:nvSpPr>
        <p:spPr>
          <a:xfrm>
            <a:off x="8385048" y="4443984"/>
            <a:ext cx="3258007" cy="731520"/>
          </a:xfrm>
          <a:prstGeom prst="rect">
            <a:avLst/>
          </a:prstGeom>
          <a:noFill/>
          <a:ln/>
        </p:spPr>
        <p:txBody>
          <a:bodyPr wrap="square" lIns="0" tIns="0" rIns="0" bIns="0" rtlCol="0" anchor="t"/>
          <a:lstStyle/>
          <a:p>
            <a:pPr indent="0" marL="0">
              <a:buNone/>
            </a:pPr>
            <a:r>
              <a:rPr lang="en-US" sz="1300" dirty="0">
                <a:solidFill>
                  <a:schemeClr val="tx1"/>
                </a:solidFill>
              </a:rPr>
              <a:t>Soft delete everywhere; a chunk without a vector stays findable by full text.</a:t>
            </a:r>
            <a:endParaRPr lang="en-US" sz="1300" dirty="0"/>
          </a:p>
        </p:txBody>
      </p:sp>
      <p:sp>
        <p:nvSpPr>
          <p:cNvPr id="30" name="badge-523"/>
          <p:cNvSpPr/>
          <p:nvPr/>
        </p:nvSpPr>
        <p:spPr>
          <a:xfrm>
            <a:off x="7818120" y="5266944"/>
            <a:ext cx="420624" cy="420624"/>
          </a:xfrm>
          <a:prstGeom prst="ellipse">
            <a:avLst/>
          </a:prstGeom>
          <a:solidFill>
            <a:schemeClr val="accent1"/>
          </a:solidFill>
          <a:ln/>
        </p:spPr>
      </p:sp>
      <p:pic>
        <p:nvPicPr>
          <p:cNvPr id="31" name="icon-TbHeartbeat-524" descr="Heartbeat">    </p:cNvPr>
          <p:cNvPicPr>
            <a:picLocks noChangeAspect="1"/>
          </p:cNvPicPr>
          <p:nvPr/>
        </p:nvPicPr>
        <p:blipFill>
          <a:blip r:embed="rId5"/>
          <a:stretch>
            <a:fillRect/>
          </a:stretch>
        </p:blipFill>
        <p:spPr>
          <a:xfrm>
            <a:off x="7910657" y="5359481"/>
            <a:ext cx="235549" cy="235549"/>
          </a:xfrm>
          <a:prstGeom prst="rect">
            <a:avLst/>
          </a:prstGeom>
        </p:spPr>
      </p:pic>
      <p:sp>
        <p:nvSpPr>
          <p:cNvPr id="32" name="text-525"/>
          <p:cNvSpPr txBox="1"/>
          <p:nvPr/>
        </p:nvSpPr>
        <p:spPr>
          <a:xfrm>
            <a:off x="8385048" y="5230368"/>
            <a:ext cx="3258007" cy="731520"/>
          </a:xfrm>
          <a:prstGeom prst="rect">
            <a:avLst/>
          </a:prstGeom>
          <a:noFill/>
          <a:ln/>
        </p:spPr>
        <p:txBody>
          <a:bodyPr wrap="square" lIns="0" tIns="0" rIns="0" bIns="0" rtlCol="0" anchor="t"/>
          <a:lstStyle/>
          <a:p>
            <a:pPr indent="0" marL="0">
              <a:buNone/>
            </a:pPr>
            <a:r>
              <a:rPr lang="en-US" sz="1300" dirty="0">
                <a:solidFill>
                  <a:schemeClr val="tx1"/>
                </a:solidFill>
              </a:rPr>
              <a:t>/api/readyz reports both schemas, so a mismatch never ingests silently.</a:t>
            </a:r>
            <a:endParaRPr lang="en-US" sz="1300" dirty="0"/>
          </a:p>
        </p:txBody>
      </p:sp>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tx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310896"/>
            <a:ext cx="8229600" cy="274320"/>
          </a:xfrm>
          <a:prstGeom prst="rect">
            <a:avLst/>
          </a:prstGeom>
          <a:noFill/>
          <a:ln/>
        </p:spPr>
        <p:txBody>
          <a:bodyPr wrap="square" lIns="0" tIns="0" rIns="0" bIns="0" rtlCol="0" anchor="ctr"/>
          <a:lstStyle/>
          <a:p>
            <a:pPr algn="l" indent="0" marL="0">
              <a:buNone/>
            </a:pPr>
            <a:r>
              <a:rPr lang="en-US" sz="1200" b="1" spc="150" kern="0" dirty="0">
                <a:solidFill>
                  <a:schemeClr val="accent1"/>
                </a:solidFill>
              </a:rPr>
              <a:t>DES · CONSOLE AND API</a:t>
            </a:r>
            <a:endParaRPr lang="en-US" sz="1200" dirty="0"/>
          </a:p>
        </p:txBody>
      </p:sp>
      <p:sp>
        <p:nvSpPr>
          <p:cNvPr id="3" name="Text 0"/>
          <p:cNvSpPr/>
          <p:nvPr>
            <p:ph idx="101" type="title" hasCustomPrompt="1"/>
          </p:nvPr>
        </p:nvSpPr>
        <p:spPr>
          <a:xfrm>
            <a:off x="548640" y="603504"/>
            <a:ext cx="11094415" cy="868680"/>
          </a:xfrm>
          <a:prstGeom prst="rect">
            <a:avLst/>
          </a:prstGeom>
          <a:noFill/>
          <a:ln/>
        </p:spPr>
        <p:txBody>
          <a:bodyPr wrap="square" lIns="0" tIns="0" rIns="0" bIns="0" rtlCol="0" anchor="t"/>
          <a:lstStyle/>
          <a:p>
            <a:pPr algn="l" indent="0" marL="0">
              <a:buNone/>
            </a:pPr>
            <a:r>
              <a:rPr lang="en-US" sz="2800" b="1" dirty="0">
                <a:solidFill>
                  <a:schemeClr val="tx1"/>
                </a:solidFill>
              </a:rPr>
              <a:t>Every box Azure returns is inspectable, and every upload is durable</a:t>
            </a:r>
            <a:endParaRPr lang="en-US" sz="2800" dirty="0"/>
          </a:p>
        </p:txBody>
      </p:sp>
      <p:sp>
        <p:nvSpPr>
          <p:cNvPr id="5" name="card-526"/>
          <p:cNvSpPr/>
          <p:nvPr/>
        </p:nvSpPr>
        <p:spPr>
          <a:xfrm>
            <a:off x="548640" y="1627632"/>
            <a:ext cx="6720840" cy="4526280"/>
          </a:xfrm>
          <a:prstGeom prst="roundRect">
            <a:avLst>
              <a:gd name="adj" fmla="val 1212"/>
            </a:avLst>
          </a:prstGeom>
          <a:solidFill>
            <a:schemeClr val="bg1"/>
          </a:solidFill>
          <a:ln w="9525">
            <a:solidFill>
              <a:schemeClr val="accent6"/>
            </a:solidFill>
            <a:prstDash val="solid"/>
          </a:ln>
          <a:effectLst>
            <a:outerShdw sx="100000" sy="100000" kx="0" ky="0" algn="bl" rotWithShape="0" blurRad="76200" dist="25400" dir="5400000">
              <a:srgbClr val="0B1F3A">
                <a:alpha val="12000"/>
              </a:srgbClr>
            </a:outerShdw>
          </a:effectLst>
        </p:spPr>
      </p:sp>
      <p:sp>
        <p:nvSpPr>
          <p:cNvPr id="6" name="win-bar-527"/>
          <p:cNvSpPr/>
          <p:nvPr/>
        </p:nvSpPr>
        <p:spPr>
          <a:xfrm>
            <a:off x="566928" y="1645920"/>
            <a:ext cx="6684264" cy="402336"/>
          </a:xfrm>
          <a:prstGeom prst="rect">
            <a:avLst/>
          </a:prstGeom>
          <a:solidFill>
            <a:schemeClr val="bg2"/>
          </a:solidFill>
          <a:ln/>
        </p:spPr>
      </p:sp>
      <p:sp>
        <p:nvSpPr>
          <p:cNvPr id="7" name="text-528"/>
          <p:cNvSpPr txBox="1"/>
          <p:nvPr/>
        </p:nvSpPr>
        <p:spPr>
          <a:xfrm>
            <a:off x="777240" y="1700784"/>
            <a:ext cx="909828" cy="274320"/>
          </a:xfrm>
          <a:prstGeom prst="rect">
            <a:avLst/>
          </a:prstGeom>
          <a:noFill/>
          <a:ln/>
        </p:spPr>
        <p:txBody>
          <a:bodyPr wrap="square" lIns="0" tIns="0" rIns="0" bIns="0" rtlCol="0" anchor="ctr"/>
          <a:lstStyle/>
          <a:p>
            <a:pPr indent="0" marL="0">
              <a:buNone/>
            </a:pPr>
            <a:r>
              <a:rPr lang="en-US" sz="1100" dirty="0">
                <a:solidFill>
                  <a:schemeClr val="tx2"/>
                </a:solidFill>
              </a:rPr>
              <a:t>Documents</a:t>
            </a:r>
            <a:endParaRPr lang="en-US" sz="1100" dirty="0"/>
          </a:p>
        </p:txBody>
      </p:sp>
      <p:sp>
        <p:nvSpPr>
          <p:cNvPr id="8" name="text-529"/>
          <p:cNvSpPr txBox="1"/>
          <p:nvPr/>
        </p:nvSpPr>
        <p:spPr>
          <a:xfrm>
            <a:off x="1888236" y="1700784"/>
            <a:ext cx="987552" cy="274320"/>
          </a:xfrm>
          <a:prstGeom prst="rect">
            <a:avLst/>
          </a:prstGeom>
          <a:noFill/>
          <a:ln/>
        </p:spPr>
        <p:txBody>
          <a:bodyPr wrap="square" lIns="0" tIns="0" rIns="0" bIns="0" rtlCol="0" anchor="ctr"/>
          <a:lstStyle/>
          <a:p>
            <a:pPr indent="0" marL="0">
              <a:buNone/>
            </a:pPr>
            <a:r>
              <a:rPr lang="en-US" sz="1100" b="1" dirty="0">
                <a:solidFill>
                  <a:schemeClr val="accent1"/>
                </a:solidFill>
              </a:rPr>
              <a:t>OCR Viewer</a:t>
            </a:r>
            <a:endParaRPr lang="en-US" sz="1100" dirty="0"/>
          </a:p>
        </p:txBody>
      </p:sp>
      <p:sp>
        <p:nvSpPr>
          <p:cNvPr id="9" name="text-530"/>
          <p:cNvSpPr txBox="1"/>
          <p:nvPr/>
        </p:nvSpPr>
        <p:spPr>
          <a:xfrm>
            <a:off x="3076956" y="1700784"/>
            <a:ext cx="676656" cy="274320"/>
          </a:xfrm>
          <a:prstGeom prst="rect">
            <a:avLst/>
          </a:prstGeom>
          <a:noFill/>
          <a:ln/>
        </p:spPr>
        <p:txBody>
          <a:bodyPr wrap="square" lIns="0" tIns="0" rIns="0" bIns="0" rtlCol="0" anchor="ctr"/>
          <a:lstStyle/>
          <a:p>
            <a:pPr indent="0" marL="0">
              <a:buNone/>
            </a:pPr>
            <a:r>
              <a:rPr lang="en-US" sz="1100" dirty="0">
                <a:solidFill>
                  <a:schemeClr val="tx2"/>
                </a:solidFill>
              </a:rPr>
              <a:t>Chunks</a:t>
            </a:r>
            <a:endParaRPr lang="en-US" sz="1100" dirty="0"/>
          </a:p>
        </p:txBody>
      </p:sp>
      <p:sp>
        <p:nvSpPr>
          <p:cNvPr id="10" name="text-531"/>
          <p:cNvSpPr txBox="1"/>
          <p:nvPr/>
        </p:nvSpPr>
        <p:spPr>
          <a:xfrm>
            <a:off x="3954780" y="1700784"/>
            <a:ext cx="1143000" cy="274320"/>
          </a:xfrm>
          <a:prstGeom prst="rect">
            <a:avLst/>
          </a:prstGeom>
          <a:noFill/>
          <a:ln/>
        </p:spPr>
        <p:txBody>
          <a:bodyPr wrap="square" lIns="0" tIns="0" rIns="0" bIns="0" rtlCol="0" anchor="ctr"/>
          <a:lstStyle/>
          <a:p>
            <a:pPr indent="0" marL="0">
              <a:buNone/>
            </a:pPr>
            <a:r>
              <a:rPr lang="en-US" sz="1100" dirty="0">
                <a:solidFill>
                  <a:schemeClr val="tx2"/>
                </a:solidFill>
              </a:rPr>
              <a:t>Export &amp; API</a:t>
            </a:r>
            <a:endParaRPr lang="en-US" sz="1100" dirty="0"/>
          </a:p>
        </p:txBody>
      </p:sp>
      <p:sp>
        <p:nvSpPr>
          <p:cNvPr id="11" name="text-532"/>
          <p:cNvSpPr txBox="1"/>
          <p:nvPr/>
        </p:nvSpPr>
        <p:spPr>
          <a:xfrm>
            <a:off x="5298948" y="1700784"/>
            <a:ext cx="521208" cy="274320"/>
          </a:xfrm>
          <a:prstGeom prst="rect">
            <a:avLst/>
          </a:prstGeom>
          <a:noFill/>
          <a:ln/>
        </p:spPr>
        <p:txBody>
          <a:bodyPr wrap="square" lIns="0" tIns="0" rIns="0" bIns="0" rtlCol="0" anchor="ctr"/>
          <a:lstStyle/>
          <a:p>
            <a:pPr indent="0" marL="0">
              <a:buNone/>
            </a:pPr>
            <a:r>
              <a:rPr lang="en-US" sz="1100" dirty="0">
                <a:solidFill>
                  <a:schemeClr val="tx2"/>
                </a:solidFill>
              </a:rPr>
              <a:t>Runs</a:t>
            </a:r>
            <a:endParaRPr lang="en-US" sz="1100" dirty="0"/>
          </a:p>
        </p:txBody>
      </p:sp>
      <p:sp>
        <p:nvSpPr>
          <p:cNvPr id="12" name="page-533"/>
          <p:cNvSpPr/>
          <p:nvPr/>
        </p:nvSpPr>
        <p:spPr>
          <a:xfrm>
            <a:off x="822960" y="2267712"/>
            <a:ext cx="3063240" cy="3657600"/>
          </a:xfrm>
          <a:prstGeom prst="rect">
            <a:avLst/>
          </a:prstGeom>
          <a:solidFill>
            <a:schemeClr val="bg1"/>
          </a:solidFill>
          <a:ln w="12700">
            <a:solidFill>
              <a:schemeClr val="accent6"/>
            </a:solidFill>
            <a:prstDash val="solid"/>
          </a:ln>
        </p:spPr>
      </p:sp>
      <p:sp>
        <p:nvSpPr>
          <p:cNvPr id="13" name="overlay-534"/>
          <p:cNvSpPr/>
          <p:nvPr/>
        </p:nvSpPr>
        <p:spPr>
          <a:xfrm>
            <a:off x="1005840" y="2377440"/>
            <a:ext cx="2697480" cy="182880"/>
          </a:xfrm>
          <a:prstGeom prst="rect">
            <a:avLst/>
          </a:prstGeom>
          <a:solidFill>
            <a:schemeClr val="accent5">
              <a:alpha val="8000"/>
            </a:schemeClr>
          </a:solidFill>
          <a:ln w="12700">
            <a:solidFill>
              <a:schemeClr val="accent5"/>
            </a:solidFill>
            <a:prstDash val="dash"/>
          </a:ln>
        </p:spPr>
      </p:sp>
      <p:sp>
        <p:nvSpPr>
          <p:cNvPr id="14" name="link-535"/>
          <p:cNvSpPr/>
          <p:nvPr/>
        </p:nvSpPr>
        <p:spPr>
          <a:xfrm>
            <a:off x="1051560" y="2468880"/>
            <a:ext cx="2606040" cy="0"/>
          </a:xfrm>
          <a:prstGeom prst="line">
            <a:avLst/>
          </a:prstGeom>
          <a:noFill/>
          <a:ln w="9525">
            <a:solidFill>
              <a:schemeClr val="accent5"/>
            </a:solidFill>
            <a:prstDash val="solid"/>
          </a:ln>
        </p:spPr>
      </p:sp>
      <p:sp>
        <p:nvSpPr>
          <p:cNvPr id="15" name="overlay-536"/>
          <p:cNvSpPr/>
          <p:nvPr/>
        </p:nvSpPr>
        <p:spPr>
          <a:xfrm>
            <a:off x="1005840" y="2679192"/>
            <a:ext cx="2697480" cy="310896"/>
          </a:xfrm>
          <a:prstGeom prst="rect">
            <a:avLst/>
          </a:prstGeom>
          <a:solidFill>
            <a:schemeClr val="accent1">
              <a:alpha val="15000"/>
            </a:schemeClr>
          </a:solidFill>
          <a:ln w="12700">
            <a:solidFill>
              <a:schemeClr val="accent1"/>
            </a:solidFill>
            <a:prstDash val="solid"/>
          </a:ln>
        </p:spPr>
      </p:sp>
      <p:sp>
        <p:nvSpPr>
          <p:cNvPr id="16" name="overlay-537"/>
          <p:cNvSpPr/>
          <p:nvPr/>
        </p:nvSpPr>
        <p:spPr>
          <a:xfrm>
            <a:off x="1005840" y="3090672"/>
            <a:ext cx="1828800" cy="219456"/>
          </a:xfrm>
          <a:prstGeom prst="rect">
            <a:avLst/>
          </a:prstGeom>
          <a:solidFill>
            <a:schemeClr val="accent4">
              <a:alpha val="15000"/>
            </a:schemeClr>
          </a:solidFill>
          <a:ln w="12700">
            <a:solidFill>
              <a:schemeClr val="accent4"/>
            </a:solidFill>
            <a:prstDash val="solid"/>
          </a:ln>
        </p:spPr>
      </p:sp>
      <p:sp>
        <p:nvSpPr>
          <p:cNvPr id="17" name="overlay-538"/>
          <p:cNvSpPr/>
          <p:nvPr/>
        </p:nvSpPr>
        <p:spPr>
          <a:xfrm>
            <a:off x="1005840" y="3410712"/>
            <a:ext cx="2697480" cy="640080"/>
          </a:xfrm>
          <a:prstGeom prst="rect">
            <a:avLst/>
          </a:prstGeom>
          <a:solidFill>
            <a:schemeClr val="accent1">
              <a:alpha val="8000"/>
            </a:schemeClr>
          </a:solidFill>
          <a:ln w="12700">
            <a:solidFill>
              <a:schemeClr val="accent1"/>
            </a:solidFill>
            <a:prstDash val="solid"/>
          </a:ln>
        </p:spPr>
      </p:sp>
      <p:sp>
        <p:nvSpPr>
          <p:cNvPr id="18" name="overlay-539"/>
          <p:cNvSpPr/>
          <p:nvPr/>
        </p:nvSpPr>
        <p:spPr>
          <a:xfrm>
            <a:off x="1005840" y="4169664"/>
            <a:ext cx="2697480" cy="868680"/>
          </a:xfrm>
          <a:prstGeom prst="rect">
            <a:avLst/>
          </a:prstGeom>
          <a:solidFill>
            <a:schemeClr val="accent3">
              <a:alpha val="20000"/>
            </a:schemeClr>
          </a:solidFill>
          <a:ln w="12700">
            <a:solidFill>
              <a:schemeClr val="accent3"/>
            </a:solidFill>
            <a:prstDash val="solid"/>
          </a:ln>
        </p:spPr>
      </p:sp>
      <p:sp>
        <p:nvSpPr>
          <p:cNvPr id="19" name="link-540"/>
          <p:cNvSpPr/>
          <p:nvPr/>
        </p:nvSpPr>
        <p:spPr>
          <a:xfrm>
            <a:off x="1005840" y="4462272"/>
            <a:ext cx="2697480" cy="0"/>
          </a:xfrm>
          <a:prstGeom prst="line">
            <a:avLst/>
          </a:prstGeom>
          <a:noFill/>
          <a:ln w="9525">
            <a:solidFill>
              <a:schemeClr val="accent3"/>
            </a:solidFill>
            <a:prstDash val="solid"/>
          </a:ln>
        </p:spPr>
      </p:sp>
      <p:sp>
        <p:nvSpPr>
          <p:cNvPr id="20" name="link-541"/>
          <p:cNvSpPr/>
          <p:nvPr/>
        </p:nvSpPr>
        <p:spPr>
          <a:xfrm>
            <a:off x="1005840" y="4754880"/>
            <a:ext cx="2697480" cy="0"/>
          </a:xfrm>
          <a:prstGeom prst="line">
            <a:avLst/>
          </a:prstGeom>
          <a:noFill/>
          <a:ln w="9525">
            <a:solidFill>
              <a:schemeClr val="accent3"/>
            </a:solidFill>
            <a:prstDash val="solid"/>
          </a:ln>
        </p:spPr>
      </p:sp>
      <p:sp>
        <p:nvSpPr>
          <p:cNvPr id="21" name="link-542"/>
          <p:cNvSpPr/>
          <p:nvPr/>
        </p:nvSpPr>
        <p:spPr>
          <a:xfrm>
            <a:off x="1905000" y="4169664"/>
            <a:ext cx="0" cy="868680"/>
          </a:xfrm>
          <a:prstGeom prst="line">
            <a:avLst/>
          </a:prstGeom>
          <a:noFill/>
          <a:ln w="9525">
            <a:solidFill>
              <a:schemeClr val="accent3"/>
            </a:solidFill>
            <a:prstDash val="solid"/>
          </a:ln>
        </p:spPr>
      </p:sp>
      <p:sp>
        <p:nvSpPr>
          <p:cNvPr id="22" name="link-543"/>
          <p:cNvSpPr/>
          <p:nvPr/>
        </p:nvSpPr>
        <p:spPr>
          <a:xfrm>
            <a:off x="2804160" y="4169664"/>
            <a:ext cx="0" cy="868680"/>
          </a:xfrm>
          <a:prstGeom prst="line">
            <a:avLst/>
          </a:prstGeom>
          <a:noFill/>
          <a:ln w="9525">
            <a:solidFill>
              <a:schemeClr val="accent3"/>
            </a:solidFill>
            <a:prstDash val="solid"/>
          </a:ln>
        </p:spPr>
      </p:sp>
      <p:sp>
        <p:nvSpPr>
          <p:cNvPr id="23" name="mark-544"/>
          <p:cNvSpPr/>
          <p:nvPr/>
        </p:nvSpPr>
        <p:spPr>
          <a:xfrm>
            <a:off x="1051560" y="5084064"/>
            <a:ext cx="164592" cy="164592"/>
          </a:xfrm>
          <a:prstGeom prst="rect">
            <a:avLst/>
          </a:prstGeom>
          <a:solidFill>
            <a:schemeClr val="accent1"/>
          </a:solidFill>
          <a:ln w="12700">
            <a:solidFill>
              <a:schemeClr val="accent1"/>
            </a:solidFill>
            <a:prstDash val="solid"/>
          </a:ln>
        </p:spPr>
      </p:sp>
      <p:sp>
        <p:nvSpPr>
          <p:cNvPr id="24" name="glyph-545"/>
          <p:cNvSpPr/>
          <p:nvPr/>
        </p:nvSpPr>
        <p:spPr>
          <a:xfrm>
            <a:off x="1325880" y="5129784"/>
            <a:ext cx="1463040" cy="73152"/>
          </a:xfrm>
          <a:prstGeom prst="rect">
            <a:avLst/>
          </a:prstGeom>
          <a:solidFill>
            <a:schemeClr val="accent5">
              <a:alpha val="60000"/>
            </a:schemeClr>
          </a:solidFill>
          <a:ln/>
        </p:spPr>
      </p:sp>
      <p:sp>
        <p:nvSpPr>
          <p:cNvPr id="25" name="mark-546"/>
          <p:cNvSpPr/>
          <p:nvPr/>
        </p:nvSpPr>
        <p:spPr>
          <a:xfrm>
            <a:off x="1051560" y="5340096"/>
            <a:ext cx="164592" cy="164592"/>
          </a:xfrm>
          <a:prstGeom prst="rect">
            <a:avLst/>
          </a:prstGeom>
          <a:solidFill>
            <a:schemeClr val="bg1"/>
          </a:solidFill>
          <a:ln w="12700">
            <a:solidFill>
              <a:schemeClr val="accent5"/>
            </a:solidFill>
            <a:prstDash val="solid"/>
          </a:ln>
        </p:spPr>
      </p:sp>
      <p:sp>
        <p:nvSpPr>
          <p:cNvPr id="26" name="glyph-547"/>
          <p:cNvSpPr/>
          <p:nvPr/>
        </p:nvSpPr>
        <p:spPr>
          <a:xfrm>
            <a:off x="1325880" y="5385816"/>
            <a:ext cx="1097280" cy="73152"/>
          </a:xfrm>
          <a:prstGeom prst="rect">
            <a:avLst/>
          </a:prstGeom>
          <a:solidFill>
            <a:schemeClr val="accent5">
              <a:alpha val="60000"/>
            </a:schemeClr>
          </a:solidFill>
          <a:ln/>
        </p:spPr>
      </p:sp>
      <p:sp>
        <p:nvSpPr>
          <p:cNvPr id="27" name="overlay-548"/>
          <p:cNvSpPr/>
          <p:nvPr/>
        </p:nvSpPr>
        <p:spPr>
          <a:xfrm>
            <a:off x="1005840" y="5632704"/>
            <a:ext cx="2697480" cy="182880"/>
          </a:xfrm>
          <a:prstGeom prst="rect">
            <a:avLst/>
          </a:prstGeom>
          <a:solidFill>
            <a:schemeClr val="accent5">
              <a:alpha val="8000"/>
            </a:schemeClr>
          </a:solidFill>
          <a:ln w="12700">
            <a:solidFill>
              <a:schemeClr val="accent5"/>
            </a:solidFill>
            <a:prstDash val="dash"/>
          </a:ln>
        </p:spPr>
      </p:sp>
      <p:sp>
        <p:nvSpPr>
          <p:cNvPr id="28" name="link-549"/>
          <p:cNvSpPr/>
          <p:nvPr/>
        </p:nvSpPr>
        <p:spPr>
          <a:xfrm>
            <a:off x="1051560" y="5724144"/>
            <a:ext cx="2606040" cy="0"/>
          </a:xfrm>
          <a:prstGeom prst="line">
            <a:avLst/>
          </a:prstGeom>
          <a:noFill/>
          <a:ln w="9525">
            <a:solidFill>
              <a:schemeClr val="accent5"/>
            </a:solidFill>
            <a:prstDash val="solid"/>
          </a:ln>
        </p:spPr>
      </p:sp>
      <p:sp>
        <p:nvSpPr>
          <p:cNvPr id="29" name="legend-550"/>
          <p:cNvSpPr/>
          <p:nvPr/>
        </p:nvSpPr>
        <p:spPr>
          <a:xfrm>
            <a:off x="4160520" y="2322576"/>
            <a:ext cx="164592" cy="164592"/>
          </a:xfrm>
          <a:prstGeom prst="rect">
            <a:avLst/>
          </a:prstGeom>
          <a:solidFill>
            <a:schemeClr val="accent1">
              <a:alpha val="70000"/>
            </a:schemeClr>
          </a:solidFill>
          <a:ln/>
        </p:spPr>
      </p:sp>
      <p:sp>
        <p:nvSpPr>
          <p:cNvPr id="30" name="text-551"/>
          <p:cNvSpPr txBox="1"/>
          <p:nvPr/>
        </p:nvSpPr>
        <p:spPr>
          <a:xfrm>
            <a:off x="4416552" y="2267712"/>
            <a:ext cx="2624328" cy="256032"/>
          </a:xfrm>
          <a:prstGeom prst="rect">
            <a:avLst/>
          </a:prstGeom>
          <a:noFill/>
          <a:ln/>
        </p:spPr>
        <p:txBody>
          <a:bodyPr wrap="square" lIns="0" tIns="0" rIns="0" bIns="0" rtlCol="0" anchor="ctr"/>
          <a:lstStyle/>
          <a:p>
            <a:pPr indent="0" marL="0">
              <a:buNone/>
            </a:pPr>
            <a:r>
              <a:rPr lang="en-US" sz="1100" dirty="0">
                <a:solidFill>
                  <a:schemeClr val="tx2"/>
                </a:solidFill>
              </a:rPr>
              <a:t>title / paragraph</a:t>
            </a:r>
            <a:endParaRPr lang="en-US" sz="1100" dirty="0"/>
          </a:p>
        </p:txBody>
      </p:sp>
      <p:sp>
        <p:nvSpPr>
          <p:cNvPr id="31" name="legend-552"/>
          <p:cNvSpPr/>
          <p:nvPr/>
        </p:nvSpPr>
        <p:spPr>
          <a:xfrm>
            <a:off x="4160520" y="2596896"/>
            <a:ext cx="164592" cy="164592"/>
          </a:xfrm>
          <a:prstGeom prst="rect">
            <a:avLst/>
          </a:prstGeom>
          <a:solidFill>
            <a:schemeClr val="accent4">
              <a:alpha val="70000"/>
            </a:schemeClr>
          </a:solidFill>
          <a:ln/>
        </p:spPr>
      </p:sp>
      <p:sp>
        <p:nvSpPr>
          <p:cNvPr id="32" name="text-553"/>
          <p:cNvSpPr txBox="1"/>
          <p:nvPr/>
        </p:nvSpPr>
        <p:spPr>
          <a:xfrm>
            <a:off x="4416552" y="2542032"/>
            <a:ext cx="2624328" cy="256032"/>
          </a:xfrm>
          <a:prstGeom prst="rect">
            <a:avLst/>
          </a:prstGeom>
          <a:noFill/>
          <a:ln/>
        </p:spPr>
        <p:txBody>
          <a:bodyPr wrap="square" lIns="0" tIns="0" rIns="0" bIns="0" rtlCol="0" anchor="ctr"/>
          <a:lstStyle/>
          <a:p>
            <a:pPr indent="0" marL="0">
              <a:buNone/>
            </a:pPr>
            <a:r>
              <a:rPr lang="en-US" sz="1100" dirty="0">
                <a:solidFill>
                  <a:schemeClr val="tx2"/>
                </a:solidFill>
              </a:rPr>
              <a:t>sectionHeading</a:t>
            </a:r>
            <a:endParaRPr lang="en-US" sz="1100" dirty="0"/>
          </a:p>
        </p:txBody>
      </p:sp>
      <p:sp>
        <p:nvSpPr>
          <p:cNvPr id="33" name="legend-554"/>
          <p:cNvSpPr/>
          <p:nvPr/>
        </p:nvSpPr>
        <p:spPr>
          <a:xfrm>
            <a:off x="4160520" y="2871216"/>
            <a:ext cx="164592" cy="164592"/>
          </a:xfrm>
          <a:prstGeom prst="rect">
            <a:avLst/>
          </a:prstGeom>
          <a:solidFill>
            <a:schemeClr val="accent3">
              <a:alpha val="70000"/>
            </a:schemeClr>
          </a:solidFill>
          <a:ln/>
        </p:spPr>
      </p:sp>
      <p:sp>
        <p:nvSpPr>
          <p:cNvPr id="34" name="text-555"/>
          <p:cNvSpPr txBox="1"/>
          <p:nvPr/>
        </p:nvSpPr>
        <p:spPr>
          <a:xfrm>
            <a:off x="4416552" y="2816352"/>
            <a:ext cx="2624328" cy="256032"/>
          </a:xfrm>
          <a:prstGeom prst="rect">
            <a:avLst/>
          </a:prstGeom>
          <a:noFill/>
          <a:ln/>
        </p:spPr>
        <p:txBody>
          <a:bodyPr wrap="square" lIns="0" tIns="0" rIns="0" bIns="0" rtlCol="0" anchor="ctr"/>
          <a:lstStyle/>
          <a:p>
            <a:pPr indent="0" marL="0">
              <a:buNone/>
            </a:pPr>
            <a:r>
              <a:rPr lang="en-US" sz="1100" dirty="0">
                <a:solidFill>
                  <a:schemeClr val="tx2"/>
                </a:solidFill>
              </a:rPr>
              <a:t>table grid</a:t>
            </a:r>
            <a:endParaRPr lang="en-US" sz="1100" dirty="0"/>
          </a:p>
        </p:txBody>
      </p:sp>
      <p:sp>
        <p:nvSpPr>
          <p:cNvPr id="35" name="legend-556"/>
          <p:cNvSpPr/>
          <p:nvPr/>
        </p:nvSpPr>
        <p:spPr>
          <a:xfrm>
            <a:off x="4160520" y="3145536"/>
            <a:ext cx="164592" cy="164592"/>
          </a:xfrm>
          <a:prstGeom prst="rect">
            <a:avLst/>
          </a:prstGeom>
          <a:solidFill>
            <a:schemeClr val="accent5">
              <a:alpha val="70000"/>
            </a:schemeClr>
          </a:solidFill>
          <a:ln/>
        </p:spPr>
      </p:sp>
      <p:sp>
        <p:nvSpPr>
          <p:cNvPr id="36" name="text-557"/>
          <p:cNvSpPr txBox="1"/>
          <p:nvPr/>
        </p:nvSpPr>
        <p:spPr>
          <a:xfrm>
            <a:off x="4416552" y="3090672"/>
            <a:ext cx="2624328" cy="256032"/>
          </a:xfrm>
          <a:prstGeom prst="rect">
            <a:avLst/>
          </a:prstGeom>
          <a:noFill/>
          <a:ln/>
        </p:spPr>
        <p:txBody>
          <a:bodyPr wrap="square" lIns="0" tIns="0" rIns="0" bIns="0" rtlCol="0" anchor="ctr"/>
          <a:lstStyle/>
          <a:p>
            <a:pPr indent="0" marL="0">
              <a:buNone/>
            </a:pPr>
            <a:r>
              <a:rPr lang="en-US" sz="1100" dirty="0">
                <a:solidFill>
                  <a:schemeClr val="tx2"/>
                </a:solidFill>
              </a:rPr>
              <a:t>furniture: struck out</a:t>
            </a:r>
            <a:endParaRPr lang="en-US" sz="1100" dirty="0"/>
          </a:p>
        </p:txBody>
      </p:sp>
      <p:sp>
        <p:nvSpPr>
          <p:cNvPr id="37" name="card-558"/>
          <p:cNvSpPr/>
          <p:nvPr/>
        </p:nvSpPr>
        <p:spPr>
          <a:xfrm>
            <a:off x="4160520" y="3593592"/>
            <a:ext cx="2880360" cy="621792"/>
          </a:xfrm>
          <a:prstGeom prst="roundRect">
            <a:avLst>
              <a:gd name="adj" fmla="val 11765"/>
            </a:avLst>
          </a:prstGeom>
          <a:solidFill>
            <a:schemeClr val="bg2"/>
          </a:solidFill>
          <a:ln w="9525">
            <a:solidFill>
              <a:schemeClr val="accent1"/>
            </a:solidFill>
            <a:prstDash val="solid"/>
          </a:ln>
        </p:spPr>
      </p:sp>
      <p:sp>
        <p:nvSpPr>
          <p:cNvPr id="38" name="text-559"/>
          <p:cNvSpPr txBox="1"/>
          <p:nvPr/>
        </p:nvSpPr>
        <p:spPr>
          <a:xfrm>
            <a:off x="4297680" y="3666744"/>
            <a:ext cx="2606040" cy="237744"/>
          </a:xfrm>
          <a:prstGeom prst="rect">
            <a:avLst/>
          </a:prstGeom>
          <a:noFill/>
          <a:ln/>
        </p:spPr>
        <p:txBody>
          <a:bodyPr wrap="square" lIns="0" tIns="0" rIns="0" bIns="0" rtlCol="0" anchor="t"/>
          <a:lstStyle/>
          <a:p>
            <a:pPr indent="0" marL="0">
              <a:buNone/>
            </a:pPr>
            <a:r>
              <a:rPr lang="en-US" sz="1100" b="1" dirty="0">
                <a:solidFill>
                  <a:schemeClr val="tx1"/>
                </a:solidFill>
              </a:rPr>
              <a:t>table · p. 4 · 498 tok</a:t>
            </a:r>
            <a:endParaRPr lang="en-US" sz="1100" dirty="0"/>
          </a:p>
        </p:txBody>
      </p:sp>
      <p:sp>
        <p:nvSpPr>
          <p:cNvPr id="39" name="glyph-560"/>
          <p:cNvSpPr/>
          <p:nvPr/>
        </p:nvSpPr>
        <p:spPr>
          <a:xfrm>
            <a:off x="4297680" y="3977640"/>
            <a:ext cx="2331720" cy="64008"/>
          </a:xfrm>
          <a:prstGeom prst="rect">
            <a:avLst/>
          </a:prstGeom>
          <a:solidFill>
            <a:schemeClr val="accent5">
              <a:alpha val="60000"/>
            </a:schemeClr>
          </a:solidFill>
          <a:ln/>
        </p:spPr>
      </p:sp>
      <p:sp>
        <p:nvSpPr>
          <p:cNvPr id="40" name="card-561"/>
          <p:cNvSpPr/>
          <p:nvPr/>
        </p:nvSpPr>
        <p:spPr>
          <a:xfrm>
            <a:off x="4160520" y="4343400"/>
            <a:ext cx="2880360" cy="621792"/>
          </a:xfrm>
          <a:prstGeom prst="roundRect">
            <a:avLst>
              <a:gd name="adj" fmla="val 11765"/>
            </a:avLst>
          </a:prstGeom>
          <a:solidFill>
            <a:schemeClr val="bg1"/>
          </a:solidFill>
          <a:ln w="9525">
            <a:solidFill>
              <a:schemeClr val="accent6"/>
            </a:solidFill>
            <a:prstDash val="solid"/>
          </a:ln>
        </p:spPr>
      </p:sp>
      <p:sp>
        <p:nvSpPr>
          <p:cNvPr id="41" name="text-562"/>
          <p:cNvSpPr txBox="1"/>
          <p:nvPr/>
        </p:nvSpPr>
        <p:spPr>
          <a:xfrm>
            <a:off x="4297680" y="4416552"/>
            <a:ext cx="2606040" cy="237744"/>
          </a:xfrm>
          <a:prstGeom prst="rect">
            <a:avLst/>
          </a:prstGeom>
          <a:noFill/>
          <a:ln/>
        </p:spPr>
        <p:txBody>
          <a:bodyPr wrap="square" lIns="0" tIns="0" rIns="0" bIns="0" rtlCol="0" anchor="t"/>
          <a:lstStyle/>
          <a:p>
            <a:pPr indent="0" marL="0">
              <a:buNone/>
            </a:pPr>
            <a:r>
              <a:rPr lang="en-US" sz="1100" b="1" dirty="0">
                <a:solidFill>
                  <a:schemeClr val="tx1"/>
                </a:solidFill>
              </a:rPr>
              <a:t>text · p. 4 · 412 tok</a:t>
            </a:r>
            <a:endParaRPr lang="en-US" sz="1100" dirty="0"/>
          </a:p>
        </p:txBody>
      </p:sp>
      <p:sp>
        <p:nvSpPr>
          <p:cNvPr id="42" name="glyph-563"/>
          <p:cNvSpPr/>
          <p:nvPr/>
        </p:nvSpPr>
        <p:spPr>
          <a:xfrm>
            <a:off x="4297680" y="4727448"/>
            <a:ext cx="2331720" cy="64008"/>
          </a:xfrm>
          <a:prstGeom prst="rect">
            <a:avLst/>
          </a:prstGeom>
          <a:solidFill>
            <a:schemeClr val="accent5">
              <a:alpha val="60000"/>
            </a:schemeClr>
          </a:solidFill>
          <a:ln/>
        </p:spPr>
      </p:sp>
      <p:sp>
        <p:nvSpPr>
          <p:cNvPr id="43" name="card-564"/>
          <p:cNvSpPr/>
          <p:nvPr/>
        </p:nvSpPr>
        <p:spPr>
          <a:xfrm>
            <a:off x="4160520" y="5093208"/>
            <a:ext cx="2880360" cy="621792"/>
          </a:xfrm>
          <a:prstGeom prst="roundRect">
            <a:avLst>
              <a:gd name="adj" fmla="val 11765"/>
            </a:avLst>
          </a:prstGeom>
          <a:solidFill>
            <a:schemeClr val="bg1"/>
          </a:solidFill>
          <a:ln w="9525">
            <a:solidFill>
              <a:schemeClr val="accent6"/>
            </a:solidFill>
            <a:prstDash val="solid"/>
          </a:ln>
        </p:spPr>
      </p:sp>
      <p:sp>
        <p:nvSpPr>
          <p:cNvPr id="44" name="text-565"/>
          <p:cNvSpPr txBox="1"/>
          <p:nvPr/>
        </p:nvSpPr>
        <p:spPr>
          <a:xfrm>
            <a:off x="4297680" y="5166360"/>
            <a:ext cx="2606040" cy="237744"/>
          </a:xfrm>
          <a:prstGeom prst="rect">
            <a:avLst/>
          </a:prstGeom>
          <a:noFill/>
          <a:ln/>
        </p:spPr>
        <p:txBody>
          <a:bodyPr wrap="square" lIns="0" tIns="0" rIns="0" bIns="0" rtlCol="0" anchor="t"/>
          <a:lstStyle/>
          <a:p>
            <a:pPr indent="0" marL="0">
              <a:buNone/>
            </a:pPr>
            <a:r>
              <a:rPr lang="en-US" sz="1100" b="1" dirty="0">
                <a:solidFill>
                  <a:schemeClr val="tx1"/>
                </a:solidFill>
              </a:rPr>
              <a:t>figure · p. 5 · 1 image</a:t>
            </a:r>
            <a:endParaRPr lang="en-US" sz="1100" dirty="0"/>
          </a:p>
        </p:txBody>
      </p:sp>
      <p:sp>
        <p:nvSpPr>
          <p:cNvPr id="45" name="glyph-566"/>
          <p:cNvSpPr/>
          <p:nvPr/>
        </p:nvSpPr>
        <p:spPr>
          <a:xfrm>
            <a:off x="4297680" y="5477256"/>
            <a:ext cx="2331720" cy="64008"/>
          </a:xfrm>
          <a:prstGeom prst="rect">
            <a:avLst/>
          </a:prstGeom>
          <a:solidFill>
            <a:schemeClr val="accent5">
              <a:alpha val="60000"/>
            </a:schemeClr>
          </a:solidFill>
          <a:ln/>
        </p:spPr>
      </p:sp>
      <p:sp>
        <p:nvSpPr>
          <p:cNvPr id="46" name="link-567"/>
          <p:cNvSpPr/>
          <p:nvPr/>
        </p:nvSpPr>
        <p:spPr>
          <a:xfrm>
            <a:off x="950976" y="4114800"/>
            <a:ext cx="128016" cy="0"/>
          </a:xfrm>
          <a:prstGeom prst="line">
            <a:avLst/>
          </a:prstGeom>
          <a:noFill/>
          <a:ln w="25400">
            <a:solidFill>
              <a:schemeClr val="accent3"/>
            </a:solidFill>
            <a:prstDash val="solid"/>
          </a:ln>
        </p:spPr>
      </p:sp>
      <p:sp>
        <p:nvSpPr>
          <p:cNvPr id="47" name="link-568"/>
          <p:cNvSpPr/>
          <p:nvPr/>
        </p:nvSpPr>
        <p:spPr>
          <a:xfrm>
            <a:off x="950976" y="4114800"/>
            <a:ext cx="0" cy="128016"/>
          </a:xfrm>
          <a:prstGeom prst="line">
            <a:avLst/>
          </a:prstGeom>
          <a:noFill/>
          <a:ln w="25400">
            <a:solidFill>
              <a:schemeClr val="accent3"/>
            </a:solidFill>
            <a:prstDash val="solid"/>
          </a:ln>
        </p:spPr>
      </p:sp>
      <p:sp>
        <p:nvSpPr>
          <p:cNvPr id="48" name="link-569"/>
          <p:cNvSpPr/>
          <p:nvPr/>
        </p:nvSpPr>
        <p:spPr>
          <a:xfrm>
            <a:off x="3630168" y="4114800"/>
            <a:ext cx="128016" cy="0"/>
          </a:xfrm>
          <a:prstGeom prst="line">
            <a:avLst/>
          </a:prstGeom>
          <a:noFill/>
          <a:ln w="25400">
            <a:solidFill>
              <a:schemeClr val="accent3"/>
            </a:solidFill>
            <a:prstDash val="solid"/>
          </a:ln>
        </p:spPr>
      </p:sp>
      <p:sp>
        <p:nvSpPr>
          <p:cNvPr id="49" name="link-570"/>
          <p:cNvSpPr/>
          <p:nvPr/>
        </p:nvSpPr>
        <p:spPr>
          <a:xfrm>
            <a:off x="3758184" y="4114800"/>
            <a:ext cx="0" cy="128016"/>
          </a:xfrm>
          <a:prstGeom prst="line">
            <a:avLst/>
          </a:prstGeom>
          <a:noFill/>
          <a:ln w="25400">
            <a:solidFill>
              <a:schemeClr val="accent3"/>
            </a:solidFill>
            <a:prstDash val="solid"/>
          </a:ln>
        </p:spPr>
      </p:sp>
      <p:sp>
        <p:nvSpPr>
          <p:cNvPr id="50" name="link-571"/>
          <p:cNvSpPr/>
          <p:nvPr/>
        </p:nvSpPr>
        <p:spPr>
          <a:xfrm>
            <a:off x="950976" y="5093208"/>
            <a:ext cx="128016" cy="0"/>
          </a:xfrm>
          <a:prstGeom prst="line">
            <a:avLst/>
          </a:prstGeom>
          <a:noFill/>
          <a:ln w="25400">
            <a:solidFill>
              <a:schemeClr val="accent3"/>
            </a:solidFill>
            <a:prstDash val="solid"/>
          </a:ln>
        </p:spPr>
      </p:sp>
      <p:sp>
        <p:nvSpPr>
          <p:cNvPr id="51" name="link-572"/>
          <p:cNvSpPr/>
          <p:nvPr/>
        </p:nvSpPr>
        <p:spPr>
          <a:xfrm>
            <a:off x="950976" y="4965192"/>
            <a:ext cx="0" cy="128016"/>
          </a:xfrm>
          <a:prstGeom prst="line">
            <a:avLst/>
          </a:prstGeom>
          <a:noFill/>
          <a:ln w="25400">
            <a:solidFill>
              <a:schemeClr val="accent3"/>
            </a:solidFill>
            <a:prstDash val="solid"/>
          </a:ln>
        </p:spPr>
      </p:sp>
      <p:sp>
        <p:nvSpPr>
          <p:cNvPr id="52" name="link-573"/>
          <p:cNvSpPr/>
          <p:nvPr/>
        </p:nvSpPr>
        <p:spPr>
          <a:xfrm>
            <a:off x="3630168" y="5093208"/>
            <a:ext cx="128016" cy="0"/>
          </a:xfrm>
          <a:prstGeom prst="line">
            <a:avLst/>
          </a:prstGeom>
          <a:noFill/>
          <a:ln w="25400">
            <a:solidFill>
              <a:schemeClr val="accent3"/>
            </a:solidFill>
            <a:prstDash val="solid"/>
          </a:ln>
        </p:spPr>
      </p:sp>
      <p:sp>
        <p:nvSpPr>
          <p:cNvPr id="53" name="link-574"/>
          <p:cNvSpPr/>
          <p:nvPr/>
        </p:nvSpPr>
        <p:spPr>
          <a:xfrm>
            <a:off x="3758184" y="4965192"/>
            <a:ext cx="0" cy="128016"/>
          </a:xfrm>
          <a:prstGeom prst="line">
            <a:avLst/>
          </a:prstGeom>
          <a:noFill/>
          <a:ln w="25400">
            <a:solidFill>
              <a:schemeClr val="accent3"/>
            </a:solidFill>
            <a:prstDash val="solid"/>
          </a:ln>
        </p:spPr>
      </p:sp>
      <p:sp>
        <p:nvSpPr>
          <p:cNvPr id="54" name="badge-575"/>
          <p:cNvSpPr/>
          <p:nvPr/>
        </p:nvSpPr>
        <p:spPr>
          <a:xfrm>
            <a:off x="7589520" y="1645920"/>
            <a:ext cx="457200" cy="457200"/>
          </a:xfrm>
          <a:prstGeom prst="ellipse">
            <a:avLst/>
          </a:prstGeom>
          <a:solidFill>
            <a:schemeClr val="accent1"/>
          </a:solidFill>
          <a:ln/>
        </p:spPr>
      </p:sp>
      <p:pic>
        <p:nvPicPr>
          <p:cNvPr id="55" name="icon-TbEye-576" descr="Eye">    </p:cNvPr>
          <p:cNvPicPr>
            <a:picLocks noChangeAspect="1"/>
          </p:cNvPicPr>
          <p:nvPr/>
        </p:nvPicPr>
        <p:blipFill>
          <a:blip r:embed="rId1"/>
          <a:stretch>
            <a:fillRect/>
          </a:stretch>
        </p:blipFill>
        <p:spPr>
          <a:xfrm>
            <a:off x="7690104" y="1746504"/>
            <a:ext cx="256032" cy="256032"/>
          </a:xfrm>
          <a:prstGeom prst="rect">
            <a:avLst/>
          </a:prstGeom>
        </p:spPr>
      </p:pic>
      <p:sp>
        <p:nvSpPr>
          <p:cNvPr id="56" name="block-577"/>
          <p:cNvSpPr txBox="1"/>
          <p:nvPr/>
        </p:nvSpPr>
        <p:spPr>
          <a:xfrm>
            <a:off x="8193024" y="1627632"/>
            <a:ext cx="3450031" cy="1078992"/>
          </a:xfrm>
          <a:prstGeom prst="rect">
            <a:avLst/>
          </a:prstGeom>
          <a:noFill/>
          <a:ln/>
        </p:spPr>
        <p:txBody>
          <a:bodyPr wrap="square" lIns="0" tIns="0" rIns="0" bIns="0" rtlCol="0" anchor="t"/>
          <a:lstStyle/>
          <a:p>
            <a:pPr indent="0" marL="0">
              <a:spcAft>
                <a:spcPts val="400"/>
              </a:spcAft>
              <a:buNone/>
            </a:pPr>
            <a:r>
              <a:rPr lang="en-US" sz="1500" b="1" dirty="0">
                <a:solidFill>
                  <a:schemeClr val="tx1"/>
                </a:solidFill>
              </a:rPr>
              <a:t>OCR viewer</a:t>
            </a:r>
            <a:endParaRPr lang="en-US" sz="1500" dirty="0"/>
          </a:p>
          <a:p>
            <a:pPr indent="0" marL="0">
              <a:spcAft>
                <a:spcPts val="200"/>
              </a:spcAft>
              <a:buNone/>
            </a:pPr>
            <a:r>
              <a:rPr lang="en-US" sz="1250" dirty="0">
                <a:solidFill>
                  <a:schemeClr val="tx2"/>
                </a:solidFill>
              </a:rPr>
              <a:t>Lines, words, roles, tables, figures and checkbox marks as toggles; confidence heatmap; furniture struck out.</a:t>
            </a:r>
            <a:endParaRPr lang="en-US" sz="1500" dirty="0"/>
          </a:p>
        </p:txBody>
      </p:sp>
      <p:sp>
        <p:nvSpPr>
          <p:cNvPr id="57" name="badge-578"/>
          <p:cNvSpPr/>
          <p:nvPr/>
        </p:nvSpPr>
        <p:spPr>
          <a:xfrm>
            <a:off x="7589520" y="2779776"/>
            <a:ext cx="457200" cy="457200"/>
          </a:xfrm>
          <a:prstGeom prst="ellipse">
            <a:avLst/>
          </a:prstGeom>
          <a:solidFill>
            <a:schemeClr val="accent1"/>
          </a:solidFill>
          <a:ln/>
        </p:spPr>
      </p:sp>
      <p:pic>
        <p:nvPicPr>
          <p:cNvPr id="58" name="icon-TbListSearch-579" descr="ListSearch">    </p:cNvPr>
          <p:cNvPicPr>
            <a:picLocks noChangeAspect="1"/>
          </p:cNvPicPr>
          <p:nvPr/>
        </p:nvPicPr>
        <p:blipFill>
          <a:blip r:embed="rId2"/>
          <a:stretch>
            <a:fillRect/>
          </a:stretch>
        </p:blipFill>
        <p:spPr>
          <a:xfrm>
            <a:off x="7690104" y="2880360"/>
            <a:ext cx="256032" cy="256032"/>
          </a:xfrm>
          <a:prstGeom prst="rect">
            <a:avLst/>
          </a:prstGeom>
        </p:spPr>
      </p:pic>
      <p:sp>
        <p:nvSpPr>
          <p:cNvPr id="59" name="block-580"/>
          <p:cNvSpPr txBox="1"/>
          <p:nvPr/>
        </p:nvSpPr>
        <p:spPr>
          <a:xfrm>
            <a:off x="8193024" y="2761488"/>
            <a:ext cx="3450031" cy="1078992"/>
          </a:xfrm>
          <a:prstGeom prst="rect">
            <a:avLst/>
          </a:prstGeom>
          <a:noFill/>
          <a:ln/>
        </p:spPr>
        <p:txBody>
          <a:bodyPr wrap="square" lIns="0" tIns="0" rIns="0" bIns="0" rtlCol="0" anchor="t"/>
          <a:lstStyle/>
          <a:p>
            <a:pPr indent="0" marL="0">
              <a:spcAft>
                <a:spcPts val="400"/>
              </a:spcAft>
              <a:buNone/>
            </a:pPr>
            <a:r>
              <a:rPr lang="en-US" sz="1500" b="1" dirty="0">
                <a:solidFill>
                  <a:schemeClr val="tx1"/>
                </a:solidFill>
              </a:rPr>
              <a:t>Chunks explorer</a:t>
            </a:r>
            <a:endParaRPr lang="en-US" sz="1500" dirty="0"/>
          </a:p>
          <a:p>
            <a:pPr indent="0" marL="0">
              <a:spcAft>
                <a:spcPts val="200"/>
              </a:spcAft>
              <a:buNone/>
            </a:pPr>
            <a:r>
              <a:rPr lang="en-US" sz="1250" dirty="0">
                <a:solidFill>
                  <a:schemeClr val="tx2"/>
                </a:solidFill>
              </a:rPr>
              <a:t>Type, tokens, page, breadcrumb and context prefix; click a chunk to see its quads on the page.</a:t>
            </a:r>
            <a:endParaRPr lang="en-US" sz="1500" dirty="0"/>
          </a:p>
        </p:txBody>
      </p:sp>
      <p:sp>
        <p:nvSpPr>
          <p:cNvPr id="60" name="badge-581"/>
          <p:cNvSpPr/>
          <p:nvPr/>
        </p:nvSpPr>
        <p:spPr>
          <a:xfrm>
            <a:off x="7589520" y="3913632"/>
            <a:ext cx="457200" cy="457200"/>
          </a:xfrm>
          <a:prstGeom prst="ellipse">
            <a:avLst/>
          </a:prstGeom>
          <a:solidFill>
            <a:schemeClr val="accent1"/>
          </a:solidFill>
          <a:ln/>
        </p:spPr>
      </p:sp>
      <p:pic>
        <p:nvPicPr>
          <p:cNvPr id="61" name="icon-TbBraces-582" descr="Braces">    </p:cNvPr>
          <p:cNvPicPr>
            <a:picLocks noChangeAspect="1"/>
          </p:cNvPicPr>
          <p:nvPr/>
        </p:nvPicPr>
        <p:blipFill>
          <a:blip r:embed="rId3"/>
          <a:stretch>
            <a:fillRect/>
          </a:stretch>
        </p:blipFill>
        <p:spPr>
          <a:xfrm>
            <a:off x="7690104" y="4014216"/>
            <a:ext cx="256032" cy="256032"/>
          </a:xfrm>
          <a:prstGeom prst="rect">
            <a:avLst/>
          </a:prstGeom>
        </p:spPr>
      </p:pic>
      <p:sp>
        <p:nvSpPr>
          <p:cNvPr id="62" name="block-583"/>
          <p:cNvSpPr txBox="1"/>
          <p:nvPr/>
        </p:nvSpPr>
        <p:spPr>
          <a:xfrm>
            <a:off x="8193024" y="3895344"/>
            <a:ext cx="3450031" cy="1078992"/>
          </a:xfrm>
          <a:prstGeom prst="rect">
            <a:avLst/>
          </a:prstGeom>
          <a:noFill/>
          <a:ln/>
        </p:spPr>
        <p:txBody>
          <a:bodyPr wrap="square" lIns="0" tIns="0" rIns="0" bIns="0" rtlCol="0" anchor="t"/>
          <a:lstStyle/>
          <a:p>
            <a:pPr indent="0" marL="0">
              <a:spcAft>
                <a:spcPts val="400"/>
              </a:spcAft>
              <a:buNone/>
            </a:pPr>
            <a:r>
              <a:rPr lang="en-US" sz="1500" b="1" dirty="0">
                <a:solidFill>
                  <a:schemeClr val="tx1"/>
                </a:solidFill>
              </a:rPr>
              <a:t>Export &amp; API</a:t>
            </a:r>
            <a:endParaRPr lang="en-US" sz="1500" dirty="0"/>
          </a:p>
          <a:p>
            <a:pPr indent="0" marL="0">
              <a:spcAft>
                <a:spcPts val="200"/>
              </a:spcAft>
              <a:buNone/>
            </a:pPr>
            <a:r>
              <a:rPr lang="en-US" sz="1250" dirty="0">
                <a:solidFill>
                  <a:schemeClr val="tx2"/>
                </a:solidFill>
              </a:rPr>
              <a:t>One JSON bundle per document: runs, OCR, raw Azure, chunks, embeddings, source, with ready curl commands.</a:t>
            </a:r>
            <a:endParaRPr lang="en-US" sz="1500" dirty="0"/>
          </a:p>
        </p:txBody>
      </p:sp>
      <p:sp>
        <p:nvSpPr>
          <p:cNvPr id="63" name="badge-584"/>
          <p:cNvSpPr/>
          <p:nvPr/>
        </p:nvSpPr>
        <p:spPr>
          <a:xfrm>
            <a:off x="7589520" y="5047488"/>
            <a:ext cx="457200" cy="457200"/>
          </a:xfrm>
          <a:prstGeom prst="ellipse">
            <a:avLst/>
          </a:prstGeom>
          <a:solidFill>
            <a:schemeClr val="accent1"/>
          </a:solidFill>
          <a:ln/>
        </p:spPr>
      </p:sp>
      <p:pic>
        <p:nvPicPr>
          <p:cNvPr id="64" name="icon-TbShieldCheck-585" descr="ShieldCheck">    </p:cNvPr>
          <p:cNvPicPr>
            <a:picLocks noChangeAspect="1"/>
          </p:cNvPicPr>
          <p:nvPr/>
        </p:nvPicPr>
        <p:blipFill>
          <a:blip r:embed="rId4"/>
          <a:stretch>
            <a:fillRect/>
          </a:stretch>
        </p:blipFill>
        <p:spPr>
          <a:xfrm>
            <a:off x="7690104" y="5148072"/>
            <a:ext cx="256032" cy="256032"/>
          </a:xfrm>
          <a:prstGeom prst="rect">
            <a:avLst/>
          </a:prstGeom>
        </p:spPr>
      </p:pic>
      <p:sp>
        <p:nvSpPr>
          <p:cNvPr id="65" name="block-586"/>
          <p:cNvSpPr txBox="1"/>
          <p:nvPr/>
        </p:nvSpPr>
        <p:spPr>
          <a:xfrm>
            <a:off x="8193024" y="5029200"/>
            <a:ext cx="3450031" cy="1078992"/>
          </a:xfrm>
          <a:prstGeom prst="rect">
            <a:avLst/>
          </a:prstGeom>
          <a:noFill/>
          <a:ln/>
        </p:spPr>
        <p:txBody>
          <a:bodyPr wrap="square" lIns="0" tIns="0" rIns="0" bIns="0" rtlCol="0" anchor="t"/>
          <a:lstStyle/>
          <a:p>
            <a:pPr indent="0" marL="0">
              <a:spcAft>
                <a:spcPts val="400"/>
              </a:spcAft>
              <a:buNone/>
            </a:pPr>
            <a:r>
              <a:rPr lang="en-US" sz="1500" b="1" dirty="0">
                <a:solidFill>
                  <a:schemeClr val="tx1"/>
                </a:solidFill>
              </a:rPr>
              <a:t>Durable before 202</a:t>
            </a:r>
            <a:endParaRPr lang="en-US" sz="1500" dirty="0"/>
          </a:p>
          <a:p>
            <a:pPr indent="0" marL="0">
              <a:spcAft>
                <a:spcPts val="200"/>
              </a:spcAft>
              <a:buNone/>
            </a:pPr>
            <a:r>
              <a:rPr lang="en-US" sz="1250" dirty="0">
                <a:solidFill>
                  <a:schemeClr val="tx2"/>
                </a:solidFill>
              </a:rPr>
              <a:t>The row and the bytes are committed before the upload is acknowledged; the ETag is the SHA-256.</a:t>
            </a:r>
            <a:endParaRPr lang="en-US" sz="1500" dirty="0"/>
          </a:p>
        </p:txBody>
      </p:sp>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tx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310896"/>
            <a:ext cx="8229600" cy="274320"/>
          </a:xfrm>
          <a:prstGeom prst="rect">
            <a:avLst/>
          </a:prstGeom>
          <a:noFill/>
          <a:ln/>
        </p:spPr>
        <p:txBody>
          <a:bodyPr wrap="square" lIns="0" tIns="0" rIns="0" bIns="0" rtlCol="0" anchor="ctr"/>
          <a:lstStyle/>
          <a:p>
            <a:pPr algn="l" indent="0" marL="0">
              <a:buNone/>
            </a:pPr>
            <a:r>
              <a:rPr lang="en-US" sz="1200" b="1" spc="150" kern="0" dirty="0">
                <a:solidFill>
                  <a:schemeClr val="accent1"/>
                </a:solidFill>
              </a:rPr>
              <a:t>DES · QUALITY</a:t>
            </a:r>
            <a:endParaRPr lang="en-US" sz="1200" dirty="0"/>
          </a:p>
        </p:txBody>
      </p:sp>
      <p:sp>
        <p:nvSpPr>
          <p:cNvPr id="3" name="Text 0"/>
          <p:cNvSpPr/>
          <p:nvPr>
            <p:ph idx="101" type="title" hasCustomPrompt="1"/>
          </p:nvPr>
        </p:nvSpPr>
        <p:spPr>
          <a:xfrm>
            <a:off x="548640" y="603504"/>
            <a:ext cx="11094415" cy="868680"/>
          </a:xfrm>
          <a:prstGeom prst="rect">
            <a:avLst/>
          </a:prstGeom>
          <a:noFill/>
          <a:ln/>
        </p:spPr>
        <p:txBody>
          <a:bodyPr wrap="square" lIns="0" tIns="0" rIns="0" bIns="0" rtlCol="0" anchor="t"/>
          <a:lstStyle/>
          <a:p>
            <a:pPr algn="l" indent="0" marL="0">
              <a:buNone/>
            </a:pPr>
            <a:r>
              <a:rPr lang="en-US" sz="2800" b="1" dirty="0">
                <a:solidFill>
                  <a:schemeClr val="tx1"/>
                </a:solidFill>
              </a:rPr>
              <a:t>Runs end to end without Azure, and proves it in 6.5 seconds</a:t>
            </a:r>
            <a:endParaRPr lang="en-US" sz="2800" dirty="0"/>
          </a:p>
        </p:txBody>
      </p:sp>
      <p:sp>
        <p:nvSpPr>
          <p:cNvPr id="5" name="card-587"/>
          <p:cNvSpPr/>
          <p:nvPr/>
        </p:nvSpPr>
        <p:spPr>
          <a:xfrm>
            <a:off x="548640" y="1645920"/>
            <a:ext cx="5532120" cy="4498848"/>
          </a:xfrm>
          <a:prstGeom prst="roundRect">
            <a:avLst>
              <a:gd name="adj" fmla="val 1626"/>
            </a:avLst>
          </a:prstGeom>
          <a:solidFill>
            <a:schemeClr val="bg2"/>
          </a:solidFill>
          <a:ln/>
        </p:spPr>
      </p:sp>
      <p:sp>
        <p:nvSpPr>
          <p:cNvPr id="6" name="text-588"/>
          <p:cNvSpPr txBox="1"/>
          <p:nvPr/>
        </p:nvSpPr>
        <p:spPr>
          <a:xfrm>
            <a:off x="822960" y="1828800"/>
            <a:ext cx="5029200" cy="310896"/>
          </a:xfrm>
          <a:prstGeom prst="rect">
            <a:avLst/>
          </a:prstGeom>
          <a:noFill/>
          <a:ln/>
        </p:spPr>
        <p:txBody>
          <a:bodyPr wrap="square" lIns="0" tIns="0" rIns="0" bIns="0" rtlCol="0" anchor="ctr"/>
          <a:lstStyle/>
          <a:p>
            <a:pPr indent="0" marL="0">
              <a:buNone/>
            </a:pPr>
            <a:r>
              <a:rPr lang="en-US" sz="1300" b="1" dirty="0">
                <a:solidFill>
                  <a:schemeClr val="tx1"/>
                </a:solidFill>
              </a:rPr>
              <a:t>419 DES tests by area (5 Oct 2026)</a:t>
            </a:r>
            <a:endParaRPr lang="en-US" sz="1300" dirty="0"/>
          </a:p>
        </p:txBody>
      </p:sp>
      <p:sp>
        <p:nvSpPr>
          <p:cNvPr id="7" name="text-589"/>
          <p:cNvSpPr txBox="1"/>
          <p:nvPr/>
        </p:nvSpPr>
        <p:spPr>
          <a:xfrm>
            <a:off x="822960" y="2249424"/>
            <a:ext cx="1783080" cy="601675"/>
          </a:xfrm>
          <a:prstGeom prst="rect">
            <a:avLst/>
          </a:prstGeom>
          <a:noFill/>
          <a:ln/>
        </p:spPr>
        <p:txBody>
          <a:bodyPr wrap="square" lIns="0" tIns="0" rIns="0" bIns="0" rtlCol="0" anchor="ctr"/>
          <a:lstStyle/>
          <a:p>
            <a:pPr algn="r" indent="0" marL="0">
              <a:buNone/>
            </a:pPr>
            <a:r>
              <a:rPr lang="en-US" sz="1250" dirty="0">
                <a:solidFill>
                  <a:schemeClr val="tx2"/>
                </a:solidFill>
              </a:rPr>
              <a:t>Parts algorithm</a:t>
            </a:r>
            <a:endParaRPr lang="en-US" sz="1250" dirty="0"/>
          </a:p>
        </p:txBody>
      </p:sp>
      <p:sp>
        <p:nvSpPr>
          <p:cNvPr id="8" name="bar-590"/>
          <p:cNvSpPr/>
          <p:nvPr/>
        </p:nvSpPr>
        <p:spPr>
          <a:xfrm>
            <a:off x="2715768" y="2363742"/>
            <a:ext cx="2587752" cy="373039"/>
          </a:xfrm>
          <a:prstGeom prst="rect">
            <a:avLst/>
          </a:prstGeom>
          <a:solidFill>
            <a:schemeClr val="accent1"/>
          </a:solidFill>
          <a:ln/>
        </p:spPr>
      </p:sp>
      <p:sp>
        <p:nvSpPr>
          <p:cNvPr id="9" name="text-591"/>
          <p:cNvSpPr txBox="1"/>
          <p:nvPr/>
        </p:nvSpPr>
        <p:spPr>
          <a:xfrm>
            <a:off x="5376672" y="2249424"/>
            <a:ext cx="548640" cy="601675"/>
          </a:xfrm>
          <a:prstGeom prst="rect">
            <a:avLst/>
          </a:prstGeom>
          <a:noFill/>
          <a:ln/>
        </p:spPr>
        <p:txBody>
          <a:bodyPr wrap="square" lIns="0" tIns="0" rIns="0" bIns="0" rtlCol="0" anchor="ctr"/>
          <a:lstStyle/>
          <a:p>
            <a:pPr indent="0" marL="0">
              <a:buNone/>
            </a:pPr>
            <a:r>
              <a:rPr lang="en-US" sz="1250" b="1" dirty="0">
                <a:solidFill>
                  <a:schemeClr val="tx1"/>
                </a:solidFill>
              </a:rPr>
              <a:t>187</a:t>
            </a:r>
            <a:endParaRPr lang="en-US" sz="1250" dirty="0"/>
          </a:p>
        </p:txBody>
      </p:sp>
      <p:sp>
        <p:nvSpPr>
          <p:cNvPr id="10" name="text-592"/>
          <p:cNvSpPr txBox="1"/>
          <p:nvPr/>
        </p:nvSpPr>
        <p:spPr>
          <a:xfrm>
            <a:off x="822960" y="2851099"/>
            <a:ext cx="1783080" cy="601675"/>
          </a:xfrm>
          <a:prstGeom prst="rect">
            <a:avLst/>
          </a:prstGeom>
          <a:noFill/>
          <a:ln/>
        </p:spPr>
        <p:txBody>
          <a:bodyPr wrap="square" lIns="0" tIns="0" rIns="0" bIns="0" rtlCol="0" anchor="ctr"/>
          <a:lstStyle/>
          <a:p>
            <a:pPr algn="r" indent="0" marL="0">
              <a:buNone/>
            </a:pPr>
            <a:r>
              <a:rPr lang="en-US" sz="1250" dirty="0">
                <a:solidFill>
                  <a:schemeClr val="tx2"/>
                </a:solidFill>
              </a:rPr>
              <a:t>Storage, S3 and API</a:t>
            </a:r>
            <a:endParaRPr lang="en-US" sz="1250" dirty="0"/>
          </a:p>
        </p:txBody>
      </p:sp>
      <p:sp>
        <p:nvSpPr>
          <p:cNvPr id="11" name="bar-593"/>
          <p:cNvSpPr/>
          <p:nvPr/>
        </p:nvSpPr>
        <p:spPr>
          <a:xfrm>
            <a:off x="2715768" y="2965417"/>
            <a:ext cx="1425339" cy="373039"/>
          </a:xfrm>
          <a:prstGeom prst="rect">
            <a:avLst/>
          </a:prstGeom>
          <a:solidFill>
            <a:schemeClr val="accent1"/>
          </a:solidFill>
          <a:ln/>
        </p:spPr>
      </p:sp>
      <p:sp>
        <p:nvSpPr>
          <p:cNvPr id="12" name="text-594"/>
          <p:cNvSpPr txBox="1"/>
          <p:nvPr/>
        </p:nvSpPr>
        <p:spPr>
          <a:xfrm>
            <a:off x="4214259" y="2851099"/>
            <a:ext cx="1711053" cy="601675"/>
          </a:xfrm>
          <a:prstGeom prst="rect">
            <a:avLst/>
          </a:prstGeom>
          <a:noFill/>
          <a:ln/>
        </p:spPr>
        <p:txBody>
          <a:bodyPr wrap="square" lIns="0" tIns="0" rIns="0" bIns="0" rtlCol="0" anchor="ctr"/>
          <a:lstStyle/>
          <a:p>
            <a:pPr indent="0" marL="0">
              <a:buNone/>
            </a:pPr>
            <a:r>
              <a:rPr lang="en-US" sz="1250" b="1" dirty="0">
                <a:solidFill>
                  <a:schemeClr val="tx1"/>
                </a:solidFill>
              </a:rPr>
              <a:t>103</a:t>
            </a:r>
            <a:endParaRPr lang="en-US" sz="1250" dirty="0"/>
          </a:p>
        </p:txBody>
      </p:sp>
      <p:sp>
        <p:nvSpPr>
          <p:cNvPr id="13" name="text-595"/>
          <p:cNvSpPr txBox="1"/>
          <p:nvPr/>
        </p:nvSpPr>
        <p:spPr>
          <a:xfrm>
            <a:off x="822960" y="3452774"/>
            <a:ext cx="1783080" cy="601675"/>
          </a:xfrm>
          <a:prstGeom prst="rect">
            <a:avLst/>
          </a:prstGeom>
          <a:noFill/>
          <a:ln/>
        </p:spPr>
        <p:txBody>
          <a:bodyPr wrap="square" lIns="0" tIns="0" rIns="0" bIns="0" rtlCol="0" anchor="ctr"/>
          <a:lstStyle/>
          <a:p>
            <a:pPr algn="r" indent="0" marL="0">
              <a:buNone/>
            </a:pPr>
            <a:r>
              <a:rPr lang="en-US" sz="1250" dirty="0">
                <a:solidFill>
                  <a:schemeClr val="tx2"/>
                </a:solidFill>
              </a:rPr>
              <a:t>Other chunkers</a:t>
            </a:r>
            <a:endParaRPr lang="en-US" sz="1250" dirty="0"/>
          </a:p>
        </p:txBody>
      </p:sp>
      <p:sp>
        <p:nvSpPr>
          <p:cNvPr id="14" name="bar-596"/>
          <p:cNvSpPr/>
          <p:nvPr/>
        </p:nvSpPr>
        <p:spPr>
          <a:xfrm>
            <a:off x="2715768" y="3567093"/>
            <a:ext cx="650398" cy="373039"/>
          </a:xfrm>
          <a:prstGeom prst="rect">
            <a:avLst/>
          </a:prstGeom>
          <a:solidFill>
            <a:schemeClr val="accent1"/>
          </a:solidFill>
          <a:ln/>
        </p:spPr>
      </p:sp>
      <p:sp>
        <p:nvSpPr>
          <p:cNvPr id="15" name="text-597"/>
          <p:cNvSpPr txBox="1"/>
          <p:nvPr/>
        </p:nvSpPr>
        <p:spPr>
          <a:xfrm>
            <a:off x="3439318" y="3452774"/>
            <a:ext cx="2485994" cy="601675"/>
          </a:xfrm>
          <a:prstGeom prst="rect">
            <a:avLst/>
          </a:prstGeom>
          <a:noFill/>
          <a:ln/>
        </p:spPr>
        <p:txBody>
          <a:bodyPr wrap="square" lIns="0" tIns="0" rIns="0" bIns="0" rtlCol="0" anchor="ctr"/>
          <a:lstStyle/>
          <a:p>
            <a:pPr indent="0" marL="0">
              <a:buNone/>
            </a:pPr>
            <a:r>
              <a:rPr lang="en-US" sz="1250" b="1" dirty="0">
                <a:solidFill>
                  <a:schemeClr val="tx1"/>
                </a:solidFill>
              </a:rPr>
              <a:t>47</a:t>
            </a:r>
            <a:endParaRPr lang="en-US" sz="1250" dirty="0"/>
          </a:p>
        </p:txBody>
      </p:sp>
      <p:sp>
        <p:nvSpPr>
          <p:cNvPr id="16" name="text-598"/>
          <p:cNvSpPr txBox="1"/>
          <p:nvPr/>
        </p:nvSpPr>
        <p:spPr>
          <a:xfrm>
            <a:off x="822960" y="4054450"/>
            <a:ext cx="1783080" cy="601675"/>
          </a:xfrm>
          <a:prstGeom prst="rect">
            <a:avLst/>
          </a:prstGeom>
          <a:noFill/>
          <a:ln/>
        </p:spPr>
        <p:txBody>
          <a:bodyPr wrap="square" lIns="0" tIns="0" rIns="0" bIns="0" rtlCol="0" anchor="ctr"/>
          <a:lstStyle/>
          <a:p>
            <a:pPr algn="r" indent="0" marL="0">
              <a:buNone/>
            </a:pPr>
            <a:r>
              <a:rPr lang="en-US" sz="1250" dirty="0">
                <a:solidFill>
                  <a:schemeClr val="tx2"/>
                </a:solidFill>
              </a:rPr>
              <a:t>Layout OCR mapping</a:t>
            </a:r>
            <a:endParaRPr lang="en-US" sz="1250" dirty="0"/>
          </a:p>
        </p:txBody>
      </p:sp>
      <p:sp>
        <p:nvSpPr>
          <p:cNvPr id="17" name="bar-599"/>
          <p:cNvSpPr/>
          <p:nvPr/>
        </p:nvSpPr>
        <p:spPr>
          <a:xfrm>
            <a:off x="2715768" y="4168768"/>
            <a:ext cx="608883" cy="373039"/>
          </a:xfrm>
          <a:prstGeom prst="rect">
            <a:avLst/>
          </a:prstGeom>
          <a:solidFill>
            <a:schemeClr val="accent1"/>
          </a:solidFill>
          <a:ln/>
        </p:spPr>
      </p:sp>
      <p:sp>
        <p:nvSpPr>
          <p:cNvPr id="18" name="text-600"/>
          <p:cNvSpPr txBox="1"/>
          <p:nvPr/>
        </p:nvSpPr>
        <p:spPr>
          <a:xfrm>
            <a:off x="3397803" y="4054450"/>
            <a:ext cx="2527509" cy="601675"/>
          </a:xfrm>
          <a:prstGeom prst="rect">
            <a:avLst/>
          </a:prstGeom>
          <a:noFill/>
          <a:ln/>
        </p:spPr>
        <p:txBody>
          <a:bodyPr wrap="square" lIns="0" tIns="0" rIns="0" bIns="0" rtlCol="0" anchor="ctr"/>
          <a:lstStyle/>
          <a:p>
            <a:pPr indent="0" marL="0">
              <a:buNone/>
            </a:pPr>
            <a:r>
              <a:rPr lang="en-US" sz="1250" b="1" dirty="0">
                <a:solidFill>
                  <a:schemeClr val="tx1"/>
                </a:solidFill>
              </a:rPr>
              <a:t>44</a:t>
            </a:r>
            <a:endParaRPr lang="en-US" sz="1250" dirty="0"/>
          </a:p>
        </p:txBody>
      </p:sp>
      <p:sp>
        <p:nvSpPr>
          <p:cNvPr id="19" name="text-601"/>
          <p:cNvSpPr txBox="1"/>
          <p:nvPr/>
        </p:nvSpPr>
        <p:spPr>
          <a:xfrm>
            <a:off x="822960" y="4656125"/>
            <a:ext cx="1783080" cy="601675"/>
          </a:xfrm>
          <a:prstGeom prst="rect">
            <a:avLst/>
          </a:prstGeom>
          <a:noFill/>
          <a:ln/>
        </p:spPr>
        <p:txBody>
          <a:bodyPr wrap="square" lIns="0" tIns="0" rIns="0" bIns="0" rtlCol="0" anchor="ctr"/>
          <a:lstStyle/>
          <a:p>
            <a:pPr algn="r" indent="0" marL="0">
              <a:buNone/>
            </a:pPr>
            <a:r>
              <a:rPr lang="en-US" sz="1250" dirty="0">
                <a:solidFill>
                  <a:schemeClr val="tx2"/>
                </a:solidFill>
              </a:rPr>
              <a:t>Embedding and context</a:t>
            </a:r>
            <a:endParaRPr lang="en-US" sz="1250" dirty="0"/>
          </a:p>
        </p:txBody>
      </p:sp>
      <p:sp>
        <p:nvSpPr>
          <p:cNvPr id="20" name="bar-602"/>
          <p:cNvSpPr/>
          <p:nvPr/>
        </p:nvSpPr>
        <p:spPr>
          <a:xfrm>
            <a:off x="2715768" y="4770443"/>
            <a:ext cx="525853" cy="373039"/>
          </a:xfrm>
          <a:prstGeom prst="rect">
            <a:avLst/>
          </a:prstGeom>
          <a:solidFill>
            <a:schemeClr val="accent1"/>
          </a:solidFill>
          <a:ln/>
        </p:spPr>
      </p:sp>
      <p:sp>
        <p:nvSpPr>
          <p:cNvPr id="21" name="text-603"/>
          <p:cNvSpPr txBox="1"/>
          <p:nvPr/>
        </p:nvSpPr>
        <p:spPr>
          <a:xfrm>
            <a:off x="3314773" y="4656125"/>
            <a:ext cx="2610539" cy="601675"/>
          </a:xfrm>
          <a:prstGeom prst="rect">
            <a:avLst/>
          </a:prstGeom>
          <a:noFill/>
          <a:ln/>
        </p:spPr>
        <p:txBody>
          <a:bodyPr wrap="square" lIns="0" tIns="0" rIns="0" bIns="0" rtlCol="0" anchor="ctr"/>
          <a:lstStyle/>
          <a:p>
            <a:pPr indent="0" marL="0">
              <a:buNone/>
            </a:pPr>
            <a:r>
              <a:rPr lang="en-US" sz="1250" b="1" dirty="0">
                <a:solidFill>
                  <a:schemeClr val="tx1"/>
                </a:solidFill>
              </a:rPr>
              <a:t>38</a:t>
            </a:r>
            <a:endParaRPr lang="en-US" sz="1250" dirty="0"/>
          </a:p>
        </p:txBody>
      </p:sp>
      <p:sp>
        <p:nvSpPr>
          <p:cNvPr id="22" name="link-604"/>
          <p:cNvSpPr/>
          <p:nvPr/>
        </p:nvSpPr>
        <p:spPr>
          <a:xfrm>
            <a:off x="2715768" y="2249424"/>
            <a:ext cx="0" cy="3008376"/>
          </a:xfrm>
          <a:prstGeom prst="line">
            <a:avLst/>
          </a:prstGeom>
          <a:noFill/>
          <a:ln w="9525">
            <a:solidFill>
              <a:schemeClr val="accent6"/>
            </a:solidFill>
            <a:prstDash val="solid"/>
          </a:ln>
        </p:spPr>
      </p:sp>
      <p:sp>
        <p:nvSpPr>
          <p:cNvPr id="23" name="text-605"/>
          <p:cNvSpPr txBox="1"/>
          <p:nvPr/>
        </p:nvSpPr>
        <p:spPr>
          <a:xfrm>
            <a:off x="822960" y="5440680"/>
            <a:ext cx="4983480" cy="502920"/>
          </a:xfrm>
          <a:prstGeom prst="rect">
            <a:avLst/>
          </a:prstGeom>
          <a:noFill/>
          <a:ln/>
        </p:spPr>
        <p:txBody>
          <a:bodyPr wrap="square" lIns="0" tIns="0" rIns="0" bIns="0" rtlCol="0" anchor="t"/>
          <a:lstStyle/>
          <a:p>
            <a:pPr indent="0" marL="0">
              <a:buNone/>
            </a:pPr>
            <a:r>
              <a:rPr lang="en-US" sz="1200" dirty="0">
                <a:solidFill>
                  <a:schemeClr val="tx2"/>
                </a:solidFill>
              </a:rPr>
              <a:t>Offline: no network, Docker, database, Azure or model download. ruff and mypy clean.</a:t>
            </a:r>
            <a:endParaRPr lang="en-US" sz="1200" dirty="0"/>
          </a:p>
        </p:txBody>
      </p:sp>
      <p:sp>
        <p:nvSpPr>
          <p:cNvPr id="24" name="stat-606"/>
          <p:cNvSpPr txBox="1"/>
          <p:nvPr/>
        </p:nvSpPr>
        <p:spPr>
          <a:xfrm>
            <a:off x="6355080" y="1645920"/>
            <a:ext cx="1610258" cy="1280160"/>
          </a:xfrm>
          <a:prstGeom prst="rect">
            <a:avLst/>
          </a:prstGeom>
          <a:noFill/>
          <a:ln/>
        </p:spPr>
        <p:txBody>
          <a:bodyPr wrap="square" lIns="0" tIns="0" rIns="0" bIns="0" rtlCol="0" anchor="t"/>
          <a:lstStyle/>
          <a:p>
            <a:pPr algn="l" indent="0" marL="0">
              <a:buNone/>
            </a:pPr>
            <a:r>
              <a:rPr lang="en-US" sz="3000" b="1" dirty="0">
                <a:solidFill>
                  <a:schemeClr val="accent1"/>
                </a:solidFill>
                <a:latin typeface="Cambria" pitchFamily="34" charset="0"/>
                <a:ea typeface="Cambria" pitchFamily="34" charset="-122"/>
                <a:cs typeface="Cambria" pitchFamily="34" charset="-120"/>
              </a:rPr>
              <a:t>6.5 s</a:t>
            </a:r>
            <a:endParaRPr lang="en-US" sz="3000" dirty="0"/>
          </a:p>
          <a:p>
            <a:pPr algn="l" indent="0" marL="0">
              <a:buNone/>
            </a:pPr>
            <a:r>
              <a:rPr lang="en-US" sz="1200" dirty="0">
                <a:solidFill>
                  <a:schemeClr val="tx2"/>
                </a:solidFill>
              </a:rPr>
              <a:t>full suite, 419 tests</a:t>
            </a:r>
            <a:endParaRPr lang="en-US" sz="3000" dirty="0"/>
          </a:p>
        </p:txBody>
      </p:sp>
      <p:sp>
        <p:nvSpPr>
          <p:cNvPr id="25" name="stat-607"/>
          <p:cNvSpPr txBox="1"/>
          <p:nvPr/>
        </p:nvSpPr>
        <p:spPr>
          <a:xfrm>
            <a:off x="8193938" y="1645920"/>
            <a:ext cx="1610258" cy="1280160"/>
          </a:xfrm>
          <a:prstGeom prst="rect">
            <a:avLst/>
          </a:prstGeom>
          <a:noFill/>
          <a:ln/>
        </p:spPr>
        <p:txBody>
          <a:bodyPr wrap="square" lIns="0" tIns="0" rIns="0" bIns="0" rtlCol="0" anchor="t"/>
          <a:lstStyle/>
          <a:p>
            <a:pPr algn="l" indent="0" marL="0">
              <a:buNone/>
            </a:pPr>
            <a:r>
              <a:rPr lang="en-US" sz="3000" b="1" dirty="0">
                <a:solidFill>
                  <a:schemeClr val="accent1"/>
                </a:solidFill>
                <a:latin typeface="Cambria" pitchFamily="34" charset="0"/>
                <a:ea typeface="Cambria" pitchFamily="34" charset="-122"/>
                <a:cs typeface="Cambria" pitchFamily="34" charset="-120"/>
              </a:rPr>
              <a:t>0.8 s</a:t>
            </a:r>
            <a:endParaRPr lang="en-US" sz="3000" dirty="0"/>
          </a:p>
          <a:p>
            <a:pPr algn="l" indent="0" marL="0">
              <a:buNone/>
            </a:pPr>
            <a:r>
              <a:rPr lang="en-US" sz="1200" dirty="0">
                <a:solidFill>
                  <a:schemeClr val="tx2"/>
                </a:solidFill>
              </a:rPr>
              <a:t>to split an 8,000-row table</a:t>
            </a:r>
            <a:endParaRPr lang="en-US" sz="3000" dirty="0"/>
          </a:p>
        </p:txBody>
      </p:sp>
      <p:sp>
        <p:nvSpPr>
          <p:cNvPr id="26" name="stat-608"/>
          <p:cNvSpPr txBox="1"/>
          <p:nvPr/>
        </p:nvSpPr>
        <p:spPr>
          <a:xfrm>
            <a:off x="10032797" y="1645920"/>
            <a:ext cx="1610258" cy="1280160"/>
          </a:xfrm>
          <a:prstGeom prst="rect">
            <a:avLst/>
          </a:prstGeom>
          <a:noFill/>
          <a:ln/>
        </p:spPr>
        <p:txBody>
          <a:bodyPr wrap="square" lIns="0" tIns="0" rIns="0" bIns="0" rtlCol="0" anchor="t"/>
          <a:lstStyle/>
          <a:p>
            <a:pPr algn="l" indent="0" marL="0">
              <a:buNone/>
            </a:pPr>
            <a:r>
              <a:rPr lang="en-US" sz="3000" b="1" dirty="0">
                <a:solidFill>
                  <a:schemeClr val="accent1"/>
                </a:solidFill>
                <a:latin typeface="Cambria" pitchFamily="34" charset="0"/>
                <a:ea typeface="Cambria" pitchFamily="34" charset="-122"/>
                <a:cs typeface="Cambria" pitchFamily="34" charset="-120"/>
              </a:rPr>
              <a:t>400</a:t>
            </a:r>
            <a:endParaRPr lang="en-US" sz="3000" dirty="0"/>
          </a:p>
          <a:p>
            <a:pPr algn="l" indent="0" marL="0">
              <a:buNone/>
            </a:pPr>
            <a:r>
              <a:rPr lang="en-US" sz="1200" dirty="0">
                <a:solidFill>
                  <a:schemeClr val="tx2"/>
                </a:solidFill>
              </a:rPr>
              <a:t>random layouts checked against a reference</a:t>
            </a:r>
            <a:endParaRPr lang="en-US" sz="3000" dirty="0"/>
          </a:p>
        </p:txBody>
      </p:sp>
      <p:sp>
        <p:nvSpPr>
          <p:cNvPr id="27" name="card-609"/>
          <p:cNvSpPr/>
          <p:nvPr/>
        </p:nvSpPr>
        <p:spPr>
          <a:xfrm>
            <a:off x="6355080" y="3063240"/>
            <a:ext cx="5287975" cy="1463040"/>
          </a:xfrm>
          <a:prstGeom prst="roundRect">
            <a:avLst>
              <a:gd name="adj" fmla="val 5000"/>
            </a:avLst>
          </a:prstGeom>
          <a:solidFill>
            <a:schemeClr val="bg2"/>
          </a:solidFill>
          <a:ln/>
        </p:spPr>
      </p:sp>
      <p:sp>
        <p:nvSpPr>
          <p:cNvPr id="28" name="badge-610"/>
          <p:cNvSpPr/>
          <p:nvPr/>
        </p:nvSpPr>
        <p:spPr>
          <a:xfrm>
            <a:off x="6556248" y="3246120"/>
            <a:ext cx="420624" cy="420624"/>
          </a:xfrm>
          <a:prstGeom prst="ellipse">
            <a:avLst/>
          </a:prstGeom>
          <a:solidFill>
            <a:schemeClr val="tx1"/>
          </a:solidFill>
          <a:ln/>
        </p:spPr>
      </p:sp>
      <p:pic>
        <p:nvPicPr>
          <p:cNvPr id="29" name="icon-TbCloudOff-611" descr="CloudOff">    </p:cNvPr>
          <p:cNvPicPr>
            <a:picLocks noChangeAspect="1"/>
          </p:cNvPicPr>
          <p:nvPr/>
        </p:nvPicPr>
        <p:blipFill>
          <a:blip r:embed="rId1"/>
          <a:stretch>
            <a:fillRect/>
          </a:stretch>
        </p:blipFill>
        <p:spPr>
          <a:xfrm>
            <a:off x="6648785" y="3338657"/>
            <a:ext cx="235549" cy="235549"/>
          </a:xfrm>
          <a:prstGeom prst="rect">
            <a:avLst/>
          </a:prstGeom>
        </p:spPr>
      </p:pic>
      <p:sp>
        <p:nvSpPr>
          <p:cNvPr id="30" name="block-612"/>
          <p:cNvSpPr txBox="1"/>
          <p:nvPr/>
        </p:nvSpPr>
        <p:spPr>
          <a:xfrm>
            <a:off x="7132320" y="3200400"/>
            <a:ext cx="4327855" cy="1280160"/>
          </a:xfrm>
          <a:prstGeom prst="rect">
            <a:avLst/>
          </a:prstGeom>
          <a:noFill/>
          <a:ln/>
        </p:spPr>
        <p:txBody>
          <a:bodyPr wrap="square" lIns="0" tIns="0" rIns="0" bIns="0" rtlCol="0" anchor="t"/>
          <a:lstStyle/>
          <a:p>
            <a:pPr indent="0" marL="0">
              <a:spcAft>
                <a:spcPts val="400"/>
              </a:spcAft>
              <a:buNone/>
            </a:pPr>
            <a:r>
              <a:rPr lang="en-US" sz="1500" b="1" dirty="0">
                <a:solidFill>
                  <a:schemeClr val="tx1"/>
                </a:solidFill>
              </a:rPr>
              <a:t>Azure mocks you can deploy</a:t>
            </a:r>
            <a:endParaRPr lang="en-US" sz="1500" dirty="0"/>
          </a:p>
          <a:p>
            <a:pPr indent="0" marL="0">
              <a:spcAft>
                <a:spcPts val="200"/>
              </a:spcAft>
              <a:buNone/>
            </a:pPr>
            <a:r>
              <a:rPr lang="en-US" sz="1250" dirty="0">
                <a:solidFill>
                  <a:schemeClr val="tx2"/>
                </a:solidFill>
              </a:rPr>
              <a:t>Layout v4.0 (2024-11-30) with real text and synthesized roles, tables, figures and checkboxes; Read v3.2 with real boxes. Both answer the gateway’s /status.</a:t>
            </a:r>
            <a:endParaRPr lang="en-US" sz="1500" dirty="0"/>
          </a:p>
        </p:txBody>
      </p:sp>
      <p:sp>
        <p:nvSpPr>
          <p:cNvPr id="31" name="card-613"/>
          <p:cNvSpPr/>
          <p:nvPr/>
        </p:nvSpPr>
        <p:spPr>
          <a:xfrm>
            <a:off x="6355080" y="4754880"/>
            <a:ext cx="5287975" cy="1389888"/>
          </a:xfrm>
          <a:prstGeom prst="roundRect">
            <a:avLst>
              <a:gd name="adj" fmla="val 5263"/>
            </a:avLst>
          </a:prstGeom>
          <a:solidFill>
            <a:schemeClr val="bg2"/>
          </a:solidFill>
          <a:ln/>
        </p:spPr>
      </p:sp>
      <p:sp>
        <p:nvSpPr>
          <p:cNvPr id="32" name="badge-614"/>
          <p:cNvSpPr/>
          <p:nvPr/>
        </p:nvSpPr>
        <p:spPr>
          <a:xfrm>
            <a:off x="6556248" y="4937760"/>
            <a:ext cx="420624" cy="420624"/>
          </a:xfrm>
          <a:prstGeom prst="ellipse">
            <a:avLst/>
          </a:prstGeom>
          <a:solidFill>
            <a:schemeClr val="tx1"/>
          </a:solidFill>
          <a:ln/>
        </p:spPr>
      </p:sp>
      <p:pic>
        <p:nvPicPr>
          <p:cNvPr id="33" name="icon-TbEqual-615" descr="Equal">    </p:cNvPr>
          <p:cNvPicPr>
            <a:picLocks noChangeAspect="1"/>
          </p:cNvPicPr>
          <p:nvPr/>
        </p:nvPicPr>
        <p:blipFill>
          <a:blip r:embed="rId2"/>
          <a:stretch>
            <a:fillRect/>
          </a:stretch>
        </p:blipFill>
        <p:spPr>
          <a:xfrm>
            <a:off x="6648785" y="5030297"/>
            <a:ext cx="235549" cy="235549"/>
          </a:xfrm>
          <a:prstGeom prst="rect">
            <a:avLst/>
          </a:prstGeom>
        </p:spPr>
      </p:pic>
      <p:sp>
        <p:nvSpPr>
          <p:cNvPr id="34" name="block-616"/>
          <p:cNvSpPr txBox="1"/>
          <p:nvPr/>
        </p:nvSpPr>
        <p:spPr>
          <a:xfrm>
            <a:off x="7132320" y="4892040"/>
            <a:ext cx="4327855" cy="1207008"/>
          </a:xfrm>
          <a:prstGeom prst="rect">
            <a:avLst/>
          </a:prstGeom>
          <a:noFill/>
          <a:ln/>
        </p:spPr>
        <p:txBody>
          <a:bodyPr wrap="square" lIns="0" tIns="0" rIns="0" bIns="0" rtlCol="0" anchor="t"/>
          <a:lstStyle/>
          <a:p>
            <a:pPr indent="0" marL="0">
              <a:spcAft>
                <a:spcPts val="400"/>
              </a:spcAft>
              <a:buNone/>
            </a:pPr>
            <a:r>
              <a:rPr lang="en-US" sz="1500" b="1" dirty="0">
                <a:solidFill>
                  <a:schemeClr val="tx1"/>
                </a:solidFill>
              </a:rPr>
              <a:t>Byte-identical, by test</a:t>
            </a:r>
            <a:endParaRPr lang="en-US" sz="1500" dirty="0"/>
          </a:p>
          <a:p>
            <a:pPr indent="0" marL="0">
              <a:spcAft>
                <a:spcPts val="200"/>
              </a:spcAft>
              <a:buNone/>
            </a:pPr>
            <a:r>
              <a:rPr lang="en-US" sz="1250" dirty="0">
                <a:solidFill>
                  <a:schemeClr val="tx2"/>
                </a:solidFill>
              </a:rPr>
              <a:t>No clock, randomness, environment or network in chunking; two processes with different hash seeds must produce one digest.</a:t>
            </a:r>
            <a:endParaRPr lang="en-US" sz="1500" dirty="0"/>
          </a:p>
        </p:txBody>
      </p:sp>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tx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731520" y="1417320"/>
            <a:ext cx="2743200" cy="1143000"/>
          </a:xfrm>
          <a:prstGeom prst="rect">
            <a:avLst/>
          </a:prstGeom>
          <a:noFill/>
          <a:ln/>
        </p:spPr>
        <p:txBody>
          <a:bodyPr wrap="square" lIns="0" tIns="0" rIns="0" bIns="0" rtlCol="0" anchor="b"/>
          <a:lstStyle/>
          <a:p>
            <a:pPr algn="l" indent="0" marL="0">
              <a:buNone/>
            </a:pPr>
            <a:r>
              <a:rPr lang="en-US" sz="7200" b="1" dirty="0">
                <a:solidFill>
                  <a:schemeClr val="accent3"/>
                </a:solidFill>
              </a:rPr>
              <a:t>02</a:t>
            </a:r>
            <a:endParaRPr lang="en-US" sz="7200" dirty="0"/>
          </a:p>
        </p:txBody>
      </p:sp>
      <p:sp>
        <p:nvSpPr>
          <p:cNvPr id="3" name="Text 0"/>
          <p:cNvSpPr/>
          <p:nvPr>
            <p:ph idx="101" type="title" hasCustomPrompt="1"/>
          </p:nvPr>
        </p:nvSpPr>
        <p:spPr>
          <a:xfrm>
            <a:off x="731520" y="2697480"/>
            <a:ext cx="7498080" cy="1234440"/>
          </a:xfrm>
          <a:prstGeom prst="rect">
            <a:avLst/>
          </a:prstGeom>
          <a:noFill/>
          <a:ln/>
        </p:spPr>
        <p:txBody>
          <a:bodyPr wrap="square" lIns="0" tIns="0" rIns="0" bIns="0" rtlCol="0" anchor="t"/>
          <a:lstStyle/>
          <a:p>
            <a:pPr algn="l" indent="0" marL="0">
              <a:buNone/>
            </a:pPr>
            <a:r>
              <a:rPr lang="en-US" sz="3800" b="1" dirty="0">
                <a:solidFill>
                  <a:schemeClr val="bg1"/>
                </a:solidFill>
              </a:rPr>
              <a:t>Retrieval: grounded answers</a:t>
            </a:r>
            <a:endParaRPr lang="en-US" sz="3800" dirty="0"/>
          </a:p>
        </p:txBody>
      </p:sp>
      <p:sp>
        <p:nvSpPr>
          <p:cNvPr id="4" name="Text 0"/>
          <p:cNvSpPr/>
          <p:nvPr>
            <p:ph idx="102" type="body" hasCustomPrompt="1"/>
          </p:nvPr>
        </p:nvSpPr>
        <p:spPr>
          <a:xfrm>
            <a:off x="731520" y="4069080"/>
            <a:ext cx="7498080" cy="1188720"/>
          </a:xfrm>
          <a:prstGeom prst="rect">
            <a:avLst/>
          </a:prstGeom>
          <a:noFill/>
          <a:ln/>
        </p:spPr>
        <p:txBody>
          <a:bodyPr wrap="square" lIns="0" tIns="0" rIns="0" bIns="0" rtlCol="0" anchor="t"/>
          <a:lstStyle/>
          <a:p>
            <a:pPr algn="l" indent="0" marL="0">
              <a:buNone/>
            </a:pPr>
            <a:r>
              <a:rPr lang="en-US" sz="1800" dirty="0">
                <a:solidFill>
                  <a:schemeClr val="accent5"/>
                </a:solidFill>
              </a:rPr>
              <a:t>Hybrid search, a listwise LLM reranker and cited, streamed answers over the same pgvector store.</a:t>
            </a:r>
            <a:endParaRPr lang="en-US" sz="1800" dirty="0"/>
          </a:p>
        </p:txBody>
      </p:sp>
      <p:pic>
        <p:nvPicPr>
          <p:cNvPr id="6" name="icon-TbMessageChatbot-617" descr="MessageChatbot">    </p:cNvPr>
          <p:cNvPicPr>
            <a:picLocks noChangeAspect="1"/>
          </p:cNvPicPr>
          <p:nvPr/>
        </p:nvPicPr>
        <p:blipFill>
          <a:blip r:embed="rId1"/>
          <a:stretch>
            <a:fillRect/>
          </a:stretch>
        </p:blipFill>
        <p:spPr>
          <a:xfrm>
            <a:off x="8961120" y="2286000"/>
            <a:ext cx="1828800" cy="1828800"/>
          </a:xfrm>
          <a:prstGeom prst="rect">
            <a:avLst/>
          </a:prstGeom>
        </p:spPr>
      </p:pic>
      <p:sp>
        <p:nvSpPr>
          <p:cNvPr id="7" name="link-618"/>
          <p:cNvSpPr/>
          <p:nvPr/>
        </p:nvSpPr>
        <p:spPr>
          <a:xfrm>
            <a:off x="8549640" y="1874520"/>
            <a:ext cx="384048" cy="0"/>
          </a:xfrm>
          <a:prstGeom prst="line">
            <a:avLst/>
          </a:prstGeom>
          <a:noFill/>
          <a:ln w="38100">
            <a:solidFill>
              <a:schemeClr val="accent3"/>
            </a:solidFill>
            <a:prstDash val="solid"/>
          </a:ln>
        </p:spPr>
      </p:sp>
      <p:sp>
        <p:nvSpPr>
          <p:cNvPr id="8" name="link-619"/>
          <p:cNvSpPr/>
          <p:nvPr/>
        </p:nvSpPr>
        <p:spPr>
          <a:xfrm>
            <a:off x="8549640" y="1874520"/>
            <a:ext cx="0" cy="384048"/>
          </a:xfrm>
          <a:prstGeom prst="line">
            <a:avLst/>
          </a:prstGeom>
          <a:noFill/>
          <a:ln w="38100">
            <a:solidFill>
              <a:schemeClr val="accent3"/>
            </a:solidFill>
            <a:prstDash val="solid"/>
          </a:ln>
        </p:spPr>
      </p:sp>
      <p:sp>
        <p:nvSpPr>
          <p:cNvPr id="9" name="link-620"/>
          <p:cNvSpPr/>
          <p:nvPr/>
        </p:nvSpPr>
        <p:spPr>
          <a:xfrm>
            <a:off x="10817352" y="1874520"/>
            <a:ext cx="384048" cy="0"/>
          </a:xfrm>
          <a:prstGeom prst="line">
            <a:avLst/>
          </a:prstGeom>
          <a:noFill/>
          <a:ln w="38100">
            <a:solidFill>
              <a:schemeClr val="accent3"/>
            </a:solidFill>
            <a:prstDash val="solid"/>
          </a:ln>
        </p:spPr>
      </p:sp>
      <p:sp>
        <p:nvSpPr>
          <p:cNvPr id="10" name="link-621"/>
          <p:cNvSpPr/>
          <p:nvPr/>
        </p:nvSpPr>
        <p:spPr>
          <a:xfrm>
            <a:off x="11201400" y="1874520"/>
            <a:ext cx="0" cy="384048"/>
          </a:xfrm>
          <a:prstGeom prst="line">
            <a:avLst/>
          </a:prstGeom>
          <a:noFill/>
          <a:ln w="38100">
            <a:solidFill>
              <a:schemeClr val="accent3"/>
            </a:solidFill>
            <a:prstDash val="solid"/>
          </a:ln>
        </p:spPr>
      </p:sp>
      <p:sp>
        <p:nvSpPr>
          <p:cNvPr id="11" name="link-622"/>
          <p:cNvSpPr/>
          <p:nvPr/>
        </p:nvSpPr>
        <p:spPr>
          <a:xfrm>
            <a:off x="8549640" y="4526280"/>
            <a:ext cx="384048" cy="0"/>
          </a:xfrm>
          <a:prstGeom prst="line">
            <a:avLst/>
          </a:prstGeom>
          <a:noFill/>
          <a:ln w="38100">
            <a:solidFill>
              <a:schemeClr val="accent3"/>
            </a:solidFill>
            <a:prstDash val="solid"/>
          </a:ln>
        </p:spPr>
      </p:sp>
      <p:sp>
        <p:nvSpPr>
          <p:cNvPr id="12" name="link-623"/>
          <p:cNvSpPr/>
          <p:nvPr/>
        </p:nvSpPr>
        <p:spPr>
          <a:xfrm>
            <a:off x="8549640" y="4142232"/>
            <a:ext cx="0" cy="384048"/>
          </a:xfrm>
          <a:prstGeom prst="line">
            <a:avLst/>
          </a:prstGeom>
          <a:noFill/>
          <a:ln w="38100">
            <a:solidFill>
              <a:schemeClr val="accent3"/>
            </a:solidFill>
            <a:prstDash val="solid"/>
          </a:ln>
        </p:spPr>
      </p:sp>
      <p:sp>
        <p:nvSpPr>
          <p:cNvPr id="13" name="link-624"/>
          <p:cNvSpPr/>
          <p:nvPr/>
        </p:nvSpPr>
        <p:spPr>
          <a:xfrm>
            <a:off x="10817352" y="4526280"/>
            <a:ext cx="384048" cy="0"/>
          </a:xfrm>
          <a:prstGeom prst="line">
            <a:avLst/>
          </a:prstGeom>
          <a:noFill/>
          <a:ln w="38100">
            <a:solidFill>
              <a:schemeClr val="accent3"/>
            </a:solidFill>
            <a:prstDash val="solid"/>
          </a:ln>
        </p:spPr>
      </p:sp>
      <p:sp>
        <p:nvSpPr>
          <p:cNvPr id="14" name="link-625"/>
          <p:cNvSpPr/>
          <p:nvPr/>
        </p:nvSpPr>
        <p:spPr>
          <a:xfrm>
            <a:off x="11201400" y="4142232"/>
            <a:ext cx="0" cy="384048"/>
          </a:xfrm>
          <a:prstGeom prst="line">
            <a:avLst/>
          </a:prstGeom>
          <a:noFill/>
          <a:ln w="38100">
            <a:solidFill>
              <a:schemeClr val="accent3"/>
            </a:solidFill>
            <a:prstDash val="solid"/>
          </a:ln>
        </p:spPr>
      </p:sp>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548640" y="310896"/>
            <a:ext cx="8229600" cy="274320"/>
          </a:xfrm>
          <a:prstGeom prst="rect">
            <a:avLst/>
          </a:prstGeom>
          <a:noFill/>
          <a:ln/>
        </p:spPr>
        <p:txBody>
          <a:bodyPr wrap="square" lIns="0" tIns="0" rIns="0" bIns="0" rtlCol="0" anchor="ctr"/>
          <a:lstStyle/>
          <a:p>
            <a:pPr algn="l" indent="0" marL="0">
              <a:buNone/>
            </a:pPr>
            <a:r>
              <a:rPr lang="en-US" sz="1200" b="1" spc="150" kern="0" dirty="0">
                <a:solidFill>
                  <a:schemeClr val="accent2"/>
                </a:solidFill>
              </a:rPr>
              <a:t>RETRIEVAL · QUERY PIPELINE</a:t>
            </a:r>
            <a:endParaRPr lang="en-US" sz="1200" dirty="0"/>
          </a:p>
        </p:txBody>
      </p:sp>
      <p:sp>
        <p:nvSpPr>
          <p:cNvPr id="3" name="Text 0"/>
          <p:cNvSpPr/>
          <p:nvPr>
            <p:ph idx="101" type="title" hasCustomPrompt="1"/>
          </p:nvPr>
        </p:nvSpPr>
        <p:spPr>
          <a:xfrm>
            <a:off x="548640" y="603504"/>
            <a:ext cx="11094415" cy="868680"/>
          </a:xfrm>
          <a:prstGeom prst="rect">
            <a:avLst/>
          </a:prstGeom>
          <a:noFill/>
          <a:ln/>
        </p:spPr>
        <p:txBody>
          <a:bodyPr wrap="square" lIns="0" tIns="0" rIns="0" bIns="0" rtlCol="0" anchor="t"/>
          <a:lstStyle/>
          <a:p>
            <a:pPr algn="l" indent="0" marL="0">
              <a:buNone/>
            </a:pPr>
            <a:r>
              <a:rPr lang="en-US" sz="2800" b="1" dirty="0">
                <a:solidFill>
                  <a:schemeClr val="tx1"/>
                </a:solidFill>
              </a:rPr>
              <a:t>Ten stages turn a question into a cited answer</a:t>
            </a:r>
            <a:endParaRPr lang="en-US" sz="2800" dirty="0"/>
          </a:p>
        </p:txBody>
      </p:sp>
      <p:sp>
        <p:nvSpPr>
          <p:cNvPr id="5" name="zebra-626"/>
          <p:cNvSpPr/>
          <p:nvPr/>
        </p:nvSpPr>
        <p:spPr>
          <a:xfrm>
            <a:off x="548640" y="1627632"/>
            <a:ext cx="6400800" cy="452628"/>
          </a:xfrm>
          <a:prstGeom prst="rect">
            <a:avLst/>
          </a:prstGeom>
          <a:solidFill>
            <a:schemeClr val="bg2"/>
          </a:solidFill>
          <a:ln/>
        </p:spPr>
      </p:sp>
      <p:sp>
        <p:nvSpPr>
          <p:cNvPr id="6" name="chip-627"/>
          <p:cNvSpPr/>
          <p:nvPr/>
        </p:nvSpPr>
        <p:spPr>
          <a:xfrm>
            <a:off x="640080" y="1691640"/>
            <a:ext cx="310896" cy="310896"/>
          </a:xfrm>
          <a:prstGeom prst="ellipse">
            <a:avLst/>
          </a:prstGeom>
          <a:solidFill>
            <a:schemeClr val="tx2"/>
          </a:solidFill>
          <a:ln/>
        </p:spPr>
        <p:txBody>
          <a:bodyPr wrap="square" lIns="0" tIns="0" rIns="0" bIns="0" rtlCol="0" anchor="ctr"/>
          <a:lstStyle/>
          <a:p>
            <a:pPr algn="ctr" indent="0" marL="0">
              <a:buNone/>
            </a:pPr>
            <a:r>
              <a:rPr lang="en-US" sz="1150" b="1" dirty="0">
                <a:solidFill>
                  <a:schemeClr val="bg1"/>
                </a:solidFill>
              </a:rPr>
              <a:t>1</a:t>
            </a:r>
            <a:endParaRPr lang="en-US" sz="1150" dirty="0"/>
          </a:p>
        </p:txBody>
      </p:sp>
      <p:sp>
        <p:nvSpPr>
          <p:cNvPr id="7" name="text-628"/>
          <p:cNvSpPr txBox="1"/>
          <p:nvPr/>
        </p:nvSpPr>
        <p:spPr>
          <a:xfrm>
            <a:off x="1097280" y="1664208"/>
            <a:ext cx="1371600" cy="379476"/>
          </a:xfrm>
          <a:prstGeom prst="rect">
            <a:avLst/>
          </a:prstGeom>
          <a:noFill/>
          <a:ln/>
        </p:spPr>
        <p:txBody>
          <a:bodyPr wrap="square" lIns="0" tIns="0" rIns="0" bIns="0" rtlCol="0" anchor="ctr"/>
          <a:lstStyle/>
          <a:p>
            <a:pPr indent="0" marL="0">
              <a:buNone/>
            </a:pPr>
            <a:r>
              <a:rPr lang="en-US" sz="1400" b="1" dirty="0">
                <a:solidFill>
                  <a:schemeClr val="tx1"/>
                </a:solidFill>
              </a:rPr>
              <a:t>Rewrite</a:t>
            </a:r>
            <a:endParaRPr lang="en-US" sz="1400" dirty="0"/>
          </a:p>
        </p:txBody>
      </p:sp>
      <p:sp>
        <p:nvSpPr>
          <p:cNvPr id="8" name="text-629"/>
          <p:cNvSpPr txBox="1"/>
          <p:nvPr/>
        </p:nvSpPr>
        <p:spPr>
          <a:xfrm>
            <a:off x="2468880" y="1664208"/>
            <a:ext cx="4434840" cy="379476"/>
          </a:xfrm>
          <a:prstGeom prst="rect">
            <a:avLst/>
          </a:prstGeom>
          <a:noFill/>
          <a:ln/>
        </p:spPr>
        <p:txBody>
          <a:bodyPr wrap="square" lIns="0" tIns="0" rIns="0" bIns="0" rtlCol="0" anchor="ctr"/>
          <a:lstStyle/>
          <a:p>
            <a:pPr indent="0" marL="0">
              <a:buNone/>
            </a:pPr>
            <a:r>
              <a:rPr lang="en-US" sz="1250" dirty="0">
                <a:solidFill>
                  <a:schemeClr val="tx2"/>
                </a:solidFill>
              </a:rPr>
              <a:t>optional · 3 paraphrases · Llama-3.1-8B</a:t>
            </a:r>
            <a:endParaRPr lang="en-US" sz="1250" dirty="0"/>
          </a:p>
        </p:txBody>
      </p:sp>
      <p:sp>
        <p:nvSpPr>
          <p:cNvPr id="9" name="chip-630"/>
          <p:cNvSpPr/>
          <p:nvPr/>
        </p:nvSpPr>
        <p:spPr>
          <a:xfrm>
            <a:off x="640080" y="2144268"/>
            <a:ext cx="310896" cy="310896"/>
          </a:xfrm>
          <a:prstGeom prst="ellipse">
            <a:avLst/>
          </a:prstGeom>
          <a:solidFill>
            <a:schemeClr val="tx2"/>
          </a:solidFill>
          <a:ln/>
        </p:spPr>
        <p:txBody>
          <a:bodyPr wrap="square" lIns="0" tIns="0" rIns="0" bIns="0" rtlCol="0" anchor="ctr"/>
          <a:lstStyle/>
          <a:p>
            <a:pPr algn="ctr" indent="0" marL="0">
              <a:buNone/>
            </a:pPr>
            <a:r>
              <a:rPr lang="en-US" sz="1150" b="1" dirty="0">
                <a:solidFill>
                  <a:schemeClr val="bg1"/>
                </a:solidFill>
              </a:rPr>
              <a:t>2</a:t>
            </a:r>
            <a:endParaRPr lang="en-US" sz="1150" dirty="0"/>
          </a:p>
        </p:txBody>
      </p:sp>
      <p:sp>
        <p:nvSpPr>
          <p:cNvPr id="10" name="text-631"/>
          <p:cNvSpPr txBox="1"/>
          <p:nvPr/>
        </p:nvSpPr>
        <p:spPr>
          <a:xfrm>
            <a:off x="1097280" y="2116836"/>
            <a:ext cx="1371600" cy="379476"/>
          </a:xfrm>
          <a:prstGeom prst="rect">
            <a:avLst/>
          </a:prstGeom>
          <a:noFill/>
          <a:ln/>
        </p:spPr>
        <p:txBody>
          <a:bodyPr wrap="square" lIns="0" tIns="0" rIns="0" bIns="0" rtlCol="0" anchor="ctr"/>
          <a:lstStyle/>
          <a:p>
            <a:pPr indent="0" marL="0">
              <a:buNone/>
            </a:pPr>
            <a:r>
              <a:rPr lang="en-US" sz="1400" b="1" dirty="0">
                <a:solidFill>
                  <a:schemeClr val="tx1"/>
                </a:solidFill>
              </a:rPr>
              <a:t>HyDE</a:t>
            </a:r>
            <a:endParaRPr lang="en-US" sz="1400" dirty="0"/>
          </a:p>
        </p:txBody>
      </p:sp>
      <p:sp>
        <p:nvSpPr>
          <p:cNvPr id="11" name="text-632"/>
          <p:cNvSpPr txBox="1"/>
          <p:nvPr/>
        </p:nvSpPr>
        <p:spPr>
          <a:xfrm>
            <a:off x="2468880" y="2116836"/>
            <a:ext cx="4434840" cy="379476"/>
          </a:xfrm>
          <a:prstGeom prst="rect">
            <a:avLst/>
          </a:prstGeom>
          <a:noFill/>
          <a:ln/>
        </p:spPr>
        <p:txBody>
          <a:bodyPr wrap="square" lIns="0" tIns="0" rIns="0" bIns="0" rtlCol="0" anchor="ctr"/>
          <a:lstStyle/>
          <a:p>
            <a:pPr indent="0" marL="0">
              <a:buNone/>
            </a:pPr>
            <a:r>
              <a:rPr lang="en-US" sz="1250" dirty="0">
                <a:solidFill>
                  <a:schemeClr val="tx2"/>
                </a:solidFill>
              </a:rPr>
              <a:t>optional · hypothetical answer passage · 8B</a:t>
            </a:r>
            <a:endParaRPr lang="en-US" sz="1250" dirty="0"/>
          </a:p>
        </p:txBody>
      </p:sp>
      <p:sp>
        <p:nvSpPr>
          <p:cNvPr id="12" name="zebra-633"/>
          <p:cNvSpPr/>
          <p:nvPr/>
        </p:nvSpPr>
        <p:spPr>
          <a:xfrm>
            <a:off x="548640" y="2532888"/>
            <a:ext cx="6400800" cy="452628"/>
          </a:xfrm>
          <a:prstGeom prst="rect">
            <a:avLst/>
          </a:prstGeom>
          <a:solidFill>
            <a:schemeClr val="bg2"/>
          </a:solidFill>
          <a:ln/>
        </p:spPr>
      </p:sp>
      <p:sp>
        <p:nvSpPr>
          <p:cNvPr id="13" name="chip-634"/>
          <p:cNvSpPr/>
          <p:nvPr/>
        </p:nvSpPr>
        <p:spPr>
          <a:xfrm>
            <a:off x="640080" y="2596896"/>
            <a:ext cx="310896" cy="310896"/>
          </a:xfrm>
          <a:prstGeom prst="ellipse">
            <a:avLst/>
          </a:prstGeom>
          <a:solidFill>
            <a:schemeClr val="accent2"/>
          </a:solidFill>
          <a:ln/>
        </p:spPr>
        <p:txBody>
          <a:bodyPr wrap="square" lIns="0" tIns="0" rIns="0" bIns="0" rtlCol="0" anchor="ctr"/>
          <a:lstStyle/>
          <a:p>
            <a:pPr algn="ctr" indent="0" marL="0">
              <a:buNone/>
            </a:pPr>
            <a:r>
              <a:rPr lang="en-US" sz="1150" b="1" dirty="0">
                <a:solidFill>
                  <a:schemeClr val="bg1"/>
                </a:solidFill>
              </a:rPr>
              <a:t>3</a:t>
            </a:r>
            <a:endParaRPr lang="en-US" sz="1150" dirty="0"/>
          </a:p>
        </p:txBody>
      </p:sp>
      <p:sp>
        <p:nvSpPr>
          <p:cNvPr id="14" name="text-635"/>
          <p:cNvSpPr txBox="1"/>
          <p:nvPr/>
        </p:nvSpPr>
        <p:spPr>
          <a:xfrm>
            <a:off x="1097280" y="2569464"/>
            <a:ext cx="1371600" cy="379476"/>
          </a:xfrm>
          <a:prstGeom prst="rect">
            <a:avLst/>
          </a:prstGeom>
          <a:noFill/>
          <a:ln/>
        </p:spPr>
        <p:txBody>
          <a:bodyPr wrap="square" lIns="0" tIns="0" rIns="0" bIns="0" rtlCol="0" anchor="ctr"/>
          <a:lstStyle/>
          <a:p>
            <a:pPr indent="0" marL="0">
              <a:buNone/>
            </a:pPr>
            <a:r>
              <a:rPr lang="en-US" sz="1400" b="1" dirty="0">
                <a:solidFill>
                  <a:schemeClr val="tx1"/>
                </a:solidFill>
              </a:rPr>
              <a:t>Embed</a:t>
            </a:r>
            <a:endParaRPr lang="en-US" sz="1400" dirty="0"/>
          </a:p>
        </p:txBody>
      </p:sp>
      <p:sp>
        <p:nvSpPr>
          <p:cNvPr id="15" name="text-636"/>
          <p:cNvSpPr txBox="1"/>
          <p:nvPr/>
        </p:nvSpPr>
        <p:spPr>
          <a:xfrm>
            <a:off x="2468880" y="2569464"/>
            <a:ext cx="4434840" cy="379476"/>
          </a:xfrm>
          <a:prstGeom prst="rect">
            <a:avLst/>
          </a:prstGeom>
          <a:noFill/>
          <a:ln/>
        </p:spPr>
        <p:txBody>
          <a:bodyPr wrap="square" lIns="0" tIns="0" rIns="0" bIns="0" rtlCol="0" anchor="ctr"/>
          <a:lstStyle/>
          <a:p>
            <a:pPr indent="0" marL="0">
              <a:buNone/>
            </a:pPr>
            <a:r>
              <a:rPr lang="en-US" sz="1250" dirty="0">
                <a:solidFill>
                  <a:schemeClr val="tx2"/>
                </a:solidFill>
              </a:rPr>
              <a:t>gte-large-en-v1.5, 1024-D, all variants in one call</a:t>
            </a:r>
            <a:endParaRPr lang="en-US" sz="1250" dirty="0"/>
          </a:p>
        </p:txBody>
      </p:sp>
      <p:sp>
        <p:nvSpPr>
          <p:cNvPr id="16" name="chip-637"/>
          <p:cNvSpPr/>
          <p:nvPr/>
        </p:nvSpPr>
        <p:spPr>
          <a:xfrm>
            <a:off x="640080" y="3049524"/>
            <a:ext cx="310896" cy="310896"/>
          </a:xfrm>
          <a:prstGeom prst="ellipse">
            <a:avLst/>
          </a:prstGeom>
          <a:solidFill>
            <a:schemeClr val="accent2"/>
          </a:solidFill>
          <a:ln/>
        </p:spPr>
        <p:txBody>
          <a:bodyPr wrap="square" lIns="0" tIns="0" rIns="0" bIns="0" rtlCol="0" anchor="ctr"/>
          <a:lstStyle/>
          <a:p>
            <a:pPr algn="ctr" indent="0" marL="0">
              <a:buNone/>
            </a:pPr>
            <a:r>
              <a:rPr lang="en-US" sz="1150" b="1" dirty="0">
                <a:solidFill>
                  <a:schemeClr val="bg1"/>
                </a:solidFill>
              </a:rPr>
              <a:t>4</a:t>
            </a:r>
            <a:endParaRPr lang="en-US" sz="1150" dirty="0"/>
          </a:p>
        </p:txBody>
      </p:sp>
      <p:sp>
        <p:nvSpPr>
          <p:cNvPr id="17" name="text-638"/>
          <p:cNvSpPr txBox="1"/>
          <p:nvPr/>
        </p:nvSpPr>
        <p:spPr>
          <a:xfrm>
            <a:off x="1097280" y="3022092"/>
            <a:ext cx="1371600" cy="379476"/>
          </a:xfrm>
          <a:prstGeom prst="rect">
            <a:avLst/>
          </a:prstGeom>
          <a:noFill/>
          <a:ln/>
        </p:spPr>
        <p:txBody>
          <a:bodyPr wrap="square" lIns="0" tIns="0" rIns="0" bIns="0" rtlCol="0" anchor="ctr"/>
          <a:lstStyle/>
          <a:p>
            <a:pPr indent="0" marL="0">
              <a:buNone/>
            </a:pPr>
            <a:r>
              <a:rPr lang="en-US" sz="1400" b="1" dirty="0">
                <a:solidFill>
                  <a:schemeClr val="tx1"/>
                </a:solidFill>
              </a:rPr>
              <a:t>Dense</a:t>
            </a:r>
            <a:endParaRPr lang="en-US" sz="1400" dirty="0"/>
          </a:p>
        </p:txBody>
      </p:sp>
      <p:sp>
        <p:nvSpPr>
          <p:cNvPr id="18" name="text-639"/>
          <p:cNvSpPr txBox="1"/>
          <p:nvPr/>
        </p:nvSpPr>
        <p:spPr>
          <a:xfrm>
            <a:off x="2468880" y="3022092"/>
            <a:ext cx="4434840" cy="379476"/>
          </a:xfrm>
          <a:prstGeom prst="rect">
            <a:avLst/>
          </a:prstGeom>
          <a:noFill/>
          <a:ln/>
        </p:spPr>
        <p:txBody>
          <a:bodyPr wrap="square" lIns="0" tIns="0" rIns="0" bIns="0" rtlCol="0" anchor="ctr"/>
          <a:lstStyle/>
          <a:p>
            <a:pPr indent="0" marL="0">
              <a:buNone/>
            </a:pPr>
            <a:r>
              <a:rPr lang="en-US" sz="1250" dirty="0">
                <a:solidFill>
                  <a:schemeClr val="tx2"/>
                </a:solidFill>
              </a:rPr>
              <a:t>pgvector HNSW cosine · 50 per query vector</a:t>
            </a:r>
            <a:endParaRPr lang="en-US" sz="1250" dirty="0"/>
          </a:p>
        </p:txBody>
      </p:sp>
      <p:sp>
        <p:nvSpPr>
          <p:cNvPr id="19" name="zebra-640"/>
          <p:cNvSpPr/>
          <p:nvPr/>
        </p:nvSpPr>
        <p:spPr>
          <a:xfrm>
            <a:off x="548640" y="3438144"/>
            <a:ext cx="6400800" cy="452628"/>
          </a:xfrm>
          <a:prstGeom prst="rect">
            <a:avLst/>
          </a:prstGeom>
          <a:solidFill>
            <a:schemeClr val="bg2"/>
          </a:solidFill>
          <a:ln/>
        </p:spPr>
      </p:sp>
      <p:sp>
        <p:nvSpPr>
          <p:cNvPr id="20" name="chip-641"/>
          <p:cNvSpPr/>
          <p:nvPr/>
        </p:nvSpPr>
        <p:spPr>
          <a:xfrm>
            <a:off x="640080" y="3502152"/>
            <a:ext cx="310896" cy="310896"/>
          </a:xfrm>
          <a:prstGeom prst="ellipse">
            <a:avLst/>
          </a:prstGeom>
          <a:solidFill>
            <a:schemeClr val="accent2"/>
          </a:solidFill>
          <a:ln/>
        </p:spPr>
        <p:txBody>
          <a:bodyPr wrap="square" lIns="0" tIns="0" rIns="0" bIns="0" rtlCol="0" anchor="ctr"/>
          <a:lstStyle/>
          <a:p>
            <a:pPr algn="ctr" indent="0" marL="0">
              <a:buNone/>
            </a:pPr>
            <a:r>
              <a:rPr lang="en-US" sz="1150" b="1" dirty="0">
                <a:solidFill>
                  <a:schemeClr val="bg1"/>
                </a:solidFill>
              </a:rPr>
              <a:t>5</a:t>
            </a:r>
            <a:endParaRPr lang="en-US" sz="1150" dirty="0"/>
          </a:p>
        </p:txBody>
      </p:sp>
      <p:sp>
        <p:nvSpPr>
          <p:cNvPr id="21" name="text-642"/>
          <p:cNvSpPr txBox="1"/>
          <p:nvPr/>
        </p:nvSpPr>
        <p:spPr>
          <a:xfrm>
            <a:off x="1097280" y="3474720"/>
            <a:ext cx="1371600" cy="379476"/>
          </a:xfrm>
          <a:prstGeom prst="rect">
            <a:avLst/>
          </a:prstGeom>
          <a:noFill/>
          <a:ln/>
        </p:spPr>
        <p:txBody>
          <a:bodyPr wrap="square" lIns="0" tIns="0" rIns="0" bIns="0" rtlCol="0" anchor="ctr"/>
          <a:lstStyle/>
          <a:p>
            <a:pPr indent="0" marL="0">
              <a:buNone/>
            </a:pPr>
            <a:r>
              <a:rPr lang="en-US" sz="1400" b="1" dirty="0">
                <a:solidFill>
                  <a:schemeClr val="tx1"/>
                </a:solidFill>
              </a:rPr>
              <a:t>Lexical</a:t>
            </a:r>
            <a:endParaRPr lang="en-US" sz="1400" dirty="0"/>
          </a:p>
        </p:txBody>
      </p:sp>
      <p:sp>
        <p:nvSpPr>
          <p:cNvPr id="22" name="text-643"/>
          <p:cNvSpPr txBox="1"/>
          <p:nvPr/>
        </p:nvSpPr>
        <p:spPr>
          <a:xfrm>
            <a:off x="2468880" y="3474720"/>
            <a:ext cx="4434840" cy="379476"/>
          </a:xfrm>
          <a:prstGeom prst="rect">
            <a:avLst/>
          </a:prstGeom>
          <a:noFill/>
          <a:ln/>
        </p:spPr>
        <p:txBody>
          <a:bodyPr wrap="square" lIns="0" tIns="0" rIns="0" bIns="0" rtlCol="0" anchor="ctr"/>
          <a:lstStyle/>
          <a:p>
            <a:pPr indent="0" marL="0">
              <a:buNone/>
            </a:pPr>
            <a:r>
              <a:rPr lang="en-US" sz="1250" dirty="0">
                <a:solidFill>
                  <a:schemeClr val="tx2"/>
                </a:solidFill>
              </a:rPr>
              <a:t>Postgres full text · ts_rank_cd · 50 rows</a:t>
            </a:r>
            <a:endParaRPr lang="en-US" sz="1250" dirty="0"/>
          </a:p>
        </p:txBody>
      </p:sp>
      <p:sp>
        <p:nvSpPr>
          <p:cNvPr id="23" name="chip-644"/>
          <p:cNvSpPr/>
          <p:nvPr/>
        </p:nvSpPr>
        <p:spPr>
          <a:xfrm>
            <a:off x="640080" y="3954780"/>
            <a:ext cx="310896" cy="310896"/>
          </a:xfrm>
          <a:prstGeom prst="ellipse">
            <a:avLst/>
          </a:prstGeom>
          <a:solidFill>
            <a:schemeClr val="accent2"/>
          </a:solidFill>
          <a:ln/>
        </p:spPr>
        <p:txBody>
          <a:bodyPr wrap="square" lIns="0" tIns="0" rIns="0" bIns="0" rtlCol="0" anchor="ctr"/>
          <a:lstStyle/>
          <a:p>
            <a:pPr algn="ctr" indent="0" marL="0">
              <a:buNone/>
            </a:pPr>
            <a:r>
              <a:rPr lang="en-US" sz="1150" b="1" dirty="0">
                <a:solidFill>
                  <a:schemeClr val="bg1"/>
                </a:solidFill>
              </a:rPr>
              <a:t>6</a:t>
            </a:r>
            <a:endParaRPr lang="en-US" sz="1150" dirty="0"/>
          </a:p>
        </p:txBody>
      </p:sp>
      <p:sp>
        <p:nvSpPr>
          <p:cNvPr id="24" name="text-645"/>
          <p:cNvSpPr txBox="1"/>
          <p:nvPr/>
        </p:nvSpPr>
        <p:spPr>
          <a:xfrm>
            <a:off x="1097280" y="3927348"/>
            <a:ext cx="1371600" cy="379476"/>
          </a:xfrm>
          <a:prstGeom prst="rect">
            <a:avLst/>
          </a:prstGeom>
          <a:noFill/>
          <a:ln/>
        </p:spPr>
        <p:txBody>
          <a:bodyPr wrap="square" lIns="0" tIns="0" rIns="0" bIns="0" rtlCol="0" anchor="ctr"/>
          <a:lstStyle/>
          <a:p>
            <a:pPr indent="0" marL="0">
              <a:buNone/>
            </a:pPr>
            <a:r>
              <a:rPr lang="en-US" sz="1400" b="1" dirty="0">
                <a:solidFill>
                  <a:schemeClr val="tx1"/>
                </a:solidFill>
              </a:rPr>
              <a:t>Fuse</a:t>
            </a:r>
            <a:endParaRPr lang="en-US" sz="1400" dirty="0"/>
          </a:p>
        </p:txBody>
      </p:sp>
      <p:sp>
        <p:nvSpPr>
          <p:cNvPr id="25" name="text-646"/>
          <p:cNvSpPr txBox="1"/>
          <p:nvPr/>
        </p:nvSpPr>
        <p:spPr>
          <a:xfrm>
            <a:off x="2468880" y="3927348"/>
            <a:ext cx="4434840" cy="379476"/>
          </a:xfrm>
          <a:prstGeom prst="rect">
            <a:avLst/>
          </a:prstGeom>
          <a:noFill/>
          <a:ln/>
        </p:spPr>
        <p:txBody>
          <a:bodyPr wrap="square" lIns="0" tIns="0" rIns="0" bIns="0" rtlCol="0" anchor="ctr"/>
          <a:lstStyle/>
          <a:p>
            <a:pPr indent="0" marL="0">
              <a:buNone/>
            </a:pPr>
            <a:r>
              <a:rPr lang="en-US" sz="1250" dirty="0">
                <a:solidFill>
                  <a:schemeClr val="tx2"/>
                </a:solidFill>
              </a:rPr>
              <a:t>Reciprocal Rank Fusion · k = 60 · keeps 24</a:t>
            </a:r>
            <a:endParaRPr lang="en-US" sz="1250" dirty="0"/>
          </a:p>
        </p:txBody>
      </p:sp>
      <p:sp>
        <p:nvSpPr>
          <p:cNvPr id="26" name="zebra-647"/>
          <p:cNvSpPr/>
          <p:nvPr/>
        </p:nvSpPr>
        <p:spPr>
          <a:xfrm>
            <a:off x="548640" y="4343400"/>
            <a:ext cx="6400800" cy="452628"/>
          </a:xfrm>
          <a:prstGeom prst="rect">
            <a:avLst/>
          </a:prstGeom>
          <a:solidFill>
            <a:schemeClr val="bg2"/>
          </a:solidFill>
          <a:ln/>
        </p:spPr>
      </p:sp>
      <p:sp>
        <p:nvSpPr>
          <p:cNvPr id="27" name="chip-648"/>
          <p:cNvSpPr/>
          <p:nvPr/>
        </p:nvSpPr>
        <p:spPr>
          <a:xfrm>
            <a:off x="640080" y="4407408"/>
            <a:ext cx="310896" cy="310896"/>
          </a:xfrm>
          <a:prstGeom prst="ellipse">
            <a:avLst/>
          </a:prstGeom>
          <a:solidFill>
            <a:schemeClr val="accent2"/>
          </a:solidFill>
          <a:ln/>
        </p:spPr>
        <p:txBody>
          <a:bodyPr wrap="square" lIns="0" tIns="0" rIns="0" bIns="0" rtlCol="0" anchor="ctr"/>
          <a:lstStyle/>
          <a:p>
            <a:pPr algn="ctr" indent="0" marL="0">
              <a:buNone/>
            </a:pPr>
            <a:r>
              <a:rPr lang="en-US" sz="1150" b="1" dirty="0">
                <a:solidFill>
                  <a:schemeClr val="bg1"/>
                </a:solidFill>
              </a:rPr>
              <a:t>7</a:t>
            </a:r>
            <a:endParaRPr lang="en-US" sz="1150" dirty="0"/>
          </a:p>
        </p:txBody>
      </p:sp>
      <p:sp>
        <p:nvSpPr>
          <p:cNvPr id="28" name="text-649"/>
          <p:cNvSpPr txBox="1"/>
          <p:nvPr/>
        </p:nvSpPr>
        <p:spPr>
          <a:xfrm>
            <a:off x="1097280" y="4379976"/>
            <a:ext cx="1371600" cy="379476"/>
          </a:xfrm>
          <a:prstGeom prst="rect">
            <a:avLst/>
          </a:prstGeom>
          <a:noFill/>
          <a:ln/>
        </p:spPr>
        <p:txBody>
          <a:bodyPr wrap="square" lIns="0" tIns="0" rIns="0" bIns="0" rtlCol="0" anchor="ctr"/>
          <a:lstStyle/>
          <a:p>
            <a:pPr indent="0" marL="0">
              <a:buNone/>
            </a:pPr>
            <a:r>
              <a:rPr lang="en-US" sz="1400" b="1" dirty="0">
                <a:solidFill>
                  <a:schemeClr val="tx1"/>
                </a:solidFill>
              </a:rPr>
              <a:t>Rerank</a:t>
            </a:r>
            <a:endParaRPr lang="en-US" sz="1400" dirty="0"/>
          </a:p>
        </p:txBody>
      </p:sp>
      <p:sp>
        <p:nvSpPr>
          <p:cNvPr id="29" name="text-650"/>
          <p:cNvSpPr txBox="1"/>
          <p:nvPr/>
        </p:nvSpPr>
        <p:spPr>
          <a:xfrm>
            <a:off x="2468880" y="4379976"/>
            <a:ext cx="4434840" cy="379476"/>
          </a:xfrm>
          <a:prstGeom prst="rect">
            <a:avLst/>
          </a:prstGeom>
          <a:noFill/>
          <a:ln/>
        </p:spPr>
        <p:txBody>
          <a:bodyPr wrap="square" lIns="0" tIns="0" rIns="0" bIns="0" rtlCol="0" anchor="ctr"/>
          <a:lstStyle/>
          <a:p>
            <a:pPr indent="0" marL="0">
              <a:buNone/>
            </a:pPr>
            <a:r>
              <a:rPr lang="en-US" sz="1250" dirty="0">
                <a:solidFill>
                  <a:schemeClr val="tx2"/>
                </a:solidFill>
              </a:rPr>
              <a:t>Llama-3.3-70B listwise · top 20 · temperature 0</a:t>
            </a:r>
            <a:endParaRPr lang="en-US" sz="1250" dirty="0"/>
          </a:p>
        </p:txBody>
      </p:sp>
      <p:sp>
        <p:nvSpPr>
          <p:cNvPr id="30" name="chip-651"/>
          <p:cNvSpPr/>
          <p:nvPr/>
        </p:nvSpPr>
        <p:spPr>
          <a:xfrm>
            <a:off x="640080" y="4860036"/>
            <a:ext cx="310896" cy="310896"/>
          </a:xfrm>
          <a:prstGeom prst="ellipse">
            <a:avLst/>
          </a:prstGeom>
          <a:solidFill>
            <a:schemeClr val="accent2"/>
          </a:solidFill>
          <a:ln/>
        </p:spPr>
        <p:txBody>
          <a:bodyPr wrap="square" lIns="0" tIns="0" rIns="0" bIns="0" rtlCol="0" anchor="ctr"/>
          <a:lstStyle/>
          <a:p>
            <a:pPr algn="ctr" indent="0" marL="0">
              <a:buNone/>
            </a:pPr>
            <a:r>
              <a:rPr lang="en-US" sz="1150" b="1" dirty="0">
                <a:solidFill>
                  <a:schemeClr val="bg1"/>
                </a:solidFill>
              </a:rPr>
              <a:t>8</a:t>
            </a:r>
            <a:endParaRPr lang="en-US" sz="1150" dirty="0"/>
          </a:p>
        </p:txBody>
      </p:sp>
      <p:sp>
        <p:nvSpPr>
          <p:cNvPr id="31" name="text-652"/>
          <p:cNvSpPr txBox="1"/>
          <p:nvPr/>
        </p:nvSpPr>
        <p:spPr>
          <a:xfrm>
            <a:off x="1097280" y="4832604"/>
            <a:ext cx="1371600" cy="379476"/>
          </a:xfrm>
          <a:prstGeom prst="rect">
            <a:avLst/>
          </a:prstGeom>
          <a:noFill/>
          <a:ln/>
        </p:spPr>
        <p:txBody>
          <a:bodyPr wrap="square" lIns="0" tIns="0" rIns="0" bIns="0" rtlCol="0" anchor="ctr"/>
          <a:lstStyle/>
          <a:p>
            <a:pPr indent="0" marL="0">
              <a:buNone/>
            </a:pPr>
            <a:r>
              <a:rPr lang="en-US" sz="1400" b="1" dirty="0">
                <a:solidFill>
                  <a:schemeClr val="tx1"/>
                </a:solidFill>
              </a:rPr>
              <a:t>Diversify</a:t>
            </a:r>
            <a:endParaRPr lang="en-US" sz="1400" dirty="0"/>
          </a:p>
        </p:txBody>
      </p:sp>
      <p:sp>
        <p:nvSpPr>
          <p:cNvPr id="32" name="text-653"/>
          <p:cNvSpPr txBox="1"/>
          <p:nvPr/>
        </p:nvSpPr>
        <p:spPr>
          <a:xfrm>
            <a:off x="2468880" y="4832604"/>
            <a:ext cx="4434840" cy="379476"/>
          </a:xfrm>
          <a:prstGeom prst="rect">
            <a:avLst/>
          </a:prstGeom>
          <a:noFill/>
          <a:ln/>
        </p:spPr>
        <p:txBody>
          <a:bodyPr wrap="square" lIns="0" tIns="0" rIns="0" bIns="0" rtlCol="0" anchor="ctr"/>
          <a:lstStyle/>
          <a:p>
            <a:pPr indent="0" marL="0">
              <a:buNone/>
            </a:pPr>
            <a:r>
              <a:rPr lang="en-US" sz="1250" dirty="0">
                <a:solidFill>
                  <a:schemeClr val="tx2"/>
                </a:solidFill>
              </a:rPr>
              <a:t>MMR · λ = 0.7 · final 8</a:t>
            </a:r>
            <a:endParaRPr lang="en-US" sz="1250" dirty="0"/>
          </a:p>
        </p:txBody>
      </p:sp>
      <p:sp>
        <p:nvSpPr>
          <p:cNvPr id="33" name="zebra-654"/>
          <p:cNvSpPr/>
          <p:nvPr/>
        </p:nvSpPr>
        <p:spPr>
          <a:xfrm>
            <a:off x="548640" y="5248656"/>
            <a:ext cx="6400800" cy="452628"/>
          </a:xfrm>
          <a:prstGeom prst="rect">
            <a:avLst/>
          </a:prstGeom>
          <a:solidFill>
            <a:schemeClr val="bg2"/>
          </a:solidFill>
          <a:ln/>
        </p:spPr>
      </p:sp>
      <p:sp>
        <p:nvSpPr>
          <p:cNvPr id="34" name="chip-655"/>
          <p:cNvSpPr/>
          <p:nvPr/>
        </p:nvSpPr>
        <p:spPr>
          <a:xfrm>
            <a:off x="640080" y="5312664"/>
            <a:ext cx="310896" cy="310896"/>
          </a:xfrm>
          <a:prstGeom prst="ellipse">
            <a:avLst/>
          </a:prstGeom>
          <a:solidFill>
            <a:schemeClr val="tx2"/>
          </a:solidFill>
          <a:ln/>
        </p:spPr>
        <p:txBody>
          <a:bodyPr wrap="square" lIns="0" tIns="0" rIns="0" bIns="0" rtlCol="0" anchor="ctr"/>
          <a:lstStyle/>
          <a:p>
            <a:pPr algn="ctr" indent="0" marL="0">
              <a:buNone/>
            </a:pPr>
            <a:r>
              <a:rPr lang="en-US" sz="1150" b="1" dirty="0">
                <a:solidFill>
                  <a:schemeClr val="bg1"/>
                </a:solidFill>
              </a:rPr>
              <a:t>9</a:t>
            </a:r>
            <a:endParaRPr lang="en-US" sz="1150" dirty="0"/>
          </a:p>
        </p:txBody>
      </p:sp>
      <p:sp>
        <p:nvSpPr>
          <p:cNvPr id="35" name="text-656"/>
          <p:cNvSpPr txBox="1"/>
          <p:nvPr/>
        </p:nvSpPr>
        <p:spPr>
          <a:xfrm>
            <a:off x="1097280" y="5285232"/>
            <a:ext cx="1371600" cy="379476"/>
          </a:xfrm>
          <a:prstGeom prst="rect">
            <a:avLst/>
          </a:prstGeom>
          <a:noFill/>
          <a:ln/>
        </p:spPr>
        <p:txBody>
          <a:bodyPr wrap="square" lIns="0" tIns="0" rIns="0" bIns="0" rtlCol="0" anchor="ctr"/>
          <a:lstStyle/>
          <a:p>
            <a:pPr indent="0" marL="0">
              <a:buNone/>
            </a:pPr>
            <a:r>
              <a:rPr lang="en-US" sz="1400" b="1" dirty="0">
                <a:solidFill>
                  <a:schemeClr val="tx1"/>
                </a:solidFill>
              </a:rPr>
              <a:t>Grade</a:t>
            </a:r>
            <a:endParaRPr lang="en-US" sz="1400" dirty="0"/>
          </a:p>
        </p:txBody>
      </p:sp>
      <p:sp>
        <p:nvSpPr>
          <p:cNvPr id="36" name="text-657"/>
          <p:cNvSpPr txBox="1"/>
          <p:nvPr/>
        </p:nvSpPr>
        <p:spPr>
          <a:xfrm>
            <a:off x="2468880" y="5285232"/>
            <a:ext cx="4434840" cy="379476"/>
          </a:xfrm>
          <a:prstGeom prst="rect">
            <a:avLst/>
          </a:prstGeom>
          <a:noFill/>
          <a:ln/>
        </p:spPr>
        <p:txBody>
          <a:bodyPr wrap="square" lIns="0" tIns="0" rIns="0" bIns="0" rtlCol="0" anchor="ctr"/>
          <a:lstStyle/>
          <a:p>
            <a:pPr indent="0" marL="0">
              <a:buNone/>
            </a:pPr>
            <a:r>
              <a:rPr lang="en-US" sz="1250" dirty="0">
                <a:solidFill>
                  <a:schemeClr val="tx2"/>
                </a:solidFill>
              </a:rPr>
              <a:t>optional · CRAG confidence badge · 8B</a:t>
            </a:r>
            <a:endParaRPr lang="en-US" sz="1250" dirty="0"/>
          </a:p>
        </p:txBody>
      </p:sp>
      <p:sp>
        <p:nvSpPr>
          <p:cNvPr id="37" name="chip-658"/>
          <p:cNvSpPr/>
          <p:nvPr/>
        </p:nvSpPr>
        <p:spPr>
          <a:xfrm>
            <a:off x="640080" y="5765292"/>
            <a:ext cx="310896" cy="310896"/>
          </a:xfrm>
          <a:prstGeom prst="ellipse">
            <a:avLst/>
          </a:prstGeom>
          <a:solidFill>
            <a:schemeClr val="accent2"/>
          </a:solidFill>
          <a:ln/>
        </p:spPr>
        <p:txBody>
          <a:bodyPr wrap="square" lIns="0" tIns="0" rIns="0" bIns="0" rtlCol="0" anchor="ctr"/>
          <a:lstStyle/>
          <a:p>
            <a:pPr algn="ctr" indent="0" marL="0">
              <a:buNone/>
            </a:pPr>
            <a:r>
              <a:rPr lang="en-US" sz="1150" b="1" dirty="0">
                <a:solidFill>
                  <a:schemeClr val="bg1"/>
                </a:solidFill>
              </a:rPr>
              <a:t>10</a:t>
            </a:r>
            <a:endParaRPr lang="en-US" sz="1150" dirty="0"/>
          </a:p>
        </p:txBody>
      </p:sp>
      <p:sp>
        <p:nvSpPr>
          <p:cNvPr id="38" name="text-659"/>
          <p:cNvSpPr txBox="1"/>
          <p:nvPr/>
        </p:nvSpPr>
        <p:spPr>
          <a:xfrm>
            <a:off x="1097280" y="5737860"/>
            <a:ext cx="1371600" cy="379476"/>
          </a:xfrm>
          <a:prstGeom prst="rect">
            <a:avLst/>
          </a:prstGeom>
          <a:noFill/>
          <a:ln/>
        </p:spPr>
        <p:txBody>
          <a:bodyPr wrap="square" lIns="0" tIns="0" rIns="0" bIns="0" rtlCol="0" anchor="ctr"/>
          <a:lstStyle/>
          <a:p>
            <a:pPr indent="0" marL="0">
              <a:buNone/>
            </a:pPr>
            <a:r>
              <a:rPr lang="en-US" sz="1400" b="1" dirty="0">
                <a:solidFill>
                  <a:schemeClr val="tx1"/>
                </a:solidFill>
              </a:rPr>
              <a:t>Generate</a:t>
            </a:r>
            <a:endParaRPr lang="en-US" sz="1400" dirty="0"/>
          </a:p>
        </p:txBody>
      </p:sp>
      <p:sp>
        <p:nvSpPr>
          <p:cNvPr id="39" name="text-660"/>
          <p:cNvSpPr txBox="1"/>
          <p:nvPr/>
        </p:nvSpPr>
        <p:spPr>
          <a:xfrm>
            <a:off x="2468880" y="5737860"/>
            <a:ext cx="4434840" cy="379476"/>
          </a:xfrm>
          <a:prstGeom prst="rect">
            <a:avLst/>
          </a:prstGeom>
          <a:noFill/>
          <a:ln/>
        </p:spPr>
        <p:txBody>
          <a:bodyPr wrap="square" lIns="0" tIns="0" rIns="0" bIns="0" rtlCol="0" anchor="ctr"/>
          <a:lstStyle/>
          <a:p>
            <a:pPr indent="0" marL="0">
              <a:buNone/>
            </a:pPr>
            <a:r>
              <a:rPr lang="en-US" sz="1250" dirty="0">
                <a:solidFill>
                  <a:schemeClr val="tx2"/>
                </a:solidFill>
              </a:rPr>
              <a:t>Llama-4-Scout · T 0.2 · ≤ 1,500 tokens · [N] cited</a:t>
            </a:r>
            <a:endParaRPr lang="en-US" sz="1250" dirty="0"/>
          </a:p>
        </p:txBody>
      </p:sp>
      <p:sp>
        <p:nvSpPr>
          <p:cNvPr id="40" name="text-661"/>
          <p:cNvSpPr txBox="1"/>
          <p:nvPr/>
        </p:nvSpPr>
        <p:spPr>
          <a:xfrm>
            <a:off x="7315200" y="1627632"/>
            <a:ext cx="4327855" cy="292608"/>
          </a:xfrm>
          <a:prstGeom prst="rect">
            <a:avLst/>
          </a:prstGeom>
          <a:noFill/>
          <a:ln/>
        </p:spPr>
        <p:txBody>
          <a:bodyPr wrap="square" lIns="0" tIns="0" rIns="0" bIns="0" rtlCol="0" anchor="ctr"/>
          <a:lstStyle/>
          <a:p>
            <a:pPr algn="ctr" indent="0" marL="0">
              <a:buNone/>
            </a:pPr>
            <a:r>
              <a:rPr lang="en-US" sz="1300" b="1" dirty="0">
                <a:solidFill>
                  <a:schemeClr val="tx2"/>
                </a:solidFill>
              </a:rPr>
              <a:t>Candidates at each step</a:t>
            </a:r>
            <a:endParaRPr lang="en-US" sz="1300" dirty="0"/>
          </a:p>
        </p:txBody>
      </p:sp>
      <p:sp>
        <p:nvSpPr>
          <p:cNvPr id="41" name="pill-662"/>
          <p:cNvSpPr/>
          <p:nvPr/>
        </p:nvSpPr>
        <p:spPr>
          <a:xfrm>
            <a:off x="7315200" y="2057400"/>
            <a:ext cx="4327855" cy="548640"/>
          </a:xfrm>
          <a:prstGeom prst="roundRect">
            <a:avLst>
              <a:gd name="adj" fmla="val 50000"/>
            </a:avLst>
          </a:prstGeom>
          <a:solidFill>
            <a:schemeClr val="tx1"/>
          </a:solidFill>
          <a:ln/>
        </p:spPr>
        <p:txBody>
          <a:bodyPr wrap="square" lIns="0" tIns="0" rIns="0" bIns="0" rtlCol="0" anchor="ctr"/>
          <a:lstStyle/>
          <a:p>
            <a:pPr algn="ctr" indent="0" marL="0">
              <a:buNone/>
            </a:pPr>
            <a:r>
              <a:rPr lang="en-US" sz="1350" b="1" dirty="0">
                <a:solidFill>
                  <a:schemeClr val="bg1"/>
                </a:solidFill>
              </a:rPr>
              <a:t>50 dense + 50 lexical</a:t>
            </a:r>
            <a:endParaRPr lang="en-US" sz="1350" dirty="0"/>
          </a:p>
        </p:txBody>
      </p:sp>
      <p:sp>
        <p:nvSpPr>
          <p:cNvPr id="42" name="pill-663"/>
          <p:cNvSpPr/>
          <p:nvPr/>
        </p:nvSpPr>
        <p:spPr>
          <a:xfrm>
            <a:off x="7747986" y="2807208"/>
            <a:ext cx="3462284" cy="548640"/>
          </a:xfrm>
          <a:prstGeom prst="roundRect">
            <a:avLst>
              <a:gd name="adj" fmla="val 50000"/>
            </a:avLst>
          </a:prstGeom>
          <a:solidFill>
            <a:schemeClr val="tx1"/>
          </a:solidFill>
          <a:ln/>
        </p:spPr>
        <p:txBody>
          <a:bodyPr wrap="square" lIns="0" tIns="0" rIns="0" bIns="0" rtlCol="0" anchor="ctr"/>
          <a:lstStyle/>
          <a:p>
            <a:pPr algn="ctr" indent="0" marL="0">
              <a:buNone/>
            </a:pPr>
            <a:r>
              <a:rPr lang="en-US" sz="1350" b="1" dirty="0">
                <a:solidFill>
                  <a:schemeClr val="bg1"/>
                </a:solidFill>
              </a:rPr>
              <a:t>24 fused</a:t>
            </a:r>
            <a:endParaRPr lang="en-US" sz="1350" dirty="0"/>
          </a:p>
        </p:txBody>
      </p:sp>
      <p:sp>
        <p:nvSpPr>
          <p:cNvPr id="43" name="pill-664"/>
          <p:cNvSpPr/>
          <p:nvPr/>
        </p:nvSpPr>
        <p:spPr>
          <a:xfrm>
            <a:off x="8094214" y="3557016"/>
            <a:ext cx="2769827" cy="548640"/>
          </a:xfrm>
          <a:prstGeom prst="roundRect">
            <a:avLst>
              <a:gd name="adj" fmla="val 50000"/>
            </a:avLst>
          </a:prstGeom>
          <a:solidFill>
            <a:schemeClr val="accent2"/>
          </a:solidFill>
          <a:ln/>
        </p:spPr>
        <p:txBody>
          <a:bodyPr wrap="square" lIns="0" tIns="0" rIns="0" bIns="0" rtlCol="0" anchor="ctr"/>
          <a:lstStyle/>
          <a:p>
            <a:pPr algn="ctr" indent="0" marL="0">
              <a:buNone/>
            </a:pPr>
            <a:r>
              <a:rPr lang="en-US" sz="1350" b="1" dirty="0">
                <a:solidFill>
                  <a:schemeClr val="bg1"/>
                </a:solidFill>
              </a:rPr>
              <a:t>20 reranked</a:t>
            </a:r>
            <a:endParaRPr lang="en-US" sz="1350" dirty="0"/>
          </a:p>
        </p:txBody>
      </p:sp>
      <p:sp>
        <p:nvSpPr>
          <p:cNvPr id="44" name="pill-665"/>
          <p:cNvSpPr/>
          <p:nvPr/>
        </p:nvSpPr>
        <p:spPr>
          <a:xfrm>
            <a:off x="8440442" y="4306824"/>
            <a:ext cx="2077370" cy="548640"/>
          </a:xfrm>
          <a:prstGeom prst="roundRect">
            <a:avLst>
              <a:gd name="adj" fmla="val 50000"/>
            </a:avLst>
          </a:prstGeom>
          <a:solidFill>
            <a:schemeClr val="accent2"/>
          </a:solidFill>
          <a:ln/>
        </p:spPr>
        <p:txBody>
          <a:bodyPr wrap="square" lIns="0" tIns="0" rIns="0" bIns="0" rtlCol="0" anchor="ctr"/>
          <a:lstStyle/>
          <a:p>
            <a:pPr algn="ctr" indent="0" marL="0">
              <a:buNone/>
            </a:pPr>
            <a:r>
              <a:rPr lang="en-US" sz="1350" b="1" dirty="0">
                <a:solidFill>
                  <a:schemeClr val="bg1"/>
                </a:solidFill>
              </a:rPr>
              <a:t>8 in context</a:t>
            </a:r>
            <a:endParaRPr lang="en-US" sz="1350" dirty="0"/>
          </a:p>
        </p:txBody>
      </p:sp>
      <p:sp>
        <p:nvSpPr>
          <p:cNvPr id="45" name="pill-666"/>
          <p:cNvSpPr/>
          <p:nvPr/>
        </p:nvSpPr>
        <p:spPr>
          <a:xfrm>
            <a:off x="8656835" y="5056632"/>
            <a:ext cx="1644585" cy="548640"/>
          </a:xfrm>
          <a:prstGeom prst="roundRect">
            <a:avLst>
              <a:gd name="adj" fmla="val 50000"/>
            </a:avLst>
          </a:prstGeom>
          <a:solidFill>
            <a:schemeClr val="accent3"/>
          </a:solidFill>
          <a:ln/>
        </p:spPr>
        <p:txBody>
          <a:bodyPr wrap="square" lIns="0" tIns="0" rIns="0" bIns="0" rtlCol="0" anchor="ctr"/>
          <a:lstStyle/>
          <a:p>
            <a:pPr algn="ctr" indent="0" marL="0">
              <a:buNone/>
            </a:pPr>
            <a:r>
              <a:rPr lang="en-US" sz="1350" b="1" dirty="0">
                <a:solidFill>
                  <a:schemeClr val="tx1"/>
                </a:solidFill>
              </a:rPr>
              <a:t>1 cited answer</a:t>
            </a:r>
            <a:endParaRPr lang="en-US" sz="1350" dirty="0"/>
          </a:p>
        </p:txBody>
      </p:sp>
      <p:sp>
        <p:nvSpPr>
          <p:cNvPr id="46" name="text-667"/>
          <p:cNvSpPr txBox="1"/>
          <p:nvPr/>
        </p:nvSpPr>
        <p:spPr>
          <a:xfrm>
            <a:off x="7315200" y="5870448"/>
            <a:ext cx="4327855" cy="329184"/>
          </a:xfrm>
          <a:prstGeom prst="rect">
            <a:avLst/>
          </a:prstGeom>
          <a:noFill/>
          <a:ln/>
        </p:spPr>
        <p:txBody>
          <a:bodyPr wrap="square" lIns="0" tIns="0" rIns="0" bIns="0" rtlCol="0" anchor="t"/>
          <a:lstStyle/>
          <a:p>
            <a:pPr algn="ctr" indent="0" marL="0">
              <a:buNone/>
            </a:pPr>
            <a:r>
              <a:rPr lang="en-US" sz="1100" dirty="0">
                <a:solidFill>
                  <a:schemeClr val="tx2"/>
                </a:solidFill>
              </a:rPr>
              <a:t>Counts per query vector with defaults; rewrite and HyDE add more dense lists before fusion.</a:t>
            </a:r>
            <a:endParaRPr lang="en-US" sz="1100" dirty="0"/>
          </a:p>
        </p:txBody>
      </p:sp>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tx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548640" y="310896"/>
            <a:ext cx="8229600" cy="274320"/>
          </a:xfrm>
          <a:prstGeom prst="rect">
            <a:avLst/>
          </a:prstGeom>
          <a:noFill/>
          <a:ln/>
        </p:spPr>
        <p:txBody>
          <a:bodyPr wrap="square" lIns="0" tIns="0" rIns="0" bIns="0" rtlCol="0" anchor="ctr"/>
          <a:lstStyle/>
          <a:p>
            <a:pPr algn="l" indent="0" marL="0">
              <a:buNone/>
            </a:pPr>
            <a:r>
              <a:rPr lang="en-US" sz="1200" b="1" spc="150" kern="0" dirty="0">
                <a:solidFill>
                  <a:schemeClr val="accent2"/>
                </a:solidFill>
              </a:rPr>
              <a:t>RETRIEVAL · ALGORITHMS</a:t>
            </a:r>
            <a:endParaRPr lang="en-US" sz="1200" dirty="0"/>
          </a:p>
        </p:txBody>
      </p:sp>
      <p:sp>
        <p:nvSpPr>
          <p:cNvPr id="3" name="Text 0"/>
          <p:cNvSpPr/>
          <p:nvPr>
            <p:ph idx="101" type="title" hasCustomPrompt="1"/>
          </p:nvPr>
        </p:nvSpPr>
        <p:spPr>
          <a:xfrm>
            <a:off x="548640" y="603504"/>
            <a:ext cx="11094415" cy="868680"/>
          </a:xfrm>
          <a:prstGeom prst="rect">
            <a:avLst/>
          </a:prstGeom>
          <a:noFill/>
          <a:ln/>
        </p:spPr>
        <p:txBody>
          <a:bodyPr wrap="square" lIns="0" tIns="0" rIns="0" bIns="0" rtlCol="0" anchor="t"/>
          <a:lstStyle/>
          <a:p>
            <a:pPr algn="l" indent="0" marL="0">
              <a:buNone/>
            </a:pPr>
            <a:r>
              <a:rPr lang="en-US" sz="2800" b="1" dirty="0">
                <a:solidFill>
                  <a:schemeClr val="tx1"/>
                </a:solidFill>
              </a:rPr>
              <a:t>Why the ranking works: each algorithm fixes a known failure</a:t>
            </a:r>
            <a:endParaRPr lang="en-US" sz="2800" dirty="0"/>
          </a:p>
        </p:txBody>
      </p:sp>
      <p:sp>
        <p:nvSpPr>
          <p:cNvPr id="5" name="card-668"/>
          <p:cNvSpPr/>
          <p:nvPr/>
        </p:nvSpPr>
        <p:spPr>
          <a:xfrm>
            <a:off x="548640" y="1645920"/>
            <a:ext cx="3527450" cy="2130552"/>
          </a:xfrm>
          <a:prstGeom prst="roundRect">
            <a:avLst>
              <a:gd name="adj" fmla="val 3433"/>
            </a:avLst>
          </a:prstGeom>
          <a:solidFill>
            <a:schemeClr val="bg1"/>
          </a:solidFill>
          <a:ln w="9525">
            <a:solidFill>
              <a:schemeClr val="accent6"/>
            </a:solidFill>
            <a:prstDash val="solid"/>
          </a:ln>
        </p:spPr>
      </p:sp>
      <p:sp>
        <p:nvSpPr>
          <p:cNvPr id="6" name="badge-669"/>
          <p:cNvSpPr/>
          <p:nvPr/>
        </p:nvSpPr>
        <p:spPr>
          <a:xfrm>
            <a:off x="768096" y="1865376"/>
            <a:ext cx="457200" cy="457200"/>
          </a:xfrm>
          <a:prstGeom prst="ellipse">
            <a:avLst/>
          </a:prstGeom>
          <a:solidFill>
            <a:schemeClr val="accent2"/>
          </a:solidFill>
          <a:ln/>
        </p:spPr>
      </p:sp>
      <p:pic>
        <p:nvPicPr>
          <p:cNvPr id="7" name="icon-TbArrowsShuffle-670" descr="ArrowsShuffle">    </p:cNvPr>
          <p:cNvPicPr>
            <a:picLocks noChangeAspect="1"/>
          </p:cNvPicPr>
          <p:nvPr/>
        </p:nvPicPr>
        <p:blipFill>
          <a:blip r:embed="rId1"/>
          <a:stretch>
            <a:fillRect/>
          </a:stretch>
        </p:blipFill>
        <p:spPr>
          <a:xfrm>
            <a:off x="868680" y="1965960"/>
            <a:ext cx="256032" cy="256032"/>
          </a:xfrm>
          <a:prstGeom prst="rect">
            <a:avLst/>
          </a:prstGeom>
        </p:spPr>
      </p:pic>
      <p:sp>
        <p:nvSpPr>
          <p:cNvPr id="8" name="text-671"/>
          <p:cNvSpPr txBox="1"/>
          <p:nvPr/>
        </p:nvSpPr>
        <p:spPr>
          <a:xfrm>
            <a:off x="1353312" y="1865376"/>
            <a:ext cx="2567330" cy="457200"/>
          </a:xfrm>
          <a:prstGeom prst="rect">
            <a:avLst/>
          </a:prstGeom>
          <a:noFill/>
          <a:ln/>
        </p:spPr>
        <p:txBody>
          <a:bodyPr wrap="square" lIns="0" tIns="0" rIns="0" bIns="0" rtlCol="0" anchor="ctr"/>
          <a:lstStyle/>
          <a:p>
            <a:pPr indent="0" marL="0">
              <a:buNone/>
            </a:pPr>
            <a:r>
              <a:rPr lang="en-US" sz="1550" b="1" dirty="0">
                <a:solidFill>
                  <a:schemeClr val="tx1"/>
                </a:solidFill>
              </a:rPr>
              <a:t>Hybrid search + RRF</a:t>
            </a:r>
            <a:endParaRPr lang="en-US" sz="1550" dirty="0"/>
          </a:p>
        </p:txBody>
      </p:sp>
      <p:sp>
        <p:nvSpPr>
          <p:cNvPr id="9" name="text-672"/>
          <p:cNvSpPr txBox="1"/>
          <p:nvPr/>
        </p:nvSpPr>
        <p:spPr>
          <a:xfrm>
            <a:off x="768096" y="2468880"/>
            <a:ext cx="3088538" cy="329184"/>
          </a:xfrm>
          <a:prstGeom prst="rect">
            <a:avLst/>
          </a:prstGeom>
          <a:solidFill>
            <a:schemeClr val="bg2"/>
          </a:solidFill>
          <a:ln/>
        </p:spPr>
        <p:txBody>
          <a:bodyPr wrap="square" lIns="76200" tIns="0" rIns="76200" bIns="0" rtlCol="0" anchor="ctr"/>
          <a:lstStyle/>
          <a:p>
            <a:pPr indent="0" marL="0">
              <a:buNone/>
            </a:pPr>
            <a:r>
              <a:rPr lang="en-US" sz="1150" b="1" dirty="0">
                <a:solidFill>
                  <a:schemeClr val="accent2"/>
                </a:solidFill>
                <a:latin typeface="Courier New" pitchFamily="34" charset="0"/>
                <a:ea typeface="Courier New" pitchFamily="34" charset="-122"/>
                <a:cs typeface="Courier New" pitchFamily="34" charset="-120"/>
              </a:rPr>
              <a:t>score(d) = Σ 1 / (60 + rank)</a:t>
            </a:r>
            <a:endParaRPr lang="en-US" sz="1150" dirty="0"/>
          </a:p>
        </p:txBody>
      </p:sp>
      <p:sp>
        <p:nvSpPr>
          <p:cNvPr id="10" name="text-673"/>
          <p:cNvSpPr txBox="1"/>
          <p:nvPr/>
        </p:nvSpPr>
        <p:spPr>
          <a:xfrm>
            <a:off x="768096" y="2889504"/>
            <a:ext cx="3088538" cy="777240"/>
          </a:xfrm>
          <a:prstGeom prst="rect">
            <a:avLst/>
          </a:prstGeom>
          <a:noFill/>
          <a:ln/>
        </p:spPr>
        <p:txBody>
          <a:bodyPr wrap="square" lIns="0" tIns="0" rIns="0" bIns="0" rtlCol="0" anchor="t"/>
          <a:lstStyle/>
          <a:p>
            <a:pPr indent="0" marL="0">
              <a:buNone/>
            </a:pPr>
            <a:r>
              <a:rPr lang="en-US" sz="1350" dirty="0">
                <a:solidFill>
                  <a:schemeClr val="tx2"/>
                </a:solidFill>
              </a:rPr>
              <a:t>No score calibration needed; lexical search catches IDs and figures that embeddings blur.</a:t>
            </a:r>
            <a:endParaRPr lang="en-US" sz="1350" dirty="0"/>
          </a:p>
        </p:txBody>
      </p:sp>
      <p:sp>
        <p:nvSpPr>
          <p:cNvPr id="11" name="card-674"/>
          <p:cNvSpPr/>
          <p:nvPr/>
        </p:nvSpPr>
        <p:spPr>
          <a:xfrm>
            <a:off x="4332122" y="1645920"/>
            <a:ext cx="3527450" cy="2130552"/>
          </a:xfrm>
          <a:prstGeom prst="roundRect">
            <a:avLst>
              <a:gd name="adj" fmla="val 3433"/>
            </a:avLst>
          </a:prstGeom>
          <a:solidFill>
            <a:schemeClr val="bg1"/>
          </a:solidFill>
          <a:ln w="9525">
            <a:solidFill>
              <a:schemeClr val="accent6"/>
            </a:solidFill>
            <a:prstDash val="solid"/>
          </a:ln>
        </p:spPr>
      </p:sp>
      <p:sp>
        <p:nvSpPr>
          <p:cNvPr id="12" name="badge-675"/>
          <p:cNvSpPr/>
          <p:nvPr/>
        </p:nvSpPr>
        <p:spPr>
          <a:xfrm>
            <a:off x="4551578" y="1865376"/>
            <a:ext cx="457200" cy="457200"/>
          </a:xfrm>
          <a:prstGeom prst="ellipse">
            <a:avLst/>
          </a:prstGeom>
          <a:solidFill>
            <a:schemeClr val="accent2"/>
          </a:solidFill>
          <a:ln/>
        </p:spPr>
      </p:sp>
      <p:pic>
        <p:nvPicPr>
          <p:cNvPr id="13" name="icon-TbMessageQuestion-676" descr="MessageQuestion">    </p:cNvPr>
          <p:cNvPicPr>
            <a:picLocks noChangeAspect="1"/>
          </p:cNvPicPr>
          <p:nvPr/>
        </p:nvPicPr>
        <p:blipFill>
          <a:blip r:embed="rId2"/>
          <a:stretch>
            <a:fillRect/>
          </a:stretch>
        </p:blipFill>
        <p:spPr>
          <a:xfrm>
            <a:off x="4652162" y="1965960"/>
            <a:ext cx="256032" cy="256032"/>
          </a:xfrm>
          <a:prstGeom prst="rect">
            <a:avLst/>
          </a:prstGeom>
        </p:spPr>
      </p:pic>
      <p:sp>
        <p:nvSpPr>
          <p:cNvPr id="14" name="text-677"/>
          <p:cNvSpPr txBox="1"/>
          <p:nvPr/>
        </p:nvSpPr>
        <p:spPr>
          <a:xfrm>
            <a:off x="5136794" y="1865376"/>
            <a:ext cx="2567330" cy="457200"/>
          </a:xfrm>
          <a:prstGeom prst="rect">
            <a:avLst/>
          </a:prstGeom>
          <a:noFill/>
          <a:ln/>
        </p:spPr>
        <p:txBody>
          <a:bodyPr wrap="square" lIns="0" tIns="0" rIns="0" bIns="0" rtlCol="0" anchor="ctr"/>
          <a:lstStyle/>
          <a:p>
            <a:pPr indent="0" marL="0">
              <a:buNone/>
            </a:pPr>
            <a:r>
              <a:rPr lang="en-US" sz="1550" b="1" dirty="0">
                <a:solidFill>
                  <a:schemeClr val="tx1"/>
                </a:solidFill>
              </a:rPr>
              <a:t>Multi-query + HyDE</a:t>
            </a:r>
            <a:endParaRPr lang="en-US" sz="1550" dirty="0"/>
          </a:p>
        </p:txBody>
      </p:sp>
      <p:sp>
        <p:nvSpPr>
          <p:cNvPr id="15" name="text-678"/>
          <p:cNvSpPr txBox="1"/>
          <p:nvPr/>
        </p:nvSpPr>
        <p:spPr>
          <a:xfrm>
            <a:off x="4551578" y="2468880"/>
            <a:ext cx="3088538" cy="1197864"/>
          </a:xfrm>
          <a:prstGeom prst="rect">
            <a:avLst/>
          </a:prstGeom>
          <a:noFill/>
          <a:ln/>
        </p:spPr>
        <p:txBody>
          <a:bodyPr wrap="square" lIns="0" tIns="0" rIns="0" bIns="0" rtlCol="0" anchor="t"/>
          <a:lstStyle/>
          <a:p>
            <a:pPr indent="0" marL="0">
              <a:buNone/>
            </a:pPr>
            <a:r>
              <a:rPr lang="en-US" sz="1350" dirty="0">
                <a:solidFill>
                  <a:schemeClr val="tx2"/>
                </a:solidFill>
              </a:rPr>
              <a:t>Three paraphrases and a hypothetical answer each run as their own ranking, lifting recall on vague questions.</a:t>
            </a:r>
            <a:endParaRPr lang="en-US" sz="1350" dirty="0"/>
          </a:p>
        </p:txBody>
      </p:sp>
      <p:sp>
        <p:nvSpPr>
          <p:cNvPr id="16" name="card-679"/>
          <p:cNvSpPr/>
          <p:nvPr/>
        </p:nvSpPr>
        <p:spPr>
          <a:xfrm>
            <a:off x="8115605" y="1645920"/>
            <a:ext cx="3527450" cy="2130552"/>
          </a:xfrm>
          <a:prstGeom prst="roundRect">
            <a:avLst>
              <a:gd name="adj" fmla="val 3433"/>
            </a:avLst>
          </a:prstGeom>
          <a:solidFill>
            <a:schemeClr val="bg1"/>
          </a:solidFill>
          <a:ln w="9525">
            <a:solidFill>
              <a:schemeClr val="accent6"/>
            </a:solidFill>
            <a:prstDash val="solid"/>
          </a:ln>
        </p:spPr>
      </p:sp>
      <p:sp>
        <p:nvSpPr>
          <p:cNvPr id="17" name="badge-680"/>
          <p:cNvSpPr/>
          <p:nvPr/>
        </p:nvSpPr>
        <p:spPr>
          <a:xfrm>
            <a:off x="8335061" y="1865376"/>
            <a:ext cx="457200" cy="457200"/>
          </a:xfrm>
          <a:prstGeom prst="ellipse">
            <a:avLst/>
          </a:prstGeom>
          <a:solidFill>
            <a:schemeClr val="accent2"/>
          </a:solidFill>
          <a:ln/>
        </p:spPr>
      </p:sp>
      <p:pic>
        <p:nvPicPr>
          <p:cNvPr id="18" name="icon-TbSortDescending-681" descr="SortDescending">    </p:cNvPr>
          <p:cNvPicPr>
            <a:picLocks noChangeAspect="1"/>
          </p:cNvPicPr>
          <p:nvPr/>
        </p:nvPicPr>
        <p:blipFill>
          <a:blip r:embed="rId3"/>
          <a:stretch>
            <a:fillRect/>
          </a:stretch>
        </p:blipFill>
        <p:spPr>
          <a:xfrm>
            <a:off x="8435645" y="1965960"/>
            <a:ext cx="256032" cy="256032"/>
          </a:xfrm>
          <a:prstGeom prst="rect">
            <a:avLst/>
          </a:prstGeom>
        </p:spPr>
      </p:pic>
      <p:sp>
        <p:nvSpPr>
          <p:cNvPr id="19" name="text-682"/>
          <p:cNvSpPr txBox="1"/>
          <p:nvPr/>
        </p:nvSpPr>
        <p:spPr>
          <a:xfrm>
            <a:off x="8920277" y="1865376"/>
            <a:ext cx="2567330" cy="457200"/>
          </a:xfrm>
          <a:prstGeom prst="rect">
            <a:avLst/>
          </a:prstGeom>
          <a:noFill/>
          <a:ln/>
        </p:spPr>
        <p:txBody>
          <a:bodyPr wrap="square" lIns="0" tIns="0" rIns="0" bIns="0" rtlCol="0" anchor="ctr"/>
          <a:lstStyle/>
          <a:p>
            <a:pPr indent="0" marL="0">
              <a:buNone/>
            </a:pPr>
            <a:r>
              <a:rPr lang="en-US" sz="1550" b="1" dirty="0">
                <a:solidFill>
                  <a:schemeClr val="tx1"/>
                </a:solidFill>
              </a:rPr>
              <a:t>Listwise LLM rerank</a:t>
            </a:r>
            <a:endParaRPr lang="en-US" sz="1550" dirty="0"/>
          </a:p>
        </p:txBody>
      </p:sp>
      <p:sp>
        <p:nvSpPr>
          <p:cNvPr id="20" name="text-683"/>
          <p:cNvSpPr txBox="1"/>
          <p:nvPr/>
        </p:nvSpPr>
        <p:spPr>
          <a:xfrm>
            <a:off x="8335061" y="2468880"/>
            <a:ext cx="3088538" cy="329184"/>
          </a:xfrm>
          <a:prstGeom prst="rect">
            <a:avLst/>
          </a:prstGeom>
          <a:solidFill>
            <a:schemeClr val="bg2"/>
          </a:solidFill>
          <a:ln/>
        </p:spPr>
        <p:txBody>
          <a:bodyPr wrap="square" lIns="76200" tIns="0" rIns="76200" bIns="0" rtlCol="0" anchor="ctr"/>
          <a:lstStyle/>
          <a:p>
            <a:pPr indent="0" marL="0">
              <a:buNone/>
            </a:pPr>
            <a:r>
              <a:rPr lang="en-US" sz="1150" b="1" dirty="0">
                <a:solidFill>
                  <a:schemeClr val="accent2"/>
                </a:solidFill>
                <a:latin typeface="Courier New" pitchFamily="34" charset="0"/>
                <a:ea typeface="Courier New" pitchFamily="34" charset="-122"/>
                <a:cs typeface="Courier New" pitchFamily="34" charset="-120"/>
              </a:rPr>
              <a:t>Llama-3.3-70B · top 20 · T = 0</a:t>
            </a:r>
            <a:endParaRPr lang="en-US" sz="1150" dirty="0"/>
          </a:p>
        </p:txBody>
      </p:sp>
      <p:sp>
        <p:nvSpPr>
          <p:cNvPr id="21" name="text-684"/>
          <p:cNvSpPr txBox="1"/>
          <p:nvPr/>
        </p:nvSpPr>
        <p:spPr>
          <a:xfrm>
            <a:off x="8335061" y="2889504"/>
            <a:ext cx="3088538" cy="777240"/>
          </a:xfrm>
          <a:prstGeom prst="rect">
            <a:avLst/>
          </a:prstGeom>
          <a:noFill/>
          <a:ln/>
        </p:spPr>
        <p:txBody>
          <a:bodyPr wrap="square" lIns="0" tIns="0" rIns="0" bIns="0" rtlCol="0" anchor="t"/>
          <a:lstStyle/>
          <a:p>
            <a:pPr indent="0" marL="0">
              <a:buNone/>
            </a:pPr>
            <a:r>
              <a:rPr lang="en-US" sz="1350" dirty="0">
                <a:solidFill>
                  <a:schemeClr val="tx2"/>
                </a:solidFill>
              </a:rPr>
              <a:t>Returns strict JSON ids; unknown ids are dropped, and any failure keeps the fused order.</a:t>
            </a:r>
            <a:endParaRPr lang="en-US" sz="1350" dirty="0"/>
          </a:p>
        </p:txBody>
      </p:sp>
      <p:sp>
        <p:nvSpPr>
          <p:cNvPr id="22" name="card-685"/>
          <p:cNvSpPr/>
          <p:nvPr/>
        </p:nvSpPr>
        <p:spPr>
          <a:xfrm>
            <a:off x="548640" y="4032504"/>
            <a:ext cx="3527450" cy="2130552"/>
          </a:xfrm>
          <a:prstGeom prst="roundRect">
            <a:avLst>
              <a:gd name="adj" fmla="val 3433"/>
            </a:avLst>
          </a:prstGeom>
          <a:solidFill>
            <a:schemeClr val="bg1"/>
          </a:solidFill>
          <a:ln w="9525">
            <a:solidFill>
              <a:schemeClr val="accent6"/>
            </a:solidFill>
            <a:prstDash val="solid"/>
          </a:ln>
        </p:spPr>
      </p:sp>
      <p:sp>
        <p:nvSpPr>
          <p:cNvPr id="23" name="badge-686"/>
          <p:cNvSpPr/>
          <p:nvPr/>
        </p:nvSpPr>
        <p:spPr>
          <a:xfrm>
            <a:off x="768096" y="4251960"/>
            <a:ext cx="457200" cy="457200"/>
          </a:xfrm>
          <a:prstGeom prst="ellipse">
            <a:avLst/>
          </a:prstGeom>
          <a:solidFill>
            <a:schemeClr val="accent2"/>
          </a:solidFill>
          <a:ln/>
        </p:spPr>
      </p:sp>
      <p:pic>
        <p:nvPicPr>
          <p:cNvPr id="24" name="icon-TbLayersSubtract-687" descr="LayersSubtract">    </p:cNvPr>
          <p:cNvPicPr>
            <a:picLocks noChangeAspect="1"/>
          </p:cNvPicPr>
          <p:nvPr/>
        </p:nvPicPr>
        <p:blipFill>
          <a:blip r:embed="rId4"/>
          <a:stretch>
            <a:fillRect/>
          </a:stretch>
        </p:blipFill>
        <p:spPr>
          <a:xfrm>
            <a:off x="868680" y="4352544"/>
            <a:ext cx="256032" cy="256032"/>
          </a:xfrm>
          <a:prstGeom prst="rect">
            <a:avLst/>
          </a:prstGeom>
        </p:spPr>
      </p:pic>
      <p:sp>
        <p:nvSpPr>
          <p:cNvPr id="25" name="text-688"/>
          <p:cNvSpPr txBox="1"/>
          <p:nvPr/>
        </p:nvSpPr>
        <p:spPr>
          <a:xfrm>
            <a:off x="1353312" y="4251960"/>
            <a:ext cx="2567330" cy="457200"/>
          </a:xfrm>
          <a:prstGeom prst="rect">
            <a:avLst/>
          </a:prstGeom>
          <a:noFill/>
          <a:ln/>
        </p:spPr>
        <p:txBody>
          <a:bodyPr wrap="square" lIns="0" tIns="0" rIns="0" bIns="0" rtlCol="0" anchor="ctr"/>
          <a:lstStyle/>
          <a:p>
            <a:pPr indent="0" marL="0">
              <a:buNone/>
            </a:pPr>
            <a:r>
              <a:rPr lang="en-US" sz="1550" b="1" dirty="0">
                <a:solidFill>
                  <a:schemeClr val="tx1"/>
                </a:solidFill>
              </a:rPr>
              <a:t>MMR diversity</a:t>
            </a:r>
            <a:endParaRPr lang="en-US" sz="1550" dirty="0"/>
          </a:p>
        </p:txBody>
      </p:sp>
      <p:sp>
        <p:nvSpPr>
          <p:cNvPr id="26" name="text-689"/>
          <p:cNvSpPr txBox="1"/>
          <p:nvPr/>
        </p:nvSpPr>
        <p:spPr>
          <a:xfrm>
            <a:off x="768096" y="4855464"/>
            <a:ext cx="3088538" cy="329184"/>
          </a:xfrm>
          <a:prstGeom prst="rect">
            <a:avLst/>
          </a:prstGeom>
          <a:solidFill>
            <a:schemeClr val="bg2"/>
          </a:solidFill>
          <a:ln/>
        </p:spPr>
        <p:txBody>
          <a:bodyPr wrap="square" lIns="76200" tIns="0" rIns="76200" bIns="0" rtlCol="0" anchor="ctr"/>
          <a:lstStyle/>
          <a:p>
            <a:pPr indent="0" marL="0">
              <a:buNone/>
            </a:pPr>
            <a:r>
              <a:rPr lang="en-US" sz="1150" b="1" dirty="0">
                <a:solidFill>
                  <a:schemeClr val="accent2"/>
                </a:solidFill>
                <a:latin typeface="Courier New" pitchFamily="34" charset="0"/>
                <a:ea typeface="Courier New" pitchFamily="34" charset="-122"/>
                <a:cs typeface="Courier New" pitchFamily="34" charset="-120"/>
              </a:rPr>
              <a:t>0.7·rel − 0.3·redundancy</a:t>
            </a:r>
            <a:endParaRPr lang="en-US" sz="1150" dirty="0"/>
          </a:p>
        </p:txBody>
      </p:sp>
      <p:sp>
        <p:nvSpPr>
          <p:cNvPr id="27" name="text-690"/>
          <p:cNvSpPr txBox="1"/>
          <p:nvPr/>
        </p:nvSpPr>
        <p:spPr>
          <a:xfrm>
            <a:off x="768096" y="5276088"/>
            <a:ext cx="3088538" cy="777240"/>
          </a:xfrm>
          <a:prstGeom prst="rect">
            <a:avLst/>
          </a:prstGeom>
          <a:noFill/>
          <a:ln/>
        </p:spPr>
        <p:txBody>
          <a:bodyPr wrap="square" lIns="0" tIns="0" rIns="0" bIns="0" rtlCol="0" anchor="t"/>
          <a:lstStyle/>
          <a:p>
            <a:pPr indent="0" marL="0">
              <a:buNone/>
            </a:pPr>
            <a:r>
              <a:rPr lang="en-US" sz="1350" dirty="0">
                <a:solidFill>
                  <a:schemeClr val="tx2"/>
                </a:solidFill>
              </a:rPr>
              <a:t>Spreads the final 8 across documents and pages instead of returning near-duplicates.</a:t>
            </a:r>
            <a:endParaRPr lang="en-US" sz="1350" dirty="0"/>
          </a:p>
        </p:txBody>
      </p:sp>
      <p:sp>
        <p:nvSpPr>
          <p:cNvPr id="28" name="card-691"/>
          <p:cNvSpPr/>
          <p:nvPr/>
        </p:nvSpPr>
        <p:spPr>
          <a:xfrm>
            <a:off x="4332122" y="4032504"/>
            <a:ext cx="3527450" cy="2130552"/>
          </a:xfrm>
          <a:prstGeom prst="roundRect">
            <a:avLst>
              <a:gd name="adj" fmla="val 3433"/>
            </a:avLst>
          </a:prstGeom>
          <a:solidFill>
            <a:schemeClr val="bg1"/>
          </a:solidFill>
          <a:ln w="9525">
            <a:solidFill>
              <a:schemeClr val="accent6"/>
            </a:solidFill>
            <a:prstDash val="solid"/>
          </a:ln>
        </p:spPr>
      </p:sp>
      <p:sp>
        <p:nvSpPr>
          <p:cNvPr id="29" name="badge-692"/>
          <p:cNvSpPr/>
          <p:nvPr/>
        </p:nvSpPr>
        <p:spPr>
          <a:xfrm>
            <a:off x="4551578" y="4251960"/>
            <a:ext cx="457200" cy="457200"/>
          </a:xfrm>
          <a:prstGeom prst="ellipse">
            <a:avLst/>
          </a:prstGeom>
          <a:solidFill>
            <a:schemeClr val="accent2"/>
          </a:solidFill>
          <a:ln/>
        </p:spPr>
      </p:sp>
      <p:pic>
        <p:nvPicPr>
          <p:cNvPr id="30" name="icon-TbSparkles-693" descr="Sparkles">    </p:cNvPr>
          <p:cNvPicPr>
            <a:picLocks noChangeAspect="1"/>
          </p:cNvPicPr>
          <p:nvPr/>
        </p:nvPicPr>
        <p:blipFill>
          <a:blip r:embed="rId5"/>
          <a:stretch>
            <a:fillRect/>
          </a:stretch>
        </p:blipFill>
        <p:spPr>
          <a:xfrm>
            <a:off x="4652162" y="4352544"/>
            <a:ext cx="256032" cy="256032"/>
          </a:xfrm>
          <a:prstGeom prst="rect">
            <a:avLst/>
          </a:prstGeom>
        </p:spPr>
      </p:pic>
      <p:sp>
        <p:nvSpPr>
          <p:cNvPr id="31" name="text-694"/>
          <p:cNvSpPr txBox="1"/>
          <p:nvPr/>
        </p:nvSpPr>
        <p:spPr>
          <a:xfrm>
            <a:off x="5136794" y="4251960"/>
            <a:ext cx="2567330" cy="457200"/>
          </a:xfrm>
          <a:prstGeom prst="rect">
            <a:avLst/>
          </a:prstGeom>
          <a:noFill/>
          <a:ln/>
        </p:spPr>
        <p:txBody>
          <a:bodyPr wrap="square" lIns="0" tIns="0" rIns="0" bIns="0" rtlCol="0" anchor="ctr"/>
          <a:lstStyle/>
          <a:p>
            <a:pPr indent="0" marL="0">
              <a:buNone/>
            </a:pPr>
            <a:r>
              <a:rPr lang="en-US" sz="1550" b="1" dirty="0">
                <a:solidFill>
                  <a:schemeClr val="tx1"/>
                </a:solidFill>
              </a:rPr>
              <a:t>Contextual embeddings</a:t>
            </a:r>
            <a:endParaRPr lang="en-US" sz="1550" dirty="0"/>
          </a:p>
        </p:txBody>
      </p:sp>
      <p:sp>
        <p:nvSpPr>
          <p:cNvPr id="32" name="text-695"/>
          <p:cNvSpPr txBox="1"/>
          <p:nvPr/>
        </p:nvSpPr>
        <p:spPr>
          <a:xfrm>
            <a:off x="4551578" y="4855464"/>
            <a:ext cx="3088538" cy="1197864"/>
          </a:xfrm>
          <a:prstGeom prst="rect">
            <a:avLst/>
          </a:prstGeom>
          <a:noFill/>
          <a:ln/>
        </p:spPr>
        <p:txBody>
          <a:bodyPr wrap="square" lIns="0" tIns="0" rIns="0" bIns="0" rtlCol="0" anchor="t"/>
          <a:lstStyle/>
          <a:p>
            <a:pPr indent="0" marL="0">
              <a:buNone/>
            </a:pPr>
            <a:r>
              <a:rPr lang="en-US" sz="1350" dirty="0">
                <a:solidFill>
                  <a:schemeClr val="tx2"/>
                </a:solidFill>
              </a:rPr>
              <a:t>A short LLM prefix situates each chunk in its document before embedding, so isolated chunks keep their meaning.</a:t>
            </a:r>
            <a:endParaRPr lang="en-US" sz="1350" dirty="0"/>
          </a:p>
        </p:txBody>
      </p:sp>
      <p:sp>
        <p:nvSpPr>
          <p:cNvPr id="33" name="card-696"/>
          <p:cNvSpPr/>
          <p:nvPr/>
        </p:nvSpPr>
        <p:spPr>
          <a:xfrm>
            <a:off x="8115605" y="4032504"/>
            <a:ext cx="3527450" cy="2130552"/>
          </a:xfrm>
          <a:prstGeom prst="roundRect">
            <a:avLst>
              <a:gd name="adj" fmla="val 3433"/>
            </a:avLst>
          </a:prstGeom>
          <a:solidFill>
            <a:schemeClr val="bg1"/>
          </a:solidFill>
          <a:ln w="9525">
            <a:solidFill>
              <a:schemeClr val="accent6"/>
            </a:solidFill>
            <a:prstDash val="solid"/>
          </a:ln>
        </p:spPr>
      </p:sp>
      <p:sp>
        <p:nvSpPr>
          <p:cNvPr id="34" name="badge-697"/>
          <p:cNvSpPr/>
          <p:nvPr/>
        </p:nvSpPr>
        <p:spPr>
          <a:xfrm>
            <a:off x="8335061" y="4251960"/>
            <a:ext cx="457200" cy="457200"/>
          </a:xfrm>
          <a:prstGeom prst="ellipse">
            <a:avLst/>
          </a:prstGeom>
          <a:solidFill>
            <a:schemeClr val="accent2"/>
          </a:solidFill>
          <a:ln/>
        </p:spPr>
      </p:sp>
      <p:pic>
        <p:nvPicPr>
          <p:cNvPr id="35" name="icon-TbQuote-698" descr="Quote">    </p:cNvPr>
          <p:cNvPicPr>
            <a:picLocks noChangeAspect="1"/>
          </p:cNvPicPr>
          <p:nvPr/>
        </p:nvPicPr>
        <p:blipFill>
          <a:blip r:embed="rId6"/>
          <a:stretch>
            <a:fillRect/>
          </a:stretch>
        </p:blipFill>
        <p:spPr>
          <a:xfrm>
            <a:off x="8435645" y="4352544"/>
            <a:ext cx="256032" cy="256032"/>
          </a:xfrm>
          <a:prstGeom prst="rect">
            <a:avLst/>
          </a:prstGeom>
        </p:spPr>
      </p:pic>
      <p:sp>
        <p:nvSpPr>
          <p:cNvPr id="36" name="text-699"/>
          <p:cNvSpPr txBox="1"/>
          <p:nvPr/>
        </p:nvSpPr>
        <p:spPr>
          <a:xfrm>
            <a:off x="8920277" y="4251960"/>
            <a:ext cx="2567330" cy="457200"/>
          </a:xfrm>
          <a:prstGeom prst="rect">
            <a:avLst/>
          </a:prstGeom>
          <a:noFill/>
          <a:ln/>
        </p:spPr>
        <p:txBody>
          <a:bodyPr wrap="square" lIns="0" tIns="0" rIns="0" bIns="0" rtlCol="0" anchor="ctr"/>
          <a:lstStyle/>
          <a:p>
            <a:pPr indent="0" marL="0">
              <a:buNone/>
            </a:pPr>
            <a:r>
              <a:rPr lang="en-US" sz="1550" b="1" dirty="0">
                <a:solidFill>
                  <a:schemeClr val="tx1"/>
                </a:solidFill>
              </a:rPr>
              <a:t>Grounded generation</a:t>
            </a:r>
            <a:endParaRPr lang="en-US" sz="1550" dirty="0"/>
          </a:p>
        </p:txBody>
      </p:sp>
      <p:sp>
        <p:nvSpPr>
          <p:cNvPr id="37" name="text-700"/>
          <p:cNvSpPr txBox="1"/>
          <p:nvPr/>
        </p:nvSpPr>
        <p:spPr>
          <a:xfrm>
            <a:off x="8335061" y="4855464"/>
            <a:ext cx="3088538" cy="329184"/>
          </a:xfrm>
          <a:prstGeom prst="rect">
            <a:avLst/>
          </a:prstGeom>
          <a:solidFill>
            <a:schemeClr val="bg2"/>
          </a:solidFill>
          <a:ln/>
        </p:spPr>
        <p:txBody>
          <a:bodyPr wrap="square" lIns="76200" tIns="0" rIns="76200" bIns="0" rtlCol="0" anchor="ctr"/>
          <a:lstStyle/>
          <a:p>
            <a:pPr indent="0" marL="0">
              <a:buNone/>
            </a:pPr>
            <a:r>
              <a:rPr lang="en-US" sz="1150" b="1" dirty="0">
                <a:solidFill>
                  <a:schemeClr val="accent2"/>
                </a:solidFill>
                <a:latin typeface="Courier New" pitchFamily="34" charset="0"/>
                <a:ea typeface="Courier New" pitchFamily="34" charset="-122"/>
                <a:cs typeface="Courier New" pitchFamily="34" charset="-120"/>
              </a:rPr>
              <a:t>[N] after every claim</a:t>
            </a:r>
            <a:endParaRPr lang="en-US" sz="1150" dirty="0"/>
          </a:p>
        </p:txBody>
      </p:sp>
      <p:sp>
        <p:nvSpPr>
          <p:cNvPr id="38" name="text-701"/>
          <p:cNvSpPr txBox="1"/>
          <p:nvPr/>
        </p:nvSpPr>
        <p:spPr>
          <a:xfrm>
            <a:off x="8335061" y="5276088"/>
            <a:ext cx="3088538" cy="777240"/>
          </a:xfrm>
          <a:prstGeom prst="rect">
            <a:avLst/>
          </a:prstGeom>
          <a:noFill/>
          <a:ln/>
        </p:spPr>
        <p:txBody>
          <a:bodyPr wrap="square" lIns="0" tIns="0" rIns="0" bIns="0" rtlCol="0" anchor="t"/>
          <a:lstStyle/>
          <a:p>
            <a:pPr indent="0" marL="0">
              <a:buNone/>
            </a:pPr>
            <a:r>
              <a:rPr lang="en-US" sz="1350" dirty="0">
                <a:solidFill>
                  <a:schemeClr val="tx2"/>
                </a:solidFill>
              </a:rPr>
              <a:t>Only numbered context may be used; unsupported claims become “not covered”; [N] maps to a chunk and its span.</a:t>
            </a:r>
            <a:endParaRPr lang="en-US" sz="1350" dirty="0"/>
          </a:p>
        </p:txBody>
      </p:sp>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tx2"/>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548640" y="310896"/>
            <a:ext cx="8229600" cy="274320"/>
          </a:xfrm>
          <a:prstGeom prst="rect">
            <a:avLst/>
          </a:prstGeom>
          <a:noFill/>
          <a:ln/>
        </p:spPr>
        <p:txBody>
          <a:bodyPr wrap="square" lIns="0" tIns="0" rIns="0" bIns="0" rtlCol="0" anchor="ctr"/>
          <a:lstStyle/>
          <a:p>
            <a:pPr algn="l" indent="0" marL="0">
              <a:buNone/>
            </a:pPr>
            <a:r>
              <a:rPr lang="en-US" sz="1200" b="1" spc="150" kern="0" dirty="0">
                <a:solidFill>
                  <a:schemeClr val="accent2"/>
                </a:solidFill>
              </a:rPr>
              <a:t>RETRIEVAL · INTEGRATION</a:t>
            </a:r>
            <a:endParaRPr lang="en-US" sz="1200" dirty="0"/>
          </a:p>
        </p:txBody>
      </p:sp>
      <p:sp>
        <p:nvSpPr>
          <p:cNvPr id="3" name="Text 0"/>
          <p:cNvSpPr/>
          <p:nvPr>
            <p:ph idx="101" type="title" hasCustomPrompt="1"/>
          </p:nvPr>
        </p:nvSpPr>
        <p:spPr>
          <a:xfrm>
            <a:off x="548640" y="603504"/>
            <a:ext cx="11094415" cy="868680"/>
          </a:xfrm>
          <a:prstGeom prst="rect">
            <a:avLst/>
          </a:prstGeom>
          <a:noFill/>
          <a:ln/>
        </p:spPr>
        <p:txBody>
          <a:bodyPr wrap="square" lIns="0" tIns="0" rIns="0" bIns="0" rtlCol="0" anchor="t"/>
          <a:lstStyle/>
          <a:p>
            <a:pPr algn="l" indent="0" marL="0">
              <a:buNone/>
            </a:pPr>
            <a:r>
              <a:rPr lang="en-US" sz="2800" b="1" dirty="0">
                <a:solidFill>
                  <a:schemeClr val="tx1"/>
                </a:solidFill>
              </a:rPr>
              <a:t>One reader, many producers: shared stores, consumed safely</a:t>
            </a:r>
            <a:endParaRPr lang="en-US" sz="2800" dirty="0"/>
          </a:p>
        </p:txBody>
      </p:sp>
      <p:sp>
        <p:nvSpPr>
          <p:cNvPr id="5" name="box-702"/>
          <p:cNvSpPr/>
          <p:nvPr/>
        </p:nvSpPr>
        <p:spPr>
          <a:xfrm>
            <a:off x="548640" y="1645920"/>
            <a:ext cx="3383280" cy="548640"/>
          </a:xfrm>
          <a:prstGeom prst="roundRect">
            <a:avLst>
              <a:gd name="adj" fmla="val 10000"/>
            </a:avLst>
          </a:prstGeom>
          <a:solidFill>
            <a:schemeClr val="bg1"/>
          </a:solidFill>
          <a:ln w="12700">
            <a:solidFill>
              <a:schemeClr val="accent1"/>
            </a:solidFill>
          </a:ln>
        </p:spPr>
        <p:txBody>
          <a:bodyPr wrap="square" lIns="114300" tIns="25400" rIns="76200" bIns="25400" rtlCol="0" anchor="ctr"/>
          <a:lstStyle/>
          <a:p>
            <a:pPr algn="l" indent="0" marL="0">
              <a:buNone/>
            </a:pPr>
            <a:r>
              <a:rPr lang="en-US" sz="1300" b="1" dirty="0">
                <a:solidFill>
                  <a:schemeClr val="tx1"/>
                </a:solidFill>
              </a:rPr>
              <a:t>DES</a:t>
            </a:r>
            <a:endParaRPr lang="en-US" sz="1300" dirty="0"/>
          </a:p>
          <a:p>
            <a:pPr algn="l" indent="0" marL="0">
              <a:buNone/>
            </a:pPr>
            <a:r>
              <a:rPr lang="en-US" sz="1100" dirty="0">
                <a:solidFill>
                  <a:schemeClr val="tx2"/>
                </a:solidFill>
              </a:rPr>
              <a:t>trigger and follow over HTTP; no re-embedding</a:t>
            </a:r>
            <a:endParaRPr lang="en-US" sz="1300" dirty="0"/>
          </a:p>
        </p:txBody>
      </p:sp>
      <p:sp>
        <p:nvSpPr>
          <p:cNvPr id="6" name="link-703"/>
          <p:cNvSpPr/>
          <p:nvPr/>
        </p:nvSpPr>
        <p:spPr>
          <a:xfrm>
            <a:off x="3977640" y="1920240"/>
            <a:ext cx="548640" cy="292608"/>
          </a:xfrm>
          <a:prstGeom prst="line">
            <a:avLst/>
          </a:prstGeom>
          <a:noFill/>
          <a:ln w="15875">
            <a:solidFill>
              <a:schemeClr val="accent1"/>
            </a:solidFill>
            <a:prstDash val="solid"/>
            <a:tailEnd type="triangle"/>
          </a:ln>
        </p:spPr>
      </p:sp>
      <p:sp>
        <p:nvSpPr>
          <p:cNvPr id="7" name="box-704"/>
          <p:cNvSpPr/>
          <p:nvPr/>
        </p:nvSpPr>
        <p:spPr>
          <a:xfrm>
            <a:off x="548640" y="2340864"/>
            <a:ext cx="3383280" cy="548640"/>
          </a:xfrm>
          <a:prstGeom prst="roundRect">
            <a:avLst>
              <a:gd name="adj" fmla="val 10000"/>
            </a:avLst>
          </a:prstGeom>
          <a:solidFill>
            <a:schemeClr val="bg1"/>
          </a:solidFill>
          <a:ln w="12700">
            <a:solidFill>
              <a:schemeClr val="accent6"/>
            </a:solidFill>
          </a:ln>
        </p:spPr>
        <p:txBody>
          <a:bodyPr wrap="square" lIns="114300" tIns="25400" rIns="76200" bIns="25400" rtlCol="0" anchor="ctr"/>
          <a:lstStyle/>
          <a:p>
            <a:pPr algn="l" indent="0" marL="0">
              <a:buNone/>
            </a:pPr>
            <a:r>
              <a:rPr lang="en-US" sz="1300" b="1" dirty="0">
                <a:solidFill>
                  <a:schemeClr val="tx1"/>
                </a:solidFill>
              </a:rPr>
              <a:t>Remote ingest</a:t>
            </a:r>
            <a:endParaRPr lang="en-US" sz="1300" dirty="0"/>
          </a:p>
          <a:p>
            <a:pPr algn="l" indent="0" marL="0">
              <a:buNone/>
            </a:pPr>
            <a:r>
              <a:rPr lang="en-US" sz="1100" dirty="0">
                <a:solidFill>
                  <a:schemeClr val="tx2"/>
                </a:solidFill>
              </a:rPr>
              <a:t>internal chunker wheel + Stellar embeddings, SSE</a:t>
            </a:r>
            <a:endParaRPr lang="en-US" sz="1300" dirty="0"/>
          </a:p>
        </p:txBody>
      </p:sp>
      <p:sp>
        <p:nvSpPr>
          <p:cNvPr id="8" name="link-705"/>
          <p:cNvSpPr/>
          <p:nvPr/>
        </p:nvSpPr>
        <p:spPr>
          <a:xfrm flipV="1">
            <a:off x="3977640" y="2459736"/>
            <a:ext cx="548640" cy="155448"/>
          </a:xfrm>
          <a:prstGeom prst="line">
            <a:avLst/>
          </a:prstGeom>
          <a:noFill/>
          <a:ln w="15875">
            <a:solidFill>
              <a:schemeClr val="accent1"/>
            </a:solidFill>
            <a:prstDash val="solid"/>
            <a:tailEnd type="triangle"/>
          </a:ln>
        </p:spPr>
      </p:sp>
      <p:sp>
        <p:nvSpPr>
          <p:cNvPr id="9" name="box-706"/>
          <p:cNvSpPr/>
          <p:nvPr/>
        </p:nvSpPr>
        <p:spPr>
          <a:xfrm>
            <a:off x="548640" y="3035808"/>
            <a:ext cx="3383280" cy="548640"/>
          </a:xfrm>
          <a:prstGeom prst="roundRect">
            <a:avLst>
              <a:gd name="adj" fmla="val 10000"/>
            </a:avLst>
          </a:prstGeom>
          <a:solidFill>
            <a:schemeClr val="bg1"/>
          </a:solidFill>
          <a:ln w="12700">
            <a:solidFill>
              <a:schemeClr val="accent6"/>
            </a:solidFill>
          </a:ln>
        </p:spPr>
        <p:txBody>
          <a:bodyPr wrap="square" lIns="114300" tIns="25400" rIns="76200" bIns="25400" rtlCol="0" anchor="ctr"/>
          <a:lstStyle/>
          <a:p>
            <a:pPr algn="l" indent="0" marL="0">
              <a:buNone/>
            </a:pPr>
            <a:r>
              <a:rPr lang="en-US" sz="1300" b="1" dirty="0">
                <a:solidFill>
                  <a:schemeClr val="tx1"/>
                </a:solidFill>
              </a:rPr>
              <a:t>Shared stores</a:t>
            </a:r>
            <a:endParaRPr lang="en-US" sz="1300" dirty="0"/>
          </a:p>
          <a:p>
            <a:pPr algn="l" indent="0" marL="0">
              <a:buNone/>
            </a:pPr>
            <a:r>
              <a:rPr lang="en-US" sz="1100" dirty="0">
                <a:solidFill>
                  <a:schemeClr val="tx2"/>
                </a:solidFill>
              </a:rPr>
              <a:t>any database with DES’s tables, read-only</a:t>
            </a:r>
            <a:endParaRPr lang="en-US" sz="1300" dirty="0"/>
          </a:p>
        </p:txBody>
      </p:sp>
      <p:sp>
        <p:nvSpPr>
          <p:cNvPr id="10" name="link-707"/>
          <p:cNvSpPr/>
          <p:nvPr/>
        </p:nvSpPr>
        <p:spPr>
          <a:xfrm flipV="1">
            <a:off x="3977640" y="2706624"/>
            <a:ext cx="548640" cy="603504"/>
          </a:xfrm>
          <a:prstGeom prst="line">
            <a:avLst/>
          </a:prstGeom>
          <a:noFill/>
          <a:ln w="15875">
            <a:solidFill>
              <a:schemeClr val="accent1"/>
            </a:solidFill>
            <a:prstDash val="solid"/>
            <a:tailEnd type="triangle"/>
          </a:ln>
        </p:spPr>
      </p:sp>
      <p:sp>
        <p:nvSpPr>
          <p:cNvPr id="11" name="box-708"/>
          <p:cNvSpPr/>
          <p:nvPr/>
        </p:nvSpPr>
        <p:spPr>
          <a:xfrm>
            <a:off x="4572000" y="1993392"/>
            <a:ext cx="2834640" cy="914400"/>
          </a:xfrm>
          <a:prstGeom prst="roundRect">
            <a:avLst>
              <a:gd name="adj" fmla="val 6000"/>
            </a:avLst>
          </a:prstGeom>
          <a:solidFill>
            <a:schemeClr val="tx1"/>
          </a:solidFill>
          <a:ln/>
        </p:spPr>
        <p:txBody>
          <a:bodyPr wrap="square" lIns="101600" tIns="38100" rIns="101600" bIns="38100" rtlCol="0" anchor="ctr"/>
          <a:lstStyle/>
          <a:p>
            <a:pPr algn="ctr" indent="0" marL="0">
              <a:buNone/>
            </a:pPr>
            <a:r>
              <a:rPr lang="en-US" sz="1400" b="1" dirty="0">
                <a:solidFill>
                  <a:schemeClr val="bg1"/>
                </a:solidFill>
              </a:rPr>
              <a:t>pgvector stores</a:t>
            </a:r>
            <a:endParaRPr lang="en-US" sz="1400" dirty="0"/>
          </a:p>
          <a:p>
            <a:pPr algn="ctr" indent="0" marL="0">
              <a:buNone/>
            </a:pPr>
            <a:r>
              <a:rPr lang="en-US" sz="1100" dirty="0">
                <a:solidFill>
                  <a:schemeClr val="accent5"/>
                </a:solidFill>
              </a:rPr>
              <a:t>DES schema: documents, chunks, context</a:t>
            </a:r>
            <a:endParaRPr lang="en-US" sz="1400" dirty="0"/>
          </a:p>
        </p:txBody>
      </p:sp>
      <p:sp>
        <p:nvSpPr>
          <p:cNvPr id="12" name="link-709"/>
          <p:cNvSpPr/>
          <p:nvPr/>
        </p:nvSpPr>
        <p:spPr>
          <a:xfrm>
            <a:off x="7452360" y="2450592"/>
            <a:ext cx="777240" cy="0"/>
          </a:xfrm>
          <a:prstGeom prst="line">
            <a:avLst/>
          </a:prstGeom>
          <a:noFill/>
          <a:ln w="19050">
            <a:solidFill>
              <a:schemeClr val="accent2"/>
            </a:solidFill>
            <a:prstDash val="solid"/>
            <a:tailEnd type="triangle"/>
          </a:ln>
        </p:spPr>
      </p:sp>
      <p:sp>
        <p:nvSpPr>
          <p:cNvPr id="13" name="box-710"/>
          <p:cNvSpPr/>
          <p:nvPr/>
        </p:nvSpPr>
        <p:spPr>
          <a:xfrm>
            <a:off x="8275320" y="1856232"/>
            <a:ext cx="3367735" cy="1188720"/>
          </a:xfrm>
          <a:prstGeom prst="roundRect">
            <a:avLst>
              <a:gd name="adj" fmla="val 4615"/>
            </a:avLst>
          </a:prstGeom>
          <a:solidFill>
            <a:schemeClr val="bg2"/>
          </a:solidFill>
          <a:ln w="12700">
            <a:solidFill>
              <a:schemeClr val="accent2"/>
            </a:solidFill>
          </a:ln>
        </p:spPr>
        <p:txBody>
          <a:bodyPr wrap="square" lIns="101600" tIns="38100" rIns="101600" bIns="38100" rtlCol="0" anchor="ctr"/>
          <a:lstStyle/>
          <a:p>
            <a:pPr algn="ctr" indent="0" marL="0">
              <a:buNone/>
            </a:pPr>
            <a:r>
              <a:rPr lang="en-US" sz="1500" b="1" dirty="0">
                <a:solidFill>
                  <a:schemeClr val="tx1"/>
                </a:solidFill>
              </a:rPr>
              <a:t>Retrieval</a:t>
            </a:r>
            <a:endParaRPr lang="en-US" sz="1500" dirty="0"/>
          </a:p>
          <a:p>
            <a:pPr algn="ctr" indent="0" marL="0">
              <a:buNone/>
            </a:pPr>
            <a:r>
              <a:rPr lang="en-US" sz="1150" dirty="0">
                <a:solidFill>
                  <a:schemeClr val="tx2"/>
                </a:solidFill>
              </a:rPr>
              <a:t>owner mode, or read-only consumer mode (PG_READ_ONLY)</a:t>
            </a:r>
            <a:endParaRPr lang="en-US" sz="1500" dirty="0"/>
          </a:p>
        </p:txBody>
      </p:sp>
      <p:sp>
        <p:nvSpPr>
          <p:cNvPr id="14" name="card-711"/>
          <p:cNvSpPr/>
          <p:nvPr/>
        </p:nvSpPr>
        <p:spPr>
          <a:xfrm>
            <a:off x="548640" y="3794760"/>
            <a:ext cx="5410048" cy="1097280"/>
          </a:xfrm>
          <a:prstGeom prst="roundRect">
            <a:avLst>
              <a:gd name="adj" fmla="val 6667"/>
            </a:avLst>
          </a:prstGeom>
          <a:solidFill>
            <a:schemeClr val="bg2"/>
          </a:solidFill>
          <a:ln w="9525">
            <a:solidFill>
              <a:schemeClr val="accent6"/>
            </a:solidFill>
            <a:prstDash val="solid"/>
          </a:ln>
        </p:spPr>
      </p:sp>
      <p:sp>
        <p:nvSpPr>
          <p:cNvPr id="15" name="badge-712"/>
          <p:cNvSpPr/>
          <p:nvPr/>
        </p:nvSpPr>
        <p:spPr>
          <a:xfrm>
            <a:off x="749808" y="3995928"/>
            <a:ext cx="438912" cy="438912"/>
          </a:xfrm>
          <a:prstGeom prst="ellipse">
            <a:avLst/>
          </a:prstGeom>
          <a:solidFill>
            <a:schemeClr val="accent2"/>
          </a:solidFill>
          <a:ln/>
        </p:spPr>
      </p:sp>
      <p:pic>
        <p:nvPicPr>
          <p:cNvPr id="16" name="icon-TbLock-713" descr="Lock">    </p:cNvPr>
          <p:cNvPicPr>
            <a:picLocks noChangeAspect="1"/>
          </p:cNvPicPr>
          <p:nvPr/>
        </p:nvPicPr>
        <p:blipFill>
          <a:blip r:embed="rId1"/>
          <a:stretch>
            <a:fillRect/>
          </a:stretch>
        </p:blipFill>
        <p:spPr>
          <a:xfrm>
            <a:off x="846369" y="4092489"/>
            <a:ext cx="245791" cy="245791"/>
          </a:xfrm>
          <a:prstGeom prst="rect">
            <a:avLst/>
          </a:prstGeom>
        </p:spPr>
      </p:pic>
      <p:sp>
        <p:nvSpPr>
          <p:cNvPr id="17" name="block-714"/>
          <p:cNvSpPr txBox="1"/>
          <p:nvPr/>
        </p:nvSpPr>
        <p:spPr>
          <a:xfrm>
            <a:off x="1353312" y="3977640"/>
            <a:ext cx="4404208" cy="804672"/>
          </a:xfrm>
          <a:prstGeom prst="rect">
            <a:avLst/>
          </a:prstGeom>
          <a:noFill/>
          <a:ln/>
        </p:spPr>
        <p:txBody>
          <a:bodyPr wrap="square" lIns="0" tIns="0" rIns="0" bIns="0" rtlCol="0" anchor="t"/>
          <a:lstStyle/>
          <a:p>
            <a:pPr indent="0" marL="0">
              <a:spcAft>
                <a:spcPts val="400"/>
              </a:spcAft>
              <a:buNone/>
            </a:pPr>
            <a:r>
              <a:rPr lang="en-US" sz="1450" b="1" dirty="0">
                <a:solidFill>
                  <a:schemeClr val="tx1"/>
                </a:solidFill>
              </a:rPr>
              <a:t>Three layers refuse writes</a:t>
            </a:r>
            <a:endParaRPr lang="en-US" sz="1450" dirty="0"/>
          </a:p>
          <a:p>
            <a:pPr indent="0" marL="0">
              <a:spcAft>
                <a:spcPts val="200"/>
              </a:spcAft>
              <a:buNone/>
            </a:pPr>
            <a:r>
              <a:rPr lang="en-US" sz="1250" dirty="0">
                <a:solidFill>
                  <a:schemeClr val="tx2"/>
                </a:solidFill>
              </a:rPr>
              <a:t>409 at the endpoint, refusal at function level, and read-only sessions on a SELECT-only role.</a:t>
            </a:r>
            <a:endParaRPr lang="en-US" sz="1450" dirty="0"/>
          </a:p>
        </p:txBody>
      </p:sp>
      <p:sp>
        <p:nvSpPr>
          <p:cNvPr id="18" name="card-715"/>
          <p:cNvSpPr/>
          <p:nvPr/>
        </p:nvSpPr>
        <p:spPr>
          <a:xfrm>
            <a:off x="6233008" y="3794760"/>
            <a:ext cx="5410048" cy="1097280"/>
          </a:xfrm>
          <a:prstGeom prst="roundRect">
            <a:avLst>
              <a:gd name="adj" fmla="val 6667"/>
            </a:avLst>
          </a:prstGeom>
          <a:solidFill>
            <a:schemeClr val="bg2"/>
          </a:solidFill>
          <a:ln w="9525">
            <a:solidFill>
              <a:schemeClr val="accent6"/>
            </a:solidFill>
            <a:prstDash val="solid"/>
          </a:ln>
        </p:spPr>
      </p:sp>
      <p:sp>
        <p:nvSpPr>
          <p:cNvPr id="19" name="badge-716"/>
          <p:cNvSpPr/>
          <p:nvPr/>
        </p:nvSpPr>
        <p:spPr>
          <a:xfrm>
            <a:off x="6434176" y="3995928"/>
            <a:ext cx="438912" cy="438912"/>
          </a:xfrm>
          <a:prstGeom prst="ellipse">
            <a:avLst/>
          </a:prstGeom>
          <a:solidFill>
            <a:schemeClr val="accent2"/>
          </a:solidFill>
          <a:ln/>
        </p:spPr>
      </p:sp>
      <p:pic>
        <p:nvPicPr>
          <p:cNvPr id="20" name="icon-TbChecklist-717" descr="Checklist">    </p:cNvPr>
          <p:cNvPicPr>
            <a:picLocks noChangeAspect="1"/>
          </p:cNvPicPr>
          <p:nvPr/>
        </p:nvPicPr>
        <p:blipFill>
          <a:blip r:embed="rId2"/>
          <a:stretch>
            <a:fillRect/>
          </a:stretch>
        </p:blipFill>
        <p:spPr>
          <a:xfrm>
            <a:off x="6530736" y="4092489"/>
            <a:ext cx="245791" cy="245791"/>
          </a:xfrm>
          <a:prstGeom prst="rect">
            <a:avLst/>
          </a:prstGeom>
        </p:spPr>
      </p:pic>
      <p:sp>
        <p:nvSpPr>
          <p:cNvPr id="21" name="block-718"/>
          <p:cNvSpPr txBox="1"/>
          <p:nvPr/>
        </p:nvSpPr>
        <p:spPr>
          <a:xfrm>
            <a:off x="7037680" y="3977640"/>
            <a:ext cx="4404208" cy="804672"/>
          </a:xfrm>
          <a:prstGeom prst="rect">
            <a:avLst/>
          </a:prstGeom>
          <a:noFill/>
          <a:ln/>
        </p:spPr>
        <p:txBody>
          <a:bodyPr wrap="square" lIns="0" tIns="0" rIns="0" bIns="0" rtlCol="0" anchor="t"/>
          <a:lstStyle/>
          <a:p>
            <a:pPr indent="0" marL="0">
              <a:spcAft>
                <a:spcPts val="400"/>
              </a:spcAft>
              <a:buNone/>
            </a:pPr>
            <a:r>
              <a:rPr lang="en-US" sz="1450" b="1" dirty="0">
                <a:solidFill>
                  <a:schemeClr val="tx1"/>
                </a:solidFill>
              </a:rPr>
              <a:t>Startup verifies a read contract</a:t>
            </a:r>
            <a:endParaRPr lang="en-US" sz="1450" dirty="0"/>
          </a:p>
          <a:p>
            <a:pPr indent="0" marL="0">
              <a:spcAft>
                <a:spcPts val="200"/>
              </a:spcAft>
              <a:buNone/>
            </a:pPr>
            <a:r>
              <a:rPr lang="en-US" sz="1250" dirty="0">
                <a:solidFill>
                  <a:schemeClr val="tx2"/>
                </a:solidFill>
              </a:rPr>
              <a:t>Extension, schema, tables, columns, SELECT grants and a 1024-wide vector column; /api/readyz stays 503 until it holds.</a:t>
            </a:r>
            <a:endParaRPr lang="en-US" sz="1450" dirty="0"/>
          </a:p>
        </p:txBody>
      </p:sp>
      <p:sp>
        <p:nvSpPr>
          <p:cNvPr id="22" name="card-719"/>
          <p:cNvSpPr/>
          <p:nvPr/>
        </p:nvSpPr>
        <p:spPr>
          <a:xfrm>
            <a:off x="548640" y="5056632"/>
            <a:ext cx="5410048" cy="1097280"/>
          </a:xfrm>
          <a:prstGeom prst="roundRect">
            <a:avLst>
              <a:gd name="adj" fmla="val 6667"/>
            </a:avLst>
          </a:prstGeom>
          <a:solidFill>
            <a:schemeClr val="bg2"/>
          </a:solidFill>
          <a:ln w="9525">
            <a:solidFill>
              <a:schemeClr val="accent6"/>
            </a:solidFill>
            <a:prstDash val="solid"/>
          </a:ln>
        </p:spPr>
      </p:sp>
      <p:sp>
        <p:nvSpPr>
          <p:cNvPr id="23" name="badge-720"/>
          <p:cNvSpPr/>
          <p:nvPr/>
        </p:nvSpPr>
        <p:spPr>
          <a:xfrm>
            <a:off x="749808" y="5257800"/>
            <a:ext cx="438912" cy="438912"/>
          </a:xfrm>
          <a:prstGeom prst="ellipse">
            <a:avLst/>
          </a:prstGeom>
          <a:solidFill>
            <a:schemeClr val="accent2"/>
          </a:solidFill>
          <a:ln/>
        </p:spPr>
      </p:sp>
      <p:pic>
        <p:nvPicPr>
          <p:cNvPr id="24" name="icon-TbFingerprint-721" descr="Fingerprint">    </p:cNvPr>
          <p:cNvPicPr>
            <a:picLocks noChangeAspect="1"/>
          </p:cNvPicPr>
          <p:nvPr/>
        </p:nvPicPr>
        <p:blipFill>
          <a:blip r:embed="rId3"/>
          <a:stretch>
            <a:fillRect/>
          </a:stretch>
        </p:blipFill>
        <p:spPr>
          <a:xfrm>
            <a:off x="846369" y="5354361"/>
            <a:ext cx="245791" cy="245791"/>
          </a:xfrm>
          <a:prstGeom prst="rect">
            <a:avLst/>
          </a:prstGeom>
        </p:spPr>
      </p:pic>
      <p:sp>
        <p:nvSpPr>
          <p:cNvPr id="25" name="block-722"/>
          <p:cNvSpPr txBox="1"/>
          <p:nvPr/>
        </p:nvSpPr>
        <p:spPr>
          <a:xfrm>
            <a:off x="1353312" y="5239512"/>
            <a:ext cx="4404208" cy="804672"/>
          </a:xfrm>
          <a:prstGeom prst="rect">
            <a:avLst/>
          </a:prstGeom>
          <a:noFill/>
          <a:ln/>
        </p:spPr>
        <p:txBody>
          <a:bodyPr wrap="square" lIns="0" tIns="0" rIns="0" bIns="0" rtlCol="0" anchor="t"/>
          <a:lstStyle/>
          <a:p>
            <a:pPr indent="0" marL="0">
              <a:spcAft>
                <a:spcPts val="400"/>
              </a:spcAft>
              <a:buNone/>
            </a:pPr>
            <a:r>
              <a:rPr lang="en-US" sz="1450" b="1" dirty="0">
                <a:solidFill>
                  <a:schemeClr val="tx1"/>
                </a:solidFill>
              </a:rPr>
              <a:t>Embedding contract enforced</a:t>
            </a:r>
            <a:endParaRPr lang="en-US" sz="1450" dirty="0"/>
          </a:p>
          <a:p>
            <a:pPr indent="0" marL="0">
              <a:spcAft>
                <a:spcPts val="200"/>
              </a:spcAft>
              <a:buNone/>
            </a:pPr>
            <a:r>
              <a:rPr lang="en-US" sz="1250" dirty="0">
                <a:solidFill>
                  <a:schemeClr val="tx2"/>
                </a:solidFill>
              </a:rPr>
              <a:t>The TEI /info model name and every vector’s dimension are checked; a mismatch is refused, never searched.</a:t>
            </a:r>
            <a:endParaRPr lang="en-US" sz="1450" dirty="0"/>
          </a:p>
        </p:txBody>
      </p:sp>
      <p:sp>
        <p:nvSpPr>
          <p:cNvPr id="26" name="card-723"/>
          <p:cNvSpPr/>
          <p:nvPr/>
        </p:nvSpPr>
        <p:spPr>
          <a:xfrm>
            <a:off x="6233008" y="5056632"/>
            <a:ext cx="5410048" cy="1097280"/>
          </a:xfrm>
          <a:prstGeom prst="roundRect">
            <a:avLst>
              <a:gd name="adj" fmla="val 6667"/>
            </a:avLst>
          </a:prstGeom>
          <a:solidFill>
            <a:schemeClr val="bg2"/>
          </a:solidFill>
          <a:ln w="9525">
            <a:solidFill>
              <a:schemeClr val="accent6"/>
            </a:solidFill>
            <a:prstDash val="solid"/>
          </a:ln>
        </p:spPr>
      </p:sp>
      <p:sp>
        <p:nvSpPr>
          <p:cNvPr id="27" name="badge-724"/>
          <p:cNvSpPr/>
          <p:nvPr/>
        </p:nvSpPr>
        <p:spPr>
          <a:xfrm>
            <a:off x="6434176" y="5257800"/>
            <a:ext cx="438912" cy="438912"/>
          </a:xfrm>
          <a:prstGeom prst="ellipse">
            <a:avLst/>
          </a:prstGeom>
          <a:solidFill>
            <a:schemeClr val="accent2"/>
          </a:solidFill>
          <a:ln/>
        </p:spPr>
      </p:sp>
      <p:pic>
        <p:nvPicPr>
          <p:cNvPr id="28" name="icon-TbPlugConnected-725" descr="PlugConnected">    </p:cNvPr>
          <p:cNvPicPr>
            <a:picLocks noChangeAspect="1"/>
          </p:cNvPicPr>
          <p:nvPr/>
        </p:nvPicPr>
        <p:blipFill>
          <a:blip r:embed="rId4"/>
          <a:stretch>
            <a:fillRect/>
          </a:stretch>
        </p:blipFill>
        <p:spPr>
          <a:xfrm>
            <a:off x="6530736" y="5354361"/>
            <a:ext cx="245791" cy="245791"/>
          </a:xfrm>
          <a:prstGeom prst="rect">
            <a:avLst/>
          </a:prstGeom>
        </p:spPr>
      </p:pic>
      <p:sp>
        <p:nvSpPr>
          <p:cNvPr id="29" name="block-726"/>
          <p:cNvSpPr txBox="1"/>
          <p:nvPr/>
        </p:nvSpPr>
        <p:spPr>
          <a:xfrm>
            <a:off x="7037680" y="5239512"/>
            <a:ext cx="4404208" cy="804672"/>
          </a:xfrm>
          <a:prstGeom prst="rect">
            <a:avLst/>
          </a:prstGeom>
          <a:noFill/>
          <a:ln/>
        </p:spPr>
        <p:txBody>
          <a:bodyPr wrap="square" lIns="0" tIns="0" rIns="0" bIns="0" rtlCol="0" anchor="t"/>
          <a:lstStyle/>
          <a:p>
            <a:pPr indent="0" marL="0">
              <a:spcAft>
                <a:spcPts val="400"/>
              </a:spcAft>
              <a:buNone/>
            </a:pPr>
            <a:r>
              <a:rPr lang="en-US" sz="1450" b="1" dirty="0">
                <a:solidFill>
                  <a:schemeClr val="tx1"/>
                </a:solidFill>
              </a:rPr>
              <a:t>Connection budget accounted</a:t>
            </a:r>
            <a:endParaRPr lang="en-US" sz="1450" dirty="0"/>
          </a:p>
          <a:p>
            <a:pPr indent="0" marL="0">
              <a:spcAft>
                <a:spcPts val="200"/>
              </a:spcAft>
              <a:buNone/>
            </a:pPr>
            <a:r>
              <a:rPr lang="en-US" sz="1250" dirty="0">
                <a:solidFill>
                  <a:schemeClr val="tx2"/>
                </a:solidFill>
              </a:rPr>
              <a:t>2 workers × pool 4 × 1 pod = the role’s limit of 8 connections on the shared Postgres.</a:t>
            </a:r>
            <a:endParaRPr lang="en-US" sz="1450" dirty="0"/>
          </a:p>
        </p:txBody>
      </p:sp>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tx2"/>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548640" y="310896"/>
            <a:ext cx="8229600" cy="274320"/>
          </a:xfrm>
          <a:prstGeom prst="rect">
            <a:avLst/>
          </a:prstGeom>
          <a:noFill/>
          <a:ln/>
        </p:spPr>
        <p:txBody>
          <a:bodyPr wrap="square" lIns="0" tIns="0" rIns="0" bIns="0" rtlCol="0" anchor="ctr"/>
          <a:lstStyle/>
          <a:p>
            <a:pPr algn="l" indent="0" marL="0">
              <a:buNone/>
            </a:pPr>
            <a:r>
              <a:rPr lang="en-US" sz="1200" b="1" spc="150" kern="0" dirty="0">
                <a:solidFill>
                  <a:schemeClr val="accent2"/>
                </a:solidFill>
              </a:rPr>
              <a:t>RETRIEVAL · RAG STUDIO</a:t>
            </a:r>
            <a:endParaRPr lang="en-US" sz="1200" dirty="0"/>
          </a:p>
        </p:txBody>
      </p:sp>
      <p:sp>
        <p:nvSpPr>
          <p:cNvPr id="3" name="Text 0"/>
          <p:cNvSpPr/>
          <p:nvPr>
            <p:ph idx="101" type="title" hasCustomPrompt="1"/>
          </p:nvPr>
        </p:nvSpPr>
        <p:spPr>
          <a:xfrm>
            <a:off x="548640" y="603504"/>
            <a:ext cx="11094415" cy="868680"/>
          </a:xfrm>
          <a:prstGeom prst="rect">
            <a:avLst/>
          </a:prstGeom>
          <a:noFill/>
          <a:ln/>
        </p:spPr>
        <p:txBody>
          <a:bodyPr wrap="square" lIns="0" tIns="0" rIns="0" bIns="0" rtlCol="0" anchor="t"/>
          <a:lstStyle/>
          <a:p>
            <a:pPr algn="l" indent="0" marL="0">
              <a:buNone/>
            </a:pPr>
            <a:r>
              <a:rPr lang="en-US" sz="2800" b="1" dirty="0">
                <a:solidFill>
                  <a:schemeClr val="tx1"/>
                </a:solidFill>
              </a:rPr>
              <a:t>Every stage is visible and measured; most are switchable</a:t>
            </a:r>
            <a:endParaRPr lang="en-US" sz="2800" dirty="0"/>
          </a:p>
        </p:txBody>
      </p:sp>
      <p:sp>
        <p:nvSpPr>
          <p:cNvPr id="5" name="card-727"/>
          <p:cNvSpPr/>
          <p:nvPr/>
        </p:nvSpPr>
        <p:spPr>
          <a:xfrm>
            <a:off x="548640" y="1627632"/>
            <a:ext cx="6949440" cy="4526280"/>
          </a:xfrm>
          <a:prstGeom prst="roundRect">
            <a:avLst>
              <a:gd name="adj" fmla="val 1212"/>
            </a:avLst>
          </a:prstGeom>
          <a:solidFill>
            <a:schemeClr val="bg1"/>
          </a:solidFill>
          <a:ln w="9525">
            <a:solidFill>
              <a:schemeClr val="accent6"/>
            </a:solidFill>
            <a:prstDash val="solid"/>
          </a:ln>
          <a:effectLst>
            <a:outerShdw sx="100000" sy="100000" kx="0" ky="0" algn="bl" rotWithShape="0" blurRad="76200" dist="25400" dir="5400000">
              <a:srgbClr val="0B1F3A">
                <a:alpha val="12000"/>
              </a:srgbClr>
            </a:outerShdw>
          </a:effectLst>
        </p:spPr>
      </p:sp>
      <p:sp>
        <p:nvSpPr>
          <p:cNvPr id="6" name="text-728"/>
          <p:cNvSpPr txBox="1"/>
          <p:nvPr/>
        </p:nvSpPr>
        <p:spPr>
          <a:xfrm>
            <a:off x="777240" y="1810512"/>
            <a:ext cx="1554480" cy="256032"/>
          </a:xfrm>
          <a:prstGeom prst="rect">
            <a:avLst/>
          </a:prstGeom>
          <a:noFill/>
          <a:ln/>
        </p:spPr>
        <p:txBody>
          <a:bodyPr wrap="square" lIns="0" tIns="0" rIns="0" bIns="0" rtlCol="0" anchor="t"/>
          <a:lstStyle/>
          <a:p>
            <a:pPr indent="0" marL="0">
              <a:buNone/>
            </a:pPr>
            <a:r>
              <a:rPr lang="en-US" sz="1100" b="1" dirty="0">
                <a:solidFill>
                  <a:schemeClr val="tx2"/>
                </a:solidFill>
              </a:rPr>
              <a:t>Strategy</a:t>
            </a:r>
            <a:endParaRPr lang="en-US" sz="1100" dirty="0"/>
          </a:p>
        </p:txBody>
      </p:sp>
      <p:sp>
        <p:nvSpPr>
          <p:cNvPr id="7" name="text-729"/>
          <p:cNvSpPr txBox="1"/>
          <p:nvPr/>
        </p:nvSpPr>
        <p:spPr>
          <a:xfrm>
            <a:off x="777240" y="2176272"/>
            <a:ext cx="1051560" cy="274320"/>
          </a:xfrm>
          <a:prstGeom prst="rect">
            <a:avLst/>
          </a:prstGeom>
          <a:noFill/>
          <a:ln/>
        </p:spPr>
        <p:txBody>
          <a:bodyPr wrap="square" lIns="0" tIns="0" rIns="0" bIns="0" rtlCol="0" anchor="ctr"/>
          <a:lstStyle/>
          <a:p>
            <a:pPr indent="0" marL="0">
              <a:buNone/>
            </a:pPr>
            <a:r>
              <a:rPr lang="en-US" sz="1100" dirty="0">
                <a:solidFill>
                  <a:schemeClr val="tx1"/>
                </a:solidFill>
              </a:rPr>
              <a:t>Rewrite</a:t>
            </a:r>
            <a:endParaRPr lang="en-US" sz="1100" dirty="0"/>
          </a:p>
        </p:txBody>
      </p:sp>
      <p:sp>
        <p:nvSpPr>
          <p:cNvPr id="8" name="toggle-730"/>
          <p:cNvSpPr/>
          <p:nvPr/>
        </p:nvSpPr>
        <p:spPr>
          <a:xfrm>
            <a:off x="1874520" y="2231136"/>
            <a:ext cx="384048" cy="182880"/>
          </a:xfrm>
          <a:prstGeom prst="roundRect">
            <a:avLst>
              <a:gd name="adj" fmla="val 50000"/>
            </a:avLst>
          </a:prstGeom>
          <a:solidFill>
            <a:schemeClr val="accent6"/>
          </a:solidFill>
          <a:ln/>
        </p:spPr>
      </p:sp>
      <p:sp>
        <p:nvSpPr>
          <p:cNvPr id="9" name="knob-731"/>
          <p:cNvSpPr/>
          <p:nvPr/>
        </p:nvSpPr>
        <p:spPr>
          <a:xfrm>
            <a:off x="1892808" y="2244852"/>
            <a:ext cx="155448" cy="155448"/>
          </a:xfrm>
          <a:prstGeom prst="ellipse">
            <a:avLst/>
          </a:prstGeom>
          <a:solidFill>
            <a:schemeClr val="bg1"/>
          </a:solidFill>
          <a:ln/>
        </p:spPr>
      </p:sp>
      <p:sp>
        <p:nvSpPr>
          <p:cNvPr id="10" name="text-732"/>
          <p:cNvSpPr txBox="1"/>
          <p:nvPr/>
        </p:nvSpPr>
        <p:spPr>
          <a:xfrm>
            <a:off x="777240" y="2560320"/>
            <a:ext cx="1051560" cy="274320"/>
          </a:xfrm>
          <a:prstGeom prst="rect">
            <a:avLst/>
          </a:prstGeom>
          <a:noFill/>
          <a:ln/>
        </p:spPr>
        <p:txBody>
          <a:bodyPr wrap="square" lIns="0" tIns="0" rIns="0" bIns="0" rtlCol="0" anchor="ctr"/>
          <a:lstStyle/>
          <a:p>
            <a:pPr indent="0" marL="0">
              <a:buNone/>
            </a:pPr>
            <a:r>
              <a:rPr lang="en-US" sz="1100" dirty="0">
                <a:solidFill>
                  <a:schemeClr val="tx1"/>
                </a:solidFill>
              </a:rPr>
              <a:t>HyDE</a:t>
            </a:r>
            <a:endParaRPr lang="en-US" sz="1100" dirty="0"/>
          </a:p>
        </p:txBody>
      </p:sp>
      <p:sp>
        <p:nvSpPr>
          <p:cNvPr id="11" name="toggle-733"/>
          <p:cNvSpPr/>
          <p:nvPr/>
        </p:nvSpPr>
        <p:spPr>
          <a:xfrm>
            <a:off x="1874520" y="2615184"/>
            <a:ext cx="384048" cy="182880"/>
          </a:xfrm>
          <a:prstGeom prst="roundRect">
            <a:avLst>
              <a:gd name="adj" fmla="val 50000"/>
            </a:avLst>
          </a:prstGeom>
          <a:solidFill>
            <a:schemeClr val="accent6"/>
          </a:solidFill>
          <a:ln/>
        </p:spPr>
      </p:sp>
      <p:sp>
        <p:nvSpPr>
          <p:cNvPr id="12" name="knob-734"/>
          <p:cNvSpPr/>
          <p:nvPr/>
        </p:nvSpPr>
        <p:spPr>
          <a:xfrm>
            <a:off x="1892808" y="2628900"/>
            <a:ext cx="155448" cy="155448"/>
          </a:xfrm>
          <a:prstGeom prst="ellipse">
            <a:avLst/>
          </a:prstGeom>
          <a:solidFill>
            <a:schemeClr val="bg1"/>
          </a:solidFill>
          <a:ln/>
        </p:spPr>
      </p:sp>
      <p:sp>
        <p:nvSpPr>
          <p:cNvPr id="13" name="text-735"/>
          <p:cNvSpPr txBox="1"/>
          <p:nvPr/>
        </p:nvSpPr>
        <p:spPr>
          <a:xfrm>
            <a:off x="777240" y="2944368"/>
            <a:ext cx="1051560" cy="274320"/>
          </a:xfrm>
          <a:prstGeom prst="rect">
            <a:avLst/>
          </a:prstGeom>
          <a:noFill/>
          <a:ln/>
        </p:spPr>
        <p:txBody>
          <a:bodyPr wrap="square" lIns="0" tIns="0" rIns="0" bIns="0" rtlCol="0" anchor="ctr"/>
          <a:lstStyle/>
          <a:p>
            <a:pPr indent="0" marL="0">
              <a:buNone/>
            </a:pPr>
            <a:r>
              <a:rPr lang="en-US" sz="1100" dirty="0">
                <a:solidFill>
                  <a:schemeClr val="tx1"/>
                </a:solidFill>
              </a:rPr>
              <a:t>Contextual</a:t>
            </a:r>
            <a:endParaRPr lang="en-US" sz="1100" dirty="0"/>
          </a:p>
        </p:txBody>
      </p:sp>
      <p:sp>
        <p:nvSpPr>
          <p:cNvPr id="14" name="toggle-736"/>
          <p:cNvSpPr/>
          <p:nvPr/>
        </p:nvSpPr>
        <p:spPr>
          <a:xfrm>
            <a:off x="1874520" y="2999232"/>
            <a:ext cx="384048" cy="182880"/>
          </a:xfrm>
          <a:prstGeom prst="roundRect">
            <a:avLst>
              <a:gd name="adj" fmla="val 50000"/>
            </a:avLst>
          </a:prstGeom>
          <a:solidFill>
            <a:schemeClr val="accent2"/>
          </a:solidFill>
          <a:ln/>
        </p:spPr>
      </p:sp>
      <p:sp>
        <p:nvSpPr>
          <p:cNvPr id="15" name="knob-737"/>
          <p:cNvSpPr/>
          <p:nvPr/>
        </p:nvSpPr>
        <p:spPr>
          <a:xfrm>
            <a:off x="2075688" y="3012948"/>
            <a:ext cx="155448" cy="155448"/>
          </a:xfrm>
          <a:prstGeom prst="ellipse">
            <a:avLst/>
          </a:prstGeom>
          <a:solidFill>
            <a:schemeClr val="bg1"/>
          </a:solidFill>
          <a:ln/>
        </p:spPr>
      </p:sp>
      <p:sp>
        <p:nvSpPr>
          <p:cNvPr id="16" name="text-738"/>
          <p:cNvSpPr txBox="1"/>
          <p:nvPr/>
        </p:nvSpPr>
        <p:spPr>
          <a:xfrm>
            <a:off x="777240" y="3328416"/>
            <a:ext cx="1051560" cy="274320"/>
          </a:xfrm>
          <a:prstGeom prst="rect">
            <a:avLst/>
          </a:prstGeom>
          <a:noFill/>
          <a:ln/>
        </p:spPr>
        <p:txBody>
          <a:bodyPr wrap="square" lIns="0" tIns="0" rIns="0" bIns="0" rtlCol="0" anchor="ctr"/>
          <a:lstStyle/>
          <a:p>
            <a:pPr indent="0" marL="0">
              <a:buNone/>
            </a:pPr>
            <a:r>
              <a:rPr lang="en-US" sz="1100" dirty="0">
                <a:solidFill>
                  <a:schemeClr val="tx1"/>
                </a:solidFill>
              </a:rPr>
              <a:t>Rerank</a:t>
            </a:r>
            <a:endParaRPr lang="en-US" sz="1100" dirty="0"/>
          </a:p>
        </p:txBody>
      </p:sp>
      <p:sp>
        <p:nvSpPr>
          <p:cNvPr id="17" name="toggle-739"/>
          <p:cNvSpPr/>
          <p:nvPr/>
        </p:nvSpPr>
        <p:spPr>
          <a:xfrm>
            <a:off x="1874520" y="3383280"/>
            <a:ext cx="384048" cy="182880"/>
          </a:xfrm>
          <a:prstGeom prst="roundRect">
            <a:avLst>
              <a:gd name="adj" fmla="val 50000"/>
            </a:avLst>
          </a:prstGeom>
          <a:solidFill>
            <a:schemeClr val="accent2"/>
          </a:solidFill>
          <a:ln/>
        </p:spPr>
      </p:sp>
      <p:sp>
        <p:nvSpPr>
          <p:cNvPr id="18" name="knob-740"/>
          <p:cNvSpPr/>
          <p:nvPr/>
        </p:nvSpPr>
        <p:spPr>
          <a:xfrm>
            <a:off x="2075688" y="3396996"/>
            <a:ext cx="155448" cy="155448"/>
          </a:xfrm>
          <a:prstGeom prst="ellipse">
            <a:avLst/>
          </a:prstGeom>
          <a:solidFill>
            <a:schemeClr val="bg1"/>
          </a:solidFill>
          <a:ln/>
        </p:spPr>
      </p:sp>
      <p:sp>
        <p:nvSpPr>
          <p:cNvPr id="19" name="text-741"/>
          <p:cNvSpPr txBox="1"/>
          <p:nvPr/>
        </p:nvSpPr>
        <p:spPr>
          <a:xfrm>
            <a:off x="777240" y="3712464"/>
            <a:ext cx="1051560" cy="274320"/>
          </a:xfrm>
          <a:prstGeom prst="rect">
            <a:avLst/>
          </a:prstGeom>
          <a:noFill/>
          <a:ln/>
        </p:spPr>
        <p:txBody>
          <a:bodyPr wrap="square" lIns="0" tIns="0" rIns="0" bIns="0" rtlCol="0" anchor="ctr"/>
          <a:lstStyle/>
          <a:p>
            <a:pPr indent="0" marL="0">
              <a:buNone/>
            </a:pPr>
            <a:r>
              <a:rPr lang="en-US" sz="1100" dirty="0">
                <a:solidFill>
                  <a:schemeClr val="tx1"/>
                </a:solidFill>
              </a:rPr>
              <a:t>CRAG</a:t>
            </a:r>
            <a:endParaRPr lang="en-US" sz="1100" dirty="0"/>
          </a:p>
        </p:txBody>
      </p:sp>
      <p:sp>
        <p:nvSpPr>
          <p:cNvPr id="20" name="toggle-742"/>
          <p:cNvSpPr/>
          <p:nvPr/>
        </p:nvSpPr>
        <p:spPr>
          <a:xfrm>
            <a:off x="1874520" y="3767328"/>
            <a:ext cx="384048" cy="182880"/>
          </a:xfrm>
          <a:prstGeom prst="roundRect">
            <a:avLst>
              <a:gd name="adj" fmla="val 50000"/>
            </a:avLst>
          </a:prstGeom>
          <a:solidFill>
            <a:schemeClr val="accent2"/>
          </a:solidFill>
          <a:ln/>
        </p:spPr>
      </p:sp>
      <p:sp>
        <p:nvSpPr>
          <p:cNvPr id="21" name="knob-743"/>
          <p:cNvSpPr/>
          <p:nvPr/>
        </p:nvSpPr>
        <p:spPr>
          <a:xfrm>
            <a:off x="2075688" y="3781044"/>
            <a:ext cx="155448" cy="155448"/>
          </a:xfrm>
          <a:prstGeom prst="ellipse">
            <a:avLst/>
          </a:prstGeom>
          <a:solidFill>
            <a:schemeClr val="bg1"/>
          </a:solidFill>
          <a:ln/>
        </p:spPr>
      </p:sp>
      <p:sp>
        <p:nvSpPr>
          <p:cNvPr id="22" name="text-744"/>
          <p:cNvSpPr txBox="1"/>
          <p:nvPr/>
        </p:nvSpPr>
        <p:spPr>
          <a:xfrm>
            <a:off x="777240" y="4096512"/>
            <a:ext cx="1051560" cy="274320"/>
          </a:xfrm>
          <a:prstGeom prst="rect">
            <a:avLst/>
          </a:prstGeom>
          <a:noFill/>
          <a:ln/>
        </p:spPr>
        <p:txBody>
          <a:bodyPr wrap="square" lIns="0" tIns="0" rIns="0" bIns="0" rtlCol="0" anchor="ctr"/>
          <a:lstStyle/>
          <a:p>
            <a:pPr indent="0" marL="0">
              <a:buNone/>
            </a:pPr>
            <a:r>
              <a:rPr lang="en-US" sz="1100" dirty="0">
                <a:solidFill>
                  <a:schemeClr val="tx1"/>
                </a:solidFill>
              </a:rPr>
              <a:t>Hybrid</a:t>
            </a:r>
            <a:endParaRPr lang="en-US" sz="1100" dirty="0"/>
          </a:p>
        </p:txBody>
      </p:sp>
      <p:sp>
        <p:nvSpPr>
          <p:cNvPr id="23" name="toggle-745"/>
          <p:cNvSpPr/>
          <p:nvPr/>
        </p:nvSpPr>
        <p:spPr>
          <a:xfrm>
            <a:off x="1874520" y="4151376"/>
            <a:ext cx="384048" cy="182880"/>
          </a:xfrm>
          <a:prstGeom prst="roundRect">
            <a:avLst>
              <a:gd name="adj" fmla="val 50000"/>
            </a:avLst>
          </a:prstGeom>
          <a:solidFill>
            <a:schemeClr val="accent2"/>
          </a:solidFill>
          <a:ln/>
        </p:spPr>
      </p:sp>
      <p:sp>
        <p:nvSpPr>
          <p:cNvPr id="24" name="knob-746"/>
          <p:cNvSpPr/>
          <p:nvPr/>
        </p:nvSpPr>
        <p:spPr>
          <a:xfrm>
            <a:off x="2075688" y="4165092"/>
            <a:ext cx="155448" cy="155448"/>
          </a:xfrm>
          <a:prstGeom prst="ellipse">
            <a:avLst/>
          </a:prstGeom>
          <a:solidFill>
            <a:schemeClr val="bg1"/>
          </a:solidFill>
          <a:ln/>
        </p:spPr>
      </p:sp>
      <p:sp>
        <p:nvSpPr>
          <p:cNvPr id="25" name="text-747"/>
          <p:cNvSpPr txBox="1"/>
          <p:nvPr/>
        </p:nvSpPr>
        <p:spPr>
          <a:xfrm>
            <a:off x="777240" y="4480560"/>
            <a:ext cx="1051560" cy="274320"/>
          </a:xfrm>
          <a:prstGeom prst="rect">
            <a:avLst/>
          </a:prstGeom>
          <a:noFill/>
          <a:ln/>
        </p:spPr>
        <p:txBody>
          <a:bodyPr wrap="square" lIns="0" tIns="0" rIns="0" bIns="0" rtlCol="0" anchor="ctr"/>
          <a:lstStyle/>
          <a:p>
            <a:pPr indent="0" marL="0">
              <a:buNone/>
            </a:pPr>
            <a:r>
              <a:rPr lang="en-US" sz="1100" dirty="0">
                <a:solidFill>
                  <a:schemeClr val="tx1"/>
                </a:solidFill>
              </a:rPr>
              <a:t>MMR</a:t>
            </a:r>
            <a:endParaRPr lang="en-US" sz="1100" dirty="0"/>
          </a:p>
        </p:txBody>
      </p:sp>
      <p:sp>
        <p:nvSpPr>
          <p:cNvPr id="26" name="toggle-748"/>
          <p:cNvSpPr/>
          <p:nvPr/>
        </p:nvSpPr>
        <p:spPr>
          <a:xfrm>
            <a:off x="1874520" y="4535424"/>
            <a:ext cx="384048" cy="182880"/>
          </a:xfrm>
          <a:prstGeom prst="roundRect">
            <a:avLst>
              <a:gd name="adj" fmla="val 50000"/>
            </a:avLst>
          </a:prstGeom>
          <a:solidFill>
            <a:schemeClr val="accent2"/>
          </a:solidFill>
          <a:ln/>
        </p:spPr>
      </p:sp>
      <p:sp>
        <p:nvSpPr>
          <p:cNvPr id="27" name="knob-749"/>
          <p:cNvSpPr/>
          <p:nvPr/>
        </p:nvSpPr>
        <p:spPr>
          <a:xfrm>
            <a:off x="2075688" y="4549140"/>
            <a:ext cx="155448" cy="155448"/>
          </a:xfrm>
          <a:prstGeom prst="ellipse">
            <a:avLst/>
          </a:prstGeom>
          <a:solidFill>
            <a:schemeClr val="bg1"/>
          </a:solidFill>
          <a:ln/>
        </p:spPr>
      </p:sp>
      <p:sp>
        <p:nvSpPr>
          <p:cNvPr id="28" name="text-750"/>
          <p:cNvSpPr txBox="1"/>
          <p:nvPr/>
        </p:nvSpPr>
        <p:spPr>
          <a:xfrm>
            <a:off x="777240" y="4965192"/>
            <a:ext cx="1463040" cy="256032"/>
          </a:xfrm>
          <a:prstGeom prst="rect">
            <a:avLst/>
          </a:prstGeom>
          <a:noFill/>
          <a:ln/>
        </p:spPr>
        <p:txBody>
          <a:bodyPr wrap="square" lIns="0" tIns="0" rIns="0" bIns="0" rtlCol="0" anchor="t"/>
          <a:lstStyle/>
          <a:p>
            <a:pPr indent="0" marL="0">
              <a:buNone/>
            </a:pPr>
            <a:r>
              <a:rPr lang="en-US" sz="1100" dirty="0">
                <a:solidFill>
                  <a:schemeClr val="tx2"/>
                </a:solidFill>
              </a:rPr>
              <a:t>top-K  8</a:t>
            </a:r>
            <a:endParaRPr lang="en-US" sz="1100" dirty="0"/>
          </a:p>
        </p:txBody>
      </p:sp>
      <p:sp>
        <p:nvSpPr>
          <p:cNvPr id="29" name="slider-751"/>
          <p:cNvSpPr/>
          <p:nvPr/>
        </p:nvSpPr>
        <p:spPr>
          <a:xfrm>
            <a:off x="777240" y="5303520"/>
            <a:ext cx="1463040" cy="45720"/>
          </a:xfrm>
          <a:prstGeom prst="rect">
            <a:avLst/>
          </a:prstGeom>
          <a:solidFill>
            <a:schemeClr val="accent6"/>
          </a:solidFill>
          <a:ln/>
        </p:spPr>
      </p:sp>
      <p:sp>
        <p:nvSpPr>
          <p:cNvPr id="30" name="slider-knob-752"/>
          <p:cNvSpPr/>
          <p:nvPr/>
        </p:nvSpPr>
        <p:spPr>
          <a:xfrm>
            <a:off x="1344168" y="5239512"/>
            <a:ext cx="164592" cy="164592"/>
          </a:xfrm>
          <a:prstGeom prst="ellipse">
            <a:avLst/>
          </a:prstGeom>
          <a:solidFill>
            <a:schemeClr val="accent2"/>
          </a:solidFill>
          <a:ln/>
        </p:spPr>
      </p:sp>
      <p:sp>
        <p:nvSpPr>
          <p:cNvPr id="31" name="card-753"/>
          <p:cNvSpPr/>
          <p:nvPr/>
        </p:nvSpPr>
        <p:spPr>
          <a:xfrm>
            <a:off x="2514600" y="1810512"/>
            <a:ext cx="2788920" cy="438912"/>
          </a:xfrm>
          <a:prstGeom prst="roundRect">
            <a:avLst>
              <a:gd name="adj" fmla="val 16667"/>
            </a:avLst>
          </a:prstGeom>
          <a:solidFill>
            <a:schemeClr val="bg2"/>
          </a:solidFill>
          <a:ln w="9525">
            <a:solidFill>
              <a:schemeClr val="accent6"/>
            </a:solidFill>
            <a:prstDash val="solid"/>
          </a:ln>
        </p:spPr>
      </p:sp>
      <p:sp>
        <p:nvSpPr>
          <p:cNvPr id="32" name="text-754"/>
          <p:cNvSpPr txBox="1"/>
          <p:nvPr/>
        </p:nvSpPr>
        <p:spPr>
          <a:xfrm>
            <a:off x="2606040" y="1847088"/>
            <a:ext cx="2606040" cy="365760"/>
          </a:xfrm>
          <a:prstGeom prst="rect">
            <a:avLst/>
          </a:prstGeom>
          <a:noFill/>
          <a:ln/>
        </p:spPr>
        <p:txBody>
          <a:bodyPr wrap="square" lIns="0" tIns="0" rIns="0" bIns="0" rtlCol="0" anchor="ctr"/>
          <a:lstStyle/>
          <a:p>
            <a:pPr indent="0" marL="0">
              <a:buNone/>
            </a:pPr>
            <a:r>
              <a:rPr lang="en-US" sz="1050" dirty="0">
                <a:solidFill>
                  <a:schemeClr val="tx1"/>
                </a:solidFill>
              </a:rPr>
              <a:t>Which entities need enhanced due diligence?</a:t>
            </a:r>
            <a:endParaRPr lang="en-US" sz="1050" dirty="0"/>
          </a:p>
        </p:txBody>
      </p:sp>
      <p:sp>
        <p:nvSpPr>
          <p:cNvPr id="33" name="pill-755"/>
          <p:cNvSpPr/>
          <p:nvPr/>
        </p:nvSpPr>
        <p:spPr>
          <a:xfrm>
            <a:off x="2514600" y="2404872"/>
            <a:ext cx="658368" cy="237744"/>
          </a:xfrm>
          <a:prstGeom prst="roundRect">
            <a:avLst>
              <a:gd name="adj" fmla="val 50000"/>
            </a:avLst>
          </a:prstGeom>
          <a:solidFill>
            <a:schemeClr val="bg2"/>
          </a:solidFill>
          <a:ln/>
        </p:spPr>
        <p:txBody>
          <a:bodyPr wrap="square" lIns="0" tIns="0" rIns="0" bIns="0" rtlCol="0" anchor="ctr"/>
          <a:lstStyle/>
          <a:p>
            <a:pPr algn="ctr" indent="0" marL="0">
              <a:buNone/>
            </a:pPr>
            <a:r>
              <a:rPr lang="en-US" sz="1000" dirty="0">
                <a:solidFill>
                  <a:schemeClr val="tx2"/>
                </a:solidFill>
              </a:rPr>
              <a:t>embed</a:t>
            </a:r>
            <a:endParaRPr lang="en-US" sz="1000" dirty="0"/>
          </a:p>
        </p:txBody>
      </p:sp>
      <p:sp>
        <p:nvSpPr>
          <p:cNvPr id="34" name="pill-756"/>
          <p:cNvSpPr/>
          <p:nvPr/>
        </p:nvSpPr>
        <p:spPr>
          <a:xfrm>
            <a:off x="3218688" y="2404872"/>
            <a:ext cx="658368" cy="237744"/>
          </a:xfrm>
          <a:prstGeom prst="roundRect">
            <a:avLst>
              <a:gd name="adj" fmla="val 50000"/>
            </a:avLst>
          </a:prstGeom>
          <a:solidFill>
            <a:schemeClr val="bg2"/>
          </a:solidFill>
          <a:ln/>
        </p:spPr>
        <p:txBody>
          <a:bodyPr wrap="square" lIns="0" tIns="0" rIns="0" bIns="0" rtlCol="0" anchor="ctr"/>
          <a:lstStyle/>
          <a:p>
            <a:pPr algn="ctr" indent="0" marL="0">
              <a:buNone/>
            </a:pPr>
            <a:r>
              <a:rPr lang="en-US" sz="1000" dirty="0">
                <a:solidFill>
                  <a:schemeClr val="tx2"/>
                </a:solidFill>
              </a:rPr>
              <a:t>dense</a:t>
            </a:r>
            <a:endParaRPr lang="en-US" sz="1000" dirty="0"/>
          </a:p>
        </p:txBody>
      </p:sp>
      <p:sp>
        <p:nvSpPr>
          <p:cNvPr id="35" name="pill-757"/>
          <p:cNvSpPr/>
          <p:nvPr/>
        </p:nvSpPr>
        <p:spPr>
          <a:xfrm>
            <a:off x="3922776" y="2404872"/>
            <a:ext cx="658368" cy="237744"/>
          </a:xfrm>
          <a:prstGeom prst="roundRect">
            <a:avLst>
              <a:gd name="adj" fmla="val 50000"/>
            </a:avLst>
          </a:prstGeom>
          <a:solidFill>
            <a:schemeClr val="bg2"/>
          </a:solidFill>
          <a:ln/>
        </p:spPr>
        <p:txBody>
          <a:bodyPr wrap="square" lIns="0" tIns="0" rIns="0" bIns="0" rtlCol="0" anchor="ctr"/>
          <a:lstStyle/>
          <a:p>
            <a:pPr algn="ctr" indent="0" marL="0">
              <a:buNone/>
            </a:pPr>
            <a:r>
              <a:rPr lang="en-US" sz="1000" dirty="0">
                <a:solidFill>
                  <a:schemeClr val="tx2"/>
                </a:solidFill>
              </a:rPr>
              <a:t>lexical</a:t>
            </a:r>
            <a:endParaRPr lang="en-US" sz="1000" dirty="0"/>
          </a:p>
        </p:txBody>
      </p:sp>
      <p:sp>
        <p:nvSpPr>
          <p:cNvPr id="36" name="pill-758"/>
          <p:cNvSpPr/>
          <p:nvPr/>
        </p:nvSpPr>
        <p:spPr>
          <a:xfrm>
            <a:off x="4626864" y="2404872"/>
            <a:ext cx="658368" cy="237744"/>
          </a:xfrm>
          <a:prstGeom prst="roundRect">
            <a:avLst>
              <a:gd name="adj" fmla="val 50000"/>
            </a:avLst>
          </a:prstGeom>
          <a:solidFill>
            <a:schemeClr val="bg2"/>
          </a:solidFill>
          <a:ln/>
        </p:spPr>
        <p:txBody>
          <a:bodyPr wrap="square" lIns="0" tIns="0" rIns="0" bIns="0" rtlCol="0" anchor="ctr"/>
          <a:lstStyle/>
          <a:p>
            <a:pPr algn="ctr" indent="0" marL="0">
              <a:buNone/>
            </a:pPr>
            <a:r>
              <a:rPr lang="en-US" sz="1000" dirty="0">
                <a:solidFill>
                  <a:schemeClr val="tx2"/>
                </a:solidFill>
              </a:rPr>
              <a:t>fuse</a:t>
            </a:r>
            <a:endParaRPr lang="en-US" sz="1000" dirty="0"/>
          </a:p>
        </p:txBody>
      </p:sp>
      <p:sp>
        <p:nvSpPr>
          <p:cNvPr id="37" name="pill-759"/>
          <p:cNvSpPr/>
          <p:nvPr/>
        </p:nvSpPr>
        <p:spPr>
          <a:xfrm>
            <a:off x="2514600" y="2706624"/>
            <a:ext cx="658368" cy="237744"/>
          </a:xfrm>
          <a:prstGeom prst="roundRect">
            <a:avLst>
              <a:gd name="adj" fmla="val 50000"/>
            </a:avLst>
          </a:prstGeom>
          <a:solidFill>
            <a:schemeClr val="bg2"/>
          </a:solidFill>
          <a:ln/>
        </p:spPr>
        <p:txBody>
          <a:bodyPr wrap="square" lIns="0" tIns="0" rIns="0" bIns="0" rtlCol="0" anchor="ctr"/>
          <a:lstStyle/>
          <a:p>
            <a:pPr algn="ctr" indent="0" marL="0">
              <a:buNone/>
            </a:pPr>
            <a:r>
              <a:rPr lang="en-US" sz="1000" dirty="0">
                <a:solidFill>
                  <a:schemeClr val="tx2"/>
                </a:solidFill>
              </a:rPr>
              <a:t>rerank</a:t>
            </a:r>
            <a:endParaRPr lang="en-US" sz="1000" dirty="0"/>
          </a:p>
        </p:txBody>
      </p:sp>
      <p:sp>
        <p:nvSpPr>
          <p:cNvPr id="38" name="pill-760"/>
          <p:cNvSpPr/>
          <p:nvPr/>
        </p:nvSpPr>
        <p:spPr>
          <a:xfrm>
            <a:off x="3218688" y="2706624"/>
            <a:ext cx="658368" cy="237744"/>
          </a:xfrm>
          <a:prstGeom prst="roundRect">
            <a:avLst>
              <a:gd name="adj" fmla="val 50000"/>
            </a:avLst>
          </a:prstGeom>
          <a:solidFill>
            <a:schemeClr val="bg2"/>
          </a:solidFill>
          <a:ln/>
        </p:spPr>
        <p:txBody>
          <a:bodyPr wrap="square" lIns="0" tIns="0" rIns="0" bIns="0" rtlCol="0" anchor="ctr"/>
          <a:lstStyle/>
          <a:p>
            <a:pPr algn="ctr" indent="0" marL="0">
              <a:buNone/>
            </a:pPr>
            <a:r>
              <a:rPr lang="en-US" sz="1000" dirty="0">
                <a:solidFill>
                  <a:schemeClr val="tx2"/>
                </a:solidFill>
              </a:rPr>
              <a:t>mmr</a:t>
            </a:r>
            <a:endParaRPr lang="en-US" sz="1000" dirty="0"/>
          </a:p>
        </p:txBody>
      </p:sp>
      <p:sp>
        <p:nvSpPr>
          <p:cNvPr id="39" name="pill-761"/>
          <p:cNvSpPr/>
          <p:nvPr/>
        </p:nvSpPr>
        <p:spPr>
          <a:xfrm>
            <a:off x="3922776" y="2706624"/>
            <a:ext cx="658368" cy="237744"/>
          </a:xfrm>
          <a:prstGeom prst="roundRect">
            <a:avLst>
              <a:gd name="adj" fmla="val 50000"/>
            </a:avLst>
          </a:prstGeom>
          <a:solidFill>
            <a:schemeClr val="bg2"/>
          </a:solidFill>
          <a:ln/>
        </p:spPr>
        <p:txBody>
          <a:bodyPr wrap="square" lIns="0" tIns="0" rIns="0" bIns="0" rtlCol="0" anchor="ctr"/>
          <a:lstStyle/>
          <a:p>
            <a:pPr algn="ctr" indent="0" marL="0">
              <a:buNone/>
            </a:pPr>
            <a:r>
              <a:rPr lang="en-US" sz="1000" dirty="0">
                <a:solidFill>
                  <a:schemeClr val="tx2"/>
                </a:solidFill>
              </a:rPr>
              <a:t>generate</a:t>
            </a:r>
            <a:endParaRPr lang="en-US" sz="1000" dirty="0"/>
          </a:p>
        </p:txBody>
      </p:sp>
      <p:sp>
        <p:nvSpPr>
          <p:cNvPr id="40" name="line-762"/>
          <p:cNvSpPr/>
          <p:nvPr/>
        </p:nvSpPr>
        <p:spPr>
          <a:xfrm>
            <a:off x="2514600" y="3136392"/>
            <a:ext cx="2240280" cy="73152"/>
          </a:xfrm>
          <a:prstGeom prst="rect">
            <a:avLst/>
          </a:prstGeom>
          <a:solidFill>
            <a:schemeClr val="accent5">
              <a:alpha val="65000"/>
            </a:schemeClr>
          </a:solidFill>
          <a:ln/>
        </p:spPr>
      </p:sp>
      <p:sp>
        <p:nvSpPr>
          <p:cNvPr id="41" name="line-763"/>
          <p:cNvSpPr/>
          <p:nvPr/>
        </p:nvSpPr>
        <p:spPr>
          <a:xfrm>
            <a:off x="2514600" y="3410712"/>
            <a:ext cx="2240280" cy="73152"/>
          </a:xfrm>
          <a:prstGeom prst="rect">
            <a:avLst/>
          </a:prstGeom>
          <a:solidFill>
            <a:schemeClr val="accent5">
              <a:alpha val="65000"/>
            </a:schemeClr>
          </a:solidFill>
          <a:ln/>
        </p:spPr>
      </p:sp>
      <p:sp>
        <p:nvSpPr>
          <p:cNvPr id="42" name="pill-764"/>
          <p:cNvSpPr/>
          <p:nvPr/>
        </p:nvSpPr>
        <p:spPr>
          <a:xfrm>
            <a:off x="4846320" y="3337560"/>
            <a:ext cx="384048" cy="219456"/>
          </a:xfrm>
          <a:prstGeom prst="roundRect">
            <a:avLst>
              <a:gd name="adj" fmla="val 50000"/>
            </a:avLst>
          </a:prstGeom>
          <a:solidFill>
            <a:schemeClr val="accent2"/>
          </a:solidFill>
          <a:ln/>
        </p:spPr>
        <p:txBody>
          <a:bodyPr wrap="square" lIns="0" tIns="0" rIns="0" bIns="0" rtlCol="0" anchor="ctr"/>
          <a:lstStyle/>
          <a:p>
            <a:pPr algn="ctr" indent="0" marL="0">
              <a:buNone/>
            </a:pPr>
            <a:r>
              <a:rPr lang="en-US" sz="1000" b="1" dirty="0">
                <a:solidFill>
                  <a:schemeClr val="bg1"/>
                </a:solidFill>
              </a:rPr>
              <a:t>[1]</a:t>
            </a:r>
            <a:endParaRPr lang="en-US" sz="1000" dirty="0"/>
          </a:p>
        </p:txBody>
      </p:sp>
      <p:sp>
        <p:nvSpPr>
          <p:cNvPr id="43" name="line-765"/>
          <p:cNvSpPr/>
          <p:nvPr/>
        </p:nvSpPr>
        <p:spPr>
          <a:xfrm>
            <a:off x="2514600" y="3685032"/>
            <a:ext cx="2240280" cy="73152"/>
          </a:xfrm>
          <a:prstGeom prst="rect">
            <a:avLst/>
          </a:prstGeom>
          <a:solidFill>
            <a:schemeClr val="accent5">
              <a:alpha val="65000"/>
            </a:schemeClr>
          </a:solidFill>
          <a:ln/>
        </p:spPr>
      </p:sp>
      <p:sp>
        <p:nvSpPr>
          <p:cNvPr id="44" name="line-766"/>
          <p:cNvSpPr/>
          <p:nvPr/>
        </p:nvSpPr>
        <p:spPr>
          <a:xfrm>
            <a:off x="2514600" y="3959352"/>
            <a:ext cx="2240280" cy="73152"/>
          </a:xfrm>
          <a:prstGeom prst="rect">
            <a:avLst/>
          </a:prstGeom>
          <a:solidFill>
            <a:schemeClr val="accent5">
              <a:alpha val="65000"/>
            </a:schemeClr>
          </a:solidFill>
          <a:ln/>
        </p:spPr>
      </p:sp>
      <p:sp>
        <p:nvSpPr>
          <p:cNvPr id="45" name="pill-767"/>
          <p:cNvSpPr/>
          <p:nvPr/>
        </p:nvSpPr>
        <p:spPr>
          <a:xfrm>
            <a:off x="4846320" y="3886200"/>
            <a:ext cx="384048" cy="219456"/>
          </a:xfrm>
          <a:prstGeom prst="roundRect">
            <a:avLst>
              <a:gd name="adj" fmla="val 50000"/>
            </a:avLst>
          </a:prstGeom>
          <a:solidFill>
            <a:schemeClr val="accent2"/>
          </a:solidFill>
          <a:ln/>
        </p:spPr>
        <p:txBody>
          <a:bodyPr wrap="square" lIns="0" tIns="0" rIns="0" bIns="0" rtlCol="0" anchor="ctr"/>
          <a:lstStyle/>
          <a:p>
            <a:pPr algn="ctr" indent="0" marL="0">
              <a:buNone/>
            </a:pPr>
            <a:r>
              <a:rPr lang="en-US" sz="1000" b="1" dirty="0">
                <a:solidFill>
                  <a:schemeClr val="bg1"/>
                </a:solidFill>
              </a:rPr>
              <a:t>[2]</a:t>
            </a:r>
            <a:endParaRPr lang="en-US" sz="1000" dirty="0"/>
          </a:p>
        </p:txBody>
      </p:sp>
      <p:sp>
        <p:nvSpPr>
          <p:cNvPr id="46" name="line-768"/>
          <p:cNvSpPr/>
          <p:nvPr/>
        </p:nvSpPr>
        <p:spPr>
          <a:xfrm>
            <a:off x="2514600" y="4233672"/>
            <a:ext cx="2240280" cy="73152"/>
          </a:xfrm>
          <a:prstGeom prst="rect">
            <a:avLst/>
          </a:prstGeom>
          <a:solidFill>
            <a:schemeClr val="accent5">
              <a:alpha val="65000"/>
            </a:schemeClr>
          </a:solidFill>
          <a:ln/>
        </p:spPr>
      </p:sp>
      <p:sp>
        <p:nvSpPr>
          <p:cNvPr id="47" name="line-769"/>
          <p:cNvSpPr/>
          <p:nvPr/>
        </p:nvSpPr>
        <p:spPr>
          <a:xfrm>
            <a:off x="2514600" y="4507992"/>
            <a:ext cx="1463040" cy="73152"/>
          </a:xfrm>
          <a:prstGeom prst="rect">
            <a:avLst/>
          </a:prstGeom>
          <a:solidFill>
            <a:schemeClr val="accent5">
              <a:alpha val="65000"/>
            </a:schemeClr>
          </a:solidFill>
          <a:ln/>
        </p:spPr>
      </p:sp>
      <p:sp>
        <p:nvSpPr>
          <p:cNvPr id="48" name="pill-770"/>
          <p:cNvSpPr/>
          <p:nvPr/>
        </p:nvSpPr>
        <p:spPr>
          <a:xfrm>
            <a:off x="2514600" y="4965192"/>
            <a:ext cx="1600200" cy="274320"/>
          </a:xfrm>
          <a:prstGeom prst="roundRect">
            <a:avLst>
              <a:gd name="adj" fmla="val 50000"/>
            </a:avLst>
          </a:prstGeom>
          <a:solidFill>
            <a:schemeClr val="bg2"/>
          </a:solidFill>
          <a:ln w="9525">
            <a:solidFill>
              <a:schemeClr val="accent6"/>
            </a:solidFill>
          </a:ln>
        </p:spPr>
        <p:txBody>
          <a:bodyPr wrap="square" lIns="0" tIns="0" rIns="0" bIns="0" rtlCol="0" anchor="ctr"/>
          <a:lstStyle/>
          <a:p>
            <a:pPr algn="ctr" indent="0" marL="0">
              <a:buNone/>
            </a:pPr>
            <a:r>
              <a:rPr lang="en-US" sz="1000" b="1" dirty="0">
                <a:solidFill>
                  <a:schemeClr val="tx2"/>
                </a:solidFill>
              </a:rPr>
              <a:t>CRAG confidence 0.82</a:t>
            </a:r>
            <a:endParaRPr lang="en-US" sz="1000" dirty="0"/>
          </a:p>
        </p:txBody>
      </p:sp>
      <p:sp>
        <p:nvSpPr>
          <p:cNvPr id="49" name="text-771"/>
          <p:cNvSpPr txBox="1"/>
          <p:nvPr/>
        </p:nvSpPr>
        <p:spPr>
          <a:xfrm>
            <a:off x="2514600" y="5376672"/>
            <a:ext cx="2788920" cy="274320"/>
          </a:xfrm>
          <a:prstGeom prst="rect">
            <a:avLst/>
          </a:prstGeom>
          <a:noFill/>
          <a:ln/>
        </p:spPr>
        <p:txBody>
          <a:bodyPr wrap="square" lIns="0" tIns="0" rIns="0" bIns="0" rtlCol="0" anchor="t"/>
          <a:lstStyle/>
          <a:p>
            <a:pPr indent="0" marL="0">
              <a:buNone/>
            </a:pPr>
            <a:r>
              <a:rPr lang="en-US" sz="1000" dirty="0">
                <a:solidFill>
                  <a:schemeClr val="tx2"/>
                </a:solidFill>
                <a:latin typeface="Courier New" pitchFamily="34" charset="0"/>
                <a:ea typeface="Courier New" pitchFamily="34" charset="-122"/>
                <a:cs typeface="Courier New" pitchFamily="34" charset="-120"/>
              </a:rPr>
              <a:t>## Sources  [1] p. 4 · #812</a:t>
            </a:r>
            <a:endParaRPr lang="en-US" sz="1000" dirty="0"/>
          </a:p>
        </p:txBody>
      </p:sp>
      <p:sp>
        <p:nvSpPr>
          <p:cNvPr id="50" name="card-772"/>
          <p:cNvSpPr/>
          <p:nvPr/>
        </p:nvSpPr>
        <p:spPr>
          <a:xfrm>
            <a:off x="5486400" y="1810512"/>
            <a:ext cx="1828800" cy="1207008"/>
          </a:xfrm>
          <a:prstGeom prst="roundRect">
            <a:avLst>
              <a:gd name="adj" fmla="val 6061"/>
            </a:avLst>
          </a:prstGeom>
          <a:solidFill>
            <a:schemeClr val="bg2"/>
          </a:solidFill>
          <a:ln w="9525">
            <a:solidFill>
              <a:schemeClr val="accent2"/>
            </a:solidFill>
            <a:prstDash val="solid"/>
          </a:ln>
        </p:spPr>
      </p:sp>
      <p:sp>
        <p:nvSpPr>
          <p:cNvPr id="51" name="text-773"/>
          <p:cNvSpPr txBox="1"/>
          <p:nvPr/>
        </p:nvSpPr>
        <p:spPr>
          <a:xfrm>
            <a:off x="5596128" y="1883664"/>
            <a:ext cx="1609344" cy="237744"/>
          </a:xfrm>
          <a:prstGeom prst="rect">
            <a:avLst/>
          </a:prstGeom>
          <a:noFill/>
          <a:ln/>
        </p:spPr>
        <p:txBody>
          <a:bodyPr wrap="square" lIns="0" tIns="0" rIns="0" bIns="0" rtlCol="0" anchor="t"/>
          <a:lstStyle/>
          <a:p>
            <a:pPr indent="0" marL="0">
              <a:buNone/>
            </a:pPr>
            <a:r>
              <a:rPr lang="en-US" sz="1000" b="1" dirty="0">
                <a:solidFill>
                  <a:schemeClr val="tx1"/>
                </a:solidFill>
              </a:rPr>
              <a:t>#1  ·  RRF 0.033</a:t>
            </a:r>
            <a:endParaRPr lang="en-US" sz="1000" dirty="0"/>
          </a:p>
        </p:txBody>
      </p:sp>
      <p:sp>
        <p:nvSpPr>
          <p:cNvPr id="52" name="text-774"/>
          <p:cNvSpPr txBox="1"/>
          <p:nvPr/>
        </p:nvSpPr>
        <p:spPr>
          <a:xfrm>
            <a:off x="5596128" y="2157984"/>
            <a:ext cx="1609344" cy="237744"/>
          </a:xfrm>
          <a:prstGeom prst="rect">
            <a:avLst/>
          </a:prstGeom>
          <a:noFill/>
          <a:ln/>
        </p:spPr>
        <p:txBody>
          <a:bodyPr wrap="square" lIns="0" tIns="0" rIns="0" bIns="0" rtlCol="0" anchor="t"/>
          <a:lstStyle/>
          <a:p>
            <a:pPr indent="0" marL="0">
              <a:buNone/>
            </a:pPr>
            <a:r>
              <a:rPr lang="en-US" sz="1000" dirty="0">
                <a:solidFill>
                  <a:schemeClr val="tx2"/>
                </a:solidFill>
              </a:rPr>
              <a:t>dense ▮▮▮  lexical ▮▮</a:t>
            </a:r>
            <a:endParaRPr lang="en-US" sz="1000" dirty="0"/>
          </a:p>
        </p:txBody>
      </p:sp>
      <p:sp>
        <p:nvSpPr>
          <p:cNvPr id="53" name="line-775"/>
          <p:cNvSpPr/>
          <p:nvPr/>
        </p:nvSpPr>
        <p:spPr>
          <a:xfrm>
            <a:off x="5596128" y="2523744"/>
            <a:ext cx="1463040" cy="64008"/>
          </a:xfrm>
          <a:prstGeom prst="rect">
            <a:avLst/>
          </a:prstGeom>
          <a:solidFill>
            <a:schemeClr val="accent5">
              <a:alpha val="60000"/>
            </a:schemeClr>
          </a:solidFill>
          <a:ln/>
        </p:spPr>
      </p:sp>
      <p:sp>
        <p:nvSpPr>
          <p:cNvPr id="54" name="line-776"/>
          <p:cNvSpPr/>
          <p:nvPr/>
        </p:nvSpPr>
        <p:spPr>
          <a:xfrm>
            <a:off x="5596128" y="2706624"/>
            <a:ext cx="1097280" cy="64008"/>
          </a:xfrm>
          <a:prstGeom prst="rect">
            <a:avLst/>
          </a:prstGeom>
          <a:solidFill>
            <a:schemeClr val="accent5">
              <a:alpha val="60000"/>
            </a:schemeClr>
          </a:solidFill>
          <a:ln/>
        </p:spPr>
      </p:sp>
      <p:sp>
        <p:nvSpPr>
          <p:cNvPr id="55" name="card-777"/>
          <p:cNvSpPr/>
          <p:nvPr/>
        </p:nvSpPr>
        <p:spPr>
          <a:xfrm>
            <a:off x="5486400" y="3182112"/>
            <a:ext cx="1828800" cy="1207008"/>
          </a:xfrm>
          <a:prstGeom prst="roundRect">
            <a:avLst>
              <a:gd name="adj" fmla="val 6061"/>
            </a:avLst>
          </a:prstGeom>
          <a:solidFill>
            <a:schemeClr val="bg1"/>
          </a:solidFill>
          <a:ln w="9525">
            <a:solidFill>
              <a:schemeClr val="accent6"/>
            </a:solidFill>
            <a:prstDash val="solid"/>
          </a:ln>
        </p:spPr>
      </p:sp>
      <p:sp>
        <p:nvSpPr>
          <p:cNvPr id="56" name="text-778"/>
          <p:cNvSpPr txBox="1"/>
          <p:nvPr/>
        </p:nvSpPr>
        <p:spPr>
          <a:xfrm>
            <a:off x="5596128" y="3255264"/>
            <a:ext cx="1609344" cy="237744"/>
          </a:xfrm>
          <a:prstGeom prst="rect">
            <a:avLst/>
          </a:prstGeom>
          <a:noFill/>
          <a:ln/>
        </p:spPr>
        <p:txBody>
          <a:bodyPr wrap="square" lIns="0" tIns="0" rIns="0" bIns="0" rtlCol="0" anchor="t"/>
          <a:lstStyle/>
          <a:p>
            <a:pPr indent="0" marL="0">
              <a:buNone/>
            </a:pPr>
            <a:r>
              <a:rPr lang="en-US" sz="1000" b="1" dirty="0">
                <a:solidFill>
                  <a:schemeClr val="tx1"/>
                </a:solidFill>
              </a:rPr>
              <a:t>#2  ·  RRF 0.032</a:t>
            </a:r>
            <a:endParaRPr lang="en-US" sz="1000" dirty="0"/>
          </a:p>
        </p:txBody>
      </p:sp>
      <p:sp>
        <p:nvSpPr>
          <p:cNvPr id="57" name="text-779"/>
          <p:cNvSpPr txBox="1"/>
          <p:nvPr/>
        </p:nvSpPr>
        <p:spPr>
          <a:xfrm>
            <a:off x="5596128" y="3529584"/>
            <a:ext cx="1609344" cy="237744"/>
          </a:xfrm>
          <a:prstGeom prst="rect">
            <a:avLst/>
          </a:prstGeom>
          <a:noFill/>
          <a:ln/>
        </p:spPr>
        <p:txBody>
          <a:bodyPr wrap="square" lIns="0" tIns="0" rIns="0" bIns="0" rtlCol="0" anchor="t"/>
          <a:lstStyle/>
          <a:p>
            <a:pPr indent="0" marL="0">
              <a:buNone/>
            </a:pPr>
            <a:r>
              <a:rPr lang="en-US" sz="1000" dirty="0">
                <a:solidFill>
                  <a:schemeClr val="tx2"/>
                </a:solidFill>
              </a:rPr>
              <a:t>dense ▮▮▮  lexical ▮▮</a:t>
            </a:r>
            <a:endParaRPr lang="en-US" sz="1000" dirty="0"/>
          </a:p>
        </p:txBody>
      </p:sp>
      <p:sp>
        <p:nvSpPr>
          <p:cNvPr id="58" name="line-780"/>
          <p:cNvSpPr/>
          <p:nvPr/>
        </p:nvSpPr>
        <p:spPr>
          <a:xfrm>
            <a:off x="5596128" y="3895344"/>
            <a:ext cx="1463040" cy="64008"/>
          </a:xfrm>
          <a:prstGeom prst="rect">
            <a:avLst/>
          </a:prstGeom>
          <a:solidFill>
            <a:schemeClr val="accent5">
              <a:alpha val="60000"/>
            </a:schemeClr>
          </a:solidFill>
          <a:ln/>
        </p:spPr>
      </p:sp>
      <p:sp>
        <p:nvSpPr>
          <p:cNvPr id="59" name="line-781"/>
          <p:cNvSpPr/>
          <p:nvPr/>
        </p:nvSpPr>
        <p:spPr>
          <a:xfrm>
            <a:off x="5596128" y="4078224"/>
            <a:ext cx="1097280" cy="64008"/>
          </a:xfrm>
          <a:prstGeom prst="rect">
            <a:avLst/>
          </a:prstGeom>
          <a:solidFill>
            <a:schemeClr val="accent5">
              <a:alpha val="60000"/>
            </a:schemeClr>
          </a:solidFill>
          <a:ln/>
        </p:spPr>
      </p:sp>
      <p:sp>
        <p:nvSpPr>
          <p:cNvPr id="60" name="card-782"/>
          <p:cNvSpPr/>
          <p:nvPr/>
        </p:nvSpPr>
        <p:spPr>
          <a:xfrm>
            <a:off x="5486400" y="4553712"/>
            <a:ext cx="1828800" cy="1207008"/>
          </a:xfrm>
          <a:prstGeom prst="roundRect">
            <a:avLst>
              <a:gd name="adj" fmla="val 6061"/>
            </a:avLst>
          </a:prstGeom>
          <a:solidFill>
            <a:schemeClr val="bg1"/>
          </a:solidFill>
          <a:ln w="9525">
            <a:solidFill>
              <a:schemeClr val="accent6"/>
            </a:solidFill>
            <a:prstDash val="solid"/>
          </a:ln>
        </p:spPr>
      </p:sp>
      <p:sp>
        <p:nvSpPr>
          <p:cNvPr id="61" name="text-783"/>
          <p:cNvSpPr txBox="1"/>
          <p:nvPr/>
        </p:nvSpPr>
        <p:spPr>
          <a:xfrm>
            <a:off x="5596128" y="4626864"/>
            <a:ext cx="1609344" cy="237744"/>
          </a:xfrm>
          <a:prstGeom prst="rect">
            <a:avLst/>
          </a:prstGeom>
          <a:noFill/>
          <a:ln/>
        </p:spPr>
        <p:txBody>
          <a:bodyPr wrap="square" lIns="0" tIns="0" rIns="0" bIns="0" rtlCol="0" anchor="t"/>
          <a:lstStyle/>
          <a:p>
            <a:pPr indent="0" marL="0">
              <a:buNone/>
            </a:pPr>
            <a:r>
              <a:rPr lang="en-US" sz="1000" b="1" dirty="0">
                <a:solidFill>
                  <a:schemeClr val="tx1"/>
                </a:solidFill>
              </a:rPr>
              <a:t>#3  ·  RRF 0.031</a:t>
            </a:r>
            <a:endParaRPr lang="en-US" sz="1000" dirty="0"/>
          </a:p>
        </p:txBody>
      </p:sp>
      <p:sp>
        <p:nvSpPr>
          <p:cNvPr id="62" name="text-784"/>
          <p:cNvSpPr txBox="1"/>
          <p:nvPr/>
        </p:nvSpPr>
        <p:spPr>
          <a:xfrm>
            <a:off x="5596128" y="4901184"/>
            <a:ext cx="1609344" cy="237744"/>
          </a:xfrm>
          <a:prstGeom prst="rect">
            <a:avLst/>
          </a:prstGeom>
          <a:noFill/>
          <a:ln/>
        </p:spPr>
        <p:txBody>
          <a:bodyPr wrap="square" lIns="0" tIns="0" rIns="0" bIns="0" rtlCol="0" anchor="t"/>
          <a:lstStyle/>
          <a:p>
            <a:pPr indent="0" marL="0">
              <a:buNone/>
            </a:pPr>
            <a:r>
              <a:rPr lang="en-US" sz="1000" dirty="0">
                <a:solidFill>
                  <a:schemeClr val="tx2"/>
                </a:solidFill>
              </a:rPr>
              <a:t>dense ▮▮▮  lexical ▮▮</a:t>
            </a:r>
            <a:endParaRPr lang="en-US" sz="1000" dirty="0"/>
          </a:p>
        </p:txBody>
      </p:sp>
      <p:sp>
        <p:nvSpPr>
          <p:cNvPr id="63" name="line-785"/>
          <p:cNvSpPr/>
          <p:nvPr/>
        </p:nvSpPr>
        <p:spPr>
          <a:xfrm>
            <a:off x="5596128" y="5266944"/>
            <a:ext cx="1463040" cy="64008"/>
          </a:xfrm>
          <a:prstGeom prst="rect">
            <a:avLst/>
          </a:prstGeom>
          <a:solidFill>
            <a:schemeClr val="accent5">
              <a:alpha val="60000"/>
            </a:schemeClr>
          </a:solidFill>
          <a:ln/>
        </p:spPr>
      </p:sp>
      <p:sp>
        <p:nvSpPr>
          <p:cNvPr id="64" name="line-786"/>
          <p:cNvSpPr/>
          <p:nvPr/>
        </p:nvSpPr>
        <p:spPr>
          <a:xfrm>
            <a:off x="5596128" y="5449824"/>
            <a:ext cx="1097280" cy="64008"/>
          </a:xfrm>
          <a:prstGeom prst="rect">
            <a:avLst/>
          </a:prstGeom>
          <a:solidFill>
            <a:schemeClr val="accent5">
              <a:alpha val="60000"/>
            </a:schemeClr>
          </a:solidFill>
          <a:ln/>
        </p:spPr>
      </p:sp>
      <p:sp>
        <p:nvSpPr>
          <p:cNvPr id="65" name="pill-787"/>
          <p:cNvSpPr/>
          <p:nvPr/>
        </p:nvSpPr>
        <p:spPr>
          <a:xfrm>
            <a:off x="7818120" y="1645920"/>
            <a:ext cx="1325880" cy="310896"/>
          </a:xfrm>
          <a:prstGeom prst="roundRect">
            <a:avLst>
              <a:gd name="adj" fmla="val 50000"/>
            </a:avLst>
          </a:prstGeom>
          <a:solidFill>
            <a:schemeClr val="accent2"/>
          </a:solidFill>
          <a:ln/>
        </p:spPr>
        <p:txBody>
          <a:bodyPr wrap="square" lIns="0" tIns="0" rIns="0" bIns="0" rtlCol="0" anchor="ctr"/>
          <a:lstStyle/>
          <a:p>
            <a:pPr algn="ctr" indent="0" marL="0">
              <a:buNone/>
            </a:pPr>
            <a:r>
              <a:rPr lang="en-US" sz="1200" b="1" dirty="0">
                <a:solidFill>
                  <a:schemeClr val="bg1"/>
                </a:solidFill>
              </a:rPr>
              <a:t>Retrieval</a:t>
            </a:r>
            <a:endParaRPr lang="en-US" sz="1200" dirty="0"/>
          </a:p>
        </p:txBody>
      </p:sp>
      <p:sp>
        <p:nvSpPr>
          <p:cNvPr id="66" name="text-788"/>
          <p:cNvSpPr txBox="1"/>
          <p:nvPr/>
        </p:nvSpPr>
        <p:spPr>
          <a:xfrm>
            <a:off x="7818120" y="2029968"/>
            <a:ext cx="3824935" cy="694944"/>
          </a:xfrm>
          <a:prstGeom prst="rect">
            <a:avLst/>
          </a:prstGeom>
          <a:noFill/>
          <a:ln/>
        </p:spPr>
        <p:txBody>
          <a:bodyPr wrap="square" lIns="0" tIns="0" rIns="0" bIns="0" rtlCol="0" anchor="t"/>
          <a:lstStyle/>
          <a:p>
            <a:pPr indent="0" marL="0">
              <a:buNone/>
            </a:pPr>
            <a:r>
              <a:rPr lang="en-US" sz="1250" dirty="0">
                <a:solidFill>
                  <a:schemeClr val="tx1"/>
                </a:solidFill>
              </a:rPr>
              <a:t>Seven switches and top-K per query; live per-stage ms and tokens; [N] chips jump to sources.</a:t>
            </a:r>
            <a:endParaRPr lang="en-US" sz="1250" dirty="0"/>
          </a:p>
        </p:txBody>
      </p:sp>
      <p:sp>
        <p:nvSpPr>
          <p:cNvPr id="67" name="pill-789"/>
          <p:cNvSpPr/>
          <p:nvPr/>
        </p:nvSpPr>
        <p:spPr>
          <a:xfrm>
            <a:off x="7818120" y="2779776"/>
            <a:ext cx="1325880" cy="310896"/>
          </a:xfrm>
          <a:prstGeom prst="roundRect">
            <a:avLst>
              <a:gd name="adj" fmla="val 50000"/>
            </a:avLst>
          </a:prstGeom>
          <a:solidFill>
            <a:schemeClr val="accent2"/>
          </a:solidFill>
          <a:ln/>
        </p:spPr>
        <p:txBody>
          <a:bodyPr wrap="square" lIns="0" tIns="0" rIns="0" bIns="0" rtlCol="0" anchor="ctr"/>
          <a:lstStyle/>
          <a:p>
            <a:pPr algn="ctr" indent="0" marL="0">
              <a:buNone/>
            </a:pPr>
            <a:r>
              <a:rPr lang="en-US" sz="1200" b="1" dirty="0">
                <a:solidFill>
                  <a:schemeClr val="bg1"/>
                </a:solidFill>
              </a:rPr>
              <a:t>Ingestion</a:t>
            </a:r>
            <a:endParaRPr lang="en-US" sz="1200" dirty="0"/>
          </a:p>
        </p:txBody>
      </p:sp>
      <p:sp>
        <p:nvSpPr>
          <p:cNvPr id="68" name="text-790"/>
          <p:cNvSpPr txBox="1"/>
          <p:nvPr/>
        </p:nvSpPr>
        <p:spPr>
          <a:xfrm>
            <a:off x="7818120" y="3163824"/>
            <a:ext cx="3824935" cy="694944"/>
          </a:xfrm>
          <a:prstGeom prst="rect">
            <a:avLst/>
          </a:prstGeom>
          <a:noFill/>
          <a:ln/>
        </p:spPr>
        <p:txBody>
          <a:bodyPr wrap="square" lIns="0" tIns="0" rIns="0" bIns="0" rtlCol="0" anchor="t"/>
          <a:lstStyle/>
          <a:p>
            <a:pPr indent="0" marL="0">
              <a:buNone/>
            </a:pPr>
            <a:r>
              <a:rPr lang="en-US" sz="1250" dirty="0">
                <a:solidFill>
                  <a:schemeClr val="tx1"/>
                </a:solidFill>
              </a:rPr>
              <a:t>Remote ingest or DES, with a schema-match check; live SSE log; contextualise chunks.</a:t>
            </a:r>
            <a:endParaRPr lang="en-US" sz="1250" dirty="0"/>
          </a:p>
        </p:txBody>
      </p:sp>
      <p:sp>
        <p:nvSpPr>
          <p:cNvPr id="69" name="pill-791"/>
          <p:cNvSpPr/>
          <p:nvPr/>
        </p:nvSpPr>
        <p:spPr>
          <a:xfrm>
            <a:off x="7818120" y="3913632"/>
            <a:ext cx="1325880" cy="310896"/>
          </a:xfrm>
          <a:prstGeom prst="roundRect">
            <a:avLst>
              <a:gd name="adj" fmla="val 50000"/>
            </a:avLst>
          </a:prstGeom>
          <a:solidFill>
            <a:schemeClr val="accent2"/>
          </a:solidFill>
          <a:ln/>
        </p:spPr>
        <p:txBody>
          <a:bodyPr wrap="square" lIns="0" tIns="0" rIns="0" bIns="0" rtlCol="0" anchor="ctr"/>
          <a:lstStyle/>
          <a:p>
            <a:pPr algn="ctr" indent="0" marL="0">
              <a:buNone/>
            </a:pPr>
            <a:r>
              <a:rPr lang="en-US" sz="1200" b="1" dirty="0">
                <a:solidFill>
                  <a:schemeClr val="bg1"/>
                </a:solidFill>
              </a:rPr>
              <a:t>Analytics</a:t>
            </a:r>
            <a:endParaRPr lang="en-US" sz="1200" dirty="0"/>
          </a:p>
        </p:txBody>
      </p:sp>
      <p:sp>
        <p:nvSpPr>
          <p:cNvPr id="70" name="text-792"/>
          <p:cNvSpPr txBox="1"/>
          <p:nvPr/>
        </p:nvSpPr>
        <p:spPr>
          <a:xfrm>
            <a:off x="7818120" y="4297680"/>
            <a:ext cx="3824935" cy="694944"/>
          </a:xfrm>
          <a:prstGeom prst="rect">
            <a:avLst/>
          </a:prstGeom>
          <a:noFill/>
          <a:ln/>
        </p:spPr>
        <p:txBody>
          <a:bodyPr wrap="square" lIns="0" tIns="0" rIns="0" bIns="0" rtlCol="0" anchor="t"/>
          <a:lstStyle/>
          <a:p>
            <a:pPr indent="0" marL="0">
              <a:buNone/>
            </a:pPr>
            <a:r>
              <a:rPr lang="en-US" sz="1250" dirty="0">
                <a:solidFill>
                  <a:schemeClr val="tx1"/>
                </a:solidFill>
              </a:rPr>
              <a:t>p50 / p95 / p99 over the last 500 queries, strategy mix, token spend per stage.</a:t>
            </a:r>
            <a:endParaRPr lang="en-US" sz="1250" dirty="0"/>
          </a:p>
        </p:txBody>
      </p:sp>
      <p:sp>
        <p:nvSpPr>
          <p:cNvPr id="71" name="pill-793"/>
          <p:cNvSpPr/>
          <p:nvPr/>
        </p:nvSpPr>
        <p:spPr>
          <a:xfrm>
            <a:off x="7818120" y="5047488"/>
            <a:ext cx="1325880" cy="310896"/>
          </a:xfrm>
          <a:prstGeom prst="roundRect">
            <a:avLst>
              <a:gd name="adj" fmla="val 50000"/>
            </a:avLst>
          </a:prstGeom>
          <a:solidFill>
            <a:schemeClr val="accent2"/>
          </a:solidFill>
          <a:ln/>
        </p:spPr>
        <p:txBody>
          <a:bodyPr wrap="square" lIns="0" tIns="0" rIns="0" bIns="0" rtlCol="0" anchor="ctr"/>
          <a:lstStyle/>
          <a:p>
            <a:pPr algn="ctr" indent="0" marL="0">
              <a:buNone/>
            </a:pPr>
            <a:r>
              <a:rPr lang="en-US" sz="1200" b="1" dirty="0">
                <a:solidFill>
                  <a:schemeClr val="bg1"/>
                </a:solidFill>
              </a:rPr>
              <a:t>Benchmark</a:t>
            </a:r>
            <a:endParaRPr lang="en-US" sz="1200" dirty="0"/>
          </a:p>
        </p:txBody>
      </p:sp>
      <p:sp>
        <p:nvSpPr>
          <p:cNvPr id="72" name="text-794"/>
          <p:cNvSpPr txBox="1"/>
          <p:nvPr/>
        </p:nvSpPr>
        <p:spPr>
          <a:xfrm>
            <a:off x="7818120" y="5431536"/>
            <a:ext cx="3824935" cy="694944"/>
          </a:xfrm>
          <a:prstGeom prst="rect">
            <a:avLst/>
          </a:prstGeom>
          <a:noFill/>
          <a:ln/>
        </p:spPr>
        <p:txBody>
          <a:bodyPr wrap="square" lIns="0" tIns="0" rIns="0" bIns="0" rtlCol="0" anchor="t"/>
          <a:lstStyle/>
          <a:p>
            <a:pPr indent="0" marL="0">
              <a:buNone/>
            </a:pPr>
            <a:r>
              <a:rPr lang="en-US" sz="1250" dirty="0">
                <a:solidFill>
                  <a:schemeClr val="tx1"/>
                </a:solidFill>
              </a:rPr>
              <a:t>Golden sets; recall@5/10, MRR@10, nDCG@10, judged faithfulness and precision.</a:t>
            </a:r>
            <a:endParaRPr lang="en-US" sz="1250" dirty="0"/>
          </a:p>
        </p:txBody>
      </p:sp>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tx2"/>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body" hasCustomPrompt="1"/>
          </p:nvPr>
        </p:nvSpPr>
        <p:spPr>
          <a:xfrm>
            <a:off x="731520" y="1417320"/>
            <a:ext cx="2743200" cy="1143000"/>
          </a:xfrm>
          <a:prstGeom prst="rect">
            <a:avLst/>
          </a:prstGeom>
          <a:noFill/>
          <a:ln/>
        </p:spPr>
        <p:txBody>
          <a:bodyPr wrap="square" lIns="0" tIns="0" rIns="0" bIns="0" rtlCol="0" anchor="b"/>
          <a:lstStyle/>
          <a:p>
            <a:pPr algn="l" indent="0" marL="0">
              <a:buNone/>
            </a:pPr>
            <a:r>
              <a:rPr lang="en-US" sz="7200" b="1" dirty="0">
                <a:solidFill>
                  <a:schemeClr val="accent3"/>
                </a:solidFill>
              </a:rPr>
              <a:t>03</a:t>
            </a:r>
            <a:endParaRPr lang="en-US" sz="7200" dirty="0"/>
          </a:p>
        </p:txBody>
      </p:sp>
      <p:sp>
        <p:nvSpPr>
          <p:cNvPr id="3" name="Text 0"/>
          <p:cNvSpPr/>
          <p:nvPr>
            <p:ph idx="101" type="title" hasCustomPrompt="1"/>
          </p:nvPr>
        </p:nvSpPr>
        <p:spPr>
          <a:xfrm>
            <a:off x="731520" y="2697480"/>
            <a:ext cx="7498080" cy="1234440"/>
          </a:xfrm>
          <a:prstGeom prst="rect">
            <a:avLst/>
          </a:prstGeom>
          <a:noFill/>
          <a:ln/>
        </p:spPr>
        <p:txBody>
          <a:bodyPr wrap="square" lIns="0" tIns="0" rIns="0" bIns="0" rtlCol="0" anchor="t"/>
          <a:lstStyle/>
          <a:p>
            <a:pPr algn="l" indent="0" marL="0">
              <a:buNone/>
            </a:pPr>
            <a:r>
              <a:rPr lang="en-US" sz="3800" b="1" dirty="0">
                <a:solidFill>
                  <a:schemeClr val="bg1"/>
                </a:solidFill>
              </a:rPr>
              <a:t>Value</a:t>
            </a:r>
            <a:endParaRPr lang="en-US" sz="3800" dirty="0"/>
          </a:p>
        </p:txBody>
      </p:sp>
      <p:sp>
        <p:nvSpPr>
          <p:cNvPr id="4" name="Text 0"/>
          <p:cNvSpPr/>
          <p:nvPr>
            <p:ph idx="102" type="body" hasCustomPrompt="1"/>
          </p:nvPr>
        </p:nvSpPr>
        <p:spPr>
          <a:xfrm>
            <a:off x="731520" y="4069080"/>
            <a:ext cx="7498080" cy="1188720"/>
          </a:xfrm>
          <a:prstGeom prst="rect">
            <a:avLst/>
          </a:prstGeom>
          <a:noFill/>
          <a:ln/>
        </p:spPr>
        <p:txBody>
          <a:bodyPr wrap="square" lIns="0" tIns="0" rIns="0" bIns="0" rtlCol="0" anchor="t"/>
          <a:lstStyle/>
          <a:p>
            <a:pPr algn="l" indent="0" marL="0">
              <a:buNone/>
            </a:pPr>
            <a:r>
              <a:rPr lang="en-US" sz="1800" dirty="0">
                <a:solidFill>
                  <a:schemeClr val="accent5"/>
                </a:solidFill>
              </a:rPr>
              <a:t>What changes for the people who use it, and how it compares with a generic RAG stack.</a:t>
            </a:r>
            <a:endParaRPr lang="en-US" sz="1800" dirty="0"/>
          </a:p>
        </p:txBody>
      </p:sp>
      <p:pic>
        <p:nvPicPr>
          <p:cNvPr id="6" name="icon-TbTargetArrow-795" descr="TargetArrow">    </p:cNvPr>
          <p:cNvPicPr>
            <a:picLocks noChangeAspect="1"/>
          </p:cNvPicPr>
          <p:nvPr/>
        </p:nvPicPr>
        <p:blipFill>
          <a:blip r:embed="rId1"/>
          <a:stretch>
            <a:fillRect/>
          </a:stretch>
        </p:blipFill>
        <p:spPr>
          <a:xfrm>
            <a:off x="8961120" y="2286000"/>
            <a:ext cx="1828800" cy="1828800"/>
          </a:xfrm>
          <a:prstGeom prst="rect">
            <a:avLst/>
          </a:prstGeom>
        </p:spPr>
      </p:pic>
      <p:sp>
        <p:nvSpPr>
          <p:cNvPr id="7" name="link-796"/>
          <p:cNvSpPr/>
          <p:nvPr/>
        </p:nvSpPr>
        <p:spPr>
          <a:xfrm>
            <a:off x="8549640" y="1874520"/>
            <a:ext cx="384048" cy="0"/>
          </a:xfrm>
          <a:prstGeom prst="line">
            <a:avLst/>
          </a:prstGeom>
          <a:noFill/>
          <a:ln w="38100">
            <a:solidFill>
              <a:schemeClr val="accent3"/>
            </a:solidFill>
            <a:prstDash val="solid"/>
          </a:ln>
        </p:spPr>
      </p:sp>
      <p:sp>
        <p:nvSpPr>
          <p:cNvPr id="8" name="link-797"/>
          <p:cNvSpPr/>
          <p:nvPr/>
        </p:nvSpPr>
        <p:spPr>
          <a:xfrm>
            <a:off x="8549640" y="1874520"/>
            <a:ext cx="0" cy="384048"/>
          </a:xfrm>
          <a:prstGeom prst="line">
            <a:avLst/>
          </a:prstGeom>
          <a:noFill/>
          <a:ln w="38100">
            <a:solidFill>
              <a:schemeClr val="accent3"/>
            </a:solidFill>
            <a:prstDash val="solid"/>
          </a:ln>
        </p:spPr>
      </p:sp>
      <p:sp>
        <p:nvSpPr>
          <p:cNvPr id="9" name="link-798"/>
          <p:cNvSpPr/>
          <p:nvPr/>
        </p:nvSpPr>
        <p:spPr>
          <a:xfrm>
            <a:off x="10817352" y="1874520"/>
            <a:ext cx="384048" cy="0"/>
          </a:xfrm>
          <a:prstGeom prst="line">
            <a:avLst/>
          </a:prstGeom>
          <a:noFill/>
          <a:ln w="38100">
            <a:solidFill>
              <a:schemeClr val="accent3"/>
            </a:solidFill>
            <a:prstDash val="solid"/>
          </a:ln>
        </p:spPr>
      </p:sp>
      <p:sp>
        <p:nvSpPr>
          <p:cNvPr id="10" name="link-799"/>
          <p:cNvSpPr/>
          <p:nvPr/>
        </p:nvSpPr>
        <p:spPr>
          <a:xfrm>
            <a:off x="11201400" y="1874520"/>
            <a:ext cx="0" cy="384048"/>
          </a:xfrm>
          <a:prstGeom prst="line">
            <a:avLst/>
          </a:prstGeom>
          <a:noFill/>
          <a:ln w="38100">
            <a:solidFill>
              <a:schemeClr val="accent3"/>
            </a:solidFill>
            <a:prstDash val="solid"/>
          </a:ln>
        </p:spPr>
      </p:sp>
      <p:sp>
        <p:nvSpPr>
          <p:cNvPr id="11" name="link-800"/>
          <p:cNvSpPr/>
          <p:nvPr/>
        </p:nvSpPr>
        <p:spPr>
          <a:xfrm>
            <a:off x="8549640" y="4526280"/>
            <a:ext cx="384048" cy="0"/>
          </a:xfrm>
          <a:prstGeom prst="line">
            <a:avLst/>
          </a:prstGeom>
          <a:noFill/>
          <a:ln w="38100">
            <a:solidFill>
              <a:schemeClr val="accent3"/>
            </a:solidFill>
            <a:prstDash val="solid"/>
          </a:ln>
        </p:spPr>
      </p:sp>
      <p:sp>
        <p:nvSpPr>
          <p:cNvPr id="12" name="link-801"/>
          <p:cNvSpPr/>
          <p:nvPr/>
        </p:nvSpPr>
        <p:spPr>
          <a:xfrm>
            <a:off x="8549640" y="4142232"/>
            <a:ext cx="0" cy="384048"/>
          </a:xfrm>
          <a:prstGeom prst="line">
            <a:avLst/>
          </a:prstGeom>
          <a:noFill/>
          <a:ln w="38100">
            <a:solidFill>
              <a:schemeClr val="accent3"/>
            </a:solidFill>
            <a:prstDash val="solid"/>
          </a:ln>
        </p:spPr>
      </p:sp>
      <p:sp>
        <p:nvSpPr>
          <p:cNvPr id="13" name="link-802"/>
          <p:cNvSpPr/>
          <p:nvPr/>
        </p:nvSpPr>
        <p:spPr>
          <a:xfrm>
            <a:off x="10817352" y="4526280"/>
            <a:ext cx="384048" cy="0"/>
          </a:xfrm>
          <a:prstGeom prst="line">
            <a:avLst/>
          </a:prstGeom>
          <a:noFill/>
          <a:ln w="38100">
            <a:solidFill>
              <a:schemeClr val="accent3"/>
            </a:solidFill>
            <a:prstDash val="solid"/>
          </a:ln>
        </p:spPr>
      </p:sp>
      <p:sp>
        <p:nvSpPr>
          <p:cNvPr id="14" name="link-803"/>
          <p:cNvSpPr/>
          <p:nvPr/>
        </p:nvSpPr>
        <p:spPr>
          <a:xfrm>
            <a:off x="11201400" y="4142232"/>
            <a:ext cx="0" cy="384048"/>
          </a:xfrm>
          <a:prstGeom prst="line">
            <a:avLst/>
          </a:prstGeom>
          <a:noFill/>
          <a:ln w="38100">
            <a:solidFill>
              <a:schemeClr val="accent3"/>
            </a:solidFill>
            <a:prstDash val="solid"/>
          </a:ln>
        </p:spPr>
      </p:sp>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5"/>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body" hasCustomPrompt="1"/>
          </p:nvPr>
        </p:nvSpPr>
        <p:spPr>
          <a:xfrm>
            <a:off x="548640" y="310896"/>
            <a:ext cx="8229600" cy="274320"/>
          </a:xfrm>
          <a:prstGeom prst="rect">
            <a:avLst/>
          </a:prstGeom>
          <a:noFill/>
          <a:ln/>
        </p:spPr>
        <p:txBody>
          <a:bodyPr wrap="square" lIns="0" tIns="0" rIns="0" bIns="0" rtlCol="0" anchor="ctr"/>
          <a:lstStyle/>
          <a:p>
            <a:pPr algn="l" indent="0" marL="0">
              <a:buNone/>
            </a:pPr>
            <a:r>
              <a:rPr lang="en-US" sz="1200" b="1" spc="150" kern="0" dirty="0">
                <a:solidFill>
                  <a:schemeClr val="accent1"/>
                </a:solidFill>
              </a:rPr>
              <a:t>VALUE</a:t>
            </a:r>
            <a:endParaRPr lang="en-US" sz="1200" dirty="0"/>
          </a:p>
        </p:txBody>
      </p:sp>
      <p:sp>
        <p:nvSpPr>
          <p:cNvPr id="3" name="Text 0"/>
          <p:cNvSpPr/>
          <p:nvPr>
            <p:ph idx="101" type="title" hasCustomPrompt="1"/>
          </p:nvPr>
        </p:nvSpPr>
        <p:spPr>
          <a:xfrm>
            <a:off x="548640" y="603504"/>
            <a:ext cx="11094415" cy="868680"/>
          </a:xfrm>
          <a:prstGeom prst="rect">
            <a:avLst/>
          </a:prstGeom>
          <a:noFill/>
          <a:ln/>
        </p:spPr>
        <p:txBody>
          <a:bodyPr wrap="square" lIns="0" tIns="0" rIns="0" bIns="0" rtlCol="0" anchor="t"/>
          <a:lstStyle/>
          <a:p>
            <a:pPr algn="l" indent="0" marL="0">
              <a:buNone/>
            </a:pPr>
            <a:r>
              <a:rPr lang="en-US" sz="2800" b="1" dirty="0">
                <a:solidFill>
                  <a:schemeClr val="tx1"/>
                </a:solidFill>
              </a:rPr>
              <a:t>What it changes for the people who use it</a:t>
            </a:r>
            <a:endParaRPr lang="en-US" sz="2800" dirty="0"/>
          </a:p>
        </p:txBody>
      </p:sp>
      <p:sp>
        <p:nvSpPr>
          <p:cNvPr id="5" name="card-804"/>
          <p:cNvSpPr/>
          <p:nvPr/>
        </p:nvSpPr>
        <p:spPr>
          <a:xfrm>
            <a:off x="548640" y="1645920"/>
            <a:ext cx="2581580" cy="4498848"/>
          </a:xfrm>
          <a:prstGeom prst="roundRect">
            <a:avLst>
              <a:gd name="adj" fmla="val 2834"/>
            </a:avLst>
          </a:prstGeom>
          <a:solidFill>
            <a:schemeClr val="bg1"/>
          </a:solidFill>
          <a:ln w="9525">
            <a:solidFill>
              <a:schemeClr val="accent6"/>
            </a:solidFill>
            <a:prstDash val="solid"/>
          </a:ln>
        </p:spPr>
      </p:sp>
      <p:sp>
        <p:nvSpPr>
          <p:cNvPr id="6" name="badge-805"/>
          <p:cNvSpPr/>
          <p:nvPr/>
        </p:nvSpPr>
        <p:spPr>
          <a:xfrm>
            <a:off x="786384" y="1883664"/>
            <a:ext cx="566928" cy="566928"/>
          </a:xfrm>
          <a:prstGeom prst="ellipse">
            <a:avLst/>
          </a:prstGeom>
          <a:solidFill>
            <a:schemeClr val="accent1"/>
          </a:solidFill>
          <a:ln/>
        </p:spPr>
      </p:sp>
      <p:pic>
        <p:nvPicPr>
          <p:cNvPr id="7" name="icon-TbUsers-806" descr="Users">    </p:cNvPr>
          <p:cNvPicPr>
            <a:picLocks noChangeAspect="1"/>
          </p:cNvPicPr>
          <p:nvPr/>
        </p:nvPicPr>
        <p:blipFill>
          <a:blip r:embed="rId1"/>
          <a:stretch>
            <a:fillRect/>
          </a:stretch>
        </p:blipFill>
        <p:spPr>
          <a:xfrm>
            <a:off x="911108" y="2008388"/>
            <a:ext cx="317480" cy="317480"/>
          </a:xfrm>
          <a:prstGeom prst="rect">
            <a:avLst/>
          </a:prstGeom>
        </p:spPr>
      </p:pic>
      <p:sp>
        <p:nvSpPr>
          <p:cNvPr id="8" name="text-807"/>
          <p:cNvSpPr txBox="1"/>
          <p:nvPr/>
        </p:nvSpPr>
        <p:spPr>
          <a:xfrm>
            <a:off x="786384" y="2596896"/>
            <a:ext cx="2106092" cy="365760"/>
          </a:xfrm>
          <a:prstGeom prst="rect">
            <a:avLst/>
          </a:prstGeom>
          <a:noFill/>
          <a:ln/>
        </p:spPr>
        <p:txBody>
          <a:bodyPr wrap="square" lIns="0" tIns="0" rIns="0" bIns="0" rtlCol="0" anchor="t"/>
          <a:lstStyle/>
          <a:p>
            <a:pPr indent="0" marL="0">
              <a:buNone/>
            </a:pPr>
            <a:r>
              <a:rPr lang="en-US" sz="1700" b="1" dirty="0">
                <a:solidFill>
                  <a:schemeClr val="tx1"/>
                </a:solidFill>
              </a:rPr>
              <a:t>KYC reviewers</a:t>
            </a:r>
            <a:endParaRPr lang="en-US" sz="1700" dirty="0"/>
          </a:p>
        </p:txBody>
      </p:sp>
      <p:sp>
        <p:nvSpPr>
          <p:cNvPr id="9" name="link-808"/>
          <p:cNvSpPr/>
          <p:nvPr/>
        </p:nvSpPr>
        <p:spPr>
          <a:xfrm>
            <a:off x="786384" y="3108960"/>
            <a:ext cx="2106092" cy="0"/>
          </a:xfrm>
          <a:prstGeom prst="line">
            <a:avLst/>
          </a:prstGeom>
          <a:noFill/>
          <a:ln w="9525">
            <a:solidFill>
              <a:schemeClr val="accent6"/>
            </a:solidFill>
            <a:prstDash val="solid"/>
          </a:ln>
        </p:spPr>
      </p:sp>
      <p:sp>
        <p:nvSpPr>
          <p:cNvPr id="10" name="text-809"/>
          <p:cNvSpPr txBox="1"/>
          <p:nvPr/>
        </p:nvSpPr>
        <p:spPr>
          <a:xfrm>
            <a:off x="786384" y="3200400"/>
            <a:ext cx="2106092" cy="822960"/>
          </a:xfrm>
          <a:prstGeom prst="rect">
            <a:avLst/>
          </a:prstGeom>
          <a:noFill/>
          <a:ln/>
        </p:spPr>
        <p:txBody>
          <a:bodyPr wrap="square" lIns="0" tIns="0" rIns="0" bIns="0" rtlCol="0" anchor="t"/>
          <a:lstStyle/>
          <a:p>
            <a:pPr indent="0" marL="0">
              <a:buNone/>
            </a:pPr>
            <a:r>
              <a:rPr lang="en-US" sz="1350" dirty="0">
                <a:solidFill>
                  <a:schemeClr val="tx1"/>
                </a:solidFill>
              </a:rPr>
              <a:t>Ask in plain language across W-9s, W-8BENs, CIP forms and statements</a:t>
            </a:r>
            <a:endParaRPr lang="en-US" sz="1350" dirty="0"/>
          </a:p>
        </p:txBody>
      </p:sp>
      <p:sp>
        <p:nvSpPr>
          <p:cNvPr id="11" name="link-810"/>
          <p:cNvSpPr/>
          <p:nvPr/>
        </p:nvSpPr>
        <p:spPr>
          <a:xfrm>
            <a:off x="786384" y="4096512"/>
            <a:ext cx="2106092" cy="0"/>
          </a:xfrm>
          <a:prstGeom prst="line">
            <a:avLst/>
          </a:prstGeom>
          <a:noFill/>
          <a:ln w="9525">
            <a:solidFill>
              <a:schemeClr val="accent6"/>
            </a:solidFill>
            <a:prstDash val="solid"/>
          </a:ln>
        </p:spPr>
      </p:sp>
      <p:sp>
        <p:nvSpPr>
          <p:cNvPr id="12" name="text-811"/>
          <p:cNvSpPr txBox="1"/>
          <p:nvPr/>
        </p:nvSpPr>
        <p:spPr>
          <a:xfrm>
            <a:off x="786384" y="4187952"/>
            <a:ext cx="2106092" cy="822960"/>
          </a:xfrm>
          <a:prstGeom prst="rect">
            <a:avLst/>
          </a:prstGeom>
          <a:noFill/>
          <a:ln/>
        </p:spPr>
        <p:txBody>
          <a:bodyPr wrap="square" lIns="0" tIns="0" rIns="0" bIns="0" rtlCol="0" anchor="t"/>
          <a:lstStyle/>
          <a:p>
            <a:pPr indent="0" marL="0">
              <a:buNone/>
            </a:pPr>
            <a:r>
              <a:rPr lang="en-US" sz="1350" dirty="0">
                <a:solidFill>
                  <a:schemeClr val="tx1"/>
                </a:solidFill>
              </a:rPr>
              <a:t>Every answer cites the chunk and page it came from</a:t>
            </a:r>
            <a:endParaRPr lang="en-US" sz="1350" dirty="0"/>
          </a:p>
        </p:txBody>
      </p:sp>
      <p:sp>
        <p:nvSpPr>
          <p:cNvPr id="13" name="link-812"/>
          <p:cNvSpPr/>
          <p:nvPr/>
        </p:nvSpPr>
        <p:spPr>
          <a:xfrm>
            <a:off x="786384" y="5084064"/>
            <a:ext cx="2106092" cy="0"/>
          </a:xfrm>
          <a:prstGeom prst="line">
            <a:avLst/>
          </a:prstGeom>
          <a:noFill/>
          <a:ln w="9525">
            <a:solidFill>
              <a:schemeClr val="accent6"/>
            </a:solidFill>
            <a:prstDash val="solid"/>
          </a:ln>
        </p:spPr>
      </p:sp>
      <p:sp>
        <p:nvSpPr>
          <p:cNvPr id="14" name="text-813"/>
          <p:cNvSpPr txBox="1"/>
          <p:nvPr/>
        </p:nvSpPr>
        <p:spPr>
          <a:xfrm>
            <a:off x="786384" y="5175504"/>
            <a:ext cx="2106092" cy="822960"/>
          </a:xfrm>
          <a:prstGeom prst="rect">
            <a:avLst/>
          </a:prstGeom>
          <a:noFill/>
          <a:ln/>
        </p:spPr>
        <p:txBody>
          <a:bodyPr wrap="square" lIns="0" tIns="0" rIns="0" bIns="0" rtlCol="0" anchor="t"/>
          <a:lstStyle/>
          <a:p>
            <a:pPr indent="0" marL="0">
              <a:buNone/>
            </a:pPr>
            <a:r>
              <a:rPr lang="en-US" sz="1350" dirty="0">
                <a:solidFill>
                  <a:schemeClr val="tx1"/>
                </a:solidFill>
              </a:rPr>
              <a:t>Ticked boxes and table rows survive into answers</a:t>
            </a:r>
            <a:endParaRPr lang="en-US" sz="1350" dirty="0"/>
          </a:p>
        </p:txBody>
      </p:sp>
      <p:sp>
        <p:nvSpPr>
          <p:cNvPr id="15" name="card-814"/>
          <p:cNvSpPr/>
          <p:nvPr/>
        </p:nvSpPr>
        <p:spPr>
          <a:xfrm>
            <a:off x="3386252" y="1645920"/>
            <a:ext cx="2581580" cy="4498848"/>
          </a:xfrm>
          <a:prstGeom prst="roundRect">
            <a:avLst>
              <a:gd name="adj" fmla="val 2834"/>
            </a:avLst>
          </a:prstGeom>
          <a:solidFill>
            <a:schemeClr val="bg1"/>
          </a:solidFill>
          <a:ln w="9525">
            <a:solidFill>
              <a:schemeClr val="accent6"/>
            </a:solidFill>
            <a:prstDash val="solid"/>
          </a:ln>
        </p:spPr>
      </p:sp>
      <p:sp>
        <p:nvSpPr>
          <p:cNvPr id="16" name="badge-815"/>
          <p:cNvSpPr/>
          <p:nvPr/>
        </p:nvSpPr>
        <p:spPr>
          <a:xfrm>
            <a:off x="3623996" y="1883664"/>
            <a:ext cx="566928" cy="566928"/>
          </a:xfrm>
          <a:prstGeom prst="ellipse">
            <a:avLst/>
          </a:prstGeom>
          <a:solidFill>
            <a:schemeClr val="accent1"/>
          </a:solidFill>
          <a:ln/>
        </p:spPr>
      </p:sp>
      <p:pic>
        <p:nvPicPr>
          <p:cNvPr id="17" name="icon-TbShieldCheck-816" descr="ShieldCheck">    </p:cNvPr>
          <p:cNvPicPr>
            <a:picLocks noChangeAspect="1"/>
          </p:cNvPicPr>
          <p:nvPr/>
        </p:nvPicPr>
        <p:blipFill>
          <a:blip r:embed="rId2"/>
          <a:stretch>
            <a:fillRect/>
          </a:stretch>
        </p:blipFill>
        <p:spPr>
          <a:xfrm>
            <a:off x="3748720" y="2008388"/>
            <a:ext cx="317480" cy="317480"/>
          </a:xfrm>
          <a:prstGeom prst="rect">
            <a:avLst/>
          </a:prstGeom>
        </p:spPr>
      </p:pic>
      <p:sp>
        <p:nvSpPr>
          <p:cNvPr id="18" name="text-817"/>
          <p:cNvSpPr txBox="1"/>
          <p:nvPr/>
        </p:nvSpPr>
        <p:spPr>
          <a:xfrm>
            <a:off x="3623996" y="2596896"/>
            <a:ext cx="2106092" cy="365760"/>
          </a:xfrm>
          <a:prstGeom prst="rect">
            <a:avLst/>
          </a:prstGeom>
          <a:noFill/>
          <a:ln/>
        </p:spPr>
        <p:txBody>
          <a:bodyPr wrap="square" lIns="0" tIns="0" rIns="0" bIns="0" rtlCol="0" anchor="t"/>
          <a:lstStyle/>
          <a:p>
            <a:pPr indent="0" marL="0">
              <a:buNone/>
            </a:pPr>
            <a:r>
              <a:rPr lang="en-US" sz="1700" b="1" dirty="0">
                <a:solidFill>
                  <a:schemeClr val="tx1"/>
                </a:solidFill>
              </a:rPr>
              <a:t>Compliance and risk</a:t>
            </a:r>
            <a:endParaRPr lang="en-US" sz="1700" dirty="0"/>
          </a:p>
        </p:txBody>
      </p:sp>
      <p:sp>
        <p:nvSpPr>
          <p:cNvPr id="19" name="link-818"/>
          <p:cNvSpPr/>
          <p:nvPr/>
        </p:nvSpPr>
        <p:spPr>
          <a:xfrm>
            <a:off x="3623996" y="3108960"/>
            <a:ext cx="2106092" cy="0"/>
          </a:xfrm>
          <a:prstGeom prst="line">
            <a:avLst/>
          </a:prstGeom>
          <a:noFill/>
          <a:ln w="9525">
            <a:solidFill>
              <a:schemeClr val="accent6"/>
            </a:solidFill>
            <a:prstDash val="solid"/>
          </a:ln>
        </p:spPr>
      </p:sp>
      <p:sp>
        <p:nvSpPr>
          <p:cNvPr id="20" name="text-819"/>
          <p:cNvSpPr txBox="1"/>
          <p:nvPr/>
        </p:nvSpPr>
        <p:spPr>
          <a:xfrm>
            <a:off x="3623996" y="3200400"/>
            <a:ext cx="2106092" cy="822960"/>
          </a:xfrm>
          <a:prstGeom prst="rect">
            <a:avLst/>
          </a:prstGeom>
          <a:noFill/>
          <a:ln/>
        </p:spPr>
        <p:txBody>
          <a:bodyPr wrap="square" lIns="0" tIns="0" rIns="0" bIns="0" rtlCol="0" anchor="t"/>
          <a:lstStyle/>
          <a:p>
            <a:pPr indent="0" marL="0">
              <a:buNone/>
            </a:pPr>
            <a:r>
              <a:rPr lang="en-US" sz="1350" dirty="0">
                <a:solidFill>
                  <a:schemeClr val="tx1"/>
                </a:solidFill>
              </a:rPr>
              <a:t>PII masked before indexing; entity counts, never values</a:t>
            </a:r>
            <a:endParaRPr lang="en-US" sz="1350" dirty="0"/>
          </a:p>
        </p:txBody>
      </p:sp>
      <p:sp>
        <p:nvSpPr>
          <p:cNvPr id="21" name="link-820"/>
          <p:cNvSpPr/>
          <p:nvPr/>
        </p:nvSpPr>
        <p:spPr>
          <a:xfrm>
            <a:off x="3623996" y="4096512"/>
            <a:ext cx="2106092" cy="0"/>
          </a:xfrm>
          <a:prstGeom prst="line">
            <a:avLst/>
          </a:prstGeom>
          <a:noFill/>
          <a:ln w="9525">
            <a:solidFill>
              <a:schemeClr val="accent6"/>
            </a:solidFill>
            <a:prstDash val="solid"/>
          </a:ln>
        </p:spPr>
      </p:sp>
      <p:sp>
        <p:nvSpPr>
          <p:cNvPr id="22" name="text-821"/>
          <p:cNvSpPr txBox="1"/>
          <p:nvPr/>
        </p:nvSpPr>
        <p:spPr>
          <a:xfrm>
            <a:off x="3623996" y="4187952"/>
            <a:ext cx="2106092" cy="822960"/>
          </a:xfrm>
          <a:prstGeom prst="rect">
            <a:avLst/>
          </a:prstGeom>
          <a:noFill/>
          <a:ln/>
        </p:spPr>
        <p:txBody>
          <a:bodyPr wrap="square" lIns="0" tIns="0" rIns="0" bIns="0" rtlCol="0" anchor="t"/>
          <a:lstStyle/>
          <a:p>
            <a:pPr indent="0" marL="0">
              <a:buNone/>
            </a:pPr>
            <a:r>
              <a:rPr lang="en-US" sz="1350" dirty="0">
                <a:solidFill>
                  <a:schemeClr val="tx1"/>
                </a:solidFill>
              </a:rPr>
              <a:t>Each chunk traceable to its file hash and model versions</a:t>
            </a:r>
            <a:endParaRPr lang="en-US" sz="1350" dirty="0"/>
          </a:p>
        </p:txBody>
      </p:sp>
      <p:sp>
        <p:nvSpPr>
          <p:cNvPr id="23" name="link-822"/>
          <p:cNvSpPr/>
          <p:nvPr/>
        </p:nvSpPr>
        <p:spPr>
          <a:xfrm>
            <a:off x="3623996" y="5084064"/>
            <a:ext cx="2106092" cy="0"/>
          </a:xfrm>
          <a:prstGeom prst="line">
            <a:avLst/>
          </a:prstGeom>
          <a:noFill/>
          <a:ln w="9525">
            <a:solidFill>
              <a:schemeClr val="accent6"/>
            </a:solidFill>
            <a:prstDash val="solid"/>
          </a:ln>
        </p:spPr>
      </p:sp>
      <p:sp>
        <p:nvSpPr>
          <p:cNvPr id="24" name="text-823"/>
          <p:cNvSpPr txBox="1"/>
          <p:nvPr/>
        </p:nvSpPr>
        <p:spPr>
          <a:xfrm>
            <a:off x="3623996" y="5175504"/>
            <a:ext cx="2106092" cy="822960"/>
          </a:xfrm>
          <a:prstGeom prst="rect">
            <a:avLst/>
          </a:prstGeom>
          <a:noFill/>
          <a:ln/>
        </p:spPr>
        <p:txBody>
          <a:bodyPr wrap="square" lIns="0" tIns="0" rIns="0" bIns="0" rtlCol="0" anchor="t"/>
          <a:lstStyle/>
          <a:p>
            <a:pPr indent="0" marL="0">
              <a:buNone/>
            </a:pPr>
            <a:r>
              <a:rPr lang="en-US" sz="1350" dirty="0">
                <a:solidFill>
                  <a:schemeClr val="tx1"/>
                </a:solidFill>
              </a:rPr>
              <a:t>Read-only, least-privilege access to shared stores</a:t>
            </a:r>
            <a:endParaRPr lang="en-US" sz="1350" dirty="0"/>
          </a:p>
        </p:txBody>
      </p:sp>
      <p:sp>
        <p:nvSpPr>
          <p:cNvPr id="25" name="card-824"/>
          <p:cNvSpPr/>
          <p:nvPr/>
        </p:nvSpPr>
        <p:spPr>
          <a:xfrm>
            <a:off x="6223864" y="1645920"/>
            <a:ext cx="2581580" cy="4498848"/>
          </a:xfrm>
          <a:prstGeom prst="roundRect">
            <a:avLst>
              <a:gd name="adj" fmla="val 2834"/>
            </a:avLst>
          </a:prstGeom>
          <a:solidFill>
            <a:schemeClr val="bg1"/>
          </a:solidFill>
          <a:ln w="9525">
            <a:solidFill>
              <a:schemeClr val="accent6"/>
            </a:solidFill>
            <a:prstDash val="solid"/>
          </a:ln>
        </p:spPr>
      </p:sp>
      <p:sp>
        <p:nvSpPr>
          <p:cNvPr id="26" name="badge-825"/>
          <p:cNvSpPr/>
          <p:nvPr/>
        </p:nvSpPr>
        <p:spPr>
          <a:xfrm>
            <a:off x="6461608" y="1883664"/>
            <a:ext cx="566928" cy="566928"/>
          </a:xfrm>
          <a:prstGeom prst="ellipse">
            <a:avLst/>
          </a:prstGeom>
          <a:solidFill>
            <a:schemeClr val="accent1"/>
          </a:solidFill>
          <a:ln/>
        </p:spPr>
      </p:sp>
      <p:pic>
        <p:nvPicPr>
          <p:cNvPr id="27" name="icon-TbCode-826" descr="Code">    </p:cNvPr>
          <p:cNvPicPr>
            <a:picLocks noChangeAspect="1"/>
          </p:cNvPicPr>
          <p:nvPr/>
        </p:nvPicPr>
        <p:blipFill>
          <a:blip r:embed="rId3"/>
          <a:stretch>
            <a:fillRect/>
          </a:stretch>
        </p:blipFill>
        <p:spPr>
          <a:xfrm>
            <a:off x="6586332" y="2008388"/>
            <a:ext cx="317480" cy="317480"/>
          </a:xfrm>
          <a:prstGeom prst="rect">
            <a:avLst/>
          </a:prstGeom>
        </p:spPr>
      </p:pic>
      <p:sp>
        <p:nvSpPr>
          <p:cNvPr id="28" name="text-827"/>
          <p:cNvSpPr txBox="1"/>
          <p:nvPr/>
        </p:nvSpPr>
        <p:spPr>
          <a:xfrm>
            <a:off x="6461608" y="2596896"/>
            <a:ext cx="2106092" cy="365760"/>
          </a:xfrm>
          <a:prstGeom prst="rect">
            <a:avLst/>
          </a:prstGeom>
          <a:noFill/>
          <a:ln/>
        </p:spPr>
        <p:txBody>
          <a:bodyPr wrap="square" lIns="0" tIns="0" rIns="0" bIns="0" rtlCol="0" anchor="t"/>
          <a:lstStyle/>
          <a:p>
            <a:pPr indent="0" marL="0">
              <a:buNone/>
            </a:pPr>
            <a:r>
              <a:rPr lang="en-US" sz="1700" b="1" dirty="0">
                <a:solidFill>
                  <a:schemeClr val="tx1"/>
                </a:solidFill>
              </a:rPr>
              <a:t>Engineering</a:t>
            </a:r>
            <a:endParaRPr lang="en-US" sz="1700" dirty="0"/>
          </a:p>
        </p:txBody>
      </p:sp>
      <p:sp>
        <p:nvSpPr>
          <p:cNvPr id="29" name="link-828"/>
          <p:cNvSpPr/>
          <p:nvPr/>
        </p:nvSpPr>
        <p:spPr>
          <a:xfrm>
            <a:off x="6461608" y="3108960"/>
            <a:ext cx="2106092" cy="0"/>
          </a:xfrm>
          <a:prstGeom prst="line">
            <a:avLst/>
          </a:prstGeom>
          <a:noFill/>
          <a:ln w="9525">
            <a:solidFill>
              <a:schemeClr val="accent6"/>
            </a:solidFill>
            <a:prstDash val="solid"/>
          </a:ln>
        </p:spPr>
      </p:sp>
      <p:sp>
        <p:nvSpPr>
          <p:cNvPr id="30" name="text-829"/>
          <p:cNvSpPr txBox="1"/>
          <p:nvPr/>
        </p:nvSpPr>
        <p:spPr>
          <a:xfrm>
            <a:off x="6461608" y="3200400"/>
            <a:ext cx="2106092" cy="822960"/>
          </a:xfrm>
          <a:prstGeom prst="rect">
            <a:avLst/>
          </a:prstGeom>
          <a:noFill/>
          <a:ln/>
        </p:spPr>
        <p:txBody>
          <a:bodyPr wrap="square" lIns="0" tIns="0" rIns="0" bIns="0" rtlCol="0" anchor="t"/>
          <a:lstStyle/>
          <a:p>
            <a:pPr indent="0" marL="0">
              <a:buNone/>
            </a:pPr>
            <a:r>
              <a:rPr lang="en-US" sz="1350" dirty="0">
                <a:solidFill>
                  <a:schemeClr val="tx1"/>
                </a:solidFill>
              </a:rPr>
              <a:t>One schema and one embedding contract, tested on both sides</a:t>
            </a:r>
            <a:endParaRPr lang="en-US" sz="1350" dirty="0"/>
          </a:p>
        </p:txBody>
      </p:sp>
      <p:sp>
        <p:nvSpPr>
          <p:cNvPr id="31" name="link-830"/>
          <p:cNvSpPr/>
          <p:nvPr/>
        </p:nvSpPr>
        <p:spPr>
          <a:xfrm>
            <a:off x="6461608" y="4096512"/>
            <a:ext cx="2106092" cy="0"/>
          </a:xfrm>
          <a:prstGeom prst="line">
            <a:avLst/>
          </a:prstGeom>
          <a:noFill/>
          <a:ln w="9525">
            <a:solidFill>
              <a:schemeClr val="accent6"/>
            </a:solidFill>
            <a:prstDash val="solid"/>
          </a:ln>
        </p:spPr>
      </p:sp>
      <p:sp>
        <p:nvSpPr>
          <p:cNvPr id="32" name="text-831"/>
          <p:cNvSpPr txBox="1"/>
          <p:nvPr/>
        </p:nvSpPr>
        <p:spPr>
          <a:xfrm>
            <a:off x="6461608" y="4187952"/>
            <a:ext cx="2106092" cy="822960"/>
          </a:xfrm>
          <a:prstGeom prst="rect">
            <a:avLst/>
          </a:prstGeom>
          <a:noFill/>
          <a:ln/>
        </p:spPr>
        <p:txBody>
          <a:bodyPr wrap="square" lIns="0" tIns="0" rIns="0" bIns="0" rtlCol="0" anchor="t"/>
          <a:lstStyle/>
          <a:p>
            <a:pPr indent="0" marL="0">
              <a:buNone/>
            </a:pPr>
            <a:r>
              <a:rPr lang="en-US" sz="1350" dirty="0">
                <a:solidFill>
                  <a:schemeClr val="tx1"/>
                </a:solidFill>
              </a:rPr>
              <a:t>Whole pipeline runs offline with Azure mocks and stubs</a:t>
            </a:r>
            <a:endParaRPr lang="en-US" sz="1350" dirty="0"/>
          </a:p>
        </p:txBody>
      </p:sp>
      <p:sp>
        <p:nvSpPr>
          <p:cNvPr id="33" name="link-832"/>
          <p:cNvSpPr/>
          <p:nvPr/>
        </p:nvSpPr>
        <p:spPr>
          <a:xfrm>
            <a:off x="6461608" y="5084064"/>
            <a:ext cx="2106092" cy="0"/>
          </a:xfrm>
          <a:prstGeom prst="line">
            <a:avLst/>
          </a:prstGeom>
          <a:noFill/>
          <a:ln w="9525">
            <a:solidFill>
              <a:schemeClr val="accent6"/>
            </a:solidFill>
            <a:prstDash val="solid"/>
          </a:ln>
        </p:spPr>
      </p:sp>
      <p:sp>
        <p:nvSpPr>
          <p:cNvPr id="34" name="text-833"/>
          <p:cNvSpPr txBox="1"/>
          <p:nvPr/>
        </p:nvSpPr>
        <p:spPr>
          <a:xfrm>
            <a:off x="6461608" y="5175504"/>
            <a:ext cx="2106092" cy="822960"/>
          </a:xfrm>
          <a:prstGeom prst="rect">
            <a:avLst/>
          </a:prstGeom>
          <a:noFill/>
          <a:ln/>
        </p:spPr>
        <p:txBody>
          <a:bodyPr wrap="square" lIns="0" tIns="0" rIns="0" bIns="0" rtlCol="0" anchor="t"/>
          <a:lstStyle/>
          <a:p>
            <a:pPr indent="0" marL="0">
              <a:buNone/>
            </a:pPr>
            <a:r>
              <a:rPr lang="en-US" sz="1350" dirty="0">
                <a:solidFill>
                  <a:schemeClr val="tx1"/>
                </a:solidFill>
              </a:rPr>
              <a:t>Deterministic output turns upgrades into diffs</a:t>
            </a:r>
            <a:endParaRPr lang="en-US" sz="1350" dirty="0"/>
          </a:p>
        </p:txBody>
      </p:sp>
      <p:sp>
        <p:nvSpPr>
          <p:cNvPr id="35" name="card-834"/>
          <p:cNvSpPr/>
          <p:nvPr/>
        </p:nvSpPr>
        <p:spPr>
          <a:xfrm>
            <a:off x="9061475" y="1645920"/>
            <a:ext cx="2581580" cy="4498848"/>
          </a:xfrm>
          <a:prstGeom prst="roundRect">
            <a:avLst>
              <a:gd name="adj" fmla="val 2834"/>
            </a:avLst>
          </a:prstGeom>
          <a:solidFill>
            <a:schemeClr val="bg1"/>
          </a:solidFill>
          <a:ln w="9525">
            <a:solidFill>
              <a:schemeClr val="accent6"/>
            </a:solidFill>
            <a:prstDash val="solid"/>
          </a:ln>
        </p:spPr>
      </p:sp>
      <p:sp>
        <p:nvSpPr>
          <p:cNvPr id="36" name="badge-835"/>
          <p:cNvSpPr/>
          <p:nvPr/>
        </p:nvSpPr>
        <p:spPr>
          <a:xfrm>
            <a:off x="9299219" y="1883664"/>
            <a:ext cx="566928" cy="566928"/>
          </a:xfrm>
          <a:prstGeom prst="ellipse">
            <a:avLst/>
          </a:prstGeom>
          <a:solidFill>
            <a:schemeClr val="accent2"/>
          </a:solidFill>
          <a:ln/>
        </p:spPr>
      </p:sp>
      <p:pic>
        <p:nvPicPr>
          <p:cNvPr id="37" name="icon-TbBuildingFactory2-836" descr="BuildingFactory2">    </p:cNvPr>
          <p:cNvPicPr>
            <a:picLocks noChangeAspect="1"/>
          </p:cNvPicPr>
          <p:nvPr/>
        </p:nvPicPr>
        <p:blipFill>
          <a:blip r:embed="rId4"/>
          <a:stretch>
            <a:fillRect/>
          </a:stretch>
        </p:blipFill>
        <p:spPr>
          <a:xfrm>
            <a:off x="9423944" y="2008388"/>
            <a:ext cx="317480" cy="317480"/>
          </a:xfrm>
          <a:prstGeom prst="rect">
            <a:avLst/>
          </a:prstGeom>
        </p:spPr>
      </p:pic>
      <p:sp>
        <p:nvSpPr>
          <p:cNvPr id="38" name="text-837"/>
          <p:cNvSpPr txBox="1"/>
          <p:nvPr/>
        </p:nvSpPr>
        <p:spPr>
          <a:xfrm>
            <a:off x="9299219" y="2596896"/>
            <a:ext cx="2106092" cy="365760"/>
          </a:xfrm>
          <a:prstGeom prst="rect">
            <a:avLst/>
          </a:prstGeom>
          <a:noFill/>
          <a:ln/>
        </p:spPr>
        <p:txBody>
          <a:bodyPr wrap="square" lIns="0" tIns="0" rIns="0" bIns="0" rtlCol="0" anchor="t"/>
          <a:lstStyle/>
          <a:p>
            <a:pPr indent="0" marL="0">
              <a:buNone/>
            </a:pPr>
            <a:r>
              <a:rPr lang="en-US" sz="1700" b="1" dirty="0">
                <a:solidFill>
                  <a:schemeClr val="tx1"/>
                </a:solidFill>
              </a:rPr>
              <a:t>Leadership</a:t>
            </a:r>
            <a:endParaRPr lang="en-US" sz="1700" dirty="0"/>
          </a:p>
        </p:txBody>
      </p:sp>
      <p:sp>
        <p:nvSpPr>
          <p:cNvPr id="39" name="link-838"/>
          <p:cNvSpPr/>
          <p:nvPr/>
        </p:nvSpPr>
        <p:spPr>
          <a:xfrm>
            <a:off x="9299219" y="3108960"/>
            <a:ext cx="2106092" cy="0"/>
          </a:xfrm>
          <a:prstGeom prst="line">
            <a:avLst/>
          </a:prstGeom>
          <a:noFill/>
          <a:ln w="9525">
            <a:solidFill>
              <a:schemeClr val="accent6"/>
            </a:solidFill>
            <a:prstDash val="solid"/>
          </a:ln>
        </p:spPr>
      </p:sp>
      <p:sp>
        <p:nvSpPr>
          <p:cNvPr id="40" name="text-839"/>
          <p:cNvSpPr txBox="1"/>
          <p:nvPr/>
        </p:nvSpPr>
        <p:spPr>
          <a:xfrm>
            <a:off x="9299219" y="3200400"/>
            <a:ext cx="2106092" cy="822960"/>
          </a:xfrm>
          <a:prstGeom prst="rect">
            <a:avLst/>
          </a:prstGeom>
          <a:noFill/>
          <a:ln/>
        </p:spPr>
        <p:txBody>
          <a:bodyPr wrap="square" lIns="0" tIns="0" rIns="0" bIns="0" rtlCol="0" anchor="t"/>
          <a:lstStyle/>
          <a:p>
            <a:pPr indent="0" marL="0">
              <a:buNone/>
            </a:pPr>
            <a:r>
              <a:rPr lang="en-US" sz="1350" dirty="0">
                <a:solidFill>
                  <a:schemeClr val="tx1"/>
                </a:solidFill>
              </a:rPr>
              <a:t>One superset pipeline that can also produce Wega’s chunks</a:t>
            </a:r>
            <a:endParaRPr lang="en-US" sz="1350" dirty="0"/>
          </a:p>
        </p:txBody>
      </p:sp>
      <p:sp>
        <p:nvSpPr>
          <p:cNvPr id="41" name="link-840"/>
          <p:cNvSpPr/>
          <p:nvPr/>
        </p:nvSpPr>
        <p:spPr>
          <a:xfrm>
            <a:off x="9299219" y="4096512"/>
            <a:ext cx="2106092" cy="0"/>
          </a:xfrm>
          <a:prstGeom prst="line">
            <a:avLst/>
          </a:prstGeom>
          <a:noFill/>
          <a:ln w="9525">
            <a:solidFill>
              <a:schemeClr val="accent6"/>
            </a:solidFill>
            <a:prstDash val="solid"/>
          </a:ln>
        </p:spPr>
      </p:sp>
      <p:sp>
        <p:nvSpPr>
          <p:cNvPr id="42" name="text-841"/>
          <p:cNvSpPr txBox="1"/>
          <p:nvPr/>
        </p:nvSpPr>
        <p:spPr>
          <a:xfrm>
            <a:off x="9299219" y="4187952"/>
            <a:ext cx="2106092" cy="822960"/>
          </a:xfrm>
          <a:prstGeom prst="rect">
            <a:avLst/>
          </a:prstGeom>
          <a:noFill/>
          <a:ln/>
        </p:spPr>
        <p:txBody>
          <a:bodyPr wrap="square" lIns="0" tIns="0" rIns="0" bIns="0" rtlCol="0" anchor="t"/>
          <a:lstStyle/>
          <a:p>
            <a:pPr indent="0" marL="0">
              <a:buNone/>
            </a:pPr>
            <a:r>
              <a:rPr lang="en-US" sz="1350" dirty="0">
                <a:solidFill>
                  <a:schemeClr val="tx1"/>
                </a:solidFill>
              </a:rPr>
              <a:t>Models are configuration per role, not code</a:t>
            </a:r>
            <a:endParaRPr lang="en-US" sz="1350" dirty="0"/>
          </a:p>
        </p:txBody>
      </p:sp>
      <p:sp>
        <p:nvSpPr>
          <p:cNvPr id="43" name="link-842"/>
          <p:cNvSpPr/>
          <p:nvPr/>
        </p:nvSpPr>
        <p:spPr>
          <a:xfrm>
            <a:off x="9299219" y="5084064"/>
            <a:ext cx="2106092" cy="0"/>
          </a:xfrm>
          <a:prstGeom prst="line">
            <a:avLst/>
          </a:prstGeom>
          <a:noFill/>
          <a:ln w="9525">
            <a:solidFill>
              <a:schemeClr val="accent6"/>
            </a:solidFill>
            <a:prstDash val="solid"/>
          </a:ln>
        </p:spPr>
      </p:sp>
      <p:sp>
        <p:nvSpPr>
          <p:cNvPr id="44" name="text-843"/>
          <p:cNvSpPr txBox="1"/>
          <p:nvPr/>
        </p:nvSpPr>
        <p:spPr>
          <a:xfrm>
            <a:off x="9299219" y="5175504"/>
            <a:ext cx="2106092" cy="822960"/>
          </a:xfrm>
          <a:prstGeom prst="rect">
            <a:avLst/>
          </a:prstGeom>
          <a:noFill/>
          <a:ln/>
        </p:spPr>
        <p:txBody>
          <a:bodyPr wrap="square" lIns="0" tIns="0" rIns="0" bIns="0" rtlCol="0" anchor="t"/>
          <a:lstStyle/>
          <a:p>
            <a:pPr indent="0" marL="0">
              <a:buNone/>
            </a:pPr>
            <a:r>
              <a:rPr lang="en-US" sz="1350" dirty="0">
                <a:solidFill>
                  <a:schemeClr val="tx1"/>
                </a:solidFill>
              </a:rPr>
              <a:t>Every answer traceable for reviews and audits</a:t>
            </a:r>
            <a:endParaRPr lang="en-US" sz="1350" dirty="0"/>
          </a:p>
        </p:txBody>
      </p:sp>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tx2"/>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body" hasCustomPrompt="1"/>
          </p:nvPr>
        </p:nvSpPr>
        <p:spPr>
          <a:xfrm>
            <a:off x="548640" y="310896"/>
            <a:ext cx="8229600" cy="274320"/>
          </a:xfrm>
          <a:prstGeom prst="rect">
            <a:avLst/>
          </a:prstGeom>
          <a:noFill/>
          <a:ln/>
        </p:spPr>
        <p:txBody>
          <a:bodyPr wrap="square" lIns="0" tIns="0" rIns="0" bIns="0" rtlCol="0" anchor="ctr"/>
          <a:lstStyle/>
          <a:p>
            <a:pPr algn="l" indent="0" marL="0">
              <a:buNone/>
            </a:pPr>
            <a:r>
              <a:rPr lang="en-US" sz="1200" b="1" spc="150" kern="0" dirty="0">
                <a:solidFill>
                  <a:schemeClr val="accent1"/>
                </a:solidFill>
              </a:rPr>
              <a:t>COMPARISON</a:t>
            </a:r>
            <a:endParaRPr lang="en-US" sz="1200" dirty="0"/>
          </a:p>
        </p:txBody>
      </p:sp>
      <p:sp>
        <p:nvSpPr>
          <p:cNvPr id="3" name="Text 0"/>
          <p:cNvSpPr/>
          <p:nvPr>
            <p:ph idx="101" type="title" hasCustomPrompt="1"/>
          </p:nvPr>
        </p:nvSpPr>
        <p:spPr>
          <a:xfrm>
            <a:off x="548640" y="603504"/>
            <a:ext cx="11094415" cy="868680"/>
          </a:xfrm>
          <a:prstGeom prst="rect">
            <a:avLst/>
          </a:prstGeom>
          <a:noFill/>
          <a:ln/>
        </p:spPr>
        <p:txBody>
          <a:bodyPr wrap="square" lIns="0" tIns="0" rIns="0" bIns="0" rtlCol="0" anchor="t"/>
          <a:lstStyle/>
          <a:p>
            <a:pPr algn="l" indent="0" marL="0">
              <a:buNone/>
            </a:pPr>
            <a:r>
              <a:rPr lang="en-US" sz="2800" b="1" dirty="0">
                <a:solidFill>
                  <a:schemeClr val="tx1"/>
                </a:solidFill>
              </a:rPr>
              <a:t>A generic RAG stack versus DES + Retrieval</a:t>
            </a:r>
            <a:endParaRPr lang="en-US" sz="2800" dirty="0"/>
          </a:p>
        </p:txBody>
      </p:sp>
      <p:graphicFrame>
        <p:nvGraphicFramePr>
          <p:cNvPr id="25" name="table-844"/>
          <p:cNvGraphicFramePr>
            <a:graphicFrameLocks noGrp="1"/>
          </p:cNvGraphicFramePr>
          <p:nvPr>
            <p:extLst>
              <p:ext uri="{D42A27DB-BD31-4B8C-83A1-F6EECF244321}">
                <p14:modId xmlns:p14="http://schemas.microsoft.com/office/powerpoint/2010/main" val="1579011935"/>
              </p:ext>
            </p:extLst>
          </p:nvPr>
        </p:nvGraphicFramePr>
        <p:xfrm>
          <a:off x="548640" y="1645920"/>
          <a:ext cx="11094415" cy="914400"/>
        </p:xfrm>
        <a:graphic>
          <a:graphicData uri="http://schemas.openxmlformats.org/drawingml/2006/table">
            <a:tbl>
              <a:tblPr/>
              <a:tblGrid>
                <a:gridCol w="2103120"/>
                <a:gridCol w="3566160"/>
                <a:gridCol w="5425135"/>
              </a:tblGrid>
              <a:tr h="438912">
                <a:tc>
                  <a:txBody>
                    <a:bodyPr/>
                    <a:lstStyle/>
                    <a:p>
                      <a:pPr indent="0" marL="0">
                        <a:buNone/>
                      </a:pPr>
                      <a:r>
                        <a:rPr lang="en-US" sz="1300" b="1" dirty="0">
                          <a:solidFill>
                            <a:schemeClr val="bg1"/>
                          </a:solidFill>
                        </a:rPr>
                        <a:t>Concern</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chemeClr val="accent6"/>
                      </a:solidFill>
                      <a:prstDash val="solid"/>
                      <a:round/>
                      <a:headEnd type="none" w="med" len="med"/>
                      <a:tailEnd type="none" w="med" len="med"/>
                    </a:lnB>
                    <a:solidFill>
                      <a:schemeClr val="tx1"/>
                    </a:solidFill>
                  </a:tcPr>
                </a:tc>
                <a:tc>
                  <a:txBody>
                    <a:bodyPr/>
                    <a:lstStyle/>
                    <a:p>
                      <a:pPr indent="0" marL="0">
                        <a:buNone/>
                      </a:pPr>
                      <a:r>
                        <a:rPr lang="en-US" sz="1300" b="1" dirty="0">
                          <a:solidFill>
                            <a:schemeClr val="bg1"/>
                          </a:solidFill>
                        </a:rPr>
                        <a:t>Generic RAG stack</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chemeClr val="accent6"/>
                      </a:solidFill>
                      <a:prstDash val="solid"/>
                      <a:round/>
                      <a:headEnd type="none" w="med" len="med"/>
                      <a:tailEnd type="none" w="med" len="med"/>
                    </a:lnB>
                    <a:solidFill>
                      <a:schemeClr val="tx1"/>
                    </a:solidFill>
                  </a:tcPr>
                </a:tc>
                <a:tc>
                  <a:txBody>
                    <a:bodyPr/>
                    <a:lstStyle/>
                    <a:p>
                      <a:pPr indent="0" marL="0">
                        <a:buNone/>
                      </a:pPr>
                      <a:r>
                        <a:rPr lang="en-US" sz="1300" b="1" dirty="0">
                          <a:solidFill>
                            <a:schemeClr val="bg1"/>
                          </a:solidFill>
                        </a:rPr>
                        <a:t>DES + Retrieval</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chemeClr val="accent6"/>
                      </a:solidFill>
                      <a:prstDash val="solid"/>
                      <a:round/>
                      <a:headEnd type="none" w="med" len="med"/>
                      <a:tailEnd type="none" w="med" len="med"/>
                    </a:lnB>
                    <a:solidFill>
                      <a:schemeClr val="tx1"/>
                    </a:solidFill>
                  </a:tcPr>
                </a:tc>
              </a:tr>
              <a:tr h="438912">
                <a:tc>
                  <a:txBody>
                    <a:bodyPr/>
                    <a:lstStyle/>
                    <a:p>
                      <a:pPr indent="0" marL="0">
                        <a:buNone/>
                      </a:pPr>
                      <a:r>
                        <a:rPr lang="en-US" sz="1300" b="1" dirty="0">
                          <a:solidFill>
                            <a:schemeClr val="tx1"/>
                          </a:solidFill>
                        </a:rPr>
                        <a:t>Reading order</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chemeClr val="accent6"/>
                      </a:solidFill>
                      <a:prstDash val="solid"/>
                      <a:round/>
                      <a:headEnd type="none" w="med" len="med"/>
                      <a:tailEnd type="none" w="med" len="med"/>
                    </a:lnB>
                  </a:tcPr>
                </a:tc>
                <a:tc>
                  <a:txBody>
                    <a:bodyPr/>
                    <a:lstStyle/>
                    <a:p>
                      <a:pPr indent="0" marL="0">
                        <a:buNone/>
                      </a:pPr>
                      <a:r>
                        <a:rPr lang="en-US" sz="1300" dirty="0">
                          <a:solidFill>
                            <a:schemeClr val="tx2"/>
                          </a:solidFill>
                        </a:rPr>
                        <a:t>OCR line order</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chemeClr val="accent6"/>
                      </a:solidFill>
                      <a:prstDash val="solid"/>
                      <a:round/>
                      <a:headEnd type="none" w="med" len="med"/>
                      <a:tailEnd type="none" w="med" len="med"/>
                    </a:lnB>
                  </a:tcPr>
                </a:tc>
                <a:tc>
                  <a:txBody>
                    <a:bodyPr/>
                    <a:lstStyle/>
                    <a:p>
                      <a:pPr indent="0" marL="0">
                        <a:buNone/>
                      </a:pPr>
                      <a:r>
                        <a:rPr lang="en-US" sz="1300" dirty="0">
                          <a:solidFill>
                            <a:schemeClr val="tx1"/>
                          </a:solidFill>
                        </a:rPr>
                        <a:t>Column-aware splicing with gap-spaced part ids</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chemeClr val="accent6"/>
                      </a:solidFill>
                      <a:prstDash val="solid"/>
                      <a:round/>
                      <a:headEnd type="none" w="med" len="med"/>
                      <a:tailEnd type="none" w="med" len="med"/>
                    </a:lnB>
                    <a:solidFill>
                      <a:schemeClr val="bg2"/>
                    </a:solidFill>
                  </a:tcPr>
                </a:tc>
              </a:tr>
              <a:tr h="438912">
                <a:tc>
                  <a:txBody>
                    <a:bodyPr/>
                    <a:lstStyle/>
                    <a:p>
                      <a:pPr indent="0" marL="0">
                        <a:buNone/>
                      </a:pPr>
                      <a:r>
                        <a:rPr lang="en-US" sz="1300" b="1" dirty="0">
                          <a:solidFill>
                            <a:schemeClr val="tx1"/>
                          </a:solidFill>
                        </a:rPr>
                        <a:t>Tables</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chemeClr val="accent6"/>
                      </a:solidFill>
                      <a:prstDash val="solid"/>
                      <a:round/>
                      <a:headEnd type="none" w="med" len="med"/>
                      <a:tailEnd type="none" w="med" len="med"/>
                    </a:lnB>
                  </a:tcPr>
                </a:tc>
                <a:tc>
                  <a:txBody>
                    <a:bodyPr/>
                    <a:lstStyle/>
                    <a:p>
                      <a:pPr indent="0" marL="0">
                        <a:buNone/>
                      </a:pPr>
                      <a:r>
                        <a:rPr lang="en-US" sz="1300" dirty="0">
                          <a:solidFill>
                            <a:schemeClr val="tx2"/>
                          </a:solidFill>
                        </a:rPr>
                        <a:t>Flattened text; header lost on split</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chemeClr val="accent6"/>
                      </a:solidFill>
                      <a:prstDash val="solid"/>
                      <a:round/>
                      <a:headEnd type="none" w="med" len="med"/>
                      <a:tailEnd type="none" w="med" len="med"/>
                    </a:lnB>
                  </a:tcPr>
                </a:tc>
                <a:tc>
                  <a:txBody>
                    <a:bodyPr/>
                    <a:lstStyle/>
                    <a:p>
                      <a:pPr indent="0" marL="0">
                        <a:buNone/>
                      </a:pPr>
                      <a:r>
                        <a:rPr lang="en-US" sz="1300" dirty="0">
                          <a:solidFill>
                            <a:schemeClr val="tx1"/>
                          </a:solidFill>
                        </a:rPr>
                        <a:t>Markdown, split by rows, header block repeated</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chemeClr val="accent6"/>
                      </a:solidFill>
                      <a:prstDash val="solid"/>
                      <a:round/>
                      <a:headEnd type="none" w="med" len="med"/>
                      <a:tailEnd type="none" w="med" len="med"/>
                    </a:lnB>
                    <a:solidFill>
                      <a:schemeClr val="bg2"/>
                    </a:solidFill>
                  </a:tcPr>
                </a:tc>
              </a:tr>
              <a:tr h="438912">
                <a:tc>
                  <a:txBody>
                    <a:bodyPr/>
                    <a:lstStyle/>
                    <a:p>
                      <a:pPr indent="0" marL="0">
                        <a:buNone/>
                      </a:pPr>
                      <a:r>
                        <a:rPr lang="en-US" sz="1300" b="1" dirty="0">
                          <a:solidFill>
                            <a:schemeClr val="tx1"/>
                          </a:solidFill>
                        </a:rPr>
                        <a:t>Checkboxes</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chemeClr val="accent6"/>
                      </a:solidFill>
                      <a:prstDash val="solid"/>
                      <a:round/>
                      <a:headEnd type="none" w="med" len="med"/>
                      <a:tailEnd type="none" w="med" len="med"/>
                    </a:lnB>
                  </a:tcPr>
                </a:tc>
                <a:tc>
                  <a:txBody>
                    <a:bodyPr/>
                    <a:lstStyle/>
                    <a:p>
                      <a:pPr indent="0" marL="0">
                        <a:buNone/>
                      </a:pPr>
                      <a:r>
                        <a:rPr lang="en-US" sz="1300" dirty="0">
                          <a:solidFill>
                            <a:schemeClr val="tx2"/>
                          </a:solidFill>
                        </a:rPr>
                        <a:t>Dropped</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chemeClr val="accent6"/>
                      </a:solidFill>
                      <a:prstDash val="solid"/>
                      <a:round/>
                      <a:headEnd type="none" w="med" len="med"/>
                      <a:tailEnd type="none" w="med" len="med"/>
                    </a:lnB>
                  </a:tcPr>
                </a:tc>
                <a:tc>
                  <a:txBody>
                    <a:bodyPr/>
                    <a:lstStyle/>
                    <a:p>
                      <a:pPr indent="0" marL="0">
                        <a:buNone/>
                      </a:pPr>
                      <a:r>
                        <a:rPr lang="en-US" sz="1300" dirty="0">
                          <a:solidFill>
                            <a:schemeClr val="tx1"/>
                          </a:solidFill>
                        </a:rPr>
                        <a:t>Ticked and unticked states kept from Layout</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chemeClr val="accent6"/>
                      </a:solidFill>
                      <a:prstDash val="solid"/>
                      <a:round/>
                      <a:headEnd type="none" w="med" len="med"/>
                      <a:tailEnd type="none" w="med" len="med"/>
                    </a:lnB>
                    <a:solidFill>
                      <a:schemeClr val="bg2"/>
                    </a:solidFill>
                  </a:tcPr>
                </a:tc>
              </a:tr>
              <a:tr h="438912">
                <a:tc>
                  <a:txBody>
                    <a:bodyPr/>
                    <a:lstStyle/>
                    <a:p>
                      <a:pPr indent="0" marL="0">
                        <a:buNone/>
                      </a:pPr>
                      <a:r>
                        <a:rPr lang="en-US" sz="1300" b="1" dirty="0">
                          <a:solidFill>
                            <a:schemeClr val="tx1"/>
                          </a:solidFill>
                        </a:rPr>
                        <a:t>Page furniture</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chemeClr val="accent6"/>
                      </a:solidFill>
                      <a:prstDash val="solid"/>
                      <a:round/>
                      <a:headEnd type="none" w="med" len="med"/>
                      <a:tailEnd type="none" w="med" len="med"/>
                    </a:lnB>
                  </a:tcPr>
                </a:tc>
                <a:tc>
                  <a:txBody>
                    <a:bodyPr/>
                    <a:lstStyle/>
                    <a:p>
                      <a:pPr indent="0" marL="0">
                        <a:buNone/>
                      </a:pPr>
                      <a:r>
                        <a:rPr lang="en-US" sz="1300" dirty="0">
                          <a:solidFill>
                            <a:schemeClr val="tx2"/>
                          </a:solidFill>
                        </a:rPr>
                        <a:t>Embedded on every page</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chemeClr val="accent6"/>
                      </a:solidFill>
                      <a:prstDash val="solid"/>
                      <a:round/>
                      <a:headEnd type="none" w="med" len="med"/>
                      <a:tailEnd type="none" w="med" len="med"/>
                    </a:lnB>
                  </a:tcPr>
                </a:tc>
                <a:tc>
                  <a:txBody>
                    <a:bodyPr/>
                    <a:lstStyle/>
                    <a:p>
                      <a:pPr indent="0" marL="0">
                        <a:buNone/>
                      </a:pPr>
                      <a:r>
                        <a:rPr lang="en-US" sz="1300" dirty="0">
                          <a:solidFill>
                            <a:schemeClr val="tx1"/>
                          </a:solidFill>
                        </a:rPr>
                        <a:t>Dropped and counted before chunking</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chemeClr val="accent6"/>
                      </a:solidFill>
                      <a:prstDash val="solid"/>
                      <a:round/>
                      <a:headEnd type="none" w="med" len="med"/>
                      <a:tailEnd type="none" w="med" len="med"/>
                    </a:lnB>
                    <a:solidFill>
                      <a:schemeClr val="bg2"/>
                    </a:solidFill>
                  </a:tcPr>
                </a:tc>
              </a:tr>
              <a:tr h="438912">
                <a:tc>
                  <a:txBody>
                    <a:bodyPr/>
                    <a:lstStyle/>
                    <a:p>
                      <a:pPr indent="0" marL="0">
                        <a:buNone/>
                      </a:pPr>
                      <a:r>
                        <a:rPr lang="en-US" sz="1300" b="1" dirty="0">
                          <a:solidFill>
                            <a:schemeClr val="tx1"/>
                          </a:solidFill>
                        </a:rPr>
                        <a:t>PII</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chemeClr val="accent6"/>
                      </a:solidFill>
                      <a:prstDash val="solid"/>
                      <a:round/>
                      <a:headEnd type="none" w="med" len="med"/>
                      <a:tailEnd type="none" w="med" len="med"/>
                    </a:lnB>
                  </a:tcPr>
                </a:tc>
                <a:tc>
                  <a:txBody>
                    <a:bodyPr/>
                    <a:lstStyle/>
                    <a:p>
                      <a:pPr indent="0" marL="0">
                        <a:buNone/>
                      </a:pPr>
                      <a:r>
                        <a:rPr lang="en-US" sz="1300" dirty="0">
                          <a:solidFill>
                            <a:schemeClr val="tx2"/>
                          </a:solidFill>
                        </a:rPr>
                        <a:t>Indexed as found</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chemeClr val="accent6"/>
                      </a:solidFill>
                      <a:prstDash val="solid"/>
                      <a:round/>
                      <a:headEnd type="none" w="med" len="med"/>
                      <a:tailEnd type="none" w="med" len="med"/>
                    </a:lnB>
                  </a:tcPr>
                </a:tc>
                <a:tc>
                  <a:txBody>
                    <a:bodyPr/>
                    <a:lstStyle/>
                    <a:p>
                      <a:pPr indent="0" marL="0">
                        <a:buNone/>
                      </a:pPr>
                      <a:r>
                        <a:rPr lang="en-US" sz="1300" dirty="0">
                          <a:solidFill>
                            <a:schemeClr val="tx1"/>
                          </a:solidFill>
                        </a:rPr>
                        <a:t>Masked before chunking, length-preserving</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chemeClr val="accent6"/>
                      </a:solidFill>
                      <a:prstDash val="solid"/>
                      <a:round/>
                      <a:headEnd type="none" w="med" len="med"/>
                      <a:tailEnd type="none" w="med" len="med"/>
                    </a:lnB>
                    <a:solidFill>
                      <a:schemeClr val="bg2"/>
                    </a:solidFill>
                  </a:tcPr>
                </a:tc>
              </a:tr>
              <a:tr h="438912">
                <a:tc>
                  <a:txBody>
                    <a:bodyPr/>
                    <a:lstStyle/>
                    <a:p>
                      <a:pPr indent="0" marL="0">
                        <a:buNone/>
                      </a:pPr>
                      <a:r>
                        <a:rPr lang="en-US" sz="1300" b="1" dirty="0">
                          <a:solidFill>
                            <a:schemeClr val="tx1"/>
                          </a:solidFill>
                        </a:rPr>
                        <a:t>Provenance</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chemeClr val="accent6"/>
                      </a:solidFill>
                      <a:prstDash val="solid"/>
                      <a:round/>
                      <a:headEnd type="none" w="med" len="med"/>
                      <a:tailEnd type="none" w="med" len="med"/>
                    </a:lnB>
                  </a:tcPr>
                </a:tc>
                <a:tc>
                  <a:txBody>
                    <a:bodyPr/>
                    <a:lstStyle/>
                    <a:p>
                      <a:pPr indent="0" marL="0">
                        <a:buNone/>
                      </a:pPr>
                      <a:r>
                        <a:rPr lang="en-US" sz="1300" dirty="0">
                          <a:solidFill>
                            <a:schemeClr val="tx2"/>
                          </a:solidFill>
                        </a:rPr>
                        <a:t>File name, maybe a page</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chemeClr val="accent6"/>
                      </a:solidFill>
                      <a:prstDash val="solid"/>
                      <a:round/>
                      <a:headEnd type="none" w="med" len="med"/>
                      <a:tailEnd type="none" w="med" len="med"/>
                    </a:lnB>
                  </a:tcPr>
                </a:tc>
                <a:tc>
                  <a:txBody>
                    <a:bodyPr/>
                    <a:lstStyle/>
                    <a:p>
                      <a:pPr indent="0" marL="0">
                        <a:buNone/>
                      </a:pPr>
                      <a:r>
                        <a:rPr lang="en-US" sz="1300" dirty="0">
                          <a:solidFill>
                            <a:schemeClr val="tx1"/>
                          </a:solidFill>
                        </a:rPr>
                        <a:t>Page, boxes, file SHA-256, OCR, layout and chunker versions</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chemeClr val="accent6"/>
                      </a:solidFill>
                      <a:prstDash val="solid"/>
                      <a:round/>
                      <a:headEnd type="none" w="med" len="med"/>
                      <a:tailEnd type="none" w="med" len="med"/>
                    </a:lnB>
                    <a:solidFill>
                      <a:schemeClr val="bg2"/>
                    </a:solidFill>
                  </a:tcPr>
                </a:tc>
              </a:tr>
              <a:tr h="438912">
                <a:tc>
                  <a:txBody>
                    <a:bodyPr/>
                    <a:lstStyle/>
                    <a:p>
                      <a:pPr indent="0" marL="0">
                        <a:buNone/>
                      </a:pPr>
                      <a:r>
                        <a:rPr lang="en-US" sz="1300" b="1" dirty="0">
                          <a:solidFill>
                            <a:schemeClr val="tx1"/>
                          </a:solidFill>
                        </a:rPr>
                        <a:t>Retrieval</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chemeClr val="accent6"/>
                      </a:solidFill>
                      <a:prstDash val="solid"/>
                      <a:round/>
                      <a:headEnd type="none" w="med" len="med"/>
                      <a:tailEnd type="none" w="med" len="med"/>
                    </a:lnB>
                  </a:tcPr>
                </a:tc>
                <a:tc>
                  <a:txBody>
                    <a:bodyPr/>
                    <a:lstStyle/>
                    <a:p>
                      <a:pPr indent="0" marL="0">
                        <a:buNone/>
                      </a:pPr>
                      <a:r>
                        <a:rPr lang="en-US" sz="1300" dirty="0">
                          <a:solidFill>
                            <a:schemeClr val="tx2"/>
                          </a:solidFill>
                        </a:rPr>
                        <a:t>One vector search</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chemeClr val="accent6"/>
                      </a:solidFill>
                      <a:prstDash val="solid"/>
                      <a:round/>
                      <a:headEnd type="none" w="med" len="med"/>
                      <a:tailEnd type="none" w="med" len="med"/>
                    </a:lnB>
                  </a:tcPr>
                </a:tc>
                <a:tc>
                  <a:txBody>
                    <a:bodyPr/>
                    <a:lstStyle/>
                    <a:p>
                      <a:pPr indent="0" marL="0">
                        <a:buNone/>
                      </a:pPr>
                      <a:r>
                        <a:rPr lang="en-US" sz="1300" dirty="0">
                          <a:solidFill>
                            <a:schemeClr val="tx1"/>
                          </a:solidFill>
                        </a:rPr>
                        <a:t>Dense + full text, RRF, 70B listwise rerank, MMR</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chemeClr val="accent6"/>
                      </a:solidFill>
                      <a:prstDash val="solid"/>
                      <a:round/>
                      <a:headEnd type="none" w="med" len="med"/>
                      <a:tailEnd type="none" w="med" len="med"/>
                    </a:lnB>
                    <a:solidFill>
                      <a:schemeClr val="bg2"/>
                    </a:solidFill>
                  </a:tcPr>
                </a:tc>
              </a:tr>
              <a:tr h="438912">
                <a:tc>
                  <a:txBody>
                    <a:bodyPr/>
                    <a:lstStyle/>
                    <a:p>
                      <a:pPr indent="0" marL="0">
                        <a:buNone/>
                      </a:pPr>
                      <a:r>
                        <a:rPr lang="en-US" sz="1300" b="1" dirty="0">
                          <a:solidFill>
                            <a:schemeClr val="tx1"/>
                          </a:solidFill>
                        </a:rPr>
                        <a:t>Answers</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chemeClr val="accent6"/>
                      </a:solidFill>
                      <a:prstDash val="solid"/>
                      <a:round/>
                      <a:headEnd type="none" w="med" len="med"/>
                      <a:tailEnd type="none" w="med" len="med"/>
                    </a:lnB>
                  </a:tcPr>
                </a:tc>
                <a:tc>
                  <a:txBody>
                    <a:bodyPr/>
                    <a:lstStyle/>
                    <a:p>
                      <a:pPr indent="0" marL="0">
                        <a:buNone/>
                      </a:pPr>
                      <a:r>
                        <a:rPr lang="en-US" sz="1300" dirty="0">
                          <a:solidFill>
                            <a:schemeClr val="tx2"/>
                          </a:solidFill>
                        </a:rPr>
                        <a:t>Uncited summary</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chemeClr val="accent6"/>
                      </a:solidFill>
                      <a:prstDash val="solid"/>
                      <a:round/>
                      <a:headEnd type="none" w="med" len="med"/>
                      <a:tailEnd type="none" w="med" len="med"/>
                    </a:lnB>
                  </a:tcPr>
                </a:tc>
                <a:tc>
                  <a:txBody>
                    <a:bodyPr/>
                    <a:lstStyle/>
                    <a:p>
                      <a:pPr indent="0" marL="0">
                        <a:buNone/>
                      </a:pPr>
                      <a:r>
                        <a:rPr lang="en-US" sz="1300" dirty="0">
                          <a:solidFill>
                            <a:schemeClr val="tx1"/>
                          </a:solidFill>
                        </a:rPr>
                        <a:t>[N] after every claim, mapped to chunk and span</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chemeClr val="accent6"/>
                      </a:solidFill>
                      <a:prstDash val="solid"/>
                      <a:round/>
                      <a:headEnd type="none" w="med" len="med"/>
                      <a:tailEnd type="none" w="med" len="med"/>
                    </a:lnB>
                    <a:solidFill>
                      <a:schemeClr val="bg2"/>
                    </a:solidFill>
                  </a:tcPr>
                </a:tc>
              </a:tr>
              <a:tr h="438912">
                <a:tc>
                  <a:txBody>
                    <a:bodyPr/>
                    <a:lstStyle/>
                    <a:p>
                      <a:pPr indent="0" marL="0">
                        <a:buNone/>
                      </a:pPr>
                      <a:r>
                        <a:rPr lang="en-US" sz="1300" b="1" dirty="0">
                          <a:solidFill>
                            <a:schemeClr val="tx1"/>
                          </a:solidFill>
                        </a:rPr>
                        <a:t>Embeddings</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chemeClr val="accent6"/>
                      </a:solidFill>
                      <a:prstDash val="solid"/>
                      <a:round/>
                      <a:headEnd type="none" w="med" len="med"/>
                      <a:tailEnd type="none" w="med" len="med"/>
                    </a:lnB>
                  </a:tcPr>
                </a:tc>
                <a:tc>
                  <a:txBody>
                    <a:bodyPr/>
                    <a:lstStyle/>
                    <a:p>
                      <a:pPr indent="0" marL="0">
                        <a:buNone/>
                      </a:pPr>
                      <a:r>
                        <a:rPr lang="en-US" sz="1300" dirty="0">
                          <a:solidFill>
                            <a:schemeClr val="tx2"/>
                          </a:solidFill>
                        </a:rPr>
                        <a:t>Whatever each service picked</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chemeClr val="accent6"/>
                      </a:solidFill>
                      <a:prstDash val="solid"/>
                      <a:round/>
                      <a:headEnd type="none" w="med" len="med"/>
                      <a:tailEnd type="none" w="med" len="med"/>
                    </a:lnB>
                  </a:tcPr>
                </a:tc>
                <a:tc>
                  <a:txBody>
                    <a:bodyPr/>
                    <a:lstStyle/>
                    <a:p>
                      <a:pPr indent="0" marL="0">
                        <a:buNone/>
                      </a:pPr>
                      <a:r>
                        <a:rPr lang="en-US" sz="1300" dirty="0">
                          <a:solidFill>
                            <a:schemeClr val="tx1"/>
                          </a:solidFill>
                        </a:rPr>
                        <a:t>One model and dimension, enforced at several layers</a:t>
                      </a:r>
                      <a:endParaRPr lang="en-US" sz="1300" dirty="0"/>
                    </a:p>
                  </a:txBody>
                  <a:tcPr marL="76200" marR="76200" marT="38100" marB="38100" anchor="ctr">
                    <a:lnL w="0" cap="flat" cmpd="sng" algn="ctr">
                      <a:noFill/>
                    </a:lnL>
                    <a:lnR w="0" cap="flat" cmpd="sng" algn="ctr">
                      <a:noFill/>
                    </a:lnR>
                    <a:lnT w="0" cap="flat" cmpd="sng" algn="ctr">
                      <a:noFill/>
                    </a:lnT>
                    <a:lnB w="9525" cap="flat" cmpd="sng" algn="ctr">
                      <a:solidFill>
                        <a:schemeClr val="accent6"/>
                      </a:solidFill>
                      <a:prstDash val="solid"/>
                      <a:round/>
                      <a:headEnd type="none" w="med" len="med"/>
                      <a:tailEnd type="none" w="med" len="med"/>
                    </a:lnB>
                    <a:solidFill>
                      <a:schemeClr val="bg2"/>
                    </a:solidFill>
                  </a:tcPr>
                </a:tc>
              </a:tr>
            </a:tbl>
          </a:graphicData>
        </a:graphic>
      </p:graphicFrame>
      <p:sp>
        <p:nvSpPr>
          <p:cNvPr id="6" name="link-845"/>
          <p:cNvSpPr/>
          <p:nvPr/>
        </p:nvSpPr>
        <p:spPr>
          <a:xfrm>
            <a:off x="6163056" y="1591056"/>
            <a:ext cx="201168" cy="0"/>
          </a:xfrm>
          <a:prstGeom prst="line">
            <a:avLst/>
          </a:prstGeom>
          <a:noFill/>
          <a:ln w="28575">
            <a:solidFill>
              <a:schemeClr val="accent3"/>
            </a:solidFill>
            <a:prstDash val="solid"/>
          </a:ln>
        </p:spPr>
      </p:sp>
      <p:sp>
        <p:nvSpPr>
          <p:cNvPr id="7" name="link-846"/>
          <p:cNvSpPr/>
          <p:nvPr/>
        </p:nvSpPr>
        <p:spPr>
          <a:xfrm>
            <a:off x="6163056" y="1591056"/>
            <a:ext cx="0" cy="201168"/>
          </a:xfrm>
          <a:prstGeom prst="line">
            <a:avLst/>
          </a:prstGeom>
          <a:noFill/>
          <a:ln w="28575">
            <a:solidFill>
              <a:schemeClr val="accent3"/>
            </a:solidFill>
            <a:prstDash val="solid"/>
          </a:ln>
        </p:spPr>
      </p:sp>
      <p:sp>
        <p:nvSpPr>
          <p:cNvPr id="8" name="link-847"/>
          <p:cNvSpPr/>
          <p:nvPr/>
        </p:nvSpPr>
        <p:spPr>
          <a:xfrm>
            <a:off x="11496751" y="1591056"/>
            <a:ext cx="201168" cy="0"/>
          </a:xfrm>
          <a:prstGeom prst="line">
            <a:avLst/>
          </a:prstGeom>
          <a:noFill/>
          <a:ln w="28575">
            <a:solidFill>
              <a:schemeClr val="accent3"/>
            </a:solidFill>
            <a:prstDash val="solid"/>
          </a:ln>
        </p:spPr>
      </p:sp>
      <p:sp>
        <p:nvSpPr>
          <p:cNvPr id="9" name="link-848"/>
          <p:cNvSpPr/>
          <p:nvPr/>
        </p:nvSpPr>
        <p:spPr>
          <a:xfrm>
            <a:off x="11697919" y="1591056"/>
            <a:ext cx="0" cy="201168"/>
          </a:xfrm>
          <a:prstGeom prst="line">
            <a:avLst/>
          </a:prstGeom>
          <a:noFill/>
          <a:ln w="28575">
            <a:solidFill>
              <a:schemeClr val="accent3"/>
            </a:solidFill>
            <a:prstDash val="solid"/>
          </a:ln>
        </p:spPr>
      </p:sp>
      <p:sp>
        <p:nvSpPr>
          <p:cNvPr id="10" name="link-849"/>
          <p:cNvSpPr/>
          <p:nvPr/>
        </p:nvSpPr>
        <p:spPr>
          <a:xfrm>
            <a:off x="6163056" y="6089904"/>
            <a:ext cx="201168" cy="0"/>
          </a:xfrm>
          <a:prstGeom prst="line">
            <a:avLst/>
          </a:prstGeom>
          <a:noFill/>
          <a:ln w="28575">
            <a:solidFill>
              <a:schemeClr val="accent3"/>
            </a:solidFill>
            <a:prstDash val="solid"/>
          </a:ln>
        </p:spPr>
      </p:sp>
      <p:sp>
        <p:nvSpPr>
          <p:cNvPr id="11" name="link-850"/>
          <p:cNvSpPr/>
          <p:nvPr/>
        </p:nvSpPr>
        <p:spPr>
          <a:xfrm>
            <a:off x="6163056" y="5888736"/>
            <a:ext cx="0" cy="201168"/>
          </a:xfrm>
          <a:prstGeom prst="line">
            <a:avLst/>
          </a:prstGeom>
          <a:noFill/>
          <a:ln w="28575">
            <a:solidFill>
              <a:schemeClr val="accent3"/>
            </a:solidFill>
            <a:prstDash val="solid"/>
          </a:ln>
        </p:spPr>
      </p:sp>
      <p:sp>
        <p:nvSpPr>
          <p:cNvPr id="12" name="link-851"/>
          <p:cNvSpPr/>
          <p:nvPr/>
        </p:nvSpPr>
        <p:spPr>
          <a:xfrm>
            <a:off x="11496751" y="6089904"/>
            <a:ext cx="201168" cy="0"/>
          </a:xfrm>
          <a:prstGeom prst="line">
            <a:avLst/>
          </a:prstGeom>
          <a:noFill/>
          <a:ln w="28575">
            <a:solidFill>
              <a:schemeClr val="accent3"/>
            </a:solidFill>
            <a:prstDash val="solid"/>
          </a:ln>
        </p:spPr>
      </p:sp>
      <p:sp>
        <p:nvSpPr>
          <p:cNvPr id="13" name="link-852"/>
          <p:cNvSpPr/>
          <p:nvPr/>
        </p:nvSpPr>
        <p:spPr>
          <a:xfrm>
            <a:off x="11697919" y="5888736"/>
            <a:ext cx="0" cy="201168"/>
          </a:xfrm>
          <a:prstGeom prst="line">
            <a:avLst/>
          </a:prstGeom>
          <a:noFill/>
          <a:ln w="28575">
            <a:solidFill>
              <a:schemeClr val="accent3"/>
            </a:solidFill>
            <a:prstDash val="solid"/>
          </a:ln>
        </p:spPr>
      </p:sp>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tx2"/>
                </a:solidFill>
              </a:defRPr>
            </a:lvl1pPr>
          </a:lstStyle>
          <a:p>
            <a:pPr algn="r"/>
            <a:fld id="{F7021451-1387-4CA6-816F-3879F97B5CBC}" type="slidenum">
              <a:rPr b="0" lang="en-US"/>
              <a:t>24</a:t>
            </a:fld>
            <a:endParaRPr lang="en-US"/>
          </a:p>
        </p:txBody>
      </p:sp>
    </p:spTree>
  </p:cSld>
  <p:clrMapOvr>
    <a:masterClrMapping/>
  </p:clrMapOvr>
</p:sld>
</file>

<file path=ppt/theme/theme1.xml><?xml version="1.0" encoding="utf-8"?>
<a:theme xmlns:a="http://schemas.openxmlformats.org/drawingml/2006/main" name="DES Retrieval Platform">
  <a:themeElements>
    <a:clrScheme name="DES Retrieval Platform">
      <a:dk1>
        <a:srgbClr val="0B1F3A"/>
      </a:dk1>
      <a:lt1>
        <a:srgbClr val="FFFFFF"/>
      </a:lt1>
      <a:dk2>
        <a:srgbClr val="4A5B70"/>
      </a:dk2>
      <a:lt2>
        <a:srgbClr val="F4F7FB"/>
      </a:lt2>
      <a:accent1>
        <a:srgbClr val="0E7C86"/>
      </a:accent1>
      <a:accent2>
        <a:srgbClr val="C2410C"/>
      </a:accent2>
      <a:accent3>
        <a:srgbClr val="F2A900"/>
      </a:accent3>
      <a:accent4>
        <a:srgbClr val="003B70"/>
      </a:accent4>
      <a:accent5>
        <a:srgbClr val="A9BAD0"/>
      </a:accent5>
      <a:accent6>
        <a:srgbClr val="DDE5EE"/>
      </a:accent6>
      <a:hlink>
        <a:srgbClr val="0B5FA5"/>
      </a:hlink>
      <a:folHlink>
        <a:srgbClr val="4A5B70"/>
      </a:folHlink>
    </a:clrScheme>
    <a:fontScheme name="DES Retrieval Platform">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Document Intelligence Engineering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 + Retrieval: from scanned pages to cited answers</dc:title>
  <dc:subject>Document Embedding Service and Retrieval platform review</dc:subject>
  <dc:creator>Document Intelligence Engineering</dc:creator>
  <cp:lastModifiedBy>Document Intelligence Engineering</cp:lastModifiedBy>
  <cp:revision>1</cp:revision>
  <dcterms:created xsi:type="dcterms:W3CDTF">2026-10-05T12:18:39Z</dcterms:created>
  <dcterms:modified xsi:type="dcterms:W3CDTF">2026-10-05T12:18:39Z</dcterms:modified>
</cp:coreProperties>
</file>