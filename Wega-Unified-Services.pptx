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509cc7e-2d93-30c8-fe28-6a09f7ed258d}">
          <p14:sldIdLst>
            <p14:sldId id="256"/>
            <p14:sldId id="257"/>
            <p14:sldId id="258"/>
            <p14:sldId id="259"/>
            <p14:sldId id="260"/>
          </p14:sldIdLst>
        </p14:section>
        <p14:section name="Correctness by construction" id="{a5dbe346-191f-f2a1-abfa-9432bf46fac0}">
          <p14:sldIdLst>
            <p14:sldId id="261"/>
            <p14:sldId id="262"/>
            <p14:sldId id="263"/>
            <p14:sldId id="264"/>
            <p14:sldId id="265"/>
            <p14:sldId id="266"/>
            <p14:sldId id="267"/>
            <p14:sldId id="268"/>
          </p14:sldIdLst>
        </p14:section>
        <p14:section name="Operate with confidence" id="{d5fc90d8-405f-a232-4039-5eea5606bf75}">
          <p14:sldIdLst>
            <p14:sldId id="269"/>
            <p14:sldId id="270"/>
            <p14:sldId id="271"/>
            <p14:sldId id="272"/>
            <p14:sldId id="273"/>
          </p14:sldIdLst>
        </p14:section>
        <p14:section name="Proof and the path to production" id="{115dc1b6-18a7-7c3c-2a71-e3135a217bf0}">
          <p14:sldIdLst>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Wega is the production pipeline that takes documents registered in an Oracle table, OCRs them through the company Azure Document Intelligence gateway, chunks and embeds them with the DES algorithms, and writes artifacts to S3, vectors to pgvector and status back to Oracle.
The design goal, stated in the spec: no loss, exactly-once effects, any pod may die at any instant. The scale target: 100,000 documents a day at a mean of 81 pages.
The pipeline on the right is the order a document travels; the moving dots are the motif you will see throughout: they are how the Control Room shows documents in flight.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take away.
1. It is one system: seven top-level services in one repository, each previously an independent repo imported with full history.
2. The correctness claim is precise: exactly-once effects, not exactly-once delivery. Duplicates of messages and compute are expected and absorbed by deterministic ids and idempotent writes.
3. OCR spend is protected: the vision service journals each Azure submit before it is sent, so retries and new attempts adopt running jobs instead of re-billing. One residual window of tens of milliseconds remains until the gateway exposes client request ids (GW-CR-1).
4. It is built to be operated: an alert catalogue with one runbook per alert, a live control room, and security enforced by policy and tests.
5. The honest constraint: throughput is bounded by gateway OCR slots, not by our pods. 100k/day needs the gateway cell programme; until then a release publishes a measured ceiling.
Numbers: 100,000 docs/day x 81 pages = 8.1M pages/day (SPEC capacity model). Test total is the sum of the latest recorded runs per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hazards, not hypotheticals. The project ran first-hand probes against the real dependencies before designing; each item below is a default or idiom that silently loses, duplicates or stalls work.
- Gateway submit is not idempotent: every POST mints a new id and the client request id is stored but never used to dedupe, so retrying a lost 202 analyses and bills a document twice (research brief).
- A lost message produces no event; a plain worker queue never notices it is missing.
- A poison PDF that exhausts memory or segfaults the parser takes the whole pod, and every document on it, down with it.
- A 562-page document takes roughly 28 to 56 minutes as one Layout call, beyond the 15-minute upstream timeout.
- Oracle is the system of record; its status must move READY, OCR_DONE, CHUNKING_DONE, EMBEDDING_DONE exactly once and in order.
- Default idioms fail: ROWNUM &lt;= 5 FOR UPDATE SKIP LOCKED starves other replicas; FETCH FIRST with FOR UPDATE is illegal (ORA-02014).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path, following the spec sequence:
1. The entry point writes the source object to S3, then inserts the READY row; a READY row must never point at an object that is not there yet.
2. intake claims READY rows (FOR UPDATE SKIP LOCKED) and commits T01 in Postgres.
3. stager copies S3 to the shared RWX volume: temp file, fsync, link, directory fsync.
4. relay publishes wega.ocr.ingest from the outbox with publisher confirms and mandatory routing.
5. vision slices, journals each submit, calls Azure DI through the gateway, merges and commits ocr.json plus its manifest, publishes the result, then acks.
6. The chunker runs DES wega_parts, the embedder calls the TEI model server and writes 1024-D vectors to files and pgvector.
7. results applies each stage idempotently; uploader streams PVC to S3 and verifies sha256; projector writes the Oracle status with an exact-predecessor guard.
RabbitMQ carries triggers only (ids, paths, hashes); all state lives in Postgres.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top-level directories, each previously its own repository (imported with full history): the orchestrator, vision, chunker, embedder, entry point, the Go azure-gateway-api, and DES, which is a source library here (chunker and embedder vendor its code) and supplies the dev/perf Azure mocks.
The orchestrator is one image running 12 roles across 3 deployments. Control (2 pods; leases pick singletons): intake, projector, reconciler, retention, topology, observer, admin_executor. Worker (KEDA 2-12): stager, relay, results, uploader. API (2 pods behind oauth-proxy): FastAPI plus Control Room 2; it holds no broker credentials.
RabbitMQ is the cluster's existing StatefulSet. Wega deploys no broker: a bootstrap Job creates vhost wega and the contract users, and the topology role declares 3 direct durable exchanges, 12 quorum queues (3 ingest, 3 result, 6 dead-letter) and 5 policies. Messages carry triggers only (ids, paths, hashes); all state lives in Postgres.
Stores: the Postgres ledger (schema wega, 23 base tables, partitioned by month for cheap retention), the pgvector database wega_vectors (DES tables, HNSW cosine) and the shared RWX volume wega-shared (write-once, attempt-scoped paths in 256 shard directories).
Only Oracle, S3 and the Azure containers are mocked, and only in dev and perf.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explains why Wega does not lose or double-apply work: the commit-point rule, deterministic identities, fenced leadership, the census that finds lost messages, and how failures are contained.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 states the goal as "no loss, exactly-once effects, any pod may die at any instant", delivered by five mechanisms:
1. Postgres is the commit point: every effect outside Postgres (publish, S3 upload, Oracle status write) is a task row claimed with SKIP LOCKED and applied idempotently.
2. Deterministic identity everywhere: (document, stage, attempt) identities, UUIDv5 message ids, attempt-scoped write-once paths; a result is applied at most once per message id.
3. Workers never nack: every delivery ends as a published result (succeeded, failed or handoff) and then an ack, or as a crash. A crash is the broker's only redelivery cause.
4. Vision never submits the same page range twice: its journal, keyed by the source hash and shared across attempts, lets any later delivery adopt running or finished gateway jobs.
5. The gateway budget, not pod count, is the throughput bound.
Precise wording matters: the claim is exactly-once effects, not exactly-once delivery. Duplicate messages and duplicate compute are expected and absorbed.
The ten invariants are evaluated after every end-to-end run from independent ledgers (Oracle's own audit trigger, the gateway journal, S3, the broker), not from the orchestrator's view of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of effects (publisher rules): orchestrator = transaction (ledger + outbox) → relay publish → confirm → record. Worker = commit outputs → publish the result → confirm → ack. "Ack only after the commit and the confirm. A lost ack produces a duplicate, which dedupe absorbs."
Relay: claims outbox rows FOR UPDATE SKIP LOCKED with a 120 s claim; publishes with publisher confirms, mandatory routing and a 30 s confirm timeout; an unroutable message stays pending and alerts, never marked published. Held stages (paused, breaker open) are excluded from the claim so an outage costs no per-row writes.
Results: one transaction holding the document row FOR UPDATE evaluates a decision table in order. Validation rows quarantine schema-invalid bodies, user-id mismatches, unknown attempts and input mismatches as dead-letter rows: never dropped, never left to loop. Row 1 is the dedupe: INSERT INTO applied_result ... ON CONFLICT (message_id) DO NOTHING. The first valid success wins while its stage is open; a late success after FAILED is still recorded so paid output stays durable.
Ids: result id = UUIDv5(NS_WEGA, stage_attempt_id + "/result/" + outcome), so "at most once per message id" means at most once per (attempt, outcome).
The spec walks 29 consecutive side-effect pairs from the Oracle row lock to the volume cleanup and names the recovery for a pod death between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Leases are rows, not advisory locks. Acquire only when expired, which increments the fencing token; renew requires holder and token to match, and a renew that updates zero rows means leadership is lost, so the role stops. Every leader transaction starts with a FOR SHARE check of its lease, which blocks a concurrent takeover until the transaction ends, so a leader cannot commit after losing its lease. An admin expire_lease bumps the token, so a hung-but-renewing holder loses. Rules: leader transactions stay short (10 s statement timeout, no network or filesystem calls inside); an external action starts only with call timeout + 10 s of lease left. This was learned from an earlier revision where calls inside the fenced transaction made leadership flap; test T2-LEASE-LONG-APPLY pins it (45 s slow management API, 30 s TTL, zero lease losses).
Census, every 60 s per stage: N = open attempts published more than 90 s before the snapshot; B = messages the broker can be holding (ingest ready + unacked + result + DLQ). The deficit D = N - B is the number of attempts the broker cannot be holding. A FIFO-rank watermark marks attempts as delivered. A delivered attempt past its consumer timeout + 900 s earns a strike while D &gt;= 1; after 3 strikes up to D attempts are superseded and redispatched (fenced, capped at 3 per document). If there are no consumers for 300 s, no verdicts are issued. False verdicts are cheap: a superseded attempt still wins with a late success, and a new OCR attempt adopts the journal, so no Azure job is duplicated. The bars on the slide are an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retry loop has a cap and a named outcome, pinned by a Hypothesis state machine over real Postgres (attempt 51 must become ATTEMPT_LIMIT_EXCEEDED). Backoff: OCR auto-retry min(300 x 3^(k-1), 3600) s; chunking and embedding min(60 x 3^(k-1), 1800) s; fleet retry 300 s +/- 20%; handoffs, redispatches and integrity replays 0 s.
Ingest delivery limit 5 means 6 deliveries: because workers never nack, only crashes consume deliveries, so a poison document costs 6 handler runs, not the default 21. The last delivery runs inside a catch-all that publishes a classified failure, then acks.
Poison: poison_suspected is raised when an OCR result fails or hands off with a delivery count of 2 or more, or when a parsing child is killed (RLIMIT or signal); cleared only by an accepted OCR success.
Breaker: opens when, over 10 minutes, at least 20 attempts ended with infrastructure or config failures and the success ratio is under 20%. Forced open for 300 s needs at least 3 non-retryable fleet results from at least 2 distinct worker instances, so one misconfigured pod cannot stop a stage. Half-open lets one outbox row through per minute until 3 successes close it.
Dead letters: six DLQs, one intake, one table, written in the same transaction as the ledger effect; an ingest dead letter fails the document as WORKER_CRASH_LOOP (reopenable); a result dead letter is re-applied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Slicing: documents over 30 pages are split into balanced slices of at most 20 pages (n = ceil(P/20), size = ceil(P/n); 81 pages gives 17, 17, 17, 17, 13). A 600-page document needs 30-60 minutes as one call, beyond the 15-minute upstream ceiling; fan-out is the only measured speed lever, about 15-30x. Slice parallelism per document is set by the orchestrator from the fleet (1 at today's 4-slot gateway, 4 at 38 cells).
Journal: per gateway operation, intent.json is created exclusively and made durable before the POST; the POST carries the intent's id as x-ms-client-request-id; submitted.json records the endpoint and operation id; then poll, raw result, terminal.json. Files are never rewritten. Any later attempt adopts a submitted job after checking input bytes and surface: never a result for the wrong input. The only duplicate window is between the gateway's commit and our submitted file, tens of milliseconds; derived estimate about 0.03 duplicates a day at 500,000 submits, each counted by a metric. Gateway change GW-CR-1 (client request id queryable in /_gw/jobs) closes it.
Isolation: one asyncio process plus a pool of 2 spawned children with RLIMIT_AS 1.5 GiB that run pikepdf, the merge and ijson; the main process never parses a document. MemoryError = the job's own (CORRUPT, CHILD_KILLED_RLIMIT). A signal kill breaks the pool: replace it, re-run each in-flight job alone; a job whose isolated run also dies is the culprit (CHILD_KILLED_SIGNAL). The pod is never restarted. Pre-checks before billing: empty, over 500 MB, encrypted, corrupt, over 2,000 pages, bad image dimensions.
Pacing: AIMD runs in vision, per pod per endpoint and surface: start at 1, +1/window on 202, halve on 429/503. The gateway itself enforces fixed admission slots (DI_MAX_INFLIGHT + QUEUE_DEPTH) and reports per-upstream health. Breakers per endpoint, with a fleet-wide probe permit after recovery. Layout falls back to Read only on Layout-surface failures (15 named triggers), never on gateway-wide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chunker vendors DES wega_parts 1.2.0 byte for byte under a per-file digest lock (chunker version des-wega_parts/1.2.0+des.0.2.0); make vendor-check fails on drift. Version 1.2.0 fixed three defects found in 1.1.0: multi-row header tables lost a row, OCR text spelling &lt;img src="data: failed the document, and oversized tables split in quadratic time. The chunker consumes Wega's OCR and reads the source only for figure crops; it has no gateway, Postgres, Oracle or S3 access, and its only egress is the broker. chunks.json is validated against the strict 1.1 schema and contract rule 8 before a byte is committed.
The embedder calls a TEI model server (cpu-1.9.4, pinned by digest) serving gte-large-en-v1.5 at a pinned revision, CLS pooling, max input 8,192 tokens, no auto-truncation. Before consuming it checks /info (model id, pooling) and runs three probe sentences (a paraphrase must rank above an unrelated one). Every vector is verified to unit length within 1e-3. A chunk past the model limit fails as CHUNK_TOO_LONG: never truncated. Images are replaced by [Figure: alt] in the embedded text.
pgvector sink: after the three files commit and before success is published, one transaction per document writes DES-shaped rows to wega_vectors; row key UUIDv5(NS_WEGA, document + "/chunk/" + chunk id); the same attempt again writes nothing; a newer attempt upserts and soft-deletes leftovers; a newer generation of the same external document retires older live rows. Retrieval reads with a SELECT-only role.
Never change MODEL_ID, REVISION or POOLING as a rollback: that changes the vector space and is a re-embedding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management usually asks for: what does all this machinery buy over "put documents on a queue and run workers"?
Each right-hand cell is a mechanism from the previous slides: Postgres as the single commit point with idempotent task rows (no dual-write gap); duplicates absorbed by UUIDv5 ids, the applied_result key and write-once files; the vision journal so paid OCR is adopted rather than re-billed (with the residual window quantified at about 0.03 duplicates a day and counted); the census that finds lost messages without trusting workers; handoff instead of timeout for long documents; backlog in Postgres with admission sized in gateway slots; child-process isolation for poison documents; the guarded, once-per-step Oracle projection verified from Oracle's own audit trail; fenced leases; and a release gate that refuses capacity claims without measurement.
The spec lists 14 such differentiators; these are the ten that matter most to operations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covers security and compliance, observability and alerting, the Control Room 2 operator UI, and the contract and conformance kit that keeps independent services compatible.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RBAC: capabilities view &lt; operate &lt; administer, plus an independent reveal-pii; startup fails if any /api/v1 route lacks a capability declaration, enforced by a table-driven test. On OpenShift, four SelfSubjectAccessReview checks map to groups wega-viewers, wega-operators, wega-admins and wega-pii-approved.
PII in the API: document names render as an 8-character HMAC hash plus extension; metadata as key names and sizes; error text as codes. Document content, OCR JSON, chunks and embeddings are never served in any role; there are no download endpoints. Reveal is audited, no-store and requires reveal-pii.
Logs: allowlisted keys per event; denylisted keys (name, document_name, metadata, s3_uri, body, content, text, token, password, ...) raise in tests and are dropped in production; identifiers only as HMAC-SHA256 truncated to 12 characters; exceptions as type names; no body-logging switch exists. Invariant I8 checks a PII canary across logs, traces, metrics, API and DLQ views.
Audit: each row_hash = sha256(previous hash || canonical row), verified hourly over the last 10,000 rows, anchored externally by a different role; nobody holds UPDATE, DELETE or TRUNCATE on audit_log.
Admin: the internet-facing API pod can only insert action requests through SECURITY DEFINER functions; execution happens in the control deployment. 27 actions follow preview, confirm (reason and, for destructive actions, a typed phrase), optional approval by a different admin, execute; production requires two-person approval.
Network: namespace default-deny for ingress and egress with explicit allows (44 NetworkPolicy objects). The gateway has no client auth, so its ingress policy is the boundary. Secrets are files only. Images deploy by digest only with SBOM and a trivy HIGH/CRITICAL gate. 12 conftest policies with 75 policy tests gate every manifest (restricted-v2, probes, digests, files-only secrets, reencrypt routes, no mocks in prod, connection budget, PVC sizing).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alert catalogue is code: one tuple per alert generates the PrometheusRule, the observer's attention checks (so the UI works without Prometheus) and the runbook skeletons. Every alert carries a runbook URL, a control-room URL and a first action. Counted by executing the module: 62 distinct alerts and 65 rule entries (3 alerts have both a warning and a critical threshold: dead letters open, outbox lag, PVC low space), 29 critical and 36 warning, plus 6 recording rules.
Runbooks: one section per alert, "written to be usable at 3 a.m."; a parity test fails the build if an alert has no section or a section names a command that does not exist. CI runs promtool check rules and promtool test rules against series emitted by the real code.
Metrics: about 122 wega_* names with closed label sets; forbidden labels include document id, external id, message id, name, path, S3 key and user. Tracing: OpenTelemetry with 5% parent-based sampling ("a document is traced fully or not at all"), W3C context propagated over AMQP, and the outbox stores the creating traceparent.
Autoscaling: KEDA or Red Hat CMA with a Prometheus trigger on queue depth (ready + unacked). Vision's maximum replicas is rendered from gateway slots, and the fallback replica count equals the maximum, so a blind scaler never scales busy pods in; a missing series falls back instead of reading as zero.
Gap: the five Grafana dashboards are specified but not yet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was rebuilt: the old UI made the topology invisible (twelve roles, twelve queues, three fleets and five stores existed only as words in tables on seven pages), showed no direction of travel and had no wall presentation.
Principles: the map is the truth, not a picture of it: every node is a real component, particle rates are measured rates, and a missing number shows "—", never zero. Motion carries one fact: direction. Semantic zoom. One instrument, two presentations.
The shell: a KPI strip (in flight, documents per minute against the 69.4 target, p95 stage latency estimate, error rate), canvas lanes (control plane; the journey Oracle → ledger → volume → queues → fleets → S3 → Oracle; storage), a 420 px lens panel, and a time scrubber that replays the last 60 minutes at 10x or 60x. Particles are documents spawned at the measured rate with a constant 1.4 s travel time, so density equals throughput; colour is age only. The 3D plant view (V toggles it) uses tanks, glass pipes and pump stations where every third dimension carries a number; three.js loads only in a lazy chunk. Wall mode: fullscreen, 1.6x type, auto-tour every 20 s, respects reduced motion.
Budgets measured at the merge on 3 Oct 2026 (headless Chromium): main entry 324.3 KB gzipped of a 450 KB gate; plant chunk 162.3 of 180 KB; 7,962 triangles of 20,000 and 26 draw calls of 30; particle frame p95 2.11 ms (light) to 2.48 ms (navy) of a 12 ms gate. Frame rate on an integrated GPU has not been measured. 170 Playwright tests render every route without console errors and pass axe in both themes. The mock on the left is a schematic,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wega-contracts is "the single source of every name, queue, policy value, prefetch and handler bound": 10 JSON Schemas (draft 2020-12: six messages, a common schema, and the stage manifest, chunks file and embeddings index), topology.yaml, id and path helpers, a magic-byte sniffer, the volume commit protocol, the PII log processor and the WegaWorker base. It is vendored into vision, chunker and embedder with a tree-digest lock.
Versioning: message types carry the major in the AMQP type (wega.chunking.ingest.v1); producers stamp schema_version 1.minor; readers check only the major. Optional field = minor in any order; new enum value = minor, consumer first; tighten, remove or rename = major on the same queues with v1 support for at least 90 days. Readers ignore unknown fields and map unknown enum values to UNKNOWN_&lt;FIELD&gt;.
The worker contract (2,644 lines) is complete on its own: queues, schemas, the no-nack rule, handoff, deadlines, the volume layout and commit protocol, the Postgres view workers read, and the conformance checks. Our own chunker and embedder are held to the same contract an outside team would be.
The conformance kit has 34 checks (C-01 to C-34); it is the release gate for the three workers, refuses to run configure against a production vhost, and its checks must bite: 8 of them are run against mocks with the matching fault injected and must fail ("a check that cannot fail is removed").
Parity tests hold the spec, code, manifests, alerts and runbooks together; the latest recorded parity run passed 366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how the system was built, how it is tested, the capacity reality, how it deploys, what is verified versus pending, and the decisions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started from an authoritative spec (SPEC-WEGA-PIPELINE-1, now 8,730 lines) written after first-hand probes of the real dependencies. The spec went through five design drafts and four judge reports (no-loss, scale, operability, consistency); a completeness critic's 35 findings were all applied.
Then 29 work packages, each owning an exclusive set of paths enforced by an ownership gate in CI. Milestones (commit dates): 15 Sep spec baseline; 16 Sep contracts, migrations and the core state machine (interfaces frozen); 17 Sep compose stack, Oracle adapter, topology and observer, simulator; 20 Sep relay/results/DLQ, reconciler and retention, admin API, intake and stager, uploader and projector, UI, conformance kit, end-to-end harness; 21 Sep OpenShift manifests and images, and the first end-to-end run, which found and fixed two defects no unit suite could reach; 3 Oct Control Room 2; 4 Oct contract 1.1, the real-system deployment shape, the pgvector store and the unified repository.
26 of 29 work packages are merged; chaos (WP-25), load and capacity (WP-26) and UI visual QA (WP-27) are pending. 476 commits across the seven imported histories.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counts are the latest recorded results per suite: orchestrator Python 1,969 passed (4 skipped), Vitest 1,563, parity 366 and Playwright UI end-to-end 170, all recorded at the Control Room 2 merge on 3 Oct 2026; vision 999 (4 Oct); embedder 535 (4 Oct); DES 419 (re-run 5 Oct); chunker 315; entry point 234; gateway (Go, with the race detector) 109. Total 6,679. Separately, the T2 real-container suite passed 159 tests on 17 Sep.
The tiers decide what counts: T1 unit tests (fakes allowed) are necessary and never sufficient; T2 real-container integration counts for a component; T3 contract and conformance for an interface; T5, the assembled-application end-to-end run, is the done-gate of every work package: a 62-document seeded batch (2- to 2,000-page PDFs, PNG, TIFF, DOCX, ids above 2^53, PII canaries, injected Layout faults, duplicate READY rows, an encrypted and a zero-byte file), checked by invariants I1-I10 from independent readers; the test never calls orchestrator internals. T6 chaos (32 scenarios) and T7 load and capacity are specified and pending.
Coverage: 88.2% over T1+T2+T3 against an 80% floor. First-hand probes reproduce 66 of 66 rows.
Why the tiers matter: the first end-to-end run (21 Sep) found two defects no T1 or T2 suite could reach: a TypeError in the audit anchor that crashed the control pod and released every lease, and umask-masked directory modes on the shared volume across UIDs. Both were fixed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100,000 documents a day at a mean of 81 pages (sample of 51 PDFs, 4,134 pages; range 2-562) = 8.1M pages a day = 93.75 pages per second; burst: an extra 250,000 documents drained within 72 hours.
One Layout analysis holds one gateway slot from admission to terminal, so slots_required = pages per second x s, where s is slot-seconds per page. s has never been measured. At s = 1 (a recorded but unverified figure) the target needs 94 slots sustained (172 with burst); at 3, 282 (516); at 6, 563 (1,032). Today's gateway has 4 slots: that is 4,267 documents a day at s = 1 and 711 at s = 6, a shortfall of 23x to 141x. Hardware implication: Layout needs 8 cores and 16-24 GB per container, so 96-568 Layout cores for the sustained load, before Read.
Autoscaling cannot close this gap. The levers are more OCR cells (12-71 sustained, 22-129 with burst, at DI_MAX_INFLIGHT 8), a higher DI_MAX_INFLIGHT backed by cores, and a smaller s through fan-out.
Release gate L3: a production volume claim needs measured slots &gt;= 1.2 x the requirement and no page band with p99 slice time above 900 s; otherwise the release publishes a measured ceiling, docs/day = slots x 86,400 / (81 x s_measured), and "never claims 100k/day on the strength of autoscaling". Risk R1 in the spec says the cell programme may not be 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namespace per environment (wega-dev, -perf, -staging, -prod). Overlays: dev and perf add the postgres, rabbitmq-external, infra-mocks and ocr-cell components (Oracle Free, MinIO and the two DES Azure mocks behind one real gateway cell); staging and prod use rabbitmq-external with real Oracle, S3 and gateway cells (4 cells in staging, 38 planned in prod); production has no mocks (refused by policy), two-person approvals on and tracebacks off. Always included: network policies, KEDA with the Prometheus trigger, monitoring.
RabbitMQ: Wega deploys no broker. Requirements on the cluster's StatefulSet: RabbitMQ 4.1.8 or later, 3 nodes, management and prometheus plugins, no pre-declared wega.* objects and no foreign policy above priority 10. The wega-rmq-bootstrap Job creates vhost wega and the contract users via the management API (re-running it rotates passwords); workers stay unready until the control deployment declares the topology.
Apply order with waits: prerequisites, secrets, images and release overlays (make manifests-release refuses placeholders), the orchestrator (Postgres, Oracle, MinIO, bootstrap Jobs, volume init, migrations, mocks and gateway, control, worker, api), vision, model server then vectors-migrate then embedder (40 minutes on first rollout for the 1.75 GB weights), chunker, entry point, retrieval, verification. Fixed-name Jobs are deleted before each apply because a completed Job never runs again.
Images: semver + git SHA tags but deploy by digest only (a mutable tag would make rollout undo a lie). Rollback: oc rollout undo or the previous overlay's digests within the schema compatibility window; migrations are expand/contract and never rolled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the suites in the quality slide (latest recorded runs); the T2 real-container suite (159 passed, 17 Sep); the first assembled end-to-end run (21 Sep), whose two defects were fixed; manifests rendered and checked offline by 12 conftest policies with 75 policy tests; contracts vendored with digest locks; parity 366 passed.
Not yet: no image has been built for the current commits and none of the Docker-dependent gates (image build, test and scan, integration, coverage, e2e, conformance against workers) has run; conformance has not been re-run against the real wega_parts chunker or the TEI embedder (last real runs: chunker 30 passed on the older layout_di code, embedder 29 passed with a stub backend); chaos (WP-25), load, capacity and RabbitMQ strategy suites (WP-26) and UI visual QA (WP-27) are pending; nothing has been applied to a cluster, so OpenShift-specific behaviours (Oracle Free under nonroot-v2, gateway volume fsGroup, scraping, TEI under restricted-v2) are unverified; the vector store was verified on PostgreSQL 17 + pgvector 0.8.2, not the pinned pg16 image.
Also known: vision writes two manifest detail keys the stage-manifest schema does not define, so strict validation would refuse its manifest; a vector generation cancelled after its rows were written keeps live rows; the Grafana dashboards are specified but not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OCR capacity (OQ-8): fund the gateway cell programme: 12-71 cells sustained (22-129 burst), DI_MAX_INFLIGHT raised from 4 to 8 with cores behind it, QUEUE_DEPTH set; plus a gateway ingress NetworkPolicy. Without it, Wega ships at a measured ceiling.
2. Gateway changes: GW-CR-1 exposes clientRequestId in /_gw/jobs so the tens-of-ms duplicate-billing window can be recovered exactly; GW-CR-2 provides a true Read v3.2 body in the gateway mock. Risk R9 makes GW-CR-1 a production prerequisite if staging shows more than 10 duplicates a day.
3. External table (OQ-1, OQ-2): the owning team must provide a version column that changes on every write (production refuses to start without WEGA_EXT_COL_VERSION), and decide whether Wega may write FAILED or an IN_PROGRESS marker (today the other team cannot tell a parked READY row from one not yet picked up).
4. Cluster facts: broker namespace, DNS, TLS and admin credentials; the registry; an RWX storage class that supports hard links and group-0 writes; an RWO block class for the gateway; egress or a mirror for the 1.75 GB model weights; Thanos and scrape permissions. These are 17 tracked open inputs in the system handoff.
5. Policy sign-offs: the chunker uses PyMuPDF (AGPL) for figure crops: approve it or switch to pypdfium2; figure images cannot be PII-redacted today; documents.name in the vector store holds the internal id pending a PII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(1) gather the cluster facts and build and scan the images; (2) deploy to staging and run conformance against the real workers plus the assembled end-to-end batch with invariants I1-I10; (3) run the pending chaos, load and L3 capacity suites, which measure s and produce the capacity report the release gate needs; (4) go to production at the measured ceiling and scale with gateway cells. The five decisions on the previous slide are what makes steps 1, 3 and 4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8686800" cy="365760"/>
          </a:xfrm>
          <a:prstGeom prst="rect">
            <a:avLst/>
          </a:prstGeom>
          <a:noFill/>
          <a:ln/>
        </p:spPr>
        <p:txBody>
          <a:bodyPr wrap="square" rtlCol="0"/>
          <a:lstStyle>
            <a:lvl1pPr algn="l" indent="0" marL="0">
              <a:buNone/>
              <a:defRPr lang="en-US" sz="1400" b="1" spc="200" kern="0"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731520" y="1874520"/>
            <a:ext cx="7863840" cy="1920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731520" y="3931920"/>
            <a:ext cx="7680960" cy="10058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
        <p:nvSpPr>
          <p:cNvPr id="5" name="Text 0"/>
          <p:cNvSpPr/>
          <p:nvPr>
            <p:ph idx="103" type="body" hasCustomPrompt="1"/>
          </p:nvPr>
        </p:nvSpPr>
        <p:spPr>
          <a:xfrm>
            <a:off x="731520" y="5897880"/>
            <a:ext cx="8229600" cy="365760"/>
          </a:xfrm>
          <a:prstGeom prst="rect">
            <a:avLst/>
          </a:prstGeom>
          <a:noFill/>
          <a:ln/>
        </p:spPr>
        <p:txBody>
          <a:bodyPr wrap="square" rtlCol="0"/>
          <a:lstStyle>
            <a:lvl1pPr algn="l" indent="0" marL="0">
              <a:buNone/>
              <a:defRPr lang="en-US" sz="1200" dirty="0">
                <a:solidFill>
                  <a:schemeClr val="accent5"/>
                </a:solidFill>
              </a:defRPr>
            </a:lvl1pPr>
          </a:lstStyle>
          <a:p>
            <a:pPr algn="l"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2743200" cy="1143000"/>
          </a:xfrm>
          <a:prstGeom prst="rect">
            <a:avLst/>
          </a:prstGeom>
          <a:noFill/>
          <a:ln/>
        </p:spPr>
        <p:txBody>
          <a:bodyPr wrap="square" rtlCol="0"/>
          <a:lstStyle>
            <a:lvl1pPr algn="l" indent="0" marL="0">
              <a:buNone/>
              <a:defRPr lang="en-US" sz="7200" b="1" dirty="0">
                <a:solidFill>
                  <a:schemeClr val="accent1"/>
                </a:solidFill>
              </a:defRPr>
            </a:lvl1pPr>
          </a:lstStyle>
          <a:p>
            <a:pPr algn="l" indent="0" marL="0">
              <a:buNone/>
            </a:pPr>
            <a:endParaRPr lang="en-US" sz="7200" dirty="0"/>
          </a:p>
        </p:txBody>
      </p:sp>
      <p:sp>
        <p:nvSpPr>
          <p:cNvPr id="3" name="Text 0"/>
          <p:cNvSpPr/>
          <p:nvPr>
            <p:ph idx="101" type="title" hasCustomPrompt="1"/>
          </p:nvPr>
        </p:nvSpPr>
        <p:spPr>
          <a:xfrm>
            <a:off x="731520" y="2697480"/>
            <a:ext cx="7498080" cy="12344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0"/>
          <p:cNvSpPr/>
          <p:nvPr>
            <p:ph idx="102" type="body" hasCustomPrompt="1"/>
          </p:nvPr>
        </p:nvSpPr>
        <p:spPr>
          <a:xfrm>
            <a:off x="731520" y="4069080"/>
            <a:ext cx="7498080" cy="118872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
        <p:nvSpPr>
          <p:cNvPr id="5"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Wega unified services  |  Engineering and leadership review</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rtlCol="0"/>
          <a:lstStyle>
            <a:lvl1pPr algn="l" indent="0" marL="0">
              <a:buNone/>
              <a:defRPr lang="en-US" sz="1200" b="1" spc="150" kern="0" dirty="0"/>
            </a:lvl1pPr>
          </a:lstStyle>
          <a:p>
            <a:pPr algn="l" indent="0" marL="0">
              <a:buNone/>
            </a:pP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Wega unified services  |  Engineering and leadership review</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FIELD">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rtlCol="0"/>
          <a:lstStyle>
            <a:lvl1pPr algn="l" indent="0" marL="0">
              <a:buNone/>
              <a:defRPr lang="en-US" sz="1200" b="1" spc="150" kern="0" dirty="0"/>
            </a:lvl1pPr>
          </a:lstStyle>
          <a:p>
            <a:pPr algn="l" indent="0" marL="0">
              <a:buNone/>
            </a:pP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Wega unified services  |  Engineering and leadership review</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rtlCol="0"/>
          <a:lstStyle>
            <a:lvl1pPr algn="l" indent="0" marL="0">
              <a:buNone/>
              <a:defRPr lang="en-US" sz="1200" b="1" spc="150" kern="0" dirty="0"/>
            </a:lvl1pPr>
          </a:lstStyle>
          <a:p>
            <a:pPr algn="l" indent="0" marL="0">
              <a:buNone/>
            </a:pP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Wega unified services  |  Engineering and leadership review</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5.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5.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5.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5.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5.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5.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5.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5.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5.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8686800" cy="365760"/>
          </a:xfrm>
          <a:prstGeom prst="rect">
            <a:avLst/>
          </a:prstGeom>
          <a:noFill/>
          <a:ln/>
        </p:spPr>
        <p:txBody>
          <a:bodyPr wrap="square" lIns="0" tIns="0" rIns="0" bIns="0" rtlCol="0" anchor="b"/>
          <a:lstStyle/>
          <a:p>
            <a:pPr algn="l" indent="0" marL="0">
              <a:buNone/>
            </a:pPr>
            <a:r>
              <a:rPr lang="en-US" sz="1400" b="1" spc="200" kern="0" dirty="0">
                <a:solidFill>
                  <a:schemeClr val="accent1"/>
                </a:solidFill>
              </a:rPr>
              <a:t>WEGA  ·  UNIFIED DOCUMENT-EMBEDDING PIPELINE</a:t>
            </a:r>
            <a:endParaRPr lang="en-US" sz="1400" dirty="0"/>
          </a:p>
        </p:txBody>
      </p:sp>
      <p:sp>
        <p:nvSpPr>
          <p:cNvPr id="3" name="Text 0"/>
          <p:cNvSpPr/>
          <p:nvPr>
            <p:ph idx="101" type="title" hasCustomPrompt="1"/>
          </p:nvPr>
        </p:nvSpPr>
        <p:spPr>
          <a:xfrm>
            <a:off x="731520" y="1874520"/>
            <a:ext cx="7863840" cy="1920240"/>
          </a:xfrm>
          <a:prstGeom prst="rect">
            <a:avLst/>
          </a:prstGeom>
          <a:noFill/>
          <a:ln/>
        </p:spPr>
        <p:txBody>
          <a:bodyPr wrap="square" lIns="0" tIns="0" rIns="0" bIns="0" rtlCol="0" anchor="t"/>
          <a:lstStyle/>
          <a:p>
            <a:pPr algn="l" indent="0" marL="0">
              <a:buNone/>
            </a:pPr>
            <a:r>
              <a:rPr lang="en-US" sz="3600" b="1" dirty="0">
                <a:solidFill>
                  <a:schemeClr val="bg1"/>
                </a:solidFill>
              </a:rPr>
              <a:t>Designed for 100,000 documents a day, every one accounted for</a:t>
            </a:r>
            <a:endParaRPr lang="en-US" sz="3600" dirty="0"/>
          </a:p>
        </p:txBody>
      </p:sp>
      <p:sp>
        <p:nvSpPr>
          <p:cNvPr id="4" name="Text 0"/>
          <p:cNvSpPr/>
          <p:nvPr>
            <p:ph idx="102" type="body" hasCustomPrompt="1"/>
          </p:nvPr>
        </p:nvSpPr>
        <p:spPr>
          <a:xfrm>
            <a:off x="731520" y="3931920"/>
            <a:ext cx="7680960" cy="1005840"/>
          </a:xfrm>
          <a:prstGeom prst="rect">
            <a:avLst/>
          </a:prstGeom>
          <a:noFill/>
          <a:ln/>
        </p:spPr>
        <p:txBody>
          <a:bodyPr wrap="square" lIns="0" tIns="0" rIns="0" bIns="0" rtlCol="0" anchor="t"/>
          <a:lstStyle/>
          <a:p>
            <a:pPr algn="l" indent="0" marL="0">
              <a:buNone/>
            </a:pPr>
            <a:r>
              <a:rPr lang="en-US" sz="2000" dirty="0">
                <a:solidFill>
                  <a:schemeClr val="accent5"/>
                </a:solidFill>
              </a:rPr>
              <a:t>Seven repositories, one contract: Oracle rows in; OCR, chunks and 1024-D vectors out, with no loss and exactly-once effects even when any pod dies</a:t>
            </a:r>
            <a:endParaRPr lang="en-US" sz="2000" dirty="0"/>
          </a:p>
        </p:txBody>
      </p:sp>
      <p:sp>
        <p:nvSpPr>
          <p:cNvPr id="5" name="Text 0"/>
          <p:cNvSpPr/>
          <p:nvPr>
            <p:ph idx="103" type="body" hasCustomPrompt="1"/>
          </p:nvPr>
        </p:nvSpPr>
        <p:spPr>
          <a:xfrm>
            <a:off x="731520" y="5897880"/>
            <a:ext cx="8229600" cy="365760"/>
          </a:xfrm>
          <a:prstGeom prst="rect">
            <a:avLst/>
          </a:prstGeom>
          <a:noFill/>
          <a:ln/>
        </p:spPr>
        <p:txBody>
          <a:bodyPr wrap="square" lIns="0" tIns="0" rIns="0" bIns="0" rtlCol="0" anchor="ctr"/>
          <a:lstStyle/>
          <a:p>
            <a:pPr algn="l" indent="0" marL="0">
              <a:buNone/>
            </a:pPr>
            <a:r>
              <a:rPr lang="en-US" sz="1200" dirty="0">
                <a:solidFill>
                  <a:schemeClr val="accent5"/>
                </a:solidFill>
              </a:rPr>
              <a:t>Principal engineering and leadership review  ·  October 2026</a:t>
            </a:r>
            <a:endParaRPr lang="en-US" sz="1200" dirty="0"/>
          </a:p>
        </p:txBody>
      </p:sp>
      <p:sp>
        <p:nvSpPr>
          <p:cNvPr id="7" name="badge-1"/>
          <p:cNvSpPr/>
          <p:nvPr/>
        </p:nvSpPr>
        <p:spPr>
          <a:xfrm>
            <a:off x="9098280" y="868680"/>
            <a:ext cx="512064" cy="512064"/>
          </a:xfrm>
          <a:prstGeom prst="ellipse">
            <a:avLst/>
          </a:prstGeom>
          <a:solidFill>
            <a:schemeClr val="accent2"/>
          </a:solidFill>
          <a:ln/>
        </p:spPr>
      </p:sp>
      <p:pic>
        <p:nvPicPr>
          <p:cNvPr id="8" name="icon-TbDatabase-2" descr="Database">    </p:cNvPr>
          <p:cNvPicPr>
            <a:picLocks noChangeAspect="1"/>
          </p:cNvPicPr>
          <p:nvPr/>
        </p:nvPicPr>
        <p:blipFill>
          <a:blip r:embed="rId1"/>
          <a:stretch>
            <a:fillRect/>
          </a:stretch>
        </p:blipFill>
        <p:spPr>
          <a:xfrm>
            <a:off x="9210934" y="981334"/>
            <a:ext cx="286756" cy="286756"/>
          </a:xfrm>
          <a:prstGeom prst="rect">
            <a:avLst/>
          </a:prstGeom>
        </p:spPr>
      </p:pic>
      <p:sp>
        <p:nvSpPr>
          <p:cNvPr id="9" name="text-3"/>
          <p:cNvSpPr txBox="1"/>
          <p:nvPr/>
        </p:nvSpPr>
        <p:spPr>
          <a:xfrm>
            <a:off x="9793224" y="914400"/>
            <a:ext cx="2103120" cy="420624"/>
          </a:xfrm>
          <a:prstGeom prst="rect">
            <a:avLst/>
          </a:prstGeom>
          <a:noFill/>
          <a:ln/>
        </p:spPr>
        <p:txBody>
          <a:bodyPr wrap="square" lIns="0" tIns="0" rIns="0" bIns="0" rtlCol="0" anchor="ctr"/>
          <a:lstStyle/>
          <a:p>
            <a:pPr indent="0" marL="0">
              <a:buNone/>
            </a:pPr>
            <a:r>
              <a:rPr lang="en-US" sz="1300" b="1" dirty="0">
                <a:solidFill>
                  <a:schemeClr val="bg1"/>
                </a:solidFill>
              </a:rPr>
              <a:t>Oracle row: READY</a:t>
            </a:r>
            <a:endParaRPr lang="en-US" sz="1300" dirty="0"/>
          </a:p>
        </p:txBody>
      </p:sp>
      <p:sp>
        <p:nvSpPr>
          <p:cNvPr id="10" name="link-4"/>
          <p:cNvSpPr/>
          <p:nvPr/>
        </p:nvSpPr>
        <p:spPr>
          <a:xfrm>
            <a:off x="9354312" y="1417320"/>
            <a:ext cx="0" cy="310896"/>
          </a:xfrm>
          <a:prstGeom prst="line">
            <a:avLst/>
          </a:prstGeom>
          <a:noFill/>
          <a:ln w="19050">
            <a:solidFill>
              <a:schemeClr val="accent1"/>
            </a:solidFill>
            <a:prstDash val="solid"/>
            <a:tailEnd type="triangle"/>
          </a:ln>
        </p:spPr>
      </p:sp>
      <p:sp>
        <p:nvSpPr>
          <p:cNvPr id="11" name="particle-5"/>
          <p:cNvSpPr/>
          <p:nvPr/>
        </p:nvSpPr>
        <p:spPr>
          <a:xfrm>
            <a:off x="9322308" y="1488948"/>
            <a:ext cx="64008" cy="64008"/>
          </a:xfrm>
          <a:prstGeom prst="ellipse">
            <a:avLst/>
          </a:prstGeom>
          <a:solidFill>
            <a:schemeClr val="accent1"/>
          </a:solidFill>
          <a:ln/>
        </p:spPr>
      </p:sp>
      <p:sp>
        <p:nvSpPr>
          <p:cNvPr id="12" name="particle-6"/>
          <p:cNvSpPr/>
          <p:nvPr/>
        </p:nvSpPr>
        <p:spPr>
          <a:xfrm>
            <a:off x="9322308" y="1592580"/>
            <a:ext cx="64008" cy="64008"/>
          </a:xfrm>
          <a:prstGeom prst="ellipse">
            <a:avLst/>
          </a:prstGeom>
          <a:solidFill>
            <a:schemeClr val="accent1"/>
          </a:solidFill>
          <a:ln/>
        </p:spPr>
      </p:sp>
      <p:sp>
        <p:nvSpPr>
          <p:cNvPr id="13" name="badge-7"/>
          <p:cNvSpPr/>
          <p:nvPr/>
        </p:nvSpPr>
        <p:spPr>
          <a:xfrm>
            <a:off x="9098280" y="1764792"/>
            <a:ext cx="512064" cy="512064"/>
          </a:xfrm>
          <a:prstGeom prst="ellipse">
            <a:avLst/>
          </a:prstGeom>
          <a:solidFill>
            <a:schemeClr val="accent2"/>
          </a:solidFill>
          <a:ln/>
        </p:spPr>
      </p:sp>
      <p:pic>
        <p:nvPicPr>
          <p:cNvPr id="14" name="icon-TbTopologyStar3-8" descr="TopologyStar3">    </p:cNvPr>
          <p:cNvPicPr>
            <a:picLocks noChangeAspect="1"/>
          </p:cNvPicPr>
          <p:nvPr/>
        </p:nvPicPr>
        <p:blipFill>
          <a:blip r:embed="rId2"/>
          <a:stretch>
            <a:fillRect/>
          </a:stretch>
        </p:blipFill>
        <p:spPr>
          <a:xfrm>
            <a:off x="9210934" y="1877446"/>
            <a:ext cx="286756" cy="286756"/>
          </a:xfrm>
          <a:prstGeom prst="rect">
            <a:avLst/>
          </a:prstGeom>
        </p:spPr>
      </p:pic>
      <p:sp>
        <p:nvSpPr>
          <p:cNvPr id="15" name="text-9"/>
          <p:cNvSpPr txBox="1"/>
          <p:nvPr/>
        </p:nvSpPr>
        <p:spPr>
          <a:xfrm>
            <a:off x="9793224" y="1810512"/>
            <a:ext cx="2103120" cy="420624"/>
          </a:xfrm>
          <a:prstGeom prst="rect">
            <a:avLst/>
          </a:prstGeom>
          <a:noFill/>
          <a:ln/>
        </p:spPr>
        <p:txBody>
          <a:bodyPr wrap="square" lIns="0" tIns="0" rIns="0" bIns="0" rtlCol="0" anchor="ctr"/>
          <a:lstStyle/>
          <a:p>
            <a:pPr indent="0" marL="0">
              <a:buNone/>
            </a:pPr>
            <a:r>
              <a:rPr lang="en-US" sz="1300" dirty="0">
                <a:solidFill>
                  <a:schemeClr val="bg1"/>
                </a:solidFill>
              </a:rPr>
              <a:t>Orchestrator: 12 roles</a:t>
            </a:r>
            <a:endParaRPr lang="en-US" sz="1300" dirty="0"/>
          </a:p>
        </p:txBody>
      </p:sp>
      <p:sp>
        <p:nvSpPr>
          <p:cNvPr id="16" name="link-10"/>
          <p:cNvSpPr/>
          <p:nvPr/>
        </p:nvSpPr>
        <p:spPr>
          <a:xfrm>
            <a:off x="9354312" y="2313432"/>
            <a:ext cx="0" cy="310896"/>
          </a:xfrm>
          <a:prstGeom prst="line">
            <a:avLst/>
          </a:prstGeom>
          <a:noFill/>
          <a:ln w="19050">
            <a:solidFill>
              <a:schemeClr val="accent1"/>
            </a:solidFill>
            <a:prstDash val="solid"/>
            <a:tailEnd type="triangle"/>
          </a:ln>
        </p:spPr>
      </p:sp>
      <p:sp>
        <p:nvSpPr>
          <p:cNvPr id="17" name="particle-11"/>
          <p:cNvSpPr/>
          <p:nvPr/>
        </p:nvSpPr>
        <p:spPr>
          <a:xfrm>
            <a:off x="9322308" y="2385060"/>
            <a:ext cx="64008" cy="64008"/>
          </a:xfrm>
          <a:prstGeom prst="ellipse">
            <a:avLst/>
          </a:prstGeom>
          <a:solidFill>
            <a:schemeClr val="accent1"/>
          </a:solidFill>
          <a:ln/>
        </p:spPr>
      </p:sp>
      <p:sp>
        <p:nvSpPr>
          <p:cNvPr id="18" name="particle-12"/>
          <p:cNvSpPr/>
          <p:nvPr/>
        </p:nvSpPr>
        <p:spPr>
          <a:xfrm>
            <a:off x="9322308" y="2488692"/>
            <a:ext cx="64008" cy="64008"/>
          </a:xfrm>
          <a:prstGeom prst="ellipse">
            <a:avLst/>
          </a:prstGeom>
          <a:solidFill>
            <a:schemeClr val="accent1"/>
          </a:solidFill>
          <a:ln/>
        </p:spPr>
      </p:sp>
      <p:sp>
        <p:nvSpPr>
          <p:cNvPr id="19" name="badge-13"/>
          <p:cNvSpPr/>
          <p:nvPr/>
        </p:nvSpPr>
        <p:spPr>
          <a:xfrm>
            <a:off x="9098280" y="2660904"/>
            <a:ext cx="512064" cy="512064"/>
          </a:xfrm>
          <a:prstGeom prst="ellipse">
            <a:avLst/>
          </a:prstGeom>
          <a:solidFill>
            <a:schemeClr val="accent1"/>
          </a:solidFill>
          <a:ln/>
        </p:spPr>
      </p:sp>
      <p:pic>
        <p:nvPicPr>
          <p:cNvPr id="20" name="icon-TbScan-14" descr="Scan">    </p:cNvPr>
          <p:cNvPicPr>
            <a:picLocks noChangeAspect="1"/>
          </p:cNvPicPr>
          <p:nvPr/>
        </p:nvPicPr>
        <p:blipFill>
          <a:blip r:embed="rId3"/>
          <a:stretch>
            <a:fillRect/>
          </a:stretch>
        </p:blipFill>
        <p:spPr>
          <a:xfrm>
            <a:off x="9210934" y="2773558"/>
            <a:ext cx="286756" cy="286756"/>
          </a:xfrm>
          <a:prstGeom prst="rect">
            <a:avLst/>
          </a:prstGeom>
        </p:spPr>
      </p:pic>
      <p:sp>
        <p:nvSpPr>
          <p:cNvPr id="21" name="text-15"/>
          <p:cNvSpPr txBox="1"/>
          <p:nvPr/>
        </p:nvSpPr>
        <p:spPr>
          <a:xfrm>
            <a:off x="9793224" y="2706624"/>
            <a:ext cx="2103120" cy="420624"/>
          </a:xfrm>
          <a:prstGeom prst="rect">
            <a:avLst/>
          </a:prstGeom>
          <a:noFill/>
          <a:ln/>
        </p:spPr>
        <p:txBody>
          <a:bodyPr wrap="square" lIns="0" tIns="0" rIns="0" bIns="0" rtlCol="0" anchor="ctr"/>
          <a:lstStyle/>
          <a:p>
            <a:pPr indent="0" marL="0">
              <a:buNone/>
            </a:pPr>
            <a:r>
              <a:rPr lang="en-US" sz="1300" dirty="0">
                <a:solidFill>
                  <a:schemeClr val="bg1"/>
                </a:solidFill>
              </a:rPr>
              <a:t>Vision OCR via gateway</a:t>
            </a:r>
            <a:endParaRPr lang="en-US" sz="1300" dirty="0"/>
          </a:p>
        </p:txBody>
      </p:sp>
      <p:sp>
        <p:nvSpPr>
          <p:cNvPr id="22" name="link-16"/>
          <p:cNvSpPr/>
          <p:nvPr/>
        </p:nvSpPr>
        <p:spPr>
          <a:xfrm>
            <a:off x="9354312" y="3209544"/>
            <a:ext cx="0" cy="310896"/>
          </a:xfrm>
          <a:prstGeom prst="line">
            <a:avLst/>
          </a:prstGeom>
          <a:noFill/>
          <a:ln w="19050">
            <a:solidFill>
              <a:schemeClr val="accent1"/>
            </a:solidFill>
            <a:prstDash val="solid"/>
            <a:tailEnd type="triangle"/>
          </a:ln>
        </p:spPr>
      </p:sp>
      <p:sp>
        <p:nvSpPr>
          <p:cNvPr id="23" name="particle-17"/>
          <p:cNvSpPr/>
          <p:nvPr/>
        </p:nvSpPr>
        <p:spPr>
          <a:xfrm>
            <a:off x="9322308" y="3281172"/>
            <a:ext cx="64008" cy="64008"/>
          </a:xfrm>
          <a:prstGeom prst="ellipse">
            <a:avLst/>
          </a:prstGeom>
          <a:solidFill>
            <a:schemeClr val="accent1"/>
          </a:solidFill>
          <a:ln/>
        </p:spPr>
      </p:sp>
      <p:sp>
        <p:nvSpPr>
          <p:cNvPr id="24" name="particle-18"/>
          <p:cNvSpPr/>
          <p:nvPr/>
        </p:nvSpPr>
        <p:spPr>
          <a:xfrm>
            <a:off x="9322308" y="3384804"/>
            <a:ext cx="64008" cy="64008"/>
          </a:xfrm>
          <a:prstGeom prst="ellipse">
            <a:avLst/>
          </a:prstGeom>
          <a:solidFill>
            <a:schemeClr val="accent1"/>
          </a:solidFill>
          <a:ln/>
        </p:spPr>
      </p:sp>
      <p:sp>
        <p:nvSpPr>
          <p:cNvPr id="25" name="badge-19"/>
          <p:cNvSpPr/>
          <p:nvPr/>
        </p:nvSpPr>
        <p:spPr>
          <a:xfrm>
            <a:off x="9098280" y="3557016"/>
            <a:ext cx="512064" cy="512064"/>
          </a:xfrm>
          <a:prstGeom prst="ellipse">
            <a:avLst/>
          </a:prstGeom>
          <a:solidFill>
            <a:schemeClr val="accent2"/>
          </a:solidFill>
          <a:ln/>
        </p:spPr>
      </p:sp>
      <p:pic>
        <p:nvPicPr>
          <p:cNvPr id="26" name="icon-TbArrowsSplit-20" descr="ArrowsSplit">    </p:cNvPr>
          <p:cNvPicPr>
            <a:picLocks noChangeAspect="1"/>
          </p:cNvPicPr>
          <p:nvPr/>
        </p:nvPicPr>
        <p:blipFill>
          <a:blip r:embed="rId4"/>
          <a:stretch>
            <a:fillRect/>
          </a:stretch>
        </p:blipFill>
        <p:spPr>
          <a:xfrm>
            <a:off x="9210934" y="3669670"/>
            <a:ext cx="286756" cy="286756"/>
          </a:xfrm>
          <a:prstGeom prst="rect">
            <a:avLst/>
          </a:prstGeom>
        </p:spPr>
      </p:pic>
      <p:sp>
        <p:nvSpPr>
          <p:cNvPr id="27" name="text-21"/>
          <p:cNvSpPr txBox="1"/>
          <p:nvPr/>
        </p:nvSpPr>
        <p:spPr>
          <a:xfrm>
            <a:off x="9793224" y="3602736"/>
            <a:ext cx="2103120" cy="420624"/>
          </a:xfrm>
          <a:prstGeom prst="rect">
            <a:avLst/>
          </a:prstGeom>
          <a:noFill/>
          <a:ln/>
        </p:spPr>
        <p:txBody>
          <a:bodyPr wrap="square" lIns="0" tIns="0" rIns="0" bIns="0" rtlCol="0" anchor="ctr"/>
          <a:lstStyle/>
          <a:p>
            <a:pPr indent="0" marL="0">
              <a:buNone/>
            </a:pPr>
            <a:r>
              <a:rPr lang="en-US" sz="1300" dirty="0">
                <a:solidFill>
                  <a:schemeClr val="bg1"/>
                </a:solidFill>
              </a:rPr>
              <a:t>Chunker: DES wega_parts</a:t>
            </a:r>
            <a:endParaRPr lang="en-US" sz="1300" dirty="0"/>
          </a:p>
        </p:txBody>
      </p:sp>
      <p:sp>
        <p:nvSpPr>
          <p:cNvPr id="28" name="link-22"/>
          <p:cNvSpPr/>
          <p:nvPr/>
        </p:nvSpPr>
        <p:spPr>
          <a:xfrm>
            <a:off x="9354312" y="4105656"/>
            <a:ext cx="0" cy="310896"/>
          </a:xfrm>
          <a:prstGeom prst="line">
            <a:avLst/>
          </a:prstGeom>
          <a:noFill/>
          <a:ln w="19050">
            <a:solidFill>
              <a:schemeClr val="accent1"/>
            </a:solidFill>
            <a:prstDash val="solid"/>
            <a:tailEnd type="triangle"/>
          </a:ln>
        </p:spPr>
      </p:sp>
      <p:sp>
        <p:nvSpPr>
          <p:cNvPr id="29" name="particle-23"/>
          <p:cNvSpPr/>
          <p:nvPr/>
        </p:nvSpPr>
        <p:spPr>
          <a:xfrm>
            <a:off x="9322308" y="4177284"/>
            <a:ext cx="64008" cy="64008"/>
          </a:xfrm>
          <a:prstGeom prst="ellipse">
            <a:avLst/>
          </a:prstGeom>
          <a:solidFill>
            <a:schemeClr val="accent1"/>
          </a:solidFill>
          <a:ln/>
        </p:spPr>
      </p:sp>
      <p:sp>
        <p:nvSpPr>
          <p:cNvPr id="30" name="particle-24"/>
          <p:cNvSpPr/>
          <p:nvPr/>
        </p:nvSpPr>
        <p:spPr>
          <a:xfrm>
            <a:off x="9322308" y="4280916"/>
            <a:ext cx="64008" cy="64008"/>
          </a:xfrm>
          <a:prstGeom prst="ellipse">
            <a:avLst/>
          </a:prstGeom>
          <a:solidFill>
            <a:schemeClr val="accent1"/>
          </a:solidFill>
          <a:ln/>
        </p:spPr>
      </p:sp>
      <p:sp>
        <p:nvSpPr>
          <p:cNvPr id="31" name="badge-25"/>
          <p:cNvSpPr/>
          <p:nvPr/>
        </p:nvSpPr>
        <p:spPr>
          <a:xfrm>
            <a:off x="9098280" y="4453128"/>
            <a:ext cx="512064" cy="512064"/>
          </a:xfrm>
          <a:prstGeom prst="ellipse">
            <a:avLst/>
          </a:prstGeom>
          <a:solidFill>
            <a:schemeClr val="accent2"/>
          </a:solidFill>
          <a:ln/>
        </p:spPr>
      </p:sp>
      <p:pic>
        <p:nvPicPr>
          <p:cNvPr id="32" name="icon-TbVectorTriangle-26" descr="VectorTriangle">    </p:cNvPr>
          <p:cNvPicPr>
            <a:picLocks noChangeAspect="1"/>
          </p:cNvPicPr>
          <p:nvPr/>
        </p:nvPicPr>
        <p:blipFill>
          <a:blip r:embed="rId5"/>
          <a:stretch>
            <a:fillRect/>
          </a:stretch>
        </p:blipFill>
        <p:spPr>
          <a:xfrm>
            <a:off x="9210934" y="4565782"/>
            <a:ext cx="286756" cy="286756"/>
          </a:xfrm>
          <a:prstGeom prst="rect">
            <a:avLst/>
          </a:prstGeom>
        </p:spPr>
      </p:pic>
      <p:sp>
        <p:nvSpPr>
          <p:cNvPr id="33" name="text-27"/>
          <p:cNvSpPr txBox="1"/>
          <p:nvPr/>
        </p:nvSpPr>
        <p:spPr>
          <a:xfrm>
            <a:off x="9793224" y="4498848"/>
            <a:ext cx="2103120" cy="420624"/>
          </a:xfrm>
          <a:prstGeom prst="rect">
            <a:avLst/>
          </a:prstGeom>
          <a:noFill/>
          <a:ln/>
        </p:spPr>
        <p:txBody>
          <a:bodyPr wrap="square" lIns="0" tIns="0" rIns="0" bIns="0" rtlCol="0" anchor="ctr"/>
          <a:lstStyle/>
          <a:p>
            <a:pPr indent="0" marL="0">
              <a:buNone/>
            </a:pPr>
            <a:r>
              <a:rPr lang="en-US" sz="1300" dirty="0">
                <a:solidFill>
                  <a:schemeClr val="bg1"/>
                </a:solidFill>
              </a:rPr>
              <a:t>Embedder: 1024-D</a:t>
            </a:r>
            <a:endParaRPr lang="en-US" sz="1300" dirty="0"/>
          </a:p>
        </p:txBody>
      </p:sp>
      <p:sp>
        <p:nvSpPr>
          <p:cNvPr id="34" name="link-28"/>
          <p:cNvSpPr/>
          <p:nvPr/>
        </p:nvSpPr>
        <p:spPr>
          <a:xfrm>
            <a:off x="9354312" y="5001768"/>
            <a:ext cx="0" cy="310896"/>
          </a:xfrm>
          <a:prstGeom prst="line">
            <a:avLst/>
          </a:prstGeom>
          <a:noFill/>
          <a:ln w="19050">
            <a:solidFill>
              <a:schemeClr val="accent1"/>
            </a:solidFill>
            <a:prstDash val="solid"/>
            <a:tailEnd type="triangle"/>
          </a:ln>
        </p:spPr>
      </p:sp>
      <p:sp>
        <p:nvSpPr>
          <p:cNvPr id="35" name="particle-29"/>
          <p:cNvSpPr/>
          <p:nvPr/>
        </p:nvSpPr>
        <p:spPr>
          <a:xfrm>
            <a:off x="9322308" y="5073396"/>
            <a:ext cx="64008" cy="64008"/>
          </a:xfrm>
          <a:prstGeom prst="ellipse">
            <a:avLst/>
          </a:prstGeom>
          <a:solidFill>
            <a:schemeClr val="accent1"/>
          </a:solidFill>
          <a:ln/>
        </p:spPr>
      </p:sp>
      <p:sp>
        <p:nvSpPr>
          <p:cNvPr id="36" name="particle-30"/>
          <p:cNvSpPr/>
          <p:nvPr/>
        </p:nvSpPr>
        <p:spPr>
          <a:xfrm>
            <a:off x="9322308" y="5177028"/>
            <a:ext cx="64008" cy="64008"/>
          </a:xfrm>
          <a:prstGeom prst="ellipse">
            <a:avLst/>
          </a:prstGeom>
          <a:solidFill>
            <a:schemeClr val="accent1"/>
          </a:solidFill>
          <a:ln/>
        </p:spPr>
      </p:sp>
      <p:sp>
        <p:nvSpPr>
          <p:cNvPr id="37" name="badge-31"/>
          <p:cNvSpPr/>
          <p:nvPr/>
        </p:nvSpPr>
        <p:spPr>
          <a:xfrm>
            <a:off x="9098280" y="5349240"/>
            <a:ext cx="512064" cy="512064"/>
          </a:xfrm>
          <a:prstGeom prst="ellipse">
            <a:avLst/>
          </a:prstGeom>
          <a:solidFill>
            <a:schemeClr val="accent2"/>
          </a:solidFill>
          <a:ln/>
        </p:spPr>
      </p:sp>
      <p:pic>
        <p:nvPicPr>
          <p:cNvPr id="38" name="icon-TbDatabaseSearch-32" descr="DatabaseSearch">    </p:cNvPr>
          <p:cNvPicPr>
            <a:picLocks noChangeAspect="1"/>
          </p:cNvPicPr>
          <p:nvPr/>
        </p:nvPicPr>
        <p:blipFill>
          <a:blip r:embed="rId6"/>
          <a:stretch>
            <a:fillRect/>
          </a:stretch>
        </p:blipFill>
        <p:spPr>
          <a:xfrm>
            <a:off x="9210934" y="5461894"/>
            <a:ext cx="286756" cy="286756"/>
          </a:xfrm>
          <a:prstGeom prst="rect">
            <a:avLst/>
          </a:prstGeom>
        </p:spPr>
      </p:pic>
      <p:sp>
        <p:nvSpPr>
          <p:cNvPr id="39" name="text-33"/>
          <p:cNvSpPr txBox="1"/>
          <p:nvPr/>
        </p:nvSpPr>
        <p:spPr>
          <a:xfrm>
            <a:off x="9793224" y="5394960"/>
            <a:ext cx="2103120" cy="420624"/>
          </a:xfrm>
          <a:prstGeom prst="rect">
            <a:avLst/>
          </a:prstGeom>
          <a:noFill/>
          <a:ln/>
        </p:spPr>
        <p:txBody>
          <a:bodyPr wrap="square" lIns="0" tIns="0" rIns="0" bIns="0" rtlCol="0" anchor="ctr"/>
          <a:lstStyle/>
          <a:p>
            <a:pPr indent="0" marL="0">
              <a:buNone/>
            </a:pPr>
            <a:r>
              <a:rPr lang="en-US" sz="1300" b="1" dirty="0">
                <a:solidFill>
                  <a:schemeClr val="bg1"/>
                </a:solidFill>
              </a:rPr>
              <a:t>S3 + pgvector + Oracle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EXECUTIVE SUMMARY</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Correct first, then fast: Wega in one slide</a:t>
            </a:r>
            <a:endParaRPr lang="en-US" sz="2800" dirty="0"/>
          </a:p>
        </p:txBody>
      </p:sp>
      <p:sp>
        <p:nvSpPr>
          <p:cNvPr id="5" name="chip-34"/>
          <p:cNvSpPr/>
          <p:nvPr/>
        </p:nvSpPr>
        <p:spPr>
          <a:xfrm>
            <a:off x="548640" y="164592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block-35"/>
          <p:cNvSpPr txBox="1"/>
          <p:nvPr/>
        </p:nvSpPr>
        <p:spPr>
          <a:xfrm>
            <a:off x="1115568" y="1627632"/>
            <a:ext cx="6611112" cy="841248"/>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One system, Oracle row to vector</a:t>
            </a:r>
            <a:endParaRPr lang="en-US" sz="1600" dirty="0"/>
          </a:p>
          <a:p>
            <a:pPr indent="0" marL="0">
              <a:spcAft>
                <a:spcPts val="200"/>
              </a:spcAft>
              <a:buNone/>
            </a:pPr>
            <a:r>
              <a:rPr lang="en-US" sz="1350" dirty="0">
                <a:solidFill>
                  <a:schemeClr val="tx2"/>
                </a:solidFill>
              </a:rPr>
              <a:t>Entry point, orchestrator (12 roles), vision OCR, chunker, embedder and Azure gateway in one repository; DES supplies the chunking and embedding code.</a:t>
            </a:r>
            <a:endParaRPr lang="en-US" sz="1600" dirty="0"/>
          </a:p>
        </p:txBody>
      </p:sp>
      <p:sp>
        <p:nvSpPr>
          <p:cNvPr id="7" name="chip-36"/>
          <p:cNvSpPr/>
          <p:nvPr/>
        </p:nvSpPr>
        <p:spPr>
          <a:xfrm>
            <a:off x="548640" y="2542032"/>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block-37"/>
          <p:cNvSpPr txBox="1"/>
          <p:nvPr/>
        </p:nvSpPr>
        <p:spPr>
          <a:xfrm>
            <a:off x="1115568" y="2523744"/>
            <a:ext cx="6611112" cy="841248"/>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Correct when any pod dies at any instant</a:t>
            </a:r>
            <a:endParaRPr lang="en-US" sz="1600" dirty="0"/>
          </a:p>
          <a:p>
            <a:pPr indent="0" marL="0">
              <a:spcAft>
                <a:spcPts val="200"/>
              </a:spcAft>
              <a:buNone/>
            </a:pPr>
            <a:r>
              <a:rPr lang="en-US" sz="1350" dirty="0">
                <a:solidFill>
                  <a:schemeClr val="tx2"/>
                </a:solidFill>
              </a:rPr>
              <a:t>Postgres is the commit point; outbox, publisher confirms, UUIDv5 ids and write-once files give no loss and exactly-once effects.</a:t>
            </a:r>
            <a:endParaRPr lang="en-US" sz="1600" dirty="0"/>
          </a:p>
        </p:txBody>
      </p:sp>
      <p:sp>
        <p:nvSpPr>
          <p:cNvPr id="9" name="chip-38"/>
          <p:cNvSpPr/>
          <p:nvPr/>
        </p:nvSpPr>
        <p:spPr>
          <a:xfrm>
            <a:off x="548640" y="3438144"/>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0" name="block-39"/>
          <p:cNvSpPr txBox="1"/>
          <p:nvPr/>
        </p:nvSpPr>
        <p:spPr>
          <a:xfrm>
            <a:off x="1115568" y="3419856"/>
            <a:ext cx="6611112" cy="841248"/>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Azure OCR spend is protected</a:t>
            </a:r>
            <a:endParaRPr lang="en-US" sz="1600" dirty="0"/>
          </a:p>
          <a:p>
            <a:pPr indent="0" marL="0">
              <a:spcAft>
                <a:spcPts val="200"/>
              </a:spcAft>
              <a:buNone/>
            </a:pPr>
            <a:r>
              <a:rPr lang="en-US" sz="1350" dirty="0">
                <a:solidFill>
                  <a:schemeClr val="tx2"/>
                </a:solidFill>
              </a:rPr>
              <a:t>Every submit is journaled before it is sent; retries adopt running jobs instead of re-billing the same pages.</a:t>
            </a:r>
            <a:endParaRPr lang="en-US" sz="1600" dirty="0"/>
          </a:p>
        </p:txBody>
      </p:sp>
      <p:sp>
        <p:nvSpPr>
          <p:cNvPr id="11" name="chip-40"/>
          <p:cNvSpPr/>
          <p:nvPr/>
        </p:nvSpPr>
        <p:spPr>
          <a:xfrm>
            <a:off x="548640" y="4334256"/>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2" name="block-41"/>
          <p:cNvSpPr txBox="1"/>
          <p:nvPr/>
        </p:nvSpPr>
        <p:spPr>
          <a:xfrm>
            <a:off x="1115568" y="4315968"/>
            <a:ext cx="6611112" cy="841248"/>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Operable from day one</a:t>
            </a:r>
            <a:endParaRPr lang="en-US" sz="1600" dirty="0"/>
          </a:p>
          <a:p>
            <a:pPr indent="0" marL="0">
              <a:spcAft>
                <a:spcPts val="200"/>
              </a:spcAft>
              <a:buNone/>
            </a:pPr>
            <a:r>
              <a:rPr lang="en-US" sz="1350" dirty="0">
                <a:solidFill>
                  <a:schemeClr val="tx2"/>
                </a:solidFill>
              </a:rPr>
              <a:t>One runbook per alert, a live control room, RBAC, PII masking, a hash-chained audit log and default-deny networking.</a:t>
            </a:r>
            <a:endParaRPr lang="en-US" sz="1600" dirty="0"/>
          </a:p>
        </p:txBody>
      </p:sp>
      <p:sp>
        <p:nvSpPr>
          <p:cNvPr id="13" name="chip-42"/>
          <p:cNvSpPr/>
          <p:nvPr/>
        </p:nvSpPr>
        <p:spPr>
          <a:xfrm>
            <a:off x="548640" y="5230368"/>
            <a:ext cx="384048" cy="384048"/>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4" name="block-43"/>
          <p:cNvSpPr txBox="1"/>
          <p:nvPr/>
        </p:nvSpPr>
        <p:spPr>
          <a:xfrm>
            <a:off x="1115568" y="5212080"/>
            <a:ext cx="6611112" cy="841248"/>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Throughput is gated by OCR capacity</a:t>
            </a:r>
            <a:endParaRPr lang="en-US" sz="1600" dirty="0"/>
          </a:p>
          <a:p>
            <a:pPr indent="0" marL="0">
              <a:spcAft>
                <a:spcPts val="200"/>
              </a:spcAft>
              <a:buNone/>
            </a:pPr>
            <a:r>
              <a:rPr lang="en-US" sz="1350" dirty="0">
                <a:solidFill>
                  <a:schemeClr val="tx2"/>
                </a:solidFill>
              </a:rPr>
              <a:t>The target is 8.1M pages a day; the gateway, not pod count, sets the ceiling. Scaling needs more gateway cells.</a:t>
            </a:r>
            <a:endParaRPr lang="en-US" sz="1600" dirty="0"/>
          </a:p>
        </p:txBody>
      </p:sp>
      <p:sp>
        <p:nvSpPr>
          <p:cNvPr id="15" name="stat-panel-44"/>
          <p:cNvSpPr/>
          <p:nvPr/>
        </p:nvSpPr>
        <p:spPr>
          <a:xfrm>
            <a:off x="8092440" y="1627632"/>
            <a:ext cx="3550615" cy="4498848"/>
          </a:xfrm>
          <a:prstGeom prst="roundRect">
            <a:avLst>
              <a:gd name="adj" fmla="val 2060"/>
            </a:avLst>
          </a:prstGeom>
          <a:solidFill>
            <a:schemeClr val="tx1"/>
          </a:solidFill>
          <a:ln/>
        </p:spPr>
      </p:sp>
      <p:sp>
        <p:nvSpPr>
          <p:cNvPr id="16" name="stat-45"/>
          <p:cNvSpPr txBox="1"/>
          <p:nvPr/>
        </p:nvSpPr>
        <p:spPr>
          <a:xfrm>
            <a:off x="8412480" y="1810512"/>
            <a:ext cx="2910535" cy="1005840"/>
          </a:xfrm>
          <a:prstGeom prst="rect">
            <a:avLst/>
          </a:prstGeom>
          <a:noFill/>
          <a:ln/>
        </p:spPr>
        <p:txBody>
          <a:bodyPr wrap="square" lIns="0" tIns="0" rIns="0" bIns="0" rtlCol="0" anchor="t"/>
          <a:lstStyle/>
          <a:p>
            <a:pPr algn="l" indent="0" marL="0">
              <a:buNone/>
            </a:pPr>
            <a:r>
              <a:rPr lang="en-US" sz="3200" b="1" dirty="0">
                <a:solidFill>
                  <a:schemeClr val="accent1"/>
                </a:solidFill>
                <a:latin typeface="Arial" pitchFamily="34" charset="0"/>
                <a:ea typeface="Arial" pitchFamily="34" charset="-122"/>
                <a:cs typeface="Arial" pitchFamily="34" charset="-120"/>
              </a:rPr>
              <a:t>8.1M</a:t>
            </a:r>
            <a:endParaRPr lang="en-US" sz="3200" dirty="0"/>
          </a:p>
          <a:p>
            <a:pPr algn="l" indent="0" marL="0">
              <a:buNone/>
            </a:pPr>
            <a:r>
              <a:rPr lang="en-US" sz="1300" dirty="0">
                <a:solidFill>
                  <a:schemeClr val="accent5"/>
                </a:solidFill>
              </a:rPr>
              <a:t>pages a day at the 100k-document target</a:t>
            </a:r>
            <a:endParaRPr lang="en-US" sz="3200" dirty="0"/>
          </a:p>
        </p:txBody>
      </p:sp>
      <p:sp>
        <p:nvSpPr>
          <p:cNvPr id="17" name="stat-46"/>
          <p:cNvSpPr txBox="1"/>
          <p:nvPr/>
        </p:nvSpPr>
        <p:spPr>
          <a:xfrm>
            <a:off x="8412480" y="2889504"/>
            <a:ext cx="2910535" cy="100584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6,600+</a:t>
            </a:r>
            <a:endParaRPr lang="en-US" sz="3200" dirty="0"/>
          </a:p>
          <a:p>
            <a:pPr algn="l" indent="0" marL="0">
              <a:buNone/>
            </a:pPr>
            <a:r>
              <a:rPr lang="en-US" sz="1300" dirty="0">
                <a:solidFill>
                  <a:schemeClr val="accent5"/>
                </a:solidFill>
              </a:rPr>
              <a:t>automated tests across ten suites</a:t>
            </a:r>
            <a:endParaRPr lang="en-US" sz="3200" dirty="0"/>
          </a:p>
        </p:txBody>
      </p:sp>
      <p:sp>
        <p:nvSpPr>
          <p:cNvPr id="18" name="stat-47"/>
          <p:cNvSpPr txBox="1"/>
          <p:nvPr/>
        </p:nvSpPr>
        <p:spPr>
          <a:xfrm>
            <a:off x="8412480" y="3968496"/>
            <a:ext cx="2910535" cy="100584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34</a:t>
            </a:r>
            <a:endParaRPr lang="en-US" sz="3200" dirty="0"/>
          </a:p>
          <a:p>
            <a:pPr algn="l" indent="0" marL="0">
              <a:buNone/>
            </a:pPr>
            <a:r>
              <a:rPr lang="en-US" sz="1300" dirty="0">
                <a:solidFill>
                  <a:schemeClr val="accent5"/>
                </a:solidFill>
              </a:rPr>
              <a:t>conformance checks gate worker releases</a:t>
            </a:r>
            <a:endParaRPr lang="en-US" sz="3200" dirty="0"/>
          </a:p>
        </p:txBody>
      </p:sp>
      <p:sp>
        <p:nvSpPr>
          <p:cNvPr id="19" name="stat-48"/>
          <p:cNvSpPr txBox="1"/>
          <p:nvPr/>
        </p:nvSpPr>
        <p:spPr>
          <a:xfrm>
            <a:off x="8412480" y="5047488"/>
            <a:ext cx="2910535" cy="100584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62</a:t>
            </a:r>
            <a:endParaRPr lang="en-US" sz="3200" dirty="0"/>
          </a:p>
          <a:p>
            <a:pPr algn="l" indent="0" marL="0">
              <a:buNone/>
            </a:pPr>
            <a:r>
              <a:rPr lang="en-US" sz="1300" dirty="0">
                <a:solidFill>
                  <a:schemeClr val="accent5"/>
                </a:solidFill>
              </a:rPr>
              <a:t>alerts, each with its own runbook</a:t>
            </a:r>
            <a:endParaRPr lang="en-US" sz="3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THE PROBLEM</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At 8 million pages a day, every rare failure happens daily</a:t>
            </a:r>
            <a:endParaRPr lang="en-US" sz="2800" dirty="0"/>
          </a:p>
        </p:txBody>
      </p:sp>
      <p:sp>
        <p:nvSpPr>
          <p:cNvPr id="5" name="card-49"/>
          <p:cNvSpPr/>
          <p:nvPr/>
        </p:nvSpPr>
        <p:spPr>
          <a:xfrm>
            <a:off x="548640" y="1645920"/>
            <a:ext cx="3515258" cy="2103120"/>
          </a:xfrm>
          <a:prstGeom prst="roundRect">
            <a:avLst>
              <a:gd name="adj" fmla="val 3478"/>
            </a:avLst>
          </a:prstGeom>
          <a:solidFill>
            <a:schemeClr val="bg1"/>
          </a:solidFill>
          <a:ln w="9525">
            <a:solidFill>
              <a:schemeClr val="accent6"/>
            </a:solidFill>
            <a:prstDash val="solid"/>
          </a:ln>
        </p:spPr>
      </p:sp>
      <p:sp>
        <p:nvSpPr>
          <p:cNvPr id="6" name="badge-50"/>
          <p:cNvSpPr/>
          <p:nvPr/>
        </p:nvSpPr>
        <p:spPr>
          <a:xfrm>
            <a:off x="749808" y="1847088"/>
            <a:ext cx="475488" cy="475488"/>
          </a:xfrm>
          <a:prstGeom prst="ellipse">
            <a:avLst/>
          </a:prstGeom>
          <a:solidFill>
            <a:schemeClr val="accent3"/>
          </a:solidFill>
          <a:ln/>
        </p:spPr>
      </p:sp>
      <p:pic>
        <p:nvPicPr>
          <p:cNvPr id="7" name="icon-TbCopy-51" descr="Copy">    </p:cNvPr>
          <p:cNvPicPr>
            <a:picLocks noChangeAspect="1"/>
          </p:cNvPicPr>
          <p:nvPr/>
        </p:nvPicPr>
        <p:blipFill>
          <a:blip r:embed="rId1"/>
          <a:stretch>
            <a:fillRect/>
          </a:stretch>
        </p:blipFill>
        <p:spPr>
          <a:xfrm>
            <a:off x="854415" y="1951695"/>
            <a:ext cx="266273" cy="266273"/>
          </a:xfrm>
          <a:prstGeom prst="rect">
            <a:avLst/>
          </a:prstGeom>
        </p:spPr>
      </p:pic>
      <p:sp>
        <p:nvSpPr>
          <p:cNvPr id="8" name="block-52"/>
          <p:cNvSpPr txBox="1"/>
          <p:nvPr/>
        </p:nvSpPr>
        <p:spPr>
          <a:xfrm>
            <a:off x="1389888" y="1828800"/>
            <a:ext cx="2472842" cy="13258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Retries bill twice</a:t>
            </a:r>
            <a:endParaRPr lang="en-US" sz="1600" dirty="0"/>
          </a:p>
          <a:p>
            <a:pPr indent="0" marL="0">
              <a:spcAft>
                <a:spcPts val="200"/>
              </a:spcAft>
              <a:buNone/>
            </a:pPr>
            <a:r>
              <a:rPr lang="en-US" sz="1350" dirty="0">
                <a:solidFill>
                  <a:schemeClr val="tx2"/>
                </a:solidFill>
              </a:rPr>
              <a:t>Each POST mints a new gateway job, so retrying a lost 202 bills the same pages twice.</a:t>
            </a:r>
            <a:endParaRPr lang="en-US" sz="1600" dirty="0"/>
          </a:p>
        </p:txBody>
      </p:sp>
      <p:sp>
        <p:nvSpPr>
          <p:cNvPr id="9" name="link-53"/>
          <p:cNvSpPr/>
          <p:nvPr/>
        </p:nvSpPr>
        <p:spPr>
          <a:xfrm>
            <a:off x="749808" y="3291840"/>
            <a:ext cx="3112922" cy="0"/>
          </a:xfrm>
          <a:prstGeom prst="line">
            <a:avLst/>
          </a:prstGeom>
          <a:noFill/>
          <a:ln w="9525">
            <a:solidFill>
              <a:schemeClr val="accent6"/>
            </a:solidFill>
            <a:prstDash val="solid"/>
          </a:ln>
        </p:spPr>
      </p:sp>
      <p:sp>
        <p:nvSpPr>
          <p:cNvPr id="10" name="text-54"/>
          <p:cNvSpPr txBox="1"/>
          <p:nvPr/>
        </p:nvSpPr>
        <p:spPr>
          <a:xfrm>
            <a:off x="749808" y="3346704"/>
            <a:ext cx="3112922" cy="292608"/>
          </a:xfrm>
          <a:prstGeom prst="rect">
            <a:avLst/>
          </a:prstGeom>
          <a:noFill/>
          <a:ln/>
        </p:spPr>
        <p:txBody>
          <a:bodyPr wrap="square" lIns="0" tIns="0" rIns="0" bIns="0" rtlCol="0" anchor="ctr"/>
          <a:lstStyle/>
          <a:p>
            <a:pPr indent="0" marL="0">
              <a:buNone/>
            </a:pPr>
            <a:r>
              <a:rPr lang="en-US" sz="1250" b="1" dirty="0">
                <a:solidFill>
                  <a:schemeClr val="accent2"/>
                </a:solidFill>
              </a:rPr>
              <a:t>→  Journaled submits, adopted on retry</a:t>
            </a:r>
            <a:endParaRPr lang="en-US" sz="1250" dirty="0"/>
          </a:p>
        </p:txBody>
      </p:sp>
      <p:sp>
        <p:nvSpPr>
          <p:cNvPr id="11" name="card-55"/>
          <p:cNvSpPr/>
          <p:nvPr/>
        </p:nvSpPr>
        <p:spPr>
          <a:xfrm>
            <a:off x="4338218" y="1645920"/>
            <a:ext cx="3515258" cy="2103120"/>
          </a:xfrm>
          <a:prstGeom prst="roundRect">
            <a:avLst>
              <a:gd name="adj" fmla="val 3478"/>
            </a:avLst>
          </a:prstGeom>
          <a:solidFill>
            <a:schemeClr val="bg1"/>
          </a:solidFill>
          <a:ln w="9525">
            <a:solidFill>
              <a:schemeClr val="accent6"/>
            </a:solidFill>
            <a:prstDash val="solid"/>
          </a:ln>
        </p:spPr>
      </p:sp>
      <p:sp>
        <p:nvSpPr>
          <p:cNvPr id="12" name="badge-56"/>
          <p:cNvSpPr/>
          <p:nvPr/>
        </p:nvSpPr>
        <p:spPr>
          <a:xfrm>
            <a:off x="4539386" y="1847088"/>
            <a:ext cx="475488" cy="475488"/>
          </a:xfrm>
          <a:prstGeom prst="ellipse">
            <a:avLst/>
          </a:prstGeom>
          <a:solidFill>
            <a:schemeClr val="accent3"/>
          </a:solidFill>
          <a:ln/>
        </p:spPr>
      </p:sp>
      <p:pic>
        <p:nvPicPr>
          <p:cNvPr id="13" name="icon-TbMailOff-57" descr="MailOff">    </p:cNvPr>
          <p:cNvPicPr>
            <a:picLocks noChangeAspect="1"/>
          </p:cNvPicPr>
          <p:nvPr/>
        </p:nvPicPr>
        <p:blipFill>
          <a:blip r:embed="rId2"/>
          <a:stretch>
            <a:fillRect/>
          </a:stretch>
        </p:blipFill>
        <p:spPr>
          <a:xfrm>
            <a:off x="4643994" y="1951695"/>
            <a:ext cx="266273" cy="266273"/>
          </a:xfrm>
          <a:prstGeom prst="rect">
            <a:avLst/>
          </a:prstGeom>
        </p:spPr>
      </p:pic>
      <p:sp>
        <p:nvSpPr>
          <p:cNvPr id="14" name="block-58"/>
          <p:cNvSpPr txBox="1"/>
          <p:nvPr/>
        </p:nvSpPr>
        <p:spPr>
          <a:xfrm>
            <a:off x="5179466" y="1828800"/>
            <a:ext cx="2472842" cy="13258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Messages vanish silently</a:t>
            </a:r>
            <a:endParaRPr lang="en-US" sz="1600" dirty="0"/>
          </a:p>
          <a:p>
            <a:pPr indent="0" marL="0">
              <a:spcAft>
                <a:spcPts val="200"/>
              </a:spcAft>
              <a:buNone/>
            </a:pPr>
            <a:r>
              <a:rPr lang="en-US" sz="1350" dirty="0">
                <a:solidFill>
                  <a:schemeClr val="tx2"/>
                </a:solidFill>
              </a:rPr>
              <a:t>A lost message leaves no trace; a plain queue never notices a document stopped moving.</a:t>
            </a:r>
            <a:endParaRPr lang="en-US" sz="1600" dirty="0"/>
          </a:p>
        </p:txBody>
      </p:sp>
      <p:sp>
        <p:nvSpPr>
          <p:cNvPr id="15" name="link-59"/>
          <p:cNvSpPr/>
          <p:nvPr/>
        </p:nvSpPr>
        <p:spPr>
          <a:xfrm>
            <a:off x="4539386" y="3291840"/>
            <a:ext cx="3112922" cy="0"/>
          </a:xfrm>
          <a:prstGeom prst="line">
            <a:avLst/>
          </a:prstGeom>
          <a:noFill/>
          <a:ln w="9525">
            <a:solidFill>
              <a:schemeClr val="accent6"/>
            </a:solidFill>
            <a:prstDash val="solid"/>
          </a:ln>
        </p:spPr>
      </p:sp>
      <p:sp>
        <p:nvSpPr>
          <p:cNvPr id="16" name="text-60"/>
          <p:cNvSpPr txBox="1"/>
          <p:nvPr/>
        </p:nvSpPr>
        <p:spPr>
          <a:xfrm>
            <a:off x="4539386" y="3346704"/>
            <a:ext cx="3112922" cy="292608"/>
          </a:xfrm>
          <a:prstGeom prst="rect">
            <a:avLst/>
          </a:prstGeom>
          <a:noFill/>
          <a:ln/>
        </p:spPr>
        <p:txBody>
          <a:bodyPr wrap="square" lIns="0" tIns="0" rIns="0" bIns="0" rtlCol="0" anchor="ctr"/>
          <a:lstStyle/>
          <a:p>
            <a:pPr indent="0" marL="0">
              <a:buNone/>
            </a:pPr>
            <a:r>
              <a:rPr lang="en-US" sz="1250" b="1" dirty="0">
                <a:solidFill>
                  <a:schemeClr val="accent2"/>
                </a:solidFill>
              </a:rPr>
              <a:t>→  Census finds and redispatches</a:t>
            </a:r>
            <a:endParaRPr lang="en-US" sz="1250" dirty="0"/>
          </a:p>
        </p:txBody>
      </p:sp>
      <p:sp>
        <p:nvSpPr>
          <p:cNvPr id="17" name="card-61"/>
          <p:cNvSpPr/>
          <p:nvPr/>
        </p:nvSpPr>
        <p:spPr>
          <a:xfrm>
            <a:off x="8127797" y="1645920"/>
            <a:ext cx="3515258" cy="2103120"/>
          </a:xfrm>
          <a:prstGeom prst="roundRect">
            <a:avLst>
              <a:gd name="adj" fmla="val 3478"/>
            </a:avLst>
          </a:prstGeom>
          <a:solidFill>
            <a:schemeClr val="bg1"/>
          </a:solidFill>
          <a:ln w="9525">
            <a:solidFill>
              <a:schemeClr val="accent6"/>
            </a:solidFill>
            <a:prstDash val="solid"/>
          </a:ln>
        </p:spPr>
      </p:sp>
      <p:sp>
        <p:nvSpPr>
          <p:cNvPr id="18" name="badge-62"/>
          <p:cNvSpPr/>
          <p:nvPr/>
        </p:nvSpPr>
        <p:spPr>
          <a:xfrm>
            <a:off x="8328965" y="1847088"/>
            <a:ext cx="475488" cy="475488"/>
          </a:xfrm>
          <a:prstGeom prst="ellipse">
            <a:avLst/>
          </a:prstGeom>
          <a:solidFill>
            <a:schemeClr val="accent3"/>
          </a:solidFill>
          <a:ln/>
        </p:spPr>
      </p:sp>
      <p:pic>
        <p:nvPicPr>
          <p:cNvPr id="19" name="icon-TbSkull-63" descr="Skull">    </p:cNvPr>
          <p:cNvPicPr>
            <a:picLocks noChangeAspect="1"/>
          </p:cNvPicPr>
          <p:nvPr/>
        </p:nvPicPr>
        <p:blipFill>
          <a:blip r:embed="rId3"/>
          <a:stretch>
            <a:fillRect/>
          </a:stretch>
        </p:blipFill>
        <p:spPr>
          <a:xfrm>
            <a:off x="8433572" y="1951695"/>
            <a:ext cx="266273" cy="266273"/>
          </a:xfrm>
          <a:prstGeom prst="rect">
            <a:avLst/>
          </a:prstGeom>
        </p:spPr>
      </p:pic>
      <p:sp>
        <p:nvSpPr>
          <p:cNvPr id="20" name="block-64"/>
          <p:cNvSpPr txBox="1"/>
          <p:nvPr/>
        </p:nvSpPr>
        <p:spPr>
          <a:xfrm>
            <a:off x="8969045" y="1828800"/>
            <a:ext cx="2472842" cy="13258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One PDF can sink a pod</a:t>
            </a:r>
            <a:endParaRPr lang="en-US" sz="1600" dirty="0"/>
          </a:p>
          <a:p>
            <a:pPr indent="0" marL="0">
              <a:spcAft>
                <a:spcPts val="200"/>
              </a:spcAft>
              <a:buNone/>
            </a:pPr>
            <a:r>
              <a:rPr lang="en-US" sz="1350" dirty="0">
                <a:solidFill>
                  <a:schemeClr val="tx2"/>
                </a:solidFill>
              </a:rPr>
              <a:t>A PDF that exhausts memory or crashes the parser restarts the pod and every job on it.</a:t>
            </a:r>
            <a:endParaRPr lang="en-US" sz="1600" dirty="0"/>
          </a:p>
        </p:txBody>
      </p:sp>
      <p:sp>
        <p:nvSpPr>
          <p:cNvPr id="21" name="link-65"/>
          <p:cNvSpPr/>
          <p:nvPr/>
        </p:nvSpPr>
        <p:spPr>
          <a:xfrm>
            <a:off x="8328965" y="3291840"/>
            <a:ext cx="3112922" cy="0"/>
          </a:xfrm>
          <a:prstGeom prst="line">
            <a:avLst/>
          </a:prstGeom>
          <a:noFill/>
          <a:ln w="9525">
            <a:solidFill>
              <a:schemeClr val="accent6"/>
            </a:solidFill>
            <a:prstDash val="solid"/>
          </a:ln>
        </p:spPr>
      </p:sp>
      <p:sp>
        <p:nvSpPr>
          <p:cNvPr id="22" name="text-66"/>
          <p:cNvSpPr txBox="1"/>
          <p:nvPr/>
        </p:nvSpPr>
        <p:spPr>
          <a:xfrm>
            <a:off x="8328965" y="3346704"/>
            <a:ext cx="3112922" cy="292608"/>
          </a:xfrm>
          <a:prstGeom prst="rect">
            <a:avLst/>
          </a:prstGeom>
          <a:noFill/>
          <a:ln/>
        </p:spPr>
        <p:txBody>
          <a:bodyPr wrap="square" lIns="0" tIns="0" rIns="0" bIns="0" rtlCol="0" anchor="ctr"/>
          <a:lstStyle/>
          <a:p>
            <a:pPr indent="0" marL="0">
              <a:buNone/>
            </a:pPr>
            <a:r>
              <a:rPr lang="en-US" sz="1250" b="1" dirty="0">
                <a:solidFill>
                  <a:schemeClr val="accent2"/>
                </a:solidFill>
              </a:rPr>
              <a:t>→  Parsing isolated in child processes</a:t>
            </a:r>
            <a:endParaRPr lang="en-US" sz="1250" dirty="0"/>
          </a:p>
        </p:txBody>
      </p:sp>
      <p:sp>
        <p:nvSpPr>
          <p:cNvPr id="23" name="card-67"/>
          <p:cNvSpPr/>
          <p:nvPr/>
        </p:nvSpPr>
        <p:spPr>
          <a:xfrm>
            <a:off x="548640" y="4005072"/>
            <a:ext cx="3515258" cy="2103120"/>
          </a:xfrm>
          <a:prstGeom prst="roundRect">
            <a:avLst>
              <a:gd name="adj" fmla="val 3478"/>
            </a:avLst>
          </a:prstGeom>
          <a:solidFill>
            <a:schemeClr val="bg1"/>
          </a:solidFill>
          <a:ln w="9525">
            <a:solidFill>
              <a:schemeClr val="accent6"/>
            </a:solidFill>
            <a:prstDash val="solid"/>
          </a:ln>
        </p:spPr>
      </p:sp>
      <p:sp>
        <p:nvSpPr>
          <p:cNvPr id="24" name="badge-68"/>
          <p:cNvSpPr/>
          <p:nvPr/>
        </p:nvSpPr>
        <p:spPr>
          <a:xfrm>
            <a:off x="749808" y="4206240"/>
            <a:ext cx="475488" cy="475488"/>
          </a:xfrm>
          <a:prstGeom prst="ellipse">
            <a:avLst/>
          </a:prstGeom>
          <a:solidFill>
            <a:schemeClr val="accent3"/>
          </a:solidFill>
          <a:ln/>
        </p:spPr>
      </p:sp>
      <p:pic>
        <p:nvPicPr>
          <p:cNvPr id="25" name="icon-TbHourglassHigh-69" descr="HourglassHigh">    </p:cNvPr>
          <p:cNvPicPr>
            <a:picLocks noChangeAspect="1"/>
          </p:cNvPicPr>
          <p:nvPr/>
        </p:nvPicPr>
        <p:blipFill>
          <a:blip r:embed="rId4"/>
          <a:stretch>
            <a:fillRect/>
          </a:stretch>
        </p:blipFill>
        <p:spPr>
          <a:xfrm>
            <a:off x="854415" y="4310847"/>
            <a:ext cx="266273" cy="266273"/>
          </a:xfrm>
          <a:prstGeom prst="rect">
            <a:avLst/>
          </a:prstGeom>
        </p:spPr>
      </p:pic>
      <p:sp>
        <p:nvSpPr>
          <p:cNvPr id="26" name="block-70"/>
          <p:cNvSpPr txBox="1"/>
          <p:nvPr/>
        </p:nvSpPr>
        <p:spPr>
          <a:xfrm>
            <a:off x="1389888" y="4187952"/>
            <a:ext cx="2472842" cy="13258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Long PDFs outlive timeouts</a:t>
            </a:r>
            <a:endParaRPr lang="en-US" sz="1600" dirty="0"/>
          </a:p>
          <a:p>
            <a:pPr indent="0" marL="0">
              <a:spcAft>
                <a:spcPts val="200"/>
              </a:spcAft>
              <a:buNone/>
            </a:pPr>
            <a:r>
              <a:rPr lang="en-US" sz="1350" dirty="0">
                <a:solidFill>
                  <a:schemeClr val="tx2"/>
                </a:solidFill>
              </a:rPr>
              <a:t>A 562-page PDF needs roughly half an hour to an hour as one Layout call, past the 15-minute upstream limit.</a:t>
            </a:r>
            <a:endParaRPr lang="en-US" sz="1600" dirty="0"/>
          </a:p>
        </p:txBody>
      </p:sp>
      <p:sp>
        <p:nvSpPr>
          <p:cNvPr id="27" name="link-71"/>
          <p:cNvSpPr/>
          <p:nvPr/>
        </p:nvSpPr>
        <p:spPr>
          <a:xfrm>
            <a:off x="749808" y="5650992"/>
            <a:ext cx="3112922" cy="0"/>
          </a:xfrm>
          <a:prstGeom prst="line">
            <a:avLst/>
          </a:prstGeom>
          <a:noFill/>
          <a:ln w="9525">
            <a:solidFill>
              <a:schemeClr val="accent6"/>
            </a:solidFill>
            <a:prstDash val="solid"/>
          </a:ln>
        </p:spPr>
      </p:sp>
      <p:sp>
        <p:nvSpPr>
          <p:cNvPr id="28" name="text-72"/>
          <p:cNvSpPr txBox="1"/>
          <p:nvPr/>
        </p:nvSpPr>
        <p:spPr>
          <a:xfrm>
            <a:off x="749808" y="5705856"/>
            <a:ext cx="3112922" cy="292608"/>
          </a:xfrm>
          <a:prstGeom prst="rect">
            <a:avLst/>
          </a:prstGeom>
          <a:noFill/>
          <a:ln/>
        </p:spPr>
        <p:txBody>
          <a:bodyPr wrap="square" lIns="0" tIns="0" rIns="0" bIns="0" rtlCol="0" anchor="ctr"/>
          <a:lstStyle/>
          <a:p>
            <a:pPr indent="0" marL="0">
              <a:buNone/>
            </a:pPr>
            <a:r>
              <a:rPr lang="en-US" sz="1250" b="1" dirty="0">
                <a:solidFill>
                  <a:schemeClr val="accent2"/>
                </a:solidFill>
              </a:rPr>
              <a:t>→  Slicing and handoffs, not timeouts</a:t>
            </a:r>
            <a:endParaRPr lang="en-US" sz="1250" dirty="0"/>
          </a:p>
        </p:txBody>
      </p:sp>
      <p:sp>
        <p:nvSpPr>
          <p:cNvPr id="29" name="card-73"/>
          <p:cNvSpPr/>
          <p:nvPr/>
        </p:nvSpPr>
        <p:spPr>
          <a:xfrm>
            <a:off x="4338218" y="4005072"/>
            <a:ext cx="3515258" cy="2103120"/>
          </a:xfrm>
          <a:prstGeom prst="roundRect">
            <a:avLst>
              <a:gd name="adj" fmla="val 3478"/>
            </a:avLst>
          </a:prstGeom>
          <a:solidFill>
            <a:schemeClr val="bg1"/>
          </a:solidFill>
          <a:ln w="9525">
            <a:solidFill>
              <a:schemeClr val="accent6"/>
            </a:solidFill>
            <a:prstDash val="solid"/>
          </a:ln>
        </p:spPr>
      </p:sp>
      <p:sp>
        <p:nvSpPr>
          <p:cNvPr id="30" name="badge-74"/>
          <p:cNvSpPr/>
          <p:nvPr/>
        </p:nvSpPr>
        <p:spPr>
          <a:xfrm>
            <a:off x="4539386" y="4206240"/>
            <a:ext cx="475488" cy="475488"/>
          </a:xfrm>
          <a:prstGeom prst="ellipse">
            <a:avLst/>
          </a:prstGeom>
          <a:solidFill>
            <a:schemeClr val="accent3"/>
          </a:solidFill>
          <a:ln/>
        </p:spPr>
      </p:sp>
      <p:pic>
        <p:nvPicPr>
          <p:cNvPr id="31" name="icon-TbArrowsExchange-75" descr="ArrowsExchange">    </p:cNvPr>
          <p:cNvPicPr>
            <a:picLocks noChangeAspect="1"/>
          </p:cNvPicPr>
          <p:nvPr/>
        </p:nvPicPr>
        <p:blipFill>
          <a:blip r:embed="rId5"/>
          <a:stretch>
            <a:fillRect/>
          </a:stretch>
        </p:blipFill>
        <p:spPr>
          <a:xfrm>
            <a:off x="4643994" y="4310847"/>
            <a:ext cx="266273" cy="266273"/>
          </a:xfrm>
          <a:prstGeom prst="rect">
            <a:avLst/>
          </a:prstGeom>
        </p:spPr>
      </p:pic>
      <p:sp>
        <p:nvSpPr>
          <p:cNvPr id="32" name="block-76"/>
          <p:cNvSpPr txBox="1"/>
          <p:nvPr/>
        </p:nvSpPr>
        <p:spPr>
          <a:xfrm>
            <a:off x="5179466" y="4187952"/>
            <a:ext cx="2472842" cy="13258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Status drifts from the record</a:t>
            </a:r>
            <a:endParaRPr lang="en-US" sz="1600" dirty="0"/>
          </a:p>
          <a:p>
            <a:pPr indent="0" marL="0">
              <a:spcAft>
                <a:spcPts val="200"/>
              </a:spcAft>
              <a:buNone/>
            </a:pPr>
            <a:r>
              <a:rPr lang="en-US" sz="1350" dirty="0">
                <a:solidFill>
                  <a:schemeClr val="tx2"/>
                </a:solidFill>
              </a:rPr>
              <a:t>Oracle must see every status, READY to EMBEDDING_DONE, exactly once and in order.</a:t>
            </a:r>
            <a:endParaRPr lang="en-US" sz="1600" dirty="0"/>
          </a:p>
        </p:txBody>
      </p:sp>
      <p:sp>
        <p:nvSpPr>
          <p:cNvPr id="33" name="link-77"/>
          <p:cNvSpPr/>
          <p:nvPr/>
        </p:nvSpPr>
        <p:spPr>
          <a:xfrm>
            <a:off x="4539386" y="5650992"/>
            <a:ext cx="3112922" cy="0"/>
          </a:xfrm>
          <a:prstGeom prst="line">
            <a:avLst/>
          </a:prstGeom>
          <a:noFill/>
          <a:ln w="9525">
            <a:solidFill>
              <a:schemeClr val="accent6"/>
            </a:solidFill>
            <a:prstDash val="solid"/>
          </a:ln>
        </p:spPr>
      </p:sp>
      <p:sp>
        <p:nvSpPr>
          <p:cNvPr id="34" name="text-78"/>
          <p:cNvSpPr txBox="1"/>
          <p:nvPr/>
        </p:nvSpPr>
        <p:spPr>
          <a:xfrm>
            <a:off x="4539386" y="5705856"/>
            <a:ext cx="3112922" cy="292608"/>
          </a:xfrm>
          <a:prstGeom prst="rect">
            <a:avLst/>
          </a:prstGeom>
          <a:noFill/>
          <a:ln/>
        </p:spPr>
        <p:txBody>
          <a:bodyPr wrap="square" lIns="0" tIns="0" rIns="0" bIns="0" rtlCol="0" anchor="ctr"/>
          <a:lstStyle/>
          <a:p>
            <a:pPr indent="0" marL="0">
              <a:buNone/>
            </a:pPr>
            <a:r>
              <a:rPr lang="en-US" sz="1250" b="1" dirty="0">
                <a:solidFill>
                  <a:schemeClr val="accent2"/>
                </a:solidFill>
              </a:rPr>
              <a:t>→  Guarded, once-only status writes</a:t>
            </a:r>
            <a:endParaRPr lang="en-US" sz="1250" dirty="0"/>
          </a:p>
        </p:txBody>
      </p:sp>
      <p:sp>
        <p:nvSpPr>
          <p:cNvPr id="35" name="card-79"/>
          <p:cNvSpPr/>
          <p:nvPr/>
        </p:nvSpPr>
        <p:spPr>
          <a:xfrm>
            <a:off x="8127797" y="4005072"/>
            <a:ext cx="3515258" cy="2103120"/>
          </a:xfrm>
          <a:prstGeom prst="roundRect">
            <a:avLst>
              <a:gd name="adj" fmla="val 3478"/>
            </a:avLst>
          </a:prstGeom>
          <a:solidFill>
            <a:schemeClr val="bg1"/>
          </a:solidFill>
          <a:ln w="9525">
            <a:solidFill>
              <a:schemeClr val="accent6"/>
            </a:solidFill>
            <a:prstDash val="solid"/>
          </a:ln>
        </p:spPr>
      </p:sp>
      <p:sp>
        <p:nvSpPr>
          <p:cNvPr id="36" name="badge-80"/>
          <p:cNvSpPr/>
          <p:nvPr/>
        </p:nvSpPr>
        <p:spPr>
          <a:xfrm>
            <a:off x="8328965" y="4206240"/>
            <a:ext cx="475488" cy="475488"/>
          </a:xfrm>
          <a:prstGeom prst="ellipse">
            <a:avLst/>
          </a:prstGeom>
          <a:solidFill>
            <a:schemeClr val="accent3"/>
          </a:solidFill>
          <a:ln/>
        </p:spPr>
      </p:sp>
      <p:pic>
        <p:nvPicPr>
          <p:cNvPr id="37" name="icon-TbAlertOctagon-81" descr="AlertOctagon">    </p:cNvPr>
          <p:cNvPicPr>
            <a:picLocks noChangeAspect="1"/>
          </p:cNvPicPr>
          <p:nvPr/>
        </p:nvPicPr>
        <p:blipFill>
          <a:blip r:embed="rId6"/>
          <a:stretch>
            <a:fillRect/>
          </a:stretch>
        </p:blipFill>
        <p:spPr>
          <a:xfrm>
            <a:off x="8433572" y="4310847"/>
            <a:ext cx="266273" cy="266273"/>
          </a:xfrm>
          <a:prstGeom prst="rect">
            <a:avLst/>
          </a:prstGeom>
        </p:spPr>
      </p:pic>
      <p:sp>
        <p:nvSpPr>
          <p:cNvPr id="38" name="block-82"/>
          <p:cNvSpPr txBox="1"/>
          <p:nvPr/>
        </p:nvSpPr>
        <p:spPr>
          <a:xfrm>
            <a:off x="8969045" y="4187952"/>
            <a:ext cx="2472842" cy="13258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Default idioms lose work</a:t>
            </a:r>
            <a:endParaRPr lang="en-US" sz="1600" dirty="0"/>
          </a:p>
          <a:p>
            <a:pPr indent="0" marL="0">
              <a:spcAft>
                <a:spcPts val="200"/>
              </a:spcAft>
              <a:buNone/>
            </a:pPr>
            <a:r>
              <a:rPr lang="en-US" sz="1350" dirty="0">
                <a:solidFill>
                  <a:schemeClr val="tx2"/>
                </a:solidFill>
              </a:rPr>
              <a:t>Probes showed ROWNUM-limited SKIP LOCKED claims starve replicas; FETCH FIRST with FOR UPDATE fails.</a:t>
            </a:r>
            <a:endParaRPr lang="en-US" sz="1600" dirty="0"/>
          </a:p>
        </p:txBody>
      </p:sp>
      <p:sp>
        <p:nvSpPr>
          <p:cNvPr id="39" name="link-83"/>
          <p:cNvSpPr/>
          <p:nvPr/>
        </p:nvSpPr>
        <p:spPr>
          <a:xfrm>
            <a:off x="8328965" y="5650992"/>
            <a:ext cx="3112922" cy="0"/>
          </a:xfrm>
          <a:prstGeom prst="line">
            <a:avLst/>
          </a:prstGeom>
          <a:noFill/>
          <a:ln w="9525">
            <a:solidFill>
              <a:schemeClr val="accent6"/>
            </a:solidFill>
            <a:prstDash val="solid"/>
          </a:ln>
        </p:spPr>
      </p:sp>
      <p:sp>
        <p:nvSpPr>
          <p:cNvPr id="40" name="text-84"/>
          <p:cNvSpPr txBox="1"/>
          <p:nvPr/>
        </p:nvSpPr>
        <p:spPr>
          <a:xfrm>
            <a:off x="8328965" y="5705856"/>
            <a:ext cx="3112922" cy="292608"/>
          </a:xfrm>
          <a:prstGeom prst="rect">
            <a:avLst/>
          </a:prstGeom>
          <a:noFill/>
          <a:ln/>
        </p:spPr>
        <p:txBody>
          <a:bodyPr wrap="square" lIns="0" tIns="0" rIns="0" bIns="0" rtlCol="0" anchor="ctr"/>
          <a:lstStyle/>
          <a:p>
            <a:pPr indent="0" marL="0">
              <a:buNone/>
            </a:pPr>
            <a:r>
              <a:rPr lang="en-US" sz="1250" b="1" dirty="0">
                <a:solidFill>
                  <a:schemeClr val="accent2"/>
                </a:solidFill>
              </a:rPr>
              <a:t>→  Probed idioms, safe claim queries</a:t>
            </a:r>
            <a:endParaRPr lang="en-US" sz="12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END TO END</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A document’s journey from Oracle row to vectors</a:t>
            </a:r>
            <a:endParaRPr lang="en-US" sz="2800" dirty="0"/>
          </a:p>
        </p:txBody>
      </p:sp>
      <p:sp>
        <p:nvSpPr>
          <p:cNvPr id="5" name="card-85"/>
          <p:cNvSpPr/>
          <p:nvPr/>
        </p:nvSpPr>
        <p:spPr>
          <a:xfrm>
            <a:off x="548640" y="1645920"/>
            <a:ext cx="2485568" cy="1261872"/>
          </a:xfrm>
          <a:prstGeom prst="roundRect">
            <a:avLst>
              <a:gd name="adj" fmla="val 5797"/>
            </a:avLst>
          </a:prstGeom>
          <a:solidFill>
            <a:schemeClr val="bg1"/>
          </a:solidFill>
          <a:ln w="9525">
            <a:solidFill>
              <a:schemeClr val="accent6"/>
            </a:solidFill>
            <a:prstDash val="solid"/>
          </a:ln>
        </p:spPr>
      </p:sp>
      <p:sp>
        <p:nvSpPr>
          <p:cNvPr id="6" name="chip-86"/>
          <p:cNvSpPr/>
          <p:nvPr/>
        </p:nvSpPr>
        <p:spPr>
          <a:xfrm>
            <a:off x="713232" y="1810512"/>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block-87"/>
          <p:cNvSpPr txBox="1"/>
          <p:nvPr/>
        </p:nvSpPr>
        <p:spPr>
          <a:xfrm>
            <a:off x="1188720" y="1792224"/>
            <a:ext cx="1708328" cy="98755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Entry point</a:t>
            </a:r>
            <a:endParaRPr lang="en-US" sz="1450" dirty="0"/>
          </a:p>
          <a:p>
            <a:pPr indent="0" marL="0">
              <a:spcAft>
                <a:spcPts val="200"/>
              </a:spcAft>
              <a:buNone/>
            </a:pPr>
            <a:r>
              <a:rPr lang="en-US" sz="1250" dirty="0">
                <a:solidFill>
                  <a:schemeClr val="tx2"/>
                </a:solidFill>
              </a:rPr>
              <a:t>Writes the file to S3, then inserts the READY row</a:t>
            </a:r>
            <a:endParaRPr lang="en-US" sz="1450" dirty="0"/>
          </a:p>
        </p:txBody>
      </p:sp>
      <p:sp>
        <p:nvSpPr>
          <p:cNvPr id="8" name="link-88"/>
          <p:cNvSpPr/>
          <p:nvPr/>
        </p:nvSpPr>
        <p:spPr>
          <a:xfrm>
            <a:off x="3070784" y="2276856"/>
            <a:ext cx="310896" cy="0"/>
          </a:xfrm>
          <a:prstGeom prst="line">
            <a:avLst/>
          </a:prstGeom>
          <a:noFill/>
          <a:ln w="19050">
            <a:solidFill>
              <a:schemeClr val="accent1"/>
            </a:solidFill>
            <a:prstDash val="solid"/>
            <a:tailEnd type="triangle"/>
          </a:ln>
        </p:spPr>
      </p:sp>
      <p:sp>
        <p:nvSpPr>
          <p:cNvPr id="9" name="particle-89"/>
          <p:cNvSpPr/>
          <p:nvPr/>
        </p:nvSpPr>
        <p:spPr>
          <a:xfrm>
            <a:off x="3194228" y="2244852"/>
            <a:ext cx="64008" cy="64008"/>
          </a:xfrm>
          <a:prstGeom prst="ellipse">
            <a:avLst/>
          </a:prstGeom>
          <a:solidFill>
            <a:schemeClr val="accent1"/>
          </a:solidFill>
          <a:ln/>
        </p:spPr>
      </p:sp>
      <p:sp>
        <p:nvSpPr>
          <p:cNvPr id="10" name="card-90"/>
          <p:cNvSpPr/>
          <p:nvPr/>
        </p:nvSpPr>
        <p:spPr>
          <a:xfrm>
            <a:off x="3418256" y="1645920"/>
            <a:ext cx="2485568" cy="1261872"/>
          </a:xfrm>
          <a:prstGeom prst="roundRect">
            <a:avLst>
              <a:gd name="adj" fmla="val 5797"/>
            </a:avLst>
          </a:prstGeom>
          <a:solidFill>
            <a:schemeClr val="bg1"/>
          </a:solidFill>
          <a:ln w="9525">
            <a:solidFill>
              <a:schemeClr val="accent6"/>
            </a:solidFill>
            <a:prstDash val="solid"/>
          </a:ln>
        </p:spPr>
      </p:sp>
      <p:sp>
        <p:nvSpPr>
          <p:cNvPr id="11" name="chip-91"/>
          <p:cNvSpPr/>
          <p:nvPr/>
        </p:nvSpPr>
        <p:spPr>
          <a:xfrm>
            <a:off x="3582848" y="1810512"/>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block-92"/>
          <p:cNvSpPr txBox="1"/>
          <p:nvPr/>
        </p:nvSpPr>
        <p:spPr>
          <a:xfrm>
            <a:off x="4058336" y="1792224"/>
            <a:ext cx="1708328" cy="98755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intake</a:t>
            </a:r>
            <a:endParaRPr lang="en-US" sz="1450" dirty="0"/>
          </a:p>
          <a:p>
            <a:pPr indent="0" marL="0">
              <a:spcAft>
                <a:spcPts val="200"/>
              </a:spcAft>
              <a:buNone/>
            </a:pPr>
            <a:r>
              <a:rPr lang="en-US" sz="1250" dirty="0">
                <a:solidFill>
                  <a:schemeClr val="tx2"/>
                </a:solidFill>
              </a:rPr>
              <a:t>Claims READY rows with SKIP LOCKED; T01 in Postgres</a:t>
            </a:r>
            <a:endParaRPr lang="en-US" sz="1450" dirty="0"/>
          </a:p>
        </p:txBody>
      </p:sp>
      <p:sp>
        <p:nvSpPr>
          <p:cNvPr id="13" name="link-93"/>
          <p:cNvSpPr/>
          <p:nvPr/>
        </p:nvSpPr>
        <p:spPr>
          <a:xfrm>
            <a:off x="5940400" y="2276856"/>
            <a:ext cx="310896" cy="0"/>
          </a:xfrm>
          <a:prstGeom prst="line">
            <a:avLst/>
          </a:prstGeom>
          <a:noFill/>
          <a:ln w="19050">
            <a:solidFill>
              <a:schemeClr val="accent1"/>
            </a:solidFill>
            <a:prstDash val="solid"/>
            <a:tailEnd type="triangle"/>
          </a:ln>
        </p:spPr>
      </p:sp>
      <p:sp>
        <p:nvSpPr>
          <p:cNvPr id="14" name="particle-94"/>
          <p:cNvSpPr/>
          <p:nvPr/>
        </p:nvSpPr>
        <p:spPr>
          <a:xfrm>
            <a:off x="6063844" y="2244852"/>
            <a:ext cx="64008" cy="64008"/>
          </a:xfrm>
          <a:prstGeom prst="ellipse">
            <a:avLst/>
          </a:prstGeom>
          <a:solidFill>
            <a:schemeClr val="accent1"/>
          </a:solidFill>
          <a:ln/>
        </p:spPr>
      </p:sp>
      <p:sp>
        <p:nvSpPr>
          <p:cNvPr id="15" name="card-95"/>
          <p:cNvSpPr/>
          <p:nvPr/>
        </p:nvSpPr>
        <p:spPr>
          <a:xfrm>
            <a:off x="6287872" y="1645920"/>
            <a:ext cx="2485568" cy="1261872"/>
          </a:xfrm>
          <a:prstGeom prst="roundRect">
            <a:avLst>
              <a:gd name="adj" fmla="val 5797"/>
            </a:avLst>
          </a:prstGeom>
          <a:solidFill>
            <a:schemeClr val="bg1"/>
          </a:solidFill>
          <a:ln w="9525">
            <a:solidFill>
              <a:schemeClr val="accent6"/>
            </a:solidFill>
            <a:prstDash val="solid"/>
          </a:ln>
        </p:spPr>
      </p:sp>
      <p:sp>
        <p:nvSpPr>
          <p:cNvPr id="16" name="chip-96"/>
          <p:cNvSpPr/>
          <p:nvPr/>
        </p:nvSpPr>
        <p:spPr>
          <a:xfrm>
            <a:off x="6452464" y="1810512"/>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7" name="block-97"/>
          <p:cNvSpPr txBox="1"/>
          <p:nvPr/>
        </p:nvSpPr>
        <p:spPr>
          <a:xfrm>
            <a:off x="6927952" y="1792224"/>
            <a:ext cx="1708328" cy="98755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stager</a:t>
            </a:r>
            <a:endParaRPr lang="en-US" sz="1450" dirty="0"/>
          </a:p>
          <a:p>
            <a:pPr indent="0" marL="0">
              <a:spcAft>
                <a:spcPts val="200"/>
              </a:spcAft>
              <a:buNone/>
            </a:pPr>
            <a:r>
              <a:rPr lang="en-US" sz="1250" dirty="0">
                <a:solidFill>
                  <a:schemeClr val="tx2"/>
                </a:solidFill>
              </a:rPr>
              <a:t>S3 → shared volume: temp, fsync, link, dir fsync</a:t>
            </a:r>
            <a:endParaRPr lang="en-US" sz="1450" dirty="0"/>
          </a:p>
        </p:txBody>
      </p:sp>
      <p:sp>
        <p:nvSpPr>
          <p:cNvPr id="18" name="link-98"/>
          <p:cNvSpPr/>
          <p:nvPr/>
        </p:nvSpPr>
        <p:spPr>
          <a:xfrm>
            <a:off x="8810015" y="2276856"/>
            <a:ext cx="310896" cy="0"/>
          </a:xfrm>
          <a:prstGeom prst="line">
            <a:avLst/>
          </a:prstGeom>
          <a:noFill/>
          <a:ln w="19050">
            <a:solidFill>
              <a:schemeClr val="accent1"/>
            </a:solidFill>
            <a:prstDash val="solid"/>
            <a:tailEnd type="triangle"/>
          </a:ln>
        </p:spPr>
      </p:sp>
      <p:sp>
        <p:nvSpPr>
          <p:cNvPr id="19" name="particle-99"/>
          <p:cNvSpPr/>
          <p:nvPr/>
        </p:nvSpPr>
        <p:spPr>
          <a:xfrm>
            <a:off x="8933459" y="2244852"/>
            <a:ext cx="64008" cy="64008"/>
          </a:xfrm>
          <a:prstGeom prst="ellipse">
            <a:avLst/>
          </a:prstGeom>
          <a:solidFill>
            <a:schemeClr val="accent1"/>
          </a:solidFill>
          <a:ln/>
        </p:spPr>
      </p:sp>
      <p:sp>
        <p:nvSpPr>
          <p:cNvPr id="20" name="card-100"/>
          <p:cNvSpPr/>
          <p:nvPr/>
        </p:nvSpPr>
        <p:spPr>
          <a:xfrm>
            <a:off x="9157487" y="1645920"/>
            <a:ext cx="2485568" cy="1261872"/>
          </a:xfrm>
          <a:prstGeom prst="roundRect">
            <a:avLst>
              <a:gd name="adj" fmla="val 5797"/>
            </a:avLst>
          </a:prstGeom>
          <a:solidFill>
            <a:schemeClr val="bg1"/>
          </a:solidFill>
          <a:ln w="9525">
            <a:solidFill>
              <a:schemeClr val="accent6"/>
            </a:solidFill>
            <a:prstDash val="solid"/>
          </a:ln>
        </p:spPr>
      </p:sp>
      <p:sp>
        <p:nvSpPr>
          <p:cNvPr id="21" name="chip-101"/>
          <p:cNvSpPr/>
          <p:nvPr/>
        </p:nvSpPr>
        <p:spPr>
          <a:xfrm>
            <a:off x="9322079" y="1810512"/>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2" name="block-102"/>
          <p:cNvSpPr txBox="1"/>
          <p:nvPr/>
        </p:nvSpPr>
        <p:spPr>
          <a:xfrm>
            <a:off x="9797567" y="1792224"/>
            <a:ext cx="1708328" cy="98755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relay</a:t>
            </a:r>
            <a:endParaRPr lang="en-US" sz="1450" dirty="0"/>
          </a:p>
          <a:p>
            <a:pPr indent="0" marL="0">
              <a:spcAft>
                <a:spcPts val="200"/>
              </a:spcAft>
              <a:buNone/>
            </a:pPr>
            <a:r>
              <a:rPr lang="en-US" sz="1250" dirty="0">
                <a:solidFill>
                  <a:schemeClr val="tx2"/>
                </a:solidFill>
              </a:rPr>
              <a:t>Outbox → wega.ocr.ingest with publisher confirms</a:t>
            </a:r>
            <a:endParaRPr lang="en-US" sz="1450" dirty="0"/>
          </a:p>
        </p:txBody>
      </p:sp>
      <p:sp>
        <p:nvSpPr>
          <p:cNvPr id="23" name="card-103"/>
          <p:cNvSpPr/>
          <p:nvPr/>
        </p:nvSpPr>
        <p:spPr>
          <a:xfrm>
            <a:off x="548640" y="3401568"/>
            <a:ext cx="2485568" cy="1261872"/>
          </a:xfrm>
          <a:prstGeom prst="roundRect">
            <a:avLst>
              <a:gd name="adj" fmla="val 5797"/>
            </a:avLst>
          </a:prstGeom>
          <a:solidFill>
            <a:schemeClr val="bg1"/>
          </a:solidFill>
          <a:ln w="9525">
            <a:solidFill>
              <a:schemeClr val="accent6"/>
            </a:solidFill>
            <a:prstDash val="solid"/>
          </a:ln>
        </p:spPr>
      </p:sp>
      <p:sp>
        <p:nvSpPr>
          <p:cNvPr id="24" name="chip-104"/>
          <p:cNvSpPr/>
          <p:nvPr/>
        </p:nvSpPr>
        <p:spPr>
          <a:xfrm>
            <a:off x="713232" y="3566160"/>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5" name="block-105"/>
          <p:cNvSpPr txBox="1"/>
          <p:nvPr/>
        </p:nvSpPr>
        <p:spPr>
          <a:xfrm>
            <a:off x="1188720" y="3547872"/>
            <a:ext cx="1708328" cy="98755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vision</a:t>
            </a:r>
            <a:endParaRPr lang="en-US" sz="1450" dirty="0"/>
          </a:p>
          <a:p>
            <a:pPr indent="0" marL="0">
              <a:spcAft>
                <a:spcPts val="200"/>
              </a:spcAft>
              <a:buNone/>
            </a:pPr>
            <a:r>
              <a:rPr lang="en-US" sz="1250" dirty="0">
                <a:solidFill>
                  <a:schemeClr val="tx2"/>
                </a:solidFill>
              </a:rPr>
              <a:t>Slices, journals, OCRs via gateway, merges ocr.json</a:t>
            </a:r>
            <a:endParaRPr lang="en-US" sz="1450" dirty="0"/>
          </a:p>
        </p:txBody>
      </p:sp>
      <p:sp>
        <p:nvSpPr>
          <p:cNvPr id="26" name="link-106"/>
          <p:cNvSpPr/>
          <p:nvPr/>
        </p:nvSpPr>
        <p:spPr>
          <a:xfrm>
            <a:off x="3070784" y="4032504"/>
            <a:ext cx="310896" cy="0"/>
          </a:xfrm>
          <a:prstGeom prst="line">
            <a:avLst/>
          </a:prstGeom>
          <a:noFill/>
          <a:ln w="19050">
            <a:solidFill>
              <a:schemeClr val="accent1"/>
            </a:solidFill>
            <a:prstDash val="solid"/>
            <a:tailEnd type="triangle"/>
          </a:ln>
        </p:spPr>
      </p:sp>
      <p:sp>
        <p:nvSpPr>
          <p:cNvPr id="27" name="particle-107"/>
          <p:cNvSpPr/>
          <p:nvPr/>
        </p:nvSpPr>
        <p:spPr>
          <a:xfrm>
            <a:off x="3194228" y="4000500"/>
            <a:ext cx="64008" cy="64008"/>
          </a:xfrm>
          <a:prstGeom prst="ellipse">
            <a:avLst/>
          </a:prstGeom>
          <a:solidFill>
            <a:schemeClr val="accent1"/>
          </a:solidFill>
          <a:ln/>
        </p:spPr>
      </p:sp>
      <p:sp>
        <p:nvSpPr>
          <p:cNvPr id="28" name="card-108"/>
          <p:cNvSpPr/>
          <p:nvPr/>
        </p:nvSpPr>
        <p:spPr>
          <a:xfrm>
            <a:off x="3418256" y="3401568"/>
            <a:ext cx="2485568" cy="1261872"/>
          </a:xfrm>
          <a:prstGeom prst="roundRect">
            <a:avLst>
              <a:gd name="adj" fmla="val 5797"/>
            </a:avLst>
          </a:prstGeom>
          <a:solidFill>
            <a:schemeClr val="bg1"/>
          </a:solidFill>
          <a:ln w="9525">
            <a:solidFill>
              <a:schemeClr val="accent6"/>
            </a:solidFill>
            <a:prstDash val="solid"/>
          </a:ln>
        </p:spPr>
      </p:sp>
      <p:sp>
        <p:nvSpPr>
          <p:cNvPr id="29" name="chip-109"/>
          <p:cNvSpPr/>
          <p:nvPr/>
        </p:nvSpPr>
        <p:spPr>
          <a:xfrm>
            <a:off x="3582848" y="3566160"/>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0" name="block-110"/>
          <p:cNvSpPr txBox="1"/>
          <p:nvPr/>
        </p:nvSpPr>
        <p:spPr>
          <a:xfrm>
            <a:off x="4058336" y="3547872"/>
            <a:ext cx="1708328" cy="98755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chunker</a:t>
            </a:r>
            <a:endParaRPr lang="en-US" sz="1450" dirty="0"/>
          </a:p>
          <a:p>
            <a:pPr indent="0" marL="0">
              <a:spcAft>
                <a:spcPts val="200"/>
              </a:spcAft>
              <a:buNone/>
            </a:pPr>
            <a:r>
              <a:rPr lang="en-US" sz="1250" dirty="0">
                <a:solidFill>
                  <a:schemeClr val="tx2"/>
                </a:solidFill>
              </a:rPr>
              <a:t>DES wega_parts → chunks.json, checked against its schema</a:t>
            </a:r>
            <a:endParaRPr lang="en-US" sz="1450" dirty="0"/>
          </a:p>
        </p:txBody>
      </p:sp>
      <p:sp>
        <p:nvSpPr>
          <p:cNvPr id="31" name="link-111"/>
          <p:cNvSpPr/>
          <p:nvPr/>
        </p:nvSpPr>
        <p:spPr>
          <a:xfrm>
            <a:off x="5940400" y="4032504"/>
            <a:ext cx="310896" cy="0"/>
          </a:xfrm>
          <a:prstGeom prst="line">
            <a:avLst/>
          </a:prstGeom>
          <a:noFill/>
          <a:ln w="19050">
            <a:solidFill>
              <a:schemeClr val="accent1"/>
            </a:solidFill>
            <a:prstDash val="solid"/>
            <a:tailEnd type="triangle"/>
          </a:ln>
        </p:spPr>
      </p:sp>
      <p:sp>
        <p:nvSpPr>
          <p:cNvPr id="32" name="particle-112"/>
          <p:cNvSpPr/>
          <p:nvPr/>
        </p:nvSpPr>
        <p:spPr>
          <a:xfrm>
            <a:off x="6063844" y="4000500"/>
            <a:ext cx="64008" cy="64008"/>
          </a:xfrm>
          <a:prstGeom prst="ellipse">
            <a:avLst/>
          </a:prstGeom>
          <a:solidFill>
            <a:schemeClr val="accent1"/>
          </a:solidFill>
          <a:ln/>
        </p:spPr>
      </p:sp>
      <p:sp>
        <p:nvSpPr>
          <p:cNvPr id="33" name="card-113"/>
          <p:cNvSpPr/>
          <p:nvPr/>
        </p:nvSpPr>
        <p:spPr>
          <a:xfrm>
            <a:off x="6287872" y="3401568"/>
            <a:ext cx="2485568" cy="1261872"/>
          </a:xfrm>
          <a:prstGeom prst="roundRect">
            <a:avLst>
              <a:gd name="adj" fmla="val 5797"/>
            </a:avLst>
          </a:prstGeom>
          <a:solidFill>
            <a:schemeClr val="bg1"/>
          </a:solidFill>
          <a:ln w="9525">
            <a:solidFill>
              <a:schemeClr val="accent6"/>
            </a:solidFill>
            <a:prstDash val="solid"/>
          </a:ln>
        </p:spPr>
      </p:sp>
      <p:sp>
        <p:nvSpPr>
          <p:cNvPr id="34" name="chip-114"/>
          <p:cNvSpPr/>
          <p:nvPr/>
        </p:nvSpPr>
        <p:spPr>
          <a:xfrm>
            <a:off x="6452464" y="3566160"/>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35" name="block-115"/>
          <p:cNvSpPr txBox="1"/>
          <p:nvPr/>
        </p:nvSpPr>
        <p:spPr>
          <a:xfrm>
            <a:off x="6927952" y="3547872"/>
            <a:ext cx="1708328" cy="98755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embedder</a:t>
            </a:r>
            <a:endParaRPr lang="en-US" sz="1450" dirty="0"/>
          </a:p>
          <a:p>
            <a:pPr indent="0" marL="0">
              <a:spcAft>
                <a:spcPts val="200"/>
              </a:spcAft>
              <a:buNone/>
            </a:pPr>
            <a:r>
              <a:rPr lang="en-US" sz="1250" dirty="0">
                <a:solidFill>
                  <a:schemeClr val="tx2"/>
                </a:solidFill>
              </a:rPr>
              <a:t>TEI gte-large → 1024-D vectors, file + pgvector</a:t>
            </a:r>
            <a:endParaRPr lang="en-US" sz="1450" dirty="0"/>
          </a:p>
        </p:txBody>
      </p:sp>
      <p:sp>
        <p:nvSpPr>
          <p:cNvPr id="36" name="link-116"/>
          <p:cNvSpPr/>
          <p:nvPr/>
        </p:nvSpPr>
        <p:spPr>
          <a:xfrm>
            <a:off x="8810015" y="4032504"/>
            <a:ext cx="310896" cy="0"/>
          </a:xfrm>
          <a:prstGeom prst="line">
            <a:avLst/>
          </a:prstGeom>
          <a:noFill/>
          <a:ln w="19050">
            <a:solidFill>
              <a:schemeClr val="accent1"/>
            </a:solidFill>
            <a:prstDash val="solid"/>
            <a:tailEnd type="triangle"/>
          </a:ln>
        </p:spPr>
      </p:sp>
      <p:sp>
        <p:nvSpPr>
          <p:cNvPr id="37" name="particle-117"/>
          <p:cNvSpPr/>
          <p:nvPr/>
        </p:nvSpPr>
        <p:spPr>
          <a:xfrm>
            <a:off x="8933459" y="4000500"/>
            <a:ext cx="64008" cy="64008"/>
          </a:xfrm>
          <a:prstGeom prst="ellipse">
            <a:avLst/>
          </a:prstGeom>
          <a:solidFill>
            <a:schemeClr val="accent1"/>
          </a:solidFill>
          <a:ln/>
        </p:spPr>
      </p:sp>
      <p:sp>
        <p:nvSpPr>
          <p:cNvPr id="38" name="card-118"/>
          <p:cNvSpPr/>
          <p:nvPr/>
        </p:nvSpPr>
        <p:spPr>
          <a:xfrm>
            <a:off x="9157487" y="3401568"/>
            <a:ext cx="2485568" cy="1261872"/>
          </a:xfrm>
          <a:prstGeom prst="roundRect">
            <a:avLst>
              <a:gd name="adj" fmla="val 5797"/>
            </a:avLst>
          </a:prstGeom>
          <a:solidFill>
            <a:schemeClr val="bg1"/>
          </a:solidFill>
          <a:ln w="9525">
            <a:solidFill>
              <a:schemeClr val="accent6"/>
            </a:solidFill>
            <a:prstDash val="solid"/>
          </a:ln>
        </p:spPr>
      </p:sp>
      <p:sp>
        <p:nvSpPr>
          <p:cNvPr id="39" name="chip-119"/>
          <p:cNvSpPr/>
          <p:nvPr/>
        </p:nvSpPr>
        <p:spPr>
          <a:xfrm>
            <a:off x="9322079" y="3566160"/>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0" name="block-120"/>
          <p:cNvSpPr txBox="1"/>
          <p:nvPr/>
        </p:nvSpPr>
        <p:spPr>
          <a:xfrm>
            <a:off x="9797567" y="3547872"/>
            <a:ext cx="1708328" cy="98755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Apply and project</a:t>
            </a:r>
            <a:endParaRPr lang="en-US" sz="1450" dirty="0"/>
          </a:p>
          <a:p>
            <a:pPr indent="0" marL="0">
              <a:spcAft>
                <a:spcPts val="200"/>
              </a:spcAft>
              <a:buNone/>
            </a:pPr>
            <a:r>
              <a:rPr lang="en-US" sz="1250" dirty="0">
                <a:solidFill>
                  <a:schemeClr val="tx2"/>
                </a:solidFill>
              </a:rPr>
              <a:t>results applies once, uploader verifies S3, projector writes Oracle</a:t>
            </a:r>
            <a:endParaRPr lang="en-US" sz="1450" dirty="0"/>
          </a:p>
        </p:txBody>
      </p:sp>
      <p:sp>
        <p:nvSpPr>
          <p:cNvPr id="41" name="link-121"/>
          <p:cNvSpPr/>
          <p:nvPr/>
        </p:nvSpPr>
        <p:spPr>
          <a:xfrm>
            <a:off x="10400271" y="2935224"/>
            <a:ext cx="0" cy="219456"/>
          </a:xfrm>
          <a:prstGeom prst="line">
            <a:avLst/>
          </a:prstGeom>
          <a:noFill/>
          <a:ln w="19050">
            <a:solidFill>
              <a:schemeClr val="accent1"/>
            </a:solidFill>
            <a:prstDash val="solid"/>
          </a:ln>
        </p:spPr>
      </p:sp>
      <p:sp>
        <p:nvSpPr>
          <p:cNvPr id="42" name="link-122"/>
          <p:cNvSpPr/>
          <p:nvPr/>
        </p:nvSpPr>
        <p:spPr>
          <a:xfrm flipH="1">
            <a:off x="1791424" y="3154680"/>
            <a:ext cx="8608847" cy="0"/>
          </a:xfrm>
          <a:prstGeom prst="line">
            <a:avLst/>
          </a:prstGeom>
          <a:noFill/>
          <a:ln w="19050">
            <a:solidFill>
              <a:schemeClr val="accent1"/>
            </a:solidFill>
            <a:prstDash val="solid"/>
          </a:ln>
        </p:spPr>
      </p:sp>
      <p:sp>
        <p:nvSpPr>
          <p:cNvPr id="43" name="particle-123"/>
          <p:cNvSpPr/>
          <p:nvPr/>
        </p:nvSpPr>
        <p:spPr>
          <a:xfrm>
            <a:off x="8933459" y="3122676"/>
            <a:ext cx="64008" cy="64008"/>
          </a:xfrm>
          <a:prstGeom prst="ellipse">
            <a:avLst/>
          </a:prstGeom>
          <a:solidFill>
            <a:schemeClr val="accent1"/>
          </a:solidFill>
          <a:ln/>
        </p:spPr>
      </p:sp>
      <p:sp>
        <p:nvSpPr>
          <p:cNvPr id="44" name="particle-124"/>
          <p:cNvSpPr/>
          <p:nvPr/>
        </p:nvSpPr>
        <p:spPr>
          <a:xfrm>
            <a:off x="7498652" y="3122676"/>
            <a:ext cx="64008" cy="64008"/>
          </a:xfrm>
          <a:prstGeom prst="ellipse">
            <a:avLst/>
          </a:prstGeom>
          <a:solidFill>
            <a:schemeClr val="accent1"/>
          </a:solidFill>
          <a:ln/>
        </p:spPr>
      </p:sp>
      <p:sp>
        <p:nvSpPr>
          <p:cNvPr id="45" name="particle-125"/>
          <p:cNvSpPr/>
          <p:nvPr/>
        </p:nvSpPr>
        <p:spPr>
          <a:xfrm>
            <a:off x="6063844" y="3122676"/>
            <a:ext cx="64008" cy="64008"/>
          </a:xfrm>
          <a:prstGeom prst="ellipse">
            <a:avLst/>
          </a:prstGeom>
          <a:solidFill>
            <a:schemeClr val="accent1"/>
          </a:solidFill>
          <a:ln/>
        </p:spPr>
      </p:sp>
      <p:sp>
        <p:nvSpPr>
          <p:cNvPr id="46" name="particle-126"/>
          <p:cNvSpPr/>
          <p:nvPr/>
        </p:nvSpPr>
        <p:spPr>
          <a:xfrm>
            <a:off x="4629036" y="3122676"/>
            <a:ext cx="64008" cy="64008"/>
          </a:xfrm>
          <a:prstGeom prst="ellipse">
            <a:avLst/>
          </a:prstGeom>
          <a:solidFill>
            <a:schemeClr val="accent1"/>
          </a:solidFill>
          <a:ln/>
        </p:spPr>
      </p:sp>
      <p:sp>
        <p:nvSpPr>
          <p:cNvPr id="47" name="particle-127"/>
          <p:cNvSpPr/>
          <p:nvPr/>
        </p:nvSpPr>
        <p:spPr>
          <a:xfrm>
            <a:off x="3194228" y="3122676"/>
            <a:ext cx="64008" cy="64008"/>
          </a:xfrm>
          <a:prstGeom prst="ellipse">
            <a:avLst/>
          </a:prstGeom>
          <a:solidFill>
            <a:schemeClr val="accent1"/>
          </a:solidFill>
          <a:ln/>
        </p:spPr>
      </p:sp>
      <p:sp>
        <p:nvSpPr>
          <p:cNvPr id="48" name="link-128"/>
          <p:cNvSpPr/>
          <p:nvPr/>
        </p:nvSpPr>
        <p:spPr>
          <a:xfrm>
            <a:off x="1791424" y="3154680"/>
            <a:ext cx="0" cy="219456"/>
          </a:xfrm>
          <a:prstGeom prst="line">
            <a:avLst/>
          </a:prstGeom>
          <a:noFill/>
          <a:ln w="19050">
            <a:solidFill>
              <a:schemeClr val="accent1"/>
            </a:solidFill>
            <a:prstDash val="solid"/>
            <a:tailEnd type="triangle"/>
          </a:ln>
        </p:spPr>
      </p:sp>
      <p:sp>
        <p:nvSpPr>
          <p:cNvPr id="49" name="text-129"/>
          <p:cNvSpPr txBox="1"/>
          <p:nvPr/>
        </p:nvSpPr>
        <p:spPr>
          <a:xfrm>
            <a:off x="548640" y="5138928"/>
            <a:ext cx="11094415" cy="292608"/>
          </a:xfrm>
          <a:prstGeom prst="rect">
            <a:avLst/>
          </a:prstGeom>
          <a:noFill/>
          <a:ln/>
        </p:spPr>
        <p:txBody>
          <a:bodyPr wrap="square" lIns="0" tIns="0" rIns="0" bIns="0" rtlCol="0" anchor="t"/>
          <a:lstStyle/>
          <a:p>
            <a:pPr indent="0" marL="0">
              <a:buNone/>
            </a:pPr>
            <a:r>
              <a:rPr lang="en-US" sz="1300" b="1" dirty="0">
                <a:solidFill>
                  <a:schemeClr val="tx2"/>
                </a:solidFill>
              </a:rPr>
              <a:t>Oracle STATUS, written once per step by the projector, only after the artifacts are verified in S3</a:t>
            </a:r>
            <a:endParaRPr lang="en-US" sz="1300" dirty="0"/>
          </a:p>
        </p:txBody>
      </p:sp>
      <p:sp>
        <p:nvSpPr>
          <p:cNvPr id="50" name="pill-130"/>
          <p:cNvSpPr/>
          <p:nvPr/>
        </p:nvSpPr>
        <p:spPr>
          <a:xfrm>
            <a:off x="548640" y="5550408"/>
            <a:ext cx="2148840" cy="384048"/>
          </a:xfrm>
          <a:prstGeom prst="roundRect">
            <a:avLst>
              <a:gd name="adj" fmla="val 50000"/>
            </a:avLst>
          </a:prstGeom>
          <a:solidFill>
            <a:schemeClr val="tx1"/>
          </a:solidFill>
          <a:ln/>
        </p:spPr>
        <p:txBody>
          <a:bodyPr wrap="square" lIns="0" tIns="0" rIns="0" bIns="0" rtlCol="0" anchor="ctr"/>
          <a:lstStyle/>
          <a:p>
            <a:pPr algn="ctr" indent="0" marL="0">
              <a:buNone/>
            </a:pPr>
            <a:r>
              <a:rPr lang="en-US" sz="1300" b="1" dirty="0">
                <a:solidFill>
                  <a:schemeClr val="bg1"/>
                </a:solidFill>
              </a:rPr>
              <a:t>READY</a:t>
            </a:r>
            <a:endParaRPr lang="en-US" sz="1300" dirty="0"/>
          </a:p>
        </p:txBody>
      </p:sp>
      <p:sp>
        <p:nvSpPr>
          <p:cNvPr id="51" name="link-131"/>
          <p:cNvSpPr/>
          <p:nvPr/>
        </p:nvSpPr>
        <p:spPr>
          <a:xfrm>
            <a:off x="2752344" y="5742432"/>
            <a:ext cx="723290" cy="0"/>
          </a:xfrm>
          <a:prstGeom prst="line">
            <a:avLst/>
          </a:prstGeom>
          <a:noFill/>
          <a:ln w="15875">
            <a:solidFill>
              <a:schemeClr val="tx2"/>
            </a:solidFill>
            <a:prstDash val="solid"/>
            <a:tailEnd type="triangle"/>
          </a:ln>
        </p:spPr>
      </p:sp>
      <p:sp>
        <p:nvSpPr>
          <p:cNvPr id="52" name="pill-132"/>
          <p:cNvSpPr/>
          <p:nvPr/>
        </p:nvSpPr>
        <p:spPr>
          <a:xfrm>
            <a:off x="3530498" y="5550408"/>
            <a:ext cx="2148840" cy="384048"/>
          </a:xfrm>
          <a:prstGeom prst="roundRect">
            <a:avLst>
              <a:gd name="adj" fmla="val 50000"/>
            </a:avLst>
          </a:prstGeom>
          <a:solidFill>
            <a:schemeClr val="tx1"/>
          </a:solidFill>
          <a:ln/>
        </p:spPr>
        <p:txBody>
          <a:bodyPr wrap="square" lIns="0" tIns="0" rIns="0" bIns="0" rtlCol="0" anchor="ctr"/>
          <a:lstStyle/>
          <a:p>
            <a:pPr algn="ctr" indent="0" marL="0">
              <a:buNone/>
            </a:pPr>
            <a:r>
              <a:rPr lang="en-US" sz="1300" b="1" dirty="0">
                <a:solidFill>
                  <a:schemeClr val="bg1"/>
                </a:solidFill>
              </a:rPr>
              <a:t>OCR_DONE</a:t>
            </a:r>
            <a:endParaRPr lang="en-US" sz="1300" dirty="0"/>
          </a:p>
        </p:txBody>
      </p:sp>
      <p:sp>
        <p:nvSpPr>
          <p:cNvPr id="53" name="link-133"/>
          <p:cNvSpPr/>
          <p:nvPr/>
        </p:nvSpPr>
        <p:spPr>
          <a:xfrm>
            <a:off x="5734202" y="5742432"/>
            <a:ext cx="723290" cy="0"/>
          </a:xfrm>
          <a:prstGeom prst="line">
            <a:avLst/>
          </a:prstGeom>
          <a:noFill/>
          <a:ln w="15875">
            <a:solidFill>
              <a:schemeClr val="tx2"/>
            </a:solidFill>
            <a:prstDash val="solid"/>
            <a:tailEnd type="triangle"/>
          </a:ln>
        </p:spPr>
      </p:sp>
      <p:sp>
        <p:nvSpPr>
          <p:cNvPr id="54" name="pill-134"/>
          <p:cNvSpPr/>
          <p:nvPr/>
        </p:nvSpPr>
        <p:spPr>
          <a:xfrm>
            <a:off x="6512357" y="5550408"/>
            <a:ext cx="2148840" cy="384048"/>
          </a:xfrm>
          <a:prstGeom prst="roundRect">
            <a:avLst>
              <a:gd name="adj" fmla="val 50000"/>
            </a:avLst>
          </a:prstGeom>
          <a:solidFill>
            <a:schemeClr val="tx1"/>
          </a:solidFill>
          <a:ln/>
        </p:spPr>
        <p:txBody>
          <a:bodyPr wrap="square" lIns="0" tIns="0" rIns="0" bIns="0" rtlCol="0" anchor="ctr"/>
          <a:lstStyle/>
          <a:p>
            <a:pPr algn="ctr" indent="0" marL="0">
              <a:buNone/>
            </a:pPr>
            <a:r>
              <a:rPr lang="en-US" sz="1300" b="1" dirty="0">
                <a:solidFill>
                  <a:schemeClr val="bg1"/>
                </a:solidFill>
              </a:rPr>
              <a:t>CHUNKING_DONE</a:t>
            </a:r>
            <a:endParaRPr lang="en-US" sz="1300" dirty="0"/>
          </a:p>
        </p:txBody>
      </p:sp>
      <p:sp>
        <p:nvSpPr>
          <p:cNvPr id="55" name="link-135"/>
          <p:cNvSpPr/>
          <p:nvPr/>
        </p:nvSpPr>
        <p:spPr>
          <a:xfrm>
            <a:off x="8716061" y="5742432"/>
            <a:ext cx="723290" cy="0"/>
          </a:xfrm>
          <a:prstGeom prst="line">
            <a:avLst/>
          </a:prstGeom>
          <a:noFill/>
          <a:ln w="15875">
            <a:solidFill>
              <a:schemeClr val="tx2"/>
            </a:solidFill>
            <a:prstDash val="solid"/>
            <a:tailEnd type="triangle"/>
          </a:ln>
        </p:spPr>
      </p:sp>
      <p:sp>
        <p:nvSpPr>
          <p:cNvPr id="56" name="pill-136"/>
          <p:cNvSpPr/>
          <p:nvPr/>
        </p:nvSpPr>
        <p:spPr>
          <a:xfrm>
            <a:off x="9494215" y="5550408"/>
            <a:ext cx="21488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EMBEDDING_DONE</a:t>
            </a:r>
            <a:endParaRPr lang="en-US" sz="13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ARCHITECTURE</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One ledger, twelve roles, and the cluster’s own RabbitMQ</a:t>
            </a:r>
            <a:endParaRPr lang="en-US" sz="2800" dirty="0"/>
          </a:p>
        </p:txBody>
      </p:sp>
      <p:sp>
        <p:nvSpPr>
          <p:cNvPr id="5" name="text-137"/>
          <p:cNvSpPr txBox="1"/>
          <p:nvPr/>
        </p:nvSpPr>
        <p:spPr>
          <a:xfrm>
            <a:off x="548640" y="1591056"/>
            <a:ext cx="2514600" cy="274320"/>
          </a:xfrm>
          <a:prstGeom prst="rect">
            <a:avLst/>
          </a:prstGeom>
          <a:noFill/>
          <a:ln/>
        </p:spPr>
        <p:txBody>
          <a:bodyPr wrap="square" lIns="0" tIns="0" rIns="0" bIns="0" rtlCol="0" anchor="ctr"/>
          <a:lstStyle/>
          <a:p>
            <a:pPr indent="0" marL="0">
              <a:buNone/>
            </a:pPr>
            <a:r>
              <a:rPr lang="en-US" sz="1200" b="1" dirty="0">
                <a:solidFill>
                  <a:schemeClr val="tx2"/>
                </a:solidFill>
              </a:rPr>
              <a:t>Edge and systems of record</a:t>
            </a:r>
            <a:endParaRPr lang="en-US" sz="1200" dirty="0"/>
          </a:p>
        </p:txBody>
      </p:sp>
      <p:sp>
        <p:nvSpPr>
          <p:cNvPr id="6" name="box-138"/>
          <p:cNvSpPr/>
          <p:nvPr/>
        </p:nvSpPr>
        <p:spPr>
          <a:xfrm>
            <a:off x="548640" y="1920240"/>
            <a:ext cx="2514600" cy="804672"/>
          </a:xfrm>
          <a:prstGeom prst="roundRect">
            <a:avLst>
              <a:gd name="adj" fmla="val 6818"/>
            </a:avLst>
          </a:prstGeom>
          <a:solidFill>
            <a:schemeClr val="bg1"/>
          </a:solidFill>
          <a:ln w="12700">
            <a:solidFill>
              <a:schemeClr val="accent6"/>
            </a:solidFill>
          </a:ln>
        </p:spPr>
        <p:txBody>
          <a:bodyPr wrap="square" lIns="114300" tIns="25400" rIns="76200" bIns="25400" rtlCol="0" anchor="ctr"/>
          <a:lstStyle/>
          <a:p>
            <a:pPr algn="l" indent="0" marL="0">
              <a:buNone/>
            </a:pPr>
            <a:r>
              <a:rPr lang="en-US" sz="1300" b="1" dirty="0">
                <a:solidFill>
                  <a:schemeClr val="tx1"/>
                </a:solidFill>
              </a:rPr>
              <a:t>Entry point API</a:t>
            </a:r>
            <a:endParaRPr lang="en-US" sz="1300" dirty="0"/>
          </a:p>
          <a:p>
            <a:pPr algn="l" indent="0" marL="0">
              <a:buNone/>
            </a:pPr>
            <a:r>
              <a:rPr lang="en-US" sz="1100" dirty="0">
                <a:solidFill>
                  <a:schemeClr val="tx2"/>
                </a:solidFill>
              </a:rPr>
              <a:t>upload page; S3 object first, then the READY row</a:t>
            </a:r>
            <a:endParaRPr lang="en-US" sz="1300" dirty="0"/>
          </a:p>
        </p:txBody>
      </p:sp>
      <p:sp>
        <p:nvSpPr>
          <p:cNvPr id="7" name="box-139"/>
          <p:cNvSpPr/>
          <p:nvPr/>
        </p:nvSpPr>
        <p:spPr>
          <a:xfrm>
            <a:off x="548640" y="2926080"/>
            <a:ext cx="2514600" cy="804672"/>
          </a:xfrm>
          <a:prstGeom prst="roundRect">
            <a:avLst>
              <a:gd name="adj" fmla="val 6818"/>
            </a:avLst>
          </a:prstGeom>
          <a:solidFill>
            <a:schemeClr val="bg1"/>
          </a:solidFill>
          <a:ln w="12700">
            <a:solidFill>
              <a:schemeClr val="accent6"/>
            </a:solidFill>
          </a:ln>
        </p:spPr>
        <p:txBody>
          <a:bodyPr wrap="square" lIns="114300" tIns="25400" rIns="76200" bIns="25400" rtlCol="0" anchor="ctr"/>
          <a:lstStyle/>
          <a:p>
            <a:pPr algn="l" indent="0" marL="0">
              <a:buNone/>
            </a:pPr>
            <a:r>
              <a:rPr lang="en-US" sz="1300" b="1" dirty="0">
                <a:solidFill>
                  <a:schemeClr val="tx1"/>
                </a:solidFill>
              </a:rPr>
              <a:t>Oracle external table</a:t>
            </a:r>
            <a:endParaRPr lang="en-US" sz="1300" dirty="0"/>
          </a:p>
          <a:p>
            <a:pPr algn="l" indent="0" marL="0">
              <a:buNone/>
            </a:pPr>
            <a:r>
              <a:rPr lang="en-US" sz="1100" dirty="0">
                <a:solidFill>
                  <a:schemeClr val="tx2"/>
                </a:solidFill>
              </a:rPr>
              <a:t>READY → OCR_DONE → CHUNKING_DONE → EMBEDDING_DONE</a:t>
            </a:r>
            <a:endParaRPr lang="en-US" sz="1300" dirty="0"/>
          </a:p>
        </p:txBody>
      </p:sp>
      <p:sp>
        <p:nvSpPr>
          <p:cNvPr id="8" name="box-140"/>
          <p:cNvSpPr/>
          <p:nvPr/>
        </p:nvSpPr>
        <p:spPr>
          <a:xfrm>
            <a:off x="548640" y="3931920"/>
            <a:ext cx="2514600" cy="804672"/>
          </a:xfrm>
          <a:prstGeom prst="roundRect">
            <a:avLst>
              <a:gd name="adj" fmla="val 6818"/>
            </a:avLst>
          </a:prstGeom>
          <a:solidFill>
            <a:schemeClr val="bg1"/>
          </a:solidFill>
          <a:ln w="12700">
            <a:solidFill>
              <a:schemeClr val="accent6"/>
            </a:solidFill>
          </a:ln>
        </p:spPr>
        <p:txBody>
          <a:bodyPr wrap="square" lIns="114300" tIns="25400" rIns="76200" bIns="25400" rtlCol="0" anchor="ctr"/>
          <a:lstStyle/>
          <a:p>
            <a:pPr algn="l" indent="0" marL="0">
              <a:buNone/>
            </a:pPr>
            <a:r>
              <a:rPr lang="en-US" sz="1300" b="1" dirty="0">
                <a:solidFill>
                  <a:schemeClr val="tx1"/>
                </a:solidFill>
              </a:rPr>
              <a:t>S3</a:t>
            </a:r>
            <a:endParaRPr lang="en-US" sz="1300" dirty="0"/>
          </a:p>
          <a:p>
            <a:pPr algn="l" indent="0" marL="0">
              <a:buNone/>
            </a:pPr>
            <a:r>
              <a:rPr lang="en-US" sz="1100" dirty="0">
                <a:solidFill>
                  <a:schemeClr val="tx2"/>
                </a:solidFill>
              </a:rPr>
              <a:t>sources and artifacts, sha256-verified</a:t>
            </a:r>
            <a:endParaRPr lang="en-US" sz="1300" dirty="0"/>
          </a:p>
        </p:txBody>
      </p:sp>
      <p:sp>
        <p:nvSpPr>
          <p:cNvPr id="9" name="text-141"/>
          <p:cNvSpPr txBox="1"/>
          <p:nvPr/>
        </p:nvSpPr>
        <p:spPr>
          <a:xfrm>
            <a:off x="3291840" y="1591056"/>
            <a:ext cx="4983480" cy="274320"/>
          </a:xfrm>
          <a:prstGeom prst="rect">
            <a:avLst/>
          </a:prstGeom>
          <a:noFill/>
          <a:ln/>
        </p:spPr>
        <p:txBody>
          <a:bodyPr wrap="square" lIns="0" tIns="0" rIns="0" bIns="0" rtlCol="0" anchor="ctr"/>
          <a:lstStyle/>
          <a:p>
            <a:pPr indent="0" marL="0">
              <a:buNone/>
            </a:pPr>
            <a:r>
              <a:rPr lang="en-US" sz="1200" b="1" dirty="0">
                <a:solidFill>
                  <a:schemeClr val="tx2"/>
                </a:solidFill>
              </a:rPr>
              <a:t>Orchestrator: one image, 12 roles, 3 deployments</a:t>
            </a:r>
            <a:endParaRPr lang="en-US" sz="1200" dirty="0"/>
          </a:p>
        </p:txBody>
      </p:sp>
      <p:sp>
        <p:nvSpPr>
          <p:cNvPr id="10" name="box-142"/>
          <p:cNvSpPr/>
          <p:nvPr/>
        </p:nvSpPr>
        <p:spPr>
          <a:xfrm>
            <a:off x="3291840" y="1920240"/>
            <a:ext cx="4983480" cy="804672"/>
          </a:xfrm>
          <a:prstGeom prst="roundRect">
            <a:avLst>
              <a:gd name="adj" fmla="val 6818"/>
            </a:avLst>
          </a:prstGeom>
          <a:solidFill>
            <a:schemeClr val="bg1"/>
          </a:solidFill>
          <a:ln w="12700">
            <a:solidFill>
              <a:schemeClr val="accent2"/>
            </a:solidFill>
          </a:ln>
        </p:spPr>
        <p:txBody>
          <a:bodyPr wrap="square" lIns="114300" tIns="25400" rIns="76200" bIns="25400" rtlCol="0" anchor="ctr"/>
          <a:lstStyle/>
          <a:p>
            <a:pPr algn="l" indent="0" marL="0">
              <a:buNone/>
            </a:pPr>
            <a:r>
              <a:rPr lang="en-US" sz="1300" b="1" dirty="0">
                <a:solidFill>
                  <a:schemeClr val="tx1"/>
                </a:solidFill>
              </a:rPr>
              <a:t>wega-orch-control  ·  2 pods, leases pick singletons</a:t>
            </a:r>
            <a:endParaRPr lang="en-US" sz="1300" dirty="0"/>
          </a:p>
          <a:p>
            <a:pPr algn="l" indent="0" marL="0">
              <a:buNone/>
            </a:pPr>
            <a:r>
              <a:rPr lang="en-US" sz="1150" dirty="0">
                <a:solidFill>
                  <a:schemeClr val="tx2"/>
                </a:solidFill>
              </a:rPr>
              <a:t>intake · projector · reconciler · retention · topology · observer · admin_executor</a:t>
            </a:r>
            <a:endParaRPr lang="en-US" sz="1300" dirty="0"/>
          </a:p>
        </p:txBody>
      </p:sp>
      <p:sp>
        <p:nvSpPr>
          <p:cNvPr id="11" name="box-143"/>
          <p:cNvSpPr/>
          <p:nvPr/>
        </p:nvSpPr>
        <p:spPr>
          <a:xfrm>
            <a:off x="3291840" y="2926080"/>
            <a:ext cx="4983480" cy="804672"/>
          </a:xfrm>
          <a:prstGeom prst="roundRect">
            <a:avLst>
              <a:gd name="adj" fmla="val 6818"/>
            </a:avLst>
          </a:prstGeom>
          <a:solidFill>
            <a:schemeClr val="bg1"/>
          </a:solidFill>
          <a:ln w="12700">
            <a:solidFill>
              <a:schemeClr val="accent2"/>
            </a:solidFill>
          </a:ln>
        </p:spPr>
        <p:txBody>
          <a:bodyPr wrap="square" lIns="114300" tIns="25400" rIns="76200" bIns="25400" rtlCol="0" anchor="ctr"/>
          <a:lstStyle/>
          <a:p>
            <a:pPr algn="l" indent="0" marL="0">
              <a:buNone/>
            </a:pPr>
            <a:r>
              <a:rPr lang="en-US" sz="1300" b="1" dirty="0">
                <a:solidFill>
                  <a:schemeClr val="tx1"/>
                </a:solidFill>
              </a:rPr>
              <a:t>wega-orch-worker  ·  KEDA 2–12</a:t>
            </a:r>
            <a:endParaRPr lang="en-US" sz="1300" dirty="0"/>
          </a:p>
          <a:p>
            <a:pPr algn="l" indent="0" marL="0">
              <a:buNone/>
            </a:pPr>
            <a:r>
              <a:rPr lang="en-US" sz="1150" dirty="0">
                <a:solidFill>
                  <a:schemeClr val="tx2"/>
                </a:solidFill>
              </a:rPr>
              <a:t>stager · relay · results · uploader</a:t>
            </a:r>
            <a:endParaRPr lang="en-US" sz="1300" dirty="0"/>
          </a:p>
        </p:txBody>
      </p:sp>
      <p:sp>
        <p:nvSpPr>
          <p:cNvPr id="12" name="box-144"/>
          <p:cNvSpPr/>
          <p:nvPr/>
        </p:nvSpPr>
        <p:spPr>
          <a:xfrm>
            <a:off x="3291840" y="3931920"/>
            <a:ext cx="4983480" cy="804672"/>
          </a:xfrm>
          <a:prstGeom prst="roundRect">
            <a:avLst>
              <a:gd name="adj" fmla="val 6818"/>
            </a:avLst>
          </a:prstGeom>
          <a:solidFill>
            <a:schemeClr val="bg1"/>
          </a:solidFill>
          <a:ln w="12700">
            <a:solidFill>
              <a:schemeClr val="accent2"/>
            </a:solidFill>
          </a:ln>
        </p:spPr>
        <p:txBody>
          <a:bodyPr wrap="square" lIns="114300" tIns="25400" rIns="76200" bIns="25400" rtlCol="0" anchor="ctr"/>
          <a:lstStyle/>
          <a:p>
            <a:pPr algn="l" indent="0" marL="0">
              <a:buNone/>
            </a:pPr>
            <a:r>
              <a:rPr lang="en-US" sz="1300" b="1" dirty="0">
                <a:solidFill>
                  <a:schemeClr val="tx1"/>
                </a:solidFill>
              </a:rPr>
              <a:t>wega-orch-api  ·  behind oauth-proxy</a:t>
            </a:r>
            <a:endParaRPr lang="en-US" sz="1300" dirty="0"/>
          </a:p>
          <a:p>
            <a:pPr algn="l" indent="0" marL="0">
              <a:buNone/>
            </a:pPr>
            <a:r>
              <a:rPr lang="en-US" sz="1150" dirty="0">
                <a:solidFill>
                  <a:schemeClr val="tx2"/>
                </a:solidFill>
              </a:rPr>
              <a:t>FastAPI and Control Room 2; holds no broker credentials</a:t>
            </a:r>
            <a:endParaRPr lang="en-US" sz="1300" dirty="0"/>
          </a:p>
        </p:txBody>
      </p:sp>
      <p:sp>
        <p:nvSpPr>
          <p:cNvPr id="13" name="text-145"/>
          <p:cNvSpPr txBox="1"/>
          <p:nvPr/>
        </p:nvSpPr>
        <p:spPr>
          <a:xfrm>
            <a:off x="8503920" y="1591056"/>
            <a:ext cx="3139135" cy="274320"/>
          </a:xfrm>
          <a:prstGeom prst="rect">
            <a:avLst/>
          </a:prstGeom>
          <a:noFill/>
          <a:ln/>
        </p:spPr>
        <p:txBody>
          <a:bodyPr wrap="square" lIns="0" tIns="0" rIns="0" bIns="0" rtlCol="0" anchor="ctr"/>
          <a:lstStyle/>
          <a:p>
            <a:pPr indent="0" marL="0">
              <a:buNone/>
            </a:pPr>
            <a:r>
              <a:rPr lang="en-US" sz="1200" b="1" dirty="0">
                <a:solidFill>
                  <a:schemeClr val="tx2"/>
                </a:solidFill>
              </a:rPr>
              <a:t>Stage workers (contract v1.1)</a:t>
            </a:r>
            <a:endParaRPr lang="en-US" sz="1200" dirty="0"/>
          </a:p>
        </p:txBody>
      </p:sp>
      <p:sp>
        <p:nvSpPr>
          <p:cNvPr id="14" name="box-146"/>
          <p:cNvSpPr/>
          <p:nvPr/>
        </p:nvSpPr>
        <p:spPr>
          <a:xfrm>
            <a:off x="8503920" y="1920240"/>
            <a:ext cx="3139135" cy="804672"/>
          </a:xfrm>
          <a:prstGeom prst="roundRect">
            <a:avLst>
              <a:gd name="adj" fmla="val 6818"/>
            </a:avLst>
          </a:prstGeom>
          <a:solidFill>
            <a:schemeClr val="bg1"/>
          </a:solidFill>
          <a:ln w="12700">
            <a:solidFill>
              <a:schemeClr val="accent1"/>
            </a:solidFill>
          </a:ln>
        </p:spPr>
        <p:txBody>
          <a:bodyPr wrap="square" lIns="114300" tIns="25400" rIns="76200" bIns="25400" rtlCol="0" anchor="ctr"/>
          <a:lstStyle/>
          <a:p>
            <a:pPr algn="l" indent="0" marL="0">
              <a:buNone/>
            </a:pPr>
            <a:r>
              <a:rPr lang="en-US" sz="1300" b="1" dirty="0">
                <a:solidFill>
                  <a:schemeClr val="tx1"/>
                </a:solidFill>
              </a:rPr>
              <a:t>wega-vision  ·  KEDA, up to 115</a:t>
            </a:r>
            <a:endParaRPr lang="en-US" sz="1300" dirty="0"/>
          </a:p>
          <a:p>
            <a:pPr algn="l" indent="0" marL="0">
              <a:buNone/>
            </a:pPr>
            <a:r>
              <a:rPr lang="en-US" sz="1100" dirty="0">
                <a:solidFill>
                  <a:schemeClr val="tx2"/>
                </a:solidFill>
              </a:rPr>
              <a:t>slices, journals, OCRs via gateway cells</a:t>
            </a:r>
            <a:endParaRPr lang="en-US" sz="1300" dirty="0"/>
          </a:p>
        </p:txBody>
      </p:sp>
      <p:sp>
        <p:nvSpPr>
          <p:cNvPr id="15" name="box-147"/>
          <p:cNvSpPr/>
          <p:nvPr/>
        </p:nvSpPr>
        <p:spPr>
          <a:xfrm>
            <a:off x="8503920" y="2926080"/>
            <a:ext cx="3139135" cy="804672"/>
          </a:xfrm>
          <a:prstGeom prst="roundRect">
            <a:avLst>
              <a:gd name="adj" fmla="val 6818"/>
            </a:avLst>
          </a:prstGeom>
          <a:solidFill>
            <a:schemeClr val="bg1"/>
          </a:solidFill>
          <a:ln w="12700">
            <a:solidFill>
              <a:schemeClr val="accent1"/>
            </a:solidFill>
          </a:ln>
        </p:spPr>
        <p:txBody>
          <a:bodyPr wrap="square" lIns="114300" tIns="25400" rIns="76200" bIns="25400" rtlCol="0" anchor="ctr"/>
          <a:lstStyle/>
          <a:p>
            <a:pPr algn="l" indent="0" marL="0">
              <a:buNone/>
            </a:pPr>
            <a:r>
              <a:rPr lang="en-US" sz="1300" b="1" dirty="0">
                <a:solidFill>
                  <a:schemeClr val="tx1"/>
                </a:solidFill>
              </a:rPr>
              <a:t>wega-chunker</a:t>
            </a:r>
            <a:endParaRPr lang="en-US" sz="1300" dirty="0"/>
          </a:p>
          <a:p>
            <a:pPr algn="l" indent="0" marL="0">
              <a:buNone/>
            </a:pPr>
            <a:r>
              <a:rPr lang="en-US" sz="1100" dirty="0">
                <a:solidFill>
                  <a:schemeClr val="tx2"/>
                </a:solidFill>
              </a:rPr>
              <a:t>DES wega_parts, vendored verbatim</a:t>
            </a:r>
            <a:endParaRPr lang="en-US" sz="1300" dirty="0"/>
          </a:p>
        </p:txBody>
      </p:sp>
      <p:sp>
        <p:nvSpPr>
          <p:cNvPr id="16" name="box-148"/>
          <p:cNvSpPr/>
          <p:nvPr/>
        </p:nvSpPr>
        <p:spPr>
          <a:xfrm>
            <a:off x="8503920" y="3931920"/>
            <a:ext cx="3139135" cy="804672"/>
          </a:xfrm>
          <a:prstGeom prst="roundRect">
            <a:avLst>
              <a:gd name="adj" fmla="val 6818"/>
            </a:avLst>
          </a:prstGeom>
          <a:solidFill>
            <a:schemeClr val="bg1"/>
          </a:solidFill>
          <a:ln w="12700">
            <a:solidFill>
              <a:schemeClr val="accent1"/>
            </a:solidFill>
          </a:ln>
        </p:spPr>
        <p:txBody>
          <a:bodyPr wrap="square" lIns="114300" tIns="25400" rIns="76200" bIns="25400" rtlCol="0" anchor="ctr"/>
          <a:lstStyle/>
          <a:p>
            <a:pPr algn="l" indent="0" marL="0">
              <a:buNone/>
            </a:pPr>
            <a:r>
              <a:rPr lang="en-US" sz="1300" b="1" dirty="0">
                <a:solidFill>
                  <a:schemeClr val="tx1"/>
                </a:solidFill>
              </a:rPr>
              <a:t>wega-embedder + TEI</a:t>
            </a:r>
            <a:endParaRPr lang="en-US" sz="1300" dirty="0"/>
          </a:p>
          <a:p>
            <a:pPr algn="l" indent="0" marL="0">
              <a:buNone/>
            </a:pPr>
            <a:r>
              <a:rPr lang="en-US" sz="1100" dirty="0">
                <a:solidFill>
                  <a:schemeClr val="tx2"/>
                </a:solidFill>
              </a:rPr>
              <a:t>gte-large 1024-D → files + pgvector</a:t>
            </a:r>
            <a:endParaRPr lang="en-US" sz="1300" dirty="0"/>
          </a:p>
        </p:txBody>
      </p:sp>
      <p:sp>
        <p:nvSpPr>
          <p:cNvPr id="17" name="box-149"/>
          <p:cNvSpPr/>
          <p:nvPr/>
        </p:nvSpPr>
        <p:spPr>
          <a:xfrm>
            <a:off x="3291840" y="4956048"/>
            <a:ext cx="8351215" cy="512064"/>
          </a:xfrm>
          <a:prstGeom prst="roundRect">
            <a:avLst>
              <a:gd name="adj" fmla="val 10714"/>
            </a:avLst>
          </a:prstGeom>
          <a:solidFill>
            <a:schemeClr val="bg1"/>
          </a:solidFill>
          <a:ln w="12700">
            <a:solidFill>
              <a:schemeClr val="accent1"/>
            </a:solidFill>
          </a:ln>
        </p:spPr>
        <p:txBody>
          <a:bodyPr wrap="square" lIns="114300" tIns="25400" rIns="76200" bIns="25400" rtlCol="0" anchor="ctr"/>
          <a:lstStyle/>
          <a:p>
            <a:pPr algn="l" indent="0" marL="0">
              <a:buNone/>
            </a:pPr>
            <a:r>
              <a:rPr lang="en-US" sz="1300" b="1" dirty="0">
                <a:solidFill>
                  <a:schemeClr val="tx1"/>
                </a:solidFill>
              </a:rPr>
              <a:t>RabbitMQ: the cluster’s existing StatefulSet</a:t>
            </a:r>
            <a:endParaRPr lang="en-US" sz="1300" dirty="0"/>
          </a:p>
          <a:p>
            <a:pPr algn="l" indent="0" marL="0">
              <a:buNone/>
            </a:pPr>
            <a:r>
              <a:rPr lang="en-US" sz="1150" dirty="0">
                <a:solidFill>
                  <a:schemeClr val="tx2"/>
                </a:solidFill>
              </a:rPr>
              <a:t>vhost wega · 3 exchanges · 12 quorum queues · 5 policies · triggers only, all state in Postgres</a:t>
            </a:r>
            <a:endParaRPr lang="en-US" sz="1300" dirty="0"/>
          </a:p>
        </p:txBody>
      </p:sp>
      <p:sp>
        <p:nvSpPr>
          <p:cNvPr id="18" name="link-150"/>
          <p:cNvSpPr/>
          <p:nvPr/>
        </p:nvSpPr>
        <p:spPr>
          <a:xfrm>
            <a:off x="5783580" y="4754880"/>
            <a:ext cx="0" cy="173736"/>
          </a:xfrm>
          <a:prstGeom prst="line">
            <a:avLst/>
          </a:prstGeom>
          <a:noFill/>
          <a:ln w="19050">
            <a:solidFill>
              <a:schemeClr val="accent1"/>
            </a:solidFill>
            <a:prstDash val="solid"/>
            <a:tailEnd type="triangle"/>
          </a:ln>
        </p:spPr>
      </p:sp>
      <p:sp>
        <p:nvSpPr>
          <p:cNvPr id="19" name="particle-151"/>
          <p:cNvSpPr/>
          <p:nvPr/>
        </p:nvSpPr>
        <p:spPr>
          <a:xfrm>
            <a:off x="5751576" y="4809744"/>
            <a:ext cx="64008" cy="64008"/>
          </a:xfrm>
          <a:prstGeom prst="ellipse">
            <a:avLst/>
          </a:prstGeom>
          <a:solidFill>
            <a:schemeClr val="accent1"/>
          </a:solidFill>
          <a:ln/>
        </p:spPr>
      </p:sp>
      <p:sp>
        <p:nvSpPr>
          <p:cNvPr id="20" name="link-152"/>
          <p:cNvSpPr/>
          <p:nvPr/>
        </p:nvSpPr>
        <p:spPr>
          <a:xfrm>
            <a:off x="10073488" y="4754880"/>
            <a:ext cx="0" cy="173736"/>
          </a:xfrm>
          <a:prstGeom prst="line">
            <a:avLst/>
          </a:prstGeom>
          <a:noFill/>
          <a:ln w="19050">
            <a:solidFill>
              <a:schemeClr val="accent1"/>
            </a:solidFill>
            <a:prstDash val="solid"/>
            <a:tailEnd type="triangle"/>
          </a:ln>
        </p:spPr>
      </p:sp>
      <p:sp>
        <p:nvSpPr>
          <p:cNvPr id="21" name="particle-153"/>
          <p:cNvSpPr/>
          <p:nvPr/>
        </p:nvSpPr>
        <p:spPr>
          <a:xfrm>
            <a:off x="10041484" y="4809744"/>
            <a:ext cx="64008" cy="64008"/>
          </a:xfrm>
          <a:prstGeom prst="ellipse">
            <a:avLst/>
          </a:prstGeom>
          <a:solidFill>
            <a:schemeClr val="accent1"/>
          </a:solidFill>
          <a:ln/>
        </p:spPr>
      </p:sp>
      <p:sp>
        <p:nvSpPr>
          <p:cNvPr id="22" name="box-154"/>
          <p:cNvSpPr/>
          <p:nvPr/>
        </p:nvSpPr>
        <p:spPr>
          <a:xfrm>
            <a:off x="548640" y="5669280"/>
            <a:ext cx="3545738" cy="475488"/>
          </a:xfrm>
          <a:prstGeom prst="roundRect">
            <a:avLst>
              <a:gd name="adj" fmla="val 11538"/>
            </a:avLst>
          </a:prstGeom>
          <a:solidFill>
            <a:schemeClr val="tx1"/>
          </a:solidFill>
          <a:ln/>
        </p:spPr>
        <p:txBody>
          <a:bodyPr wrap="square" lIns="101600" tIns="38100" rIns="101600" bIns="38100" rtlCol="0" anchor="ctr"/>
          <a:lstStyle/>
          <a:p>
            <a:pPr algn="ctr" indent="0" marL="0">
              <a:buNone/>
            </a:pPr>
            <a:r>
              <a:rPr lang="en-US" sz="1250" b="1" dirty="0">
                <a:solidFill>
                  <a:schemeClr val="bg1"/>
                </a:solidFill>
              </a:rPr>
              <a:t>Postgres ledger</a:t>
            </a:r>
            <a:endParaRPr lang="en-US" sz="1250" dirty="0"/>
          </a:p>
          <a:p>
            <a:pPr algn="ctr" indent="0" marL="0">
              <a:buNone/>
            </a:pPr>
            <a:r>
              <a:rPr lang="en-US" sz="1050" dirty="0">
                <a:solidFill>
                  <a:schemeClr val="accent5"/>
                </a:solidFill>
              </a:rPr>
              <a:t>schema wega · 23 tables · the commit point</a:t>
            </a:r>
            <a:endParaRPr lang="en-US" sz="1250" dirty="0"/>
          </a:p>
        </p:txBody>
      </p:sp>
      <p:sp>
        <p:nvSpPr>
          <p:cNvPr id="23" name="box-155"/>
          <p:cNvSpPr/>
          <p:nvPr/>
        </p:nvSpPr>
        <p:spPr>
          <a:xfrm>
            <a:off x="4322978" y="5669280"/>
            <a:ext cx="3545738" cy="475488"/>
          </a:xfrm>
          <a:prstGeom prst="roundRect">
            <a:avLst>
              <a:gd name="adj" fmla="val 11538"/>
            </a:avLst>
          </a:prstGeom>
          <a:solidFill>
            <a:schemeClr val="tx1"/>
          </a:solidFill>
          <a:ln/>
        </p:spPr>
        <p:txBody>
          <a:bodyPr wrap="square" lIns="101600" tIns="38100" rIns="101600" bIns="38100" rtlCol="0" anchor="ctr"/>
          <a:lstStyle/>
          <a:p>
            <a:pPr algn="ctr" indent="0" marL="0">
              <a:buNone/>
            </a:pPr>
            <a:r>
              <a:rPr lang="en-US" sz="1250" b="1" dirty="0">
                <a:solidFill>
                  <a:schemeClr val="bg1"/>
                </a:solidFill>
              </a:rPr>
              <a:t>pgvector</a:t>
            </a:r>
            <a:endParaRPr lang="en-US" sz="1250" dirty="0"/>
          </a:p>
          <a:p>
            <a:pPr algn="ctr" indent="0" marL="0">
              <a:buNone/>
            </a:pPr>
            <a:r>
              <a:rPr lang="en-US" sz="1050" dirty="0">
                <a:solidFill>
                  <a:schemeClr val="accent5"/>
                </a:solidFill>
              </a:rPr>
              <a:t>wega_vectors · HNSW cosine · read by Retrieval</a:t>
            </a:r>
            <a:endParaRPr lang="en-US" sz="1250" dirty="0"/>
          </a:p>
        </p:txBody>
      </p:sp>
      <p:sp>
        <p:nvSpPr>
          <p:cNvPr id="24" name="box-156"/>
          <p:cNvSpPr/>
          <p:nvPr/>
        </p:nvSpPr>
        <p:spPr>
          <a:xfrm>
            <a:off x="8097317" y="5669280"/>
            <a:ext cx="3545738" cy="475488"/>
          </a:xfrm>
          <a:prstGeom prst="roundRect">
            <a:avLst>
              <a:gd name="adj" fmla="val 11538"/>
            </a:avLst>
          </a:prstGeom>
          <a:solidFill>
            <a:schemeClr val="tx1"/>
          </a:solidFill>
          <a:ln/>
        </p:spPr>
        <p:txBody>
          <a:bodyPr wrap="square" lIns="101600" tIns="38100" rIns="101600" bIns="38100" rtlCol="0" anchor="ctr"/>
          <a:lstStyle/>
          <a:p>
            <a:pPr algn="ctr" indent="0" marL="0">
              <a:buNone/>
            </a:pPr>
            <a:r>
              <a:rPr lang="en-US" sz="1250" b="1" dirty="0">
                <a:solidFill>
                  <a:schemeClr val="bg1"/>
                </a:solidFill>
              </a:rPr>
              <a:t>Shared RWX volume</a:t>
            </a:r>
            <a:endParaRPr lang="en-US" sz="1250" dirty="0"/>
          </a:p>
          <a:p>
            <a:pPr algn="ctr" indent="0" marL="0">
              <a:buNone/>
            </a:pPr>
            <a:r>
              <a:rPr lang="en-US" sz="1050" dirty="0">
                <a:solidFill>
                  <a:schemeClr val="accent5"/>
                </a:solidFill>
              </a:rPr>
              <a:t>wega-shared · write-once, attempt-scoped</a:t>
            </a:r>
            <a:endParaRPr lang="en-US" sz="12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2743200" cy="1143000"/>
          </a:xfrm>
          <a:prstGeom prst="rect">
            <a:avLst/>
          </a:prstGeom>
          <a:noFill/>
          <a:ln/>
        </p:spPr>
        <p:txBody>
          <a:bodyPr wrap="square" lIns="0" tIns="0" rIns="0" bIns="0" rtlCol="0" anchor="b"/>
          <a:lstStyle/>
          <a:p>
            <a:pPr algn="l" indent="0" marL="0">
              <a:buNone/>
            </a:pPr>
            <a:r>
              <a:rPr lang="en-US" sz="7200" b="1" dirty="0">
                <a:solidFill>
                  <a:schemeClr val="accent1"/>
                </a:solidFill>
              </a:rPr>
              <a:t>01</a:t>
            </a:r>
            <a:endParaRPr lang="en-US" sz="7200" dirty="0"/>
          </a:p>
        </p:txBody>
      </p:sp>
      <p:sp>
        <p:nvSpPr>
          <p:cNvPr id="3" name="Text 0"/>
          <p:cNvSpPr/>
          <p:nvPr>
            <p:ph idx="101" type="title" hasCustomPrompt="1"/>
          </p:nvPr>
        </p:nvSpPr>
        <p:spPr>
          <a:xfrm>
            <a:off x="731520" y="2697480"/>
            <a:ext cx="7498080" cy="1234440"/>
          </a:xfrm>
          <a:prstGeom prst="rect">
            <a:avLst/>
          </a:prstGeom>
          <a:noFill/>
          <a:ln/>
        </p:spPr>
        <p:txBody>
          <a:bodyPr wrap="square" lIns="0" tIns="0" rIns="0" bIns="0" rtlCol="0" anchor="t"/>
          <a:lstStyle/>
          <a:p>
            <a:pPr algn="l" indent="0" marL="0">
              <a:buNone/>
            </a:pPr>
            <a:r>
              <a:rPr lang="en-US" sz="3800" b="1" dirty="0">
                <a:solidFill>
                  <a:schemeClr val="bg1"/>
                </a:solidFill>
              </a:rPr>
              <a:t>Correctness by construction</a:t>
            </a:r>
            <a:endParaRPr lang="en-US" sz="3800" dirty="0"/>
          </a:p>
        </p:txBody>
      </p:sp>
      <p:sp>
        <p:nvSpPr>
          <p:cNvPr id="4" name="Text 0"/>
          <p:cNvSpPr/>
          <p:nvPr>
            <p:ph idx="102" type="body" hasCustomPrompt="1"/>
          </p:nvPr>
        </p:nvSpPr>
        <p:spPr>
          <a:xfrm>
            <a:off x="731520" y="4069080"/>
            <a:ext cx="7498080" cy="1188720"/>
          </a:xfrm>
          <a:prstGeom prst="rect">
            <a:avLst/>
          </a:prstGeom>
          <a:noFill/>
          <a:ln/>
        </p:spPr>
        <p:txBody>
          <a:bodyPr wrap="square" lIns="0" tIns="0" rIns="0" bIns="0" rtlCol="0" anchor="t"/>
          <a:lstStyle/>
          <a:p>
            <a:pPr algn="l" indent="0" marL="0">
              <a:buNone/>
            </a:pPr>
            <a:r>
              <a:rPr lang="en-US" sz="1800" dirty="0">
                <a:solidFill>
                  <a:schemeClr val="accent5"/>
                </a:solidFill>
              </a:rPr>
              <a:t>No loss, exactly-once effects, any pod may die at any instant: five mechanisms make the claim, ten invariants check it.</a:t>
            </a:r>
            <a:endParaRPr lang="en-US" sz="1800" dirty="0"/>
          </a:p>
        </p:txBody>
      </p:sp>
      <p:pic>
        <p:nvPicPr>
          <p:cNvPr id="6" name="icon-TbShieldCheck-157" descr="ShieldCheck">    </p:cNvPr>
          <p:cNvPicPr>
            <a:picLocks noChangeAspect="1"/>
          </p:cNvPicPr>
          <p:nvPr/>
        </p:nvPicPr>
        <p:blipFill>
          <a:blip r:embed="rId1"/>
          <a:stretch>
            <a:fillRect/>
          </a:stretch>
        </p:blipFill>
        <p:spPr>
          <a:xfrm>
            <a:off x="8961120" y="2286000"/>
            <a:ext cx="1828800" cy="1828800"/>
          </a:xfrm>
          <a:prstGeom prst="rect">
            <a:avLst/>
          </a:prstGeom>
        </p:spPr>
      </p:pic>
      <p:sp>
        <p:nvSpPr>
          <p:cNvPr id="7" name="section-frame-158"/>
          <p:cNvSpPr/>
          <p:nvPr/>
        </p:nvSpPr>
        <p:spPr>
          <a:xfrm>
            <a:off x="8549640" y="1874520"/>
            <a:ext cx="2651760" cy="2651760"/>
          </a:xfrm>
          <a:prstGeom prst="roundRect">
            <a:avLst>
              <a:gd name="adj" fmla="val 6897"/>
            </a:avLst>
          </a:prstGeom>
          <a:solidFill>
            <a:schemeClr val="bg1">
              <a:alpha val="6000"/>
            </a:schemeClr>
          </a:solidFill>
          <a:ln w="19050">
            <a:solidFill>
              <a:schemeClr val="accent1"/>
            </a:solidFill>
            <a:prstDash val="solid"/>
          </a:ln>
        </p:spPr>
      </p:sp>
      <p:sp>
        <p:nvSpPr>
          <p:cNvPr id="8" name="link-159"/>
          <p:cNvSpPr/>
          <p:nvPr/>
        </p:nvSpPr>
        <p:spPr>
          <a:xfrm>
            <a:off x="8549640" y="4846320"/>
            <a:ext cx="2651760" cy="0"/>
          </a:xfrm>
          <a:prstGeom prst="line">
            <a:avLst/>
          </a:prstGeom>
          <a:noFill/>
          <a:ln w="22225">
            <a:solidFill>
              <a:schemeClr val="accent1"/>
            </a:solidFill>
            <a:prstDash val="solid"/>
            <a:tailEnd type="triangle"/>
          </a:ln>
        </p:spPr>
      </p:sp>
      <p:sp>
        <p:nvSpPr>
          <p:cNvPr id="9" name="particle-160"/>
          <p:cNvSpPr/>
          <p:nvPr/>
        </p:nvSpPr>
        <p:spPr>
          <a:xfrm>
            <a:off x="8959596" y="4814316"/>
            <a:ext cx="64008" cy="64008"/>
          </a:xfrm>
          <a:prstGeom prst="ellipse">
            <a:avLst/>
          </a:prstGeom>
          <a:solidFill>
            <a:schemeClr val="accent1"/>
          </a:solidFill>
          <a:ln/>
        </p:spPr>
      </p:sp>
      <p:sp>
        <p:nvSpPr>
          <p:cNvPr id="10" name="particle-161"/>
          <p:cNvSpPr/>
          <p:nvPr/>
        </p:nvSpPr>
        <p:spPr>
          <a:xfrm>
            <a:off x="9401556" y="4814316"/>
            <a:ext cx="64008" cy="64008"/>
          </a:xfrm>
          <a:prstGeom prst="ellipse">
            <a:avLst/>
          </a:prstGeom>
          <a:solidFill>
            <a:schemeClr val="accent1"/>
          </a:solidFill>
          <a:ln/>
        </p:spPr>
      </p:sp>
      <p:sp>
        <p:nvSpPr>
          <p:cNvPr id="11" name="particle-162"/>
          <p:cNvSpPr/>
          <p:nvPr/>
        </p:nvSpPr>
        <p:spPr>
          <a:xfrm>
            <a:off x="9843516" y="4814316"/>
            <a:ext cx="64008" cy="64008"/>
          </a:xfrm>
          <a:prstGeom prst="ellipse">
            <a:avLst/>
          </a:prstGeom>
          <a:solidFill>
            <a:schemeClr val="accent1"/>
          </a:solidFill>
          <a:ln/>
        </p:spPr>
      </p:sp>
      <p:sp>
        <p:nvSpPr>
          <p:cNvPr id="12" name="particle-163"/>
          <p:cNvSpPr/>
          <p:nvPr/>
        </p:nvSpPr>
        <p:spPr>
          <a:xfrm>
            <a:off x="10285476" y="4814316"/>
            <a:ext cx="64008" cy="64008"/>
          </a:xfrm>
          <a:prstGeom prst="ellipse">
            <a:avLst/>
          </a:prstGeom>
          <a:solidFill>
            <a:schemeClr val="accent1"/>
          </a:solidFill>
          <a:ln/>
        </p:spPr>
      </p:sp>
      <p:sp>
        <p:nvSpPr>
          <p:cNvPr id="13" name="particle-164"/>
          <p:cNvSpPr/>
          <p:nvPr/>
        </p:nvSpPr>
        <p:spPr>
          <a:xfrm>
            <a:off x="10727436" y="4814316"/>
            <a:ext cx="64008" cy="64008"/>
          </a:xfrm>
          <a:prstGeom prst="ellipse">
            <a:avLst/>
          </a:prstGeom>
          <a:solidFill>
            <a:schemeClr val="accent1"/>
          </a:solidFill>
          <a:ln/>
        </p:spPr>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CORRECTNESS</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Five mechanisms make the claim; ten invariants check it</a:t>
            </a:r>
            <a:endParaRPr lang="en-US" sz="2800" dirty="0"/>
          </a:p>
        </p:txBody>
      </p:sp>
      <p:sp>
        <p:nvSpPr>
          <p:cNvPr id="5" name="card-165"/>
          <p:cNvSpPr/>
          <p:nvPr/>
        </p:nvSpPr>
        <p:spPr>
          <a:xfrm>
            <a:off x="548640" y="1627632"/>
            <a:ext cx="2043318" cy="2240280"/>
          </a:xfrm>
          <a:prstGeom prst="roundRect">
            <a:avLst>
              <a:gd name="adj" fmla="val 3580"/>
            </a:avLst>
          </a:prstGeom>
          <a:solidFill>
            <a:schemeClr val="bg1"/>
          </a:solidFill>
          <a:ln w="9525">
            <a:solidFill>
              <a:schemeClr val="accent6"/>
            </a:solidFill>
            <a:prstDash val="solid"/>
          </a:ln>
        </p:spPr>
      </p:sp>
      <p:sp>
        <p:nvSpPr>
          <p:cNvPr id="6" name="badge-166"/>
          <p:cNvSpPr/>
          <p:nvPr/>
        </p:nvSpPr>
        <p:spPr>
          <a:xfrm>
            <a:off x="731520" y="1810512"/>
            <a:ext cx="457200" cy="457200"/>
          </a:xfrm>
          <a:prstGeom prst="ellipse">
            <a:avLst/>
          </a:prstGeom>
          <a:solidFill>
            <a:schemeClr val="accent2"/>
          </a:solidFill>
          <a:ln/>
        </p:spPr>
      </p:sp>
      <p:pic>
        <p:nvPicPr>
          <p:cNvPr id="7" name="icon-TbDatabase-167" descr="Database">    </p:cNvPr>
          <p:cNvPicPr>
            <a:picLocks noChangeAspect="1"/>
          </p:cNvPicPr>
          <p:nvPr/>
        </p:nvPicPr>
        <p:blipFill>
          <a:blip r:embed="rId1"/>
          <a:stretch>
            <a:fillRect/>
          </a:stretch>
        </p:blipFill>
        <p:spPr>
          <a:xfrm>
            <a:off x="832104" y="1911096"/>
            <a:ext cx="256032" cy="256032"/>
          </a:xfrm>
          <a:prstGeom prst="rect">
            <a:avLst/>
          </a:prstGeom>
        </p:spPr>
      </p:pic>
      <p:sp>
        <p:nvSpPr>
          <p:cNvPr id="8" name="chip-168"/>
          <p:cNvSpPr/>
          <p:nvPr/>
        </p:nvSpPr>
        <p:spPr>
          <a:xfrm>
            <a:off x="2089038" y="1847088"/>
            <a:ext cx="329184" cy="329184"/>
          </a:xfrm>
          <a:prstGeom prst="ellipse">
            <a:avLst/>
          </a:prstGeom>
          <a:solidFill>
            <a:schemeClr val="bg2"/>
          </a:solid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9" name="block-169"/>
          <p:cNvSpPr txBox="1"/>
          <p:nvPr/>
        </p:nvSpPr>
        <p:spPr>
          <a:xfrm>
            <a:off x="731520" y="2377440"/>
            <a:ext cx="1677558" cy="14173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One commit point</a:t>
            </a:r>
            <a:endParaRPr lang="en-US" sz="1400" dirty="0"/>
          </a:p>
          <a:p>
            <a:pPr indent="0" marL="0">
              <a:spcAft>
                <a:spcPts val="200"/>
              </a:spcAft>
              <a:buNone/>
            </a:pPr>
            <a:r>
              <a:rPr lang="en-US" sz="1250" dirty="0">
                <a:solidFill>
                  <a:schemeClr val="tx2"/>
                </a:solidFill>
              </a:rPr>
              <a:t>Every outside effect is a Postgres task row, claimed with SKIP LOCKED and applied idempotently.</a:t>
            </a:r>
            <a:endParaRPr lang="en-US" sz="1400" dirty="0"/>
          </a:p>
        </p:txBody>
      </p:sp>
      <p:sp>
        <p:nvSpPr>
          <p:cNvPr id="10" name="card-170"/>
          <p:cNvSpPr/>
          <p:nvPr/>
        </p:nvSpPr>
        <p:spPr>
          <a:xfrm>
            <a:off x="2811414" y="1627632"/>
            <a:ext cx="2043318" cy="2240280"/>
          </a:xfrm>
          <a:prstGeom prst="roundRect">
            <a:avLst>
              <a:gd name="adj" fmla="val 3580"/>
            </a:avLst>
          </a:prstGeom>
          <a:solidFill>
            <a:schemeClr val="bg1"/>
          </a:solidFill>
          <a:ln w="9525">
            <a:solidFill>
              <a:schemeClr val="accent6"/>
            </a:solidFill>
            <a:prstDash val="solid"/>
          </a:ln>
        </p:spPr>
      </p:sp>
      <p:sp>
        <p:nvSpPr>
          <p:cNvPr id="11" name="badge-171"/>
          <p:cNvSpPr/>
          <p:nvPr/>
        </p:nvSpPr>
        <p:spPr>
          <a:xfrm>
            <a:off x="2994294" y="1810512"/>
            <a:ext cx="457200" cy="457200"/>
          </a:xfrm>
          <a:prstGeom prst="ellipse">
            <a:avLst/>
          </a:prstGeom>
          <a:solidFill>
            <a:schemeClr val="accent2"/>
          </a:solidFill>
          <a:ln/>
        </p:spPr>
      </p:sp>
      <p:pic>
        <p:nvPicPr>
          <p:cNvPr id="12" name="icon-TbFingerprint-172" descr="Fingerprint">    </p:cNvPr>
          <p:cNvPicPr>
            <a:picLocks noChangeAspect="1"/>
          </p:cNvPicPr>
          <p:nvPr/>
        </p:nvPicPr>
        <p:blipFill>
          <a:blip r:embed="rId2"/>
          <a:stretch>
            <a:fillRect/>
          </a:stretch>
        </p:blipFill>
        <p:spPr>
          <a:xfrm>
            <a:off x="3094878" y="1911096"/>
            <a:ext cx="256032" cy="256032"/>
          </a:xfrm>
          <a:prstGeom prst="rect">
            <a:avLst/>
          </a:prstGeom>
        </p:spPr>
      </p:pic>
      <p:sp>
        <p:nvSpPr>
          <p:cNvPr id="13" name="chip-173"/>
          <p:cNvSpPr/>
          <p:nvPr/>
        </p:nvSpPr>
        <p:spPr>
          <a:xfrm>
            <a:off x="4351812" y="1847088"/>
            <a:ext cx="329184" cy="329184"/>
          </a:xfrm>
          <a:prstGeom prst="ellipse">
            <a:avLst/>
          </a:prstGeom>
          <a:solidFill>
            <a:schemeClr val="bg2"/>
          </a:solidFill>
          <a:ln/>
        </p:spPr>
        <p:txBody>
          <a:bodyPr wrap="square" lIns="0" tIns="0" rIns="0" bIns="0" rtlCol="0" anchor="ctr"/>
          <a:lstStyle/>
          <a:p>
            <a:pPr algn="ctr" indent="0" marL="0">
              <a:buNone/>
            </a:pPr>
            <a:r>
              <a:rPr lang="en-US" sz="1200" b="1" dirty="0">
                <a:solidFill>
                  <a:schemeClr val="accent2"/>
                </a:solidFill>
              </a:rPr>
              <a:t>2</a:t>
            </a:r>
            <a:endParaRPr lang="en-US" sz="1200" dirty="0"/>
          </a:p>
        </p:txBody>
      </p:sp>
      <p:sp>
        <p:nvSpPr>
          <p:cNvPr id="14" name="block-174"/>
          <p:cNvSpPr txBox="1"/>
          <p:nvPr/>
        </p:nvSpPr>
        <p:spPr>
          <a:xfrm>
            <a:off x="2994294" y="2377440"/>
            <a:ext cx="1677558" cy="14173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Deterministic ids</a:t>
            </a:r>
            <a:endParaRPr lang="en-US" sz="1400" dirty="0"/>
          </a:p>
          <a:p>
            <a:pPr indent="0" marL="0">
              <a:spcAft>
                <a:spcPts val="200"/>
              </a:spcAft>
              <a:buNone/>
            </a:pPr>
            <a:r>
              <a:rPr lang="en-US" sz="1250" dirty="0">
                <a:solidFill>
                  <a:schemeClr val="tx2"/>
                </a:solidFill>
              </a:rPr>
              <a:t>UUIDv5 message ids and write-once paths: a result applies at most once per id.</a:t>
            </a:r>
            <a:endParaRPr lang="en-US" sz="1400" dirty="0"/>
          </a:p>
        </p:txBody>
      </p:sp>
      <p:sp>
        <p:nvSpPr>
          <p:cNvPr id="15" name="card-175"/>
          <p:cNvSpPr/>
          <p:nvPr/>
        </p:nvSpPr>
        <p:spPr>
          <a:xfrm>
            <a:off x="5074188" y="1627632"/>
            <a:ext cx="2043318" cy="2240280"/>
          </a:xfrm>
          <a:prstGeom prst="roundRect">
            <a:avLst>
              <a:gd name="adj" fmla="val 3580"/>
            </a:avLst>
          </a:prstGeom>
          <a:solidFill>
            <a:schemeClr val="bg1"/>
          </a:solidFill>
          <a:ln w="9525">
            <a:solidFill>
              <a:schemeClr val="accent6"/>
            </a:solidFill>
            <a:prstDash val="solid"/>
          </a:ln>
        </p:spPr>
      </p:sp>
      <p:sp>
        <p:nvSpPr>
          <p:cNvPr id="16" name="badge-176"/>
          <p:cNvSpPr/>
          <p:nvPr/>
        </p:nvSpPr>
        <p:spPr>
          <a:xfrm>
            <a:off x="5257068" y="1810512"/>
            <a:ext cx="457200" cy="457200"/>
          </a:xfrm>
          <a:prstGeom prst="ellipse">
            <a:avLst/>
          </a:prstGeom>
          <a:solidFill>
            <a:schemeClr val="accent2"/>
          </a:solidFill>
          <a:ln/>
        </p:spPr>
      </p:sp>
      <p:pic>
        <p:nvPicPr>
          <p:cNvPr id="17" name="icon-TbArrowBackUp-177" descr="ArrowBackUp">    </p:cNvPr>
          <p:cNvPicPr>
            <a:picLocks noChangeAspect="1"/>
          </p:cNvPicPr>
          <p:nvPr/>
        </p:nvPicPr>
        <p:blipFill>
          <a:blip r:embed="rId3"/>
          <a:stretch>
            <a:fillRect/>
          </a:stretch>
        </p:blipFill>
        <p:spPr>
          <a:xfrm>
            <a:off x="5357652" y="1911096"/>
            <a:ext cx="256032" cy="256032"/>
          </a:xfrm>
          <a:prstGeom prst="rect">
            <a:avLst/>
          </a:prstGeom>
        </p:spPr>
      </p:pic>
      <p:sp>
        <p:nvSpPr>
          <p:cNvPr id="18" name="chip-178"/>
          <p:cNvSpPr/>
          <p:nvPr/>
        </p:nvSpPr>
        <p:spPr>
          <a:xfrm>
            <a:off x="6614587" y="1847088"/>
            <a:ext cx="329184" cy="329184"/>
          </a:xfrm>
          <a:prstGeom prst="ellipse">
            <a:avLst/>
          </a:prstGeom>
          <a:solidFill>
            <a:schemeClr val="bg2"/>
          </a:solidFill>
          <a:ln/>
        </p:spPr>
        <p:txBody>
          <a:bodyPr wrap="square" lIns="0" tIns="0" rIns="0" bIns="0" rtlCol="0" anchor="ctr"/>
          <a:lstStyle/>
          <a:p>
            <a:pPr algn="ctr" indent="0" marL="0">
              <a:buNone/>
            </a:pPr>
            <a:r>
              <a:rPr lang="en-US" sz="1200" b="1" dirty="0">
                <a:solidFill>
                  <a:schemeClr val="accent2"/>
                </a:solidFill>
              </a:rPr>
              <a:t>3</a:t>
            </a:r>
            <a:endParaRPr lang="en-US" sz="1200" dirty="0"/>
          </a:p>
        </p:txBody>
      </p:sp>
      <p:sp>
        <p:nvSpPr>
          <p:cNvPr id="19" name="block-179"/>
          <p:cNvSpPr txBox="1"/>
          <p:nvPr/>
        </p:nvSpPr>
        <p:spPr>
          <a:xfrm>
            <a:off x="5257068" y="2377440"/>
            <a:ext cx="1677558" cy="14173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Workers never nack</a:t>
            </a:r>
            <a:endParaRPr lang="en-US" sz="1400" dirty="0"/>
          </a:p>
          <a:p>
            <a:pPr indent="0" marL="0">
              <a:spcAft>
                <a:spcPts val="200"/>
              </a:spcAft>
              <a:buNone/>
            </a:pPr>
            <a:r>
              <a:rPr lang="en-US" sz="1250" dirty="0">
                <a:solidFill>
                  <a:schemeClr val="tx2"/>
                </a:solidFill>
              </a:rPr>
              <a:t>Every delivery ends as a published result, then an ack. Only a crash redelivers.</a:t>
            </a:r>
            <a:endParaRPr lang="en-US" sz="1400" dirty="0"/>
          </a:p>
        </p:txBody>
      </p:sp>
      <p:sp>
        <p:nvSpPr>
          <p:cNvPr id="20" name="card-180"/>
          <p:cNvSpPr/>
          <p:nvPr/>
        </p:nvSpPr>
        <p:spPr>
          <a:xfrm>
            <a:off x="7336963" y="1627632"/>
            <a:ext cx="2043318" cy="2240280"/>
          </a:xfrm>
          <a:prstGeom prst="roundRect">
            <a:avLst>
              <a:gd name="adj" fmla="val 3580"/>
            </a:avLst>
          </a:prstGeom>
          <a:solidFill>
            <a:schemeClr val="bg1"/>
          </a:solidFill>
          <a:ln w="9525">
            <a:solidFill>
              <a:schemeClr val="accent6"/>
            </a:solidFill>
            <a:prstDash val="solid"/>
          </a:ln>
        </p:spPr>
      </p:sp>
      <p:sp>
        <p:nvSpPr>
          <p:cNvPr id="21" name="badge-181"/>
          <p:cNvSpPr/>
          <p:nvPr/>
        </p:nvSpPr>
        <p:spPr>
          <a:xfrm>
            <a:off x="7519843" y="1810512"/>
            <a:ext cx="457200" cy="457200"/>
          </a:xfrm>
          <a:prstGeom prst="ellipse">
            <a:avLst/>
          </a:prstGeom>
          <a:solidFill>
            <a:schemeClr val="accent2"/>
          </a:solidFill>
          <a:ln/>
        </p:spPr>
      </p:sp>
      <p:pic>
        <p:nvPicPr>
          <p:cNvPr id="22" name="icon-TbFileCheck-182" descr="FileCheck">    </p:cNvPr>
          <p:cNvPicPr>
            <a:picLocks noChangeAspect="1"/>
          </p:cNvPicPr>
          <p:nvPr/>
        </p:nvPicPr>
        <p:blipFill>
          <a:blip r:embed="rId4"/>
          <a:stretch>
            <a:fillRect/>
          </a:stretch>
        </p:blipFill>
        <p:spPr>
          <a:xfrm>
            <a:off x="7620427" y="1911096"/>
            <a:ext cx="256032" cy="256032"/>
          </a:xfrm>
          <a:prstGeom prst="rect">
            <a:avLst/>
          </a:prstGeom>
        </p:spPr>
      </p:pic>
      <p:sp>
        <p:nvSpPr>
          <p:cNvPr id="23" name="chip-183"/>
          <p:cNvSpPr/>
          <p:nvPr/>
        </p:nvSpPr>
        <p:spPr>
          <a:xfrm>
            <a:off x="8877361" y="1847088"/>
            <a:ext cx="329184" cy="329184"/>
          </a:xfrm>
          <a:prstGeom prst="ellipse">
            <a:avLst/>
          </a:prstGeom>
          <a:solidFill>
            <a:schemeClr val="bg2"/>
          </a:solidFill>
          <a:ln/>
        </p:spPr>
        <p:txBody>
          <a:bodyPr wrap="square" lIns="0" tIns="0" rIns="0" bIns="0" rtlCol="0" anchor="ctr"/>
          <a:lstStyle/>
          <a:p>
            <a:pPr algn="ctr" indent="0" marL="0">
              <a:buNone/>
            </a:pPr>
            <a:r>
              <a:rPr lang="en-US" sz="1200" b="1" dirty="0">
                <a:solidFill>
                  <a:schemeClr val="accent2"/>
                </a:solidFill>
              </a:rPr>
              <a:t>4</a:t>
            </a:r>
            <a:endParaRPr lang="en-US" sz="1200" dirty="0"/>
          </a:p>
        </p:txBody>
      </p:sp>
      <p:sp>
        <p:nvSpPr>
          <p:cNvPr id="24" name="block-184"/>
          <p:cNvSpPr txBox="1"/>
          <p:nvPr/>
        </p:nvSpPr>
        <p:spPr>
          <a:xfrm>
            <a:off x="7519843" y="2377440"/>
            <a:ext cx="1677558" cy="14173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No double submits</a:t>
            </a:r>
            <a:endParaRPr lang="en-US" sz="1400" dirty="0"/>
          </a:p>
          <a:p>
            <a:pPr indent="0" marL="0">
              <a:spcAft>
                <a:spcPts val="200"/>
              </a:spcAft>
              <a:buNone/>
            </a:pPr>
            <a:r>
              <a:rPr lang="en-US" sz="1250" dirty="0">
                <a:solidFill>
                  <a:schemeClr val="tx2"/>
                </a:solidFill>
              </a:rPr>
              <a:t>Vision’s journal lets any later attempt adopt running or finished gateway jobs.</a:t>
            </a:r>
            <a:endParaRPr lang="en-US" sz="1400" dirty="0"/>
          </a:p>
        </p:txBody>
      </p:sp>
      <p:sp>
        <p:nvSpPr>
          <p:cNvPr id="25" name="card-185"/>
          <p:cNvSpPr/>
          <p:nvPr/>
        </p:nvSpPr>
        <p:spPr>
          <a:xfrm>
            <a:off x="9599737" y="1627632"/>
            <a:ext cx="2043318" cy="2240280"/>
          </a:xfrm>
          <a:prstGeom prst="roundRect">
            <a:avLst>
              <a:gd name="adj" fmla="val 3580"/>
            </a:avLst>
          </a:prstGeom>
          <a:solidFill>
            <a:schemeClr val="bg1"/>
          </a:solidFill>
          <a:ln w="9525">
            <a:solidFill>
              <a:schemeClr val="accent6"/>
            </a:solidFill>
            <a:prstDash val="solid"/>
          </a:ln>
        </p:spPr>
      </p:sp>
      <p:sp>
        <p:nvSpPr>
          <p:cNvPr id="26" name="badge-186"/>
          <p:cNvSpPr/>
          <p:nvPr/>
        </p:nvSpPr>
        <p:spPr>
          <a:xfrm>
            <a:off x="9782617" y="1810512"/>
            <a:ext cx="457200" cy="457200"/>
          </a:xfrm>
          <a:prstGeom prst="ellipse">
            <a:avLst/>
          </a:prstGeom>
          <a:solidFill>
            <a:schemeClr val="accent2"/>
          </a:solidFill>
          <a:ln/>
        </p:spPr>
      </p:sp>
      <p:pic>
        <p:nvPicPr>
          <p:cNvPr id="27" name="icon-TbGauge-187" descr="Gauge">    </p:cNvPr>
          <p:cNvPicPr>
            <a:picLocks noChangeAspect="1"/>
          </p:cNvPicPr>
          <p:nvPr/>
        </p:nvPicPr>
        <p:blipFill>
          <a:blip r:embed="rId5"/>
          <a:stretch>
            <a:fillRect/>
          </a:stretch>
        </p:blipFill>
        <p:spPr>
          <a:xfrm>
            <a:off x="9883201" y="1911096"/>
            <a:ext cx="256032" cy="256032"/>
          </a:xfrm>
          <a:prstGeom prst="rect">
            <a:avLst/>
          </a:prstGeom>
        </p:spPr>
      </p:pic>
      <p:sp>
        <p:nvSpPr>
          <p:cNvPr id="28" name="chip-188"/>
          <p:cNvSpPr/>
          <p:nvPr/>
        </p:nvSpPr>
        <p:spPr>
          <a:xfrm>
            <a:off x="11140135" y="1847088"/>
            <a:ext cx="329184" cy="329184"/>
          </a:xfrm>
          <a:prstGeom prst="ellipse">
            <a:avLst/>
          </a:prstGeom>
          <a:solidFill>
            <a:schemeClr val="bg2"/>
          </a:solidFill>
          <a:ln/>
        </p:spPr>
        <p:txBody>
          <a:bodyPr wrap="square" lIns="0" tIns="0" rIns="0" bIns="0" rtlCol="0" anchor="ctr"/>
          <a:lstStyle/>
          <a:p>
            <a:pPr algn="ctr" indent="0" marL="0">
              <a:buNone/>
            </a:pPr>
            <a:r>
              <a:rPr lang="en-US" sz="1200" b="1" dirty="0">
                <a:solidFill>
                  <a:schemeClr val="accent2"/>
                </a:solidFill>
              </a:rPr>
              <a:t>5</a:t>
            </a:r>
            <a:endParaRPr lang="en-US" sz="1200" dirty="0"/>
          </a:p>
        </p:txBody>
      </p:sp>
      <p:sp>
        <p:nvSpPr>
          <p:cNvPr id="29" name="block-189"/>
          <p:cNvSpPr txBox="1"/>
          <p:nvPr/>
        </p:nvSpPr>
        <p:spPr>
          <a:xfrm>
            <a:off x="9782617" y="2377440"/>
            <a:ext cx="1677558" cy="14173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Slots set the pace</a:t>
            </a:r>
            <a:endParaRPr lang="en-US" sz="1400" dirty="0"/>
          </a:p>
          <a:p>
            <a:pPr indent="0" marL="0">
              <a:spcAft>
                <a:spcPts val="200"/>
              </a:spcAft>
              <a:buNone/>
            </a:pPr>
            <a:r>
              <a:rPr lang="en-US" sz="1250" dirty="0">
                <a:solidFill>
                  <a:schemeClr val="tx2"/>
                </a:solidFill>
              </a:rPr>
              <a:t>Admission is sized in OCR slots, not pods; backlog waits in Postgres.</a:t>
            </a:r>
            <a:endParaRPr lang="en-US" sz="1400" dirty="0"/>
          </a:p>
        </p:txBody>
      </p:sp>
      <p:sp>
        <p:nvSpPr>
          <p:cNvPr id="30" name="text-190"/>
          <p:cNvSpPr txBox="1"/>
          <p:nvPr/>
        </p:nvSpPr>
        <p:spPr>
          <a:xfrm>
            <a:off x="548640" y="3986784"/>
            <a:ext cx="11094415" cy="310896"/>
          </a:xfrm>
          <a:prstGeom prst="rect">
            <a:avLst/>
          </a:prstGeom>
          <a:noFill/>
          <a:ln/>
        </p:spPr>
        <p:txBody>
          <a:bodyPr wrap="square" lIns="0" tIns="0" rIns="0" bIns="0" rtlCol="0" anchor="t"/>
          <a:lstStyle/>
          <a:p>
            <a:pPr indent="0" marL="0">
              <a:buNone/>
            </a:pPr>
            <a:r>
              <a:rPr lang="en-US" sz="1300" i="1" dirty="0">
                <a:solidFill>
                  <a:schemeClr val="tx2"/>
                </a:solidFill>
              </a:rPr>
              <a:t>The claim is exactly-once effects, not exactly-once delivery: duplicate messages and compute are expected, and absorbed.</a:t>
            </a:r>
            <a:endParaRPr lang="en-US" sz="1300" dirty="0"/>
          </a:p>
        </p:txBody>
      </p:sp>
      <p:sp>
        <p:nvSpPr>
          <p:cNvPr id="31" name="text-191"/>
          <p:cNvSpPr txBox="1"/>
          <p:nvPr/>
        </p:nvSpPr>
        <p:spPr>
          <a:xfrm>
            <a:off x="548640" y="4370832"/>
            <a:ext cx="11094415" cy="292608"/>
          </a:xfrm>
          <a:prstGeom prst="rect">
            <a:avLst/>
          </a:prstGeom>
          <a:noFill/>
          <a:ln/>
        </p:spPr>
        <p:txBody>
          <a:bodyPr wrap="square" lIns="0" tIns="0" rIns="0" bIns="0" rtlCol="0" anchor="t"/>
          <a:lstStyle/>
          <a:p>
            <a:pPr indent="0" marL="0">
              <a:buNone/>
            </a:pPr>
            <a:r>
              <a:rPr lang="en-US" sz="1300" b="1" dirty="0">
                <a:solidFill>
                  <a:schemeClr val="tx1"/>
                </a:solidFill>
              </a:rPr>
              <a:t>Ten invariants, checked from independent ledgers after every end-to-end run</a:t>
            </a:r>
            <a:endParaRPr lang="en-US" sz="1300" dirty="0"/>
          </a:p>
        </p:txBody>
      </p:sp>
      <p:sp>
        <p:nvSpPr>
          <p:cNvPr id="32" name="card-192"/>
          <p:cNvSpPr/>
          <p:nvPr/>
        </p:nvSpPr>
        <p:spPr>
          <a:xfrm>
            <a:off x="548640" y="4700016"/>
            <a:ext cx="2043318" cy="640080"/>
          </a:xfrm>
          <a:prstGeom prst="roundRect">
            <a:avLst>
              <a:gd name="adj" fmla="val 11429"/>
            </a:avLst>
          </a:prstGeom>
          <a:solidFill>
            <a:schemeClr val="bg1"/>
          </a:solidFill>
          <a:ln w="9525">
            <a:solidFill>
              <a:schemeClr val="accent6"/>
            </a:solidFill>
            <a:prstDash val="solid"/>
          </a:ln>
        </p:spPr>
      </p:sp>
      <p:sp>
        <p:nvSpPr>
          <p:cNvPr id="33" name="text-193"/>
          <p:cNvSpPr txBox="1"/>
          <p:nvPr/>
        </p:nvSpPr>
        <p:spPr>
          <a:xfrm>
            <a:off x="676656" y="4745736"/>
            <a:ext cx="1787286" cy="548640"/>
          </a:xfrm>
          <a:prstGeom prst="rect">
            <a:avLst/>
          </a:prstGeom>
          <a:noFill/>
          <a:ln/>
        </p:spPr>
        <p:txBody>
          <a:bodyPr wrap="square" lIns="0" tIns="0" rIns="0" bIns="0" rtlCol="0" anchor="ctr"/>
          <a:lstStyle/>
          <a:p>
            <a:pPr indent="0" marL="0">
              <a:buNone/>
            </a:pPr>
            <a:r>
              <a:rPr lang="en-US" sz="1150" b="1" dirty="0">
                <a:solidFill>
                  <a:schemeClr val="accent2"/>
                </a:solidFill>
              </a:rPr>
              <a:t>I1  </a:t>
            </a:r>
            <a:pPr indent="0" marL="0">
              <a:buNone/>
            </a:pPr>
            <a:r>
              <a:rPr lang="en-US" sz="1150" dirty="0">
                <a:solidFill>
                  <a:schemeClr val="tx1"/>
                </a:solidFill>
              </a:rPr>
              <a:t>one terminal outcome per submission</a:t>
            </a:r>
            <a:endParaRPr lang="en-US" sz="1150" dirty="0"/>
          </a:p>
        </p:txBody>
      </p:sp>
      <p:sp>
        <p:nvSpPr>
          <p:cNvPr id="34" name="card-194"/>
          <p:cNvSpPr/>
          <p:nvPr/>
        </p:nvSpPr>
        <p:spPr>
          <a:xfrm>
            <a:off x="2811414" y="4700016"/>
            <a:ext cx="2043318" cy="640080"/>
          </a:xfrm>
          <a:prstGeom prst="roundRect">
            <a:avLst>
              <a:gd name="adj" fmla="val 11429"/>
            </a:avLst>
          </a:prstGeom>
          <a:solidFill>
            <a:schemeClr val="bg1"/>
          </a:solidFill>
          <a:ln w="9525">
            <a:solidFill>
              <a:schemeClr val="accent6"/>
            </a:solidFill>
            <a:prstDash val="solid"/>
          </a:ln>
        </p:spPr>
      </p:sp>
      <p:sp>
        <p:nvSpPr>
          <p:cNvPr id="35" name="text-195"/>
          <p:cNvSpPr txBox="1"/>
          <p:nvPr/>
        </p:nvSpPr>
        <p:spPr>
          <a:xfrm>
            <a:off x="2939430" y="4745736"/>
            <a:ext cx="1787286" cy="548640"/>
          </a:xfrm>
          <a:prstGeom prst="rect">
            <a:avLst/>
          </a:prstGeom>
          <a:noFill/>
          <a:ln/>
        </p:spPr>
        <p:txBody>
          <a:bodyPr wrap="square" lIns="0" tIns="0" rIns="0" bIns="0" rtlCol="0" anchor="ctr"/>
          <a:lstStyle/>
          <a:p>
            <a:pPr indent="0" marL="0">
              <a:buNone/>
            </a:pPr>
            <a:r>
              <a:rPr lang="en-US" sz="1150" b="1" dirty="0">
                <a:solidFill>
                  <a:schemeClr val="accent2"/>
                </a:solidFill>
              </a:rPr>
              <a:t>I2  </a:t>
            </a:r>
            <a:pPr indent="0" marL="0">
              <a:buNone/>
            </a:pPr>
            <a:r>
              <a:rPr lang="en-US" sz="1150" dirty="0">
                <a:solidFill>
                  <a:schemeClr val="tx1"/>
                </a:solidFill>
              </a:rPr>
              <a:t>each Oracle transition at most once, in order</a:t>
            </a:r>
            <a:endParaRPr lang="en-US" sz="1150" dirty="0"/>
          </a:p>
        </p:txBody>
      </p:sp>
      <p:sp>
        <p:nvSpPr>
          <p:cNvPr id="36" name="card-196"/>
          <p:cNvSpPr/>
          <p:nvPr/>
        </p:nvSpPr>
        <p:spPr>
          <a:xfrm>
            <a:off x="5074188" y="4700016"/>
            <a:ext cx="2043318" cy="640080"/>
          </a:xfrm>
          <a:prstGeom prst="roundRect">
            <a:avLst>
              <a:gd name="adj" fmla="val 11429"/>
            </a:avLst>
          </a:prstGeom>
          <a:solidFill>
            <a:schemeClr val="bg1"/>
          </a:solidFill>
          <a:ln w="9525">
            <a:solidFill>
              <a:schemeClr val="accent6"/>
            </a:solidFill>
            <a:prstDash val="solid"/>
          </a:ln>
        </p:spPr>
      </p:sp>
      <p:sp>
        <p:nvSpPr>
          <p:cNvPr id="37" name="text-197"/>
          <p:cNvSpPr txBox="1"/>
          <p:nvPr/>
        </p:nvSpPr>
        <p:spPr>
          <a:xfrm>
            <a:off x="5202204" y="4745736"/>
            <a:ext cx="1787286" cy="548640"/>
          </a:xfrm>
          <a:prstGeom prst="rect">
            <a:avLst/>
          </a:prstGeom>
          <a:noFill/>
          <a:ln/>
        </p:spPr>
        <p:txBody>
          <a:bodyPr wrap="square" lIns="0" tIns="0" rIns="0" bIns="0" rtlCol="0" anchor="ctr"/>
          <a:lstStyle/>
          <a:p>
            <a:pPr indent="0" marL="0">
              <a:buNone/>
            </a:pPr>
            <a:r>
              <a:rPr lang="en-US" sz="1150" b="1" dirty="0">
                <a:solidFill>
                  <a:schemeClr val="accent2"/>
                </a:solidFill>
              </a:rPr>
              <a:t>I3  </a:t>
            </a:r>
            <a:pPr indent="0" marL="0">
              <a:buNone/>
            </a:pPr>
            <a:r>
              <a:rPr lang="en-US" sz="1150" dirty="0">
                <a:solidFill>
                  <a:schemeClr val="tx1"/>
                </a:solidFill>
              </a:rPr>
              <a:t>at most one gateway submit per slice</a:t>
            </a:r>
            <a:endParaRPr lang="en-US" sz="1150" dirty="0"/>
          </a:p>
        </p:txBody>
      </p:sp>
      <p:sp>
        <p:nvSpPr>
          <p:cNvPr id="38" name="card-198"/>
          <p:cNvSpPr/>
          <p:nvPr/>
        </p:nvSpPr>
        <p:spPr>
          <a:xfrm>
            <a:off x="7336963" y="4700016"/>
            <a:ext cx="2043318" cy="640080"/>
          </a:xfrm>
          <a:prstGeom prst="roundRect">
            <a:avLst>
              <a:gd name="adj" fmla="val 11429"/>
            </a:avLst>
          </a:prstGeom>
          <a:solidFill>
            <a:schemeClr val="bg1"/>
          </a:solidFill>
          <a:ln w="9525">
            <a:solidFill>
              <a:schemeClr val="accent6"/>
            </a:solidFill>
            <a:prstDash val="solid"/>
          </a:ln>
        </p:spPr>
      </p:sp>
      <p:sp>
        <p:nvSpPr>
          <p:cNvPr id="39" name="text-199"/>
          <p:cNvSpPr txBox="1"/>
          <p:nvPr/>
        </p:nvSpPr>
        <p:spPr>
          <a:xfrm>
            <a:off x="7464979" y="4745736"/>
            <a:ext cx="1787286" cy="548640"/>
          </a:xfrm>
          <a:prstGeom prst="rect">
            <a:avLst/>
          </a:prstGeom>
          <a:noFill/>
          <a:ln/>
        </p:spPr>
        <p:txBody>
          <a:bodyPr wrap="square" lIns="0" tIns="0" rIns="0" bIns="0" rtlCol="0" anchor="ctr"/>
          <a:lstStyle/>
          <a:p>
            <a:pPr indent="0" marL="0">
              <a:buNone/>
            </a:pPr>
            <a:r>
              <a:rPr lang="en-US" sz="1150" b="1" dirty="0">
                <a:solidFill>
                  <a:schemeClr val="accent2"/>
                </a:solidFill>
              </a:rPr>
              <a:t>I4  </a:t>
            </a:r>
            <a:pPr indent="0" marL="0">
              <a:buNone/>
            </a:pPr>
            <a:r>
              <a:rPr lang="en-US" sz="1150" dirty="0">
                <a:solidFill>
                  <a:schemeClr val="tx1"/>
                </a:solidFill>
              </a:rPr>
              <a:t>every required artifact in S3 with its hash</a:t>
            </a:r>
            <a:endParaRPr lang="en-US" sz="1150" dirty="0"/>
          </a:p>
        </p:txBody>
      </p:sp>
      <p:sp>
        <p:nvSpPr>
          <p:cNvPr id="40" name="card-200"/>
          <p:cNvSpPr/>
          <p:nvPr/>
        </p:nvSpPr>
        <p:spPr>
          <a:xfrm>
            <a:off x="9599737" y="4700016"/>
            <a:ext cx="2043318" cy="640080"/>
          </a:xfrm>
          <a:prstGeom prst="roundRect">
            <a:avLst>
              <a:gd name="adj" fmla="val 11429"/>
            </a:avLst>
          </a:prstGeom>
          <a:solidFill>
            <a:schemeClr val="bg1"/>
          </a:solidFill>
          <a:ln w="9525">
            <a:solidFill>
              <a:schemeClr val="accent6"/>
            </a:solidFill>
            <a:prstDash val="solid"/>
          </a:ln>
        </p:spPr>
      </p:sp>
      <p:sp>
        <p:nvSpPr>
          <p:cNvPr id="41" name="text-201"/>
          <p:cNvSpPr txBox="1"/>
          <p:nvPr/>
        </p:nvSpPr>
        <p:spPr>
          <a:xfrm>
            <a:off x="9727753" y="4745736"/>
            <a:ext cx="1787286" cy="548640"/>
          </a:xfrm>
          <a:prstGeom prst="rect">
            <a:avLst/>
          </a:prstGeom>
          <a:noFill/>
          <a:ln/>
        </p:spPr>
        <p:txBody>
          <a:bodyPr wrap="square" lIns="0" tIns="0" rIns="0" bIns="0" rtlCol="0" anchor="ctr"/>
          <a:lstStyle/>
          <a:p>
            <a:pPr indent="0" marL="0">
              <a:buNone/>
            </a:pPr>
            <a:r>
              <a:rPr lang="en-US" sz="1150" b="1" dirty="0">
                <a:solidFill>
                  <a:schemeClr val="accent2"/>
                </a:solidFill>
              </a:rPr>
              <a:t>I5  </a:t>
            </a:r>
            <a:pPr indent="0" marL="0">
              <a:buNone/>
            </a:pPr>
            <a:r>
              <a:rPr lang="en-US" sz="1150" dirty="0">
                <a:solidFill>
                  <a:schemeClr val="tx1"/>
                </a:solidFill>
              </a:rPr>
              <a:t>queues empty at rest; dead letters accounted</a:t>
            </a:r>
            <a:endParaRPr lang="en-US" sz="1150" dirty="0"/>
          </a:p>
        </p:txBody>
      </p:sp>
      <p:sp>
        <p:nvSpPr>
          <p:cNvPr id="42" name="card-202"/>
          <p:cNvSpPr/>
          <p:nvPr/>
        </p:nvSpPr>
        <p:spPr>
          <a:xfrm>
            <a:off x="548640" y="5468112"/>
            <a:ext cx="2043318" cy="640080"/>
          </a:xfrm>
          <a:prstGeom prst="roundRect">
            <a:avLst>
              <a:gd name="adj" fmla="val 11429"/>
            </a:avLst>
          </a:prstGeom>
          <a:solidFill>
            <a:schemeClr val="bg1"/>
          </a:solidFill>
          <a:ln w="9525">
            <a:solidFill>
              <a:schemeClr val="accent6"/>
            </a:solidFill>
            <a:prstDash val="solid"/>
          </a:ln>
        </p:spPr>
      </p:sp>
      <p:sp>
        <p:nvSpPr>
          <p:cNvPr id="43" name="text-203"/>
          <p:cNvSpPr txBox="1"/>
          <p:nvPr/>
        </p:nvSpPr>
        <p:spPr>
          <a:xfrm>
            <a:off x="676656" y="5513832"/>
            <a:ext cx="1787286" cy="548640"/>
          </a:xfrm>
          <a:prstGeom prst="rect">
            <a:avLst/>
          </a:prstGeom>
          <a:noFill/>
          <a:ln/>
        </p:spPr>
        <p:txBody>
          <a:bodyPr wrap="square" lIns="0" tIns="0" rIns="0" bIns="0" rtlCol="0" anchor="ctr"/>
          <a:lstStyle/>
          <a:p>
            <a:pPr indent="0" marL="0">
              <a:buNone/>
            </a:pPr>
            <a:r>
              <a:rPr lang="en-US" sz="1150" b="1" dirty="0">
                <a:solidFill>
                  <a:schemeClr val="accent2"/>
                </a:solidFill>
              </a:rPr>
              <a:t>I6  </a:t>
            </a:r>
            <a:pPr indent="0" marL="0">
              <a:buNone/>
            </a:pPr>
            <a:r>
              <a:rPr lang="en-US" sz="1150" dirty="0">
                <a:solidFill>
                  <a:schemeClr val="tx1"/>
                </a:solidFill>
              </a:rPr>
              <a:t>outbox fully published or cancelled</a:t>
            </a:r>
            <a:endParaRPr lang="en-US" sz="1150" dirty="0"/>
          </a:p>
        </p:txBody>
      </p:sp>
      <p:sp>
        <p:nvSpPr>
          <p:cNvPr id="44" name="card-204"/>
          <p:cNvSpPr/>
          <p:nvPr/>
        </p:nvSpPr>
        <p:spPr>
          <a:xfrm>
            <a:off x="2811414" y="5468112"/>
            <a:ext cx="2043318" cy="640080"/>
          </a:xfrm>
          <a:prstGeom prst="roundRect">
            <a:avLst>
              <a:gd name="adj" fmla="val 11429"/>
            </a:avLst>
          </a:prstGeom>
          <a:solidFill>
            <a:schemeClr val="bg1"/>
          </a:solidFill>
          <a:ln w="9525">
            <a:solidFill>
              <a:schemeClr val="accent6"/>
            </a:solidFill>
            <a:prstDash val="solid"/>
          </a:ln>
        </p:spPr>
      </p:sp>
      <p:sp>
        <p:nvSpPr>
          <p:cNvPr id="45" name="text-205"/>
          <p:cNvSpPr txBox="1"/>
          <p:nvPr/>
        </p:nvSpPr>
        <p:spPr>
          <a:xfrm>
            <a:off x="2939430" y="5513832"/>
            <a:ext cx="1787286" cy="548640"/>
          </a:xfrm>
          <a:prstGeom prst="rect">
            <a:avLst/>
          </a:prstGeom>
          <a:noFill/>
          <a:ln/>
        </p:spPr>
        <p:txBody>
          <a:bodyPr wrap="square" lIns="0" tIns="0" rIns="0" bIns="0" rtlCol="0" anchor="ctr"/>
          <a:lstStyle/>
          <a:p>
            <a:pPr indent="0" marL="0">
              <a:buNone/>
            </a:pPr>
            <a:r>
              <a:rPr lang="en-US" sz="1150" b="1" dirty="0">
                <a:solidFill>
                  <a:schemeClr val="accent2"/>
                </a:solidFill>
              </a:rPr>
              <a:t>I7  </a:t>
            </a:r>
            <a:pPr indent="0" marL="0">
              <a:buNone/>
            </a:pPr>
            <a:r>
              <a:rPr lang="en-US" sz="1150" dirty="0">
                <a:solidFill>
                  <a:schemeClr val="tx1"/>
                </a:solidFill>
              </a:rPr>
              <a:t>no duplicate effects in any store</a:t>
            </a:r>
            <a:endParaRPr lang="en-US" sz="1150" dirty="0"/>
          </a:p>
        </p:txBody>
      </p:sp>
      <p:sp>
        <p:nvSpPr>
          <p:cNvPr id="46" name="card-206"/>
          <p:cNvSpPr/>
          <p:nvPr/>
        </p:nvSpPr>
        <p:spPr>
          <a:xfrm>
            <a:off x="5074188" y="5468112"/>
            <a:ext cx="2043318" cy="640080"/>
          </a:xfrm>
          <a:prstGeom prst="roundRect">
            <a:avLst>
              <a:gd name="adj" fmla="val 11429"/>
            </a:avLst>
          </a:prstGeom>
          <a:solidFill>
            <a:schemeClr val="bg1"/>
          </a:solidFill>
          <a:ln w="9525">
            <a:solidFill>
              <a:schemeClr val="accent6"/>
            </a:solidFill>
            <a:prstDash val="solid"/>
          </a:ln>
        </p:spPr>
      </p:sp>
      <p:sp>
        <p:nvSpPr>
          <p:cNvPr id="47" name="text-207"/>
          <p:cNvSpPr txBox="1"/>
          <p:nvPr/>
        </p:nvSpPr>
        <p:spPr>
          <a:xfrm>
            <a:off x="5202204" y="5513832"/>
            <a:ext cx="1787286" cy="548640"/>
          </a:xfrm>
          <a:prstGeom prst="rect">
            <a:avLst/>
          </a:prstGeom>
          <a:noFill/>
          <a:ln/>
        </p:spPr>
        <p:txBody>
          <a:bodyPr wrap="square" lIns="0" tIns="0" rIns="0" bIns="0" rtlCol="0" anchor="ctr"/>
          <a:lstStyle/>
          <a:p>
            <a:pPr indent="0" marL="0">
              <a:buNone/>
            </a:pPr>
            <a:r>
              <a:rPr lang="en-US" sz="1150" b="1" dirty="0">
                <a:solidFill>
                  <a:schemeClr val="accent2"/>
                </a:solidFill>
              </a:rPr>
              <a:t>I8  </a:t>
            </a:r>
            <a:pPr indent="0" marL="0">
              <a:buNone/>
            </a:pPr>
            <a:r>
              <a:rPr lang="en-US" sz="1150" dirty="0">
                <a:solidFill>
                  <a:schemeClr val="tx1"/>
                </a:solidFill>
              </a:rPr>
              <a:t>no PII canary in logs, traces, metrics or APIs</a:t>
            </a:r>
            <a:endParaRPr lang="en-US" sz="1150" dirty="0"/>
          </a:p>
        </p:txBody>
      </p:sp>
      <p:sp>
        <p:nvSpPr>
          <p:cNvPr id="48" name="card-208"/>
          <p:cNvSpPr/>
          <p:nvPr/>
        </p:nvSpPr>
        <p:spPr>
          <a:xfrm>
            <a:off x="7336963" y="5468112"/>
            <a:ext cx="2043318" cy="640080"/>
          </a:xfrm>
          <a:prstGeom prst="roundRect">
            <a:avLst>
              <a:gd name="adj" fmla="val 11429"/>
            </a:avLst>
          </a:prstGeom>
          <a:solidFill>
            <a:schemeClr val="bg1"/>
          </a:solidFill>
          <a:ln w="9525">
            <a:solidFill>
              <a:schemeClr val="accent6"/>
            </a:solidFill>
            <a:prstDash val="solid"/>
          </a:ln>
        </p:spPr>
      </p:sp>
      <p:sp>
        <p:nvSpPr>
          <p:cNvPr id="49" name="text-209"/>
          <p:cNvSpPr txBox="1"/>
          <p:nvPr/>
        </p:nvSpPr>
        <p:spPr>
          <a:xfrm>
            <a:off x="7464979" y="5513832"/>
            <a:ext cx="1787286" cy="548640"/>
          </a:xfrm>
          <a:prstGeom prst="rect">
            <a:avLst/>
          </a:prstGeom>
          <a:noFill/>
          <a:ln/>
        </p:spPr>
        <p:txBody>
          <a:bodyPr wrap="square" lIns="0" tIns="0" rIns="0" bIns="0" rtlCol="0" anchor="ctr"/>
          <a:lstStyle/>
          <a:p>
            <a:pPr indent="0" marL="0">
              <a:buNone/>
            </a:pPr>
            <a:r>
              <a:rPr lang="en-US" sz="1150" b="1" dirty="0">
                <a:solidFill>
                  <a:schemeClr val="accent2"/>
                </a:solidFill>
              </a:rPr>
              <a:t>I9  </a:t>
            </a:r>
            <a:pPr indent="0" marL="0">
              <a:buNone/>
            </a:pPr>
            <a:r>
              <a:rPr lang="en-US" sz="1150" dirty="0">
                <a:solidFill>
                  <a:schemeClr val="tx1"/>
                </a:solidFill>
              </a:rPr>
              <a:t>every role loop has a fresh heartbeat</a:t>
            </a:r>
            <a:endParaRPr lang="en-US" sz="1150" dirty="0"/>
          </a:p>
        </p:txBody>
      </p:sp>
      <p:sp>
        <p:nvSpPr>
          <p:cNvPr id="50" name="card-210"/>
          <p:cNvSpPr/>
          <p:nvPr/>
        </p:nvSpPr>
        <p:spPr>
          <a:xfrm>
            <a:off x="9599737" y="5468112"/>
            <a:ext cx="2043318" cy="640080"/>
          </a:xfrm>
          <a:prstGeom prst="roundRect">
            <a:avLst>
              <a:gd name="adj" fmla="val 11429"/>
            </a:avLst>
          </a:prstGeom>
          <a:solidFill>
            <a:schemeClr val="bg1"/>
          </a:solidFill>
          <a:ln w="9525">
            <a:solidFill>
              <a:schemeClr val="accent6"/>
            </a:solidFill>
            <a:prstDash val="solid"/>
          </a:ln>
        </p:spPr>
      </p:sp>
      <p:sp>
        <p:nvSpPr>
          <p:cNvPr id="51" name="text-211"/>
          <p:cNvSpPr txBox="1"/>
          <p:nvPr/>
        </p:nvSpPr>
        <p:spPr>
          <a:xfrm>
            <a:off x="9727753" y="5513832"/>
            <a:ext cx="1787286" cy="548640"/>
          </a:xfrm>
          <a:prstGeom prst="rect">
            <a:avLst/>
          </a:prstGeom>
          <a:noFill/>
          <a:ln/>
        </p:spPr>
        <p:txBody>
          <a:bodyPr wrap="square" lIns="0" tIns="0" rIns="0" bIns="0" rtlCol="0" anchor="ctr"/>
          <a:lstStyle/>
          <a:p>
            <a:pPr indent="0" marL="0">
              <a:buNone/>
            </a:pPr>
            <a:r>
              <a:rPr lang="en-US" sz="1150" b="1" dirty="0">
                <a:solidFill>
                  <a:schemeClr val="accent2"/>
                </a:solidFill>
              </a:rPr>
              <a:t>I10  </a:t>
            </a:r>
            <a:pPr indent="0" marL="0">
              <a:buNone/>
            </a:pPr>
            <a:r>
              <a:rPr lang="en-US" sz="1150" dirty="0">
                <a:solidFill>
                  <a:schemeClr val="tx1"/>
                </a:solidFill>
              </a:rPr>
              <a:t>metrics reconcile with the database</a:t>
            </a:r>
            <a:endParaRPr lang="en-US" sz="11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CORRECTNESS · MESSAGING</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Published only after commit, applied at most once</a:t>
            </a:r>
            <a:endParaRPr lang="en-US" sz="2800" dirty="0"/>
          </a:p>
        </p:txBody>
      </p:sp>
      <p:sp>
        <p:nvSpPr>
          <p:cNvPr id="5" name="card-212"/>
          <p:cNvSpPr/>
          <p:nvPr/>
        </p:nvSpPr>
        <p:spPr>
          <a:xfrm>
            <a:off x="548640" y="1645920"/>
            <a:ext cx="2464994" cy="1691640"/>
          </a:xfrm>
          <a:prstGeom prst="roundRect">
            <a:avLst>
              <a:gd name="adj" fmla="val 4324"/>
            </a:avLst>
          </a:prstGeom>
          <a:solidFill>
            <a:schemeClr val="bg1"/>
          </a:solidFill>
          <a:ln w="9525">
            <a:solidFill>
              <a:schemeClr val="accent6"/>
            </a:solidFill>
            <a:prstDash val="solid"/>
          </a:ln>
        </p:spPr>
      </p:sp>
      <p:sp>
        <p:nvSpPr>
          <p:cNvPr id="6" name="chip-213"/>
          <p:cNvSpPr/>
          <p:nvPr/>
        </p:nvSpPr>
        <p:spPr>
          <a:xfrm>
            <a:off x="731520" y="1810512"/>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block-214"/>
          <p:cNvSpPr txBox="1"/>
          <p:nvPr/>
        </p:nvSpPr>
        <p:spPr>
          <a:xfrm>
            <a:off x="731520" y="2240280"/>
            <a:ext cx="2099234" cy="1051560"/>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Ledger transaction</a:t>
            </a:r>
            <a:endParaRPr lang="en-US" sz="1450" dirty="0"/>
          </a:p>
          <a:p>
            <a:pPr indent="0" marL="0">
              <a:spcAft>
                <a:spcPts val="200"/>
              </a:spcAft>
              <a:buNone/>
            </a:pPr>
            <a:r>
              <a:rPr lang="en-US" sz="1250" dirty="0">
                <a:solidFill>
                  <a:schemeClr val="tx2"/>
                </a:solidFill>
              </a:rPr>
              <a:t>State change and outbox row commit together; nothing outside Postgres has happened.</a:t>
            </a:r>
            <a:endParaRPr lang="en-US" sz="1450" dirty="0"/>
          </a:p>
        </p:txBody>
      </p:sp>
      <p:sp>
        <p:nvSpPr>
          <p:cNvPr id="8" name="link-215"/>
          <p:cNvSpPr/>
          <p:nvPr/>
        </p:nvSpPr>
        <p:spPr>
          <a:xfrm>
            <a:off x="3050210" y="2487168"/>
            <a:ext cx="338328" cy="0"/>
          </a:xfrm>
          <a:prstGeom prst="line">
            <a:avLst/>
          </a:prstGeom>
          <a:noFill/>
          <a:ln w="19050">
            <a:solidFill>
              <a:schemeClr val="accent1"/>
            </a:solidFill>
            <a:prstDash val="solid"/>
            <a:tailEnd type="triangle"/>
          </a:ln>
        </p:spPr>
      </p:sp>
      <p:sp>
        <p:nvSpPr>
          <p:cNvPr id="9" name="particle-216"/>
          <p:cNvSpPr/>
          <p:nvPr/>
        </p:nvSpPr>
        <p:spPr>
          <a:xfrm>
            <a:off x="3187370" y="2455164"/>
            <a:ext cx="64008" cy="64008"/>
          </a:xfrm>
          <a:prstGeom prst="ellipse">
            <a:avLst/>
          </a:prstGeom>
          <a:solidFill>
            <a:schemeClr val="accent1"/>
          </a:solidFill>
          <a:ln/>
        </p:spPr>
      </p:sp>
      <p:sp>
        <p:nvSpPr>
          <p:cNvPr id="10" name="card-217"/>
          <p:cNvSpPr/>
          <p:nvPr/>
        </p:nvSpPr>
        <p:spPr>
          <a:xfrm>
            <a:off x="548640" y="3520440"/>
            <a:ext cx="2464994" cy="1051560"/>
          </a:xfrm>
          <a:prstGeom prst="roundRect">
            <a:avLst>
              <a:gd name="adj" fmla="val 6957"/>
            </a:avLst>
          </a:prstGeom>
          <a:solidFill>
            <a:schemeClr val="bg1"/>
          </a:solidFill>
          <a:ln w="9525">
            <a:solidFill>
              <a:schemeClr val="accent3"/>
            </a:solidFill>
            <a:prstDash val="solid"/>
          </a:ln>
        </p:spPr>
      </p:sp>
      <p:pic>
        <p:nvPicPr>
          <p:cNvPr id="11" name="icon-TbBolt-218" descr="Bolt">    </p:cNvPr>
          <p:cNvPicPr>
            <a:picLocks noChangeAspect="1"/>
          </p:cNvPicPr>
          <p:nvPr/>
        </p:nvPicPr>
        <p:blipFill>
          <a:blip r:embed="rId1"/>
          <a:stretch>
            <a:fillRect/>
          </a:stretch>
        </p:blipFill>
        <p:spPr>
          <a:xfrm>
            <a:off x="694944" y="3630168"/>
            <a:ext cx="274320" cy="274320"/>
          </a:xfrm>
          <a:prstGeom prst="rect">
            <a:avLst/>
          </a:prstGeom>
        </p:spPr>
      </p:pic>
      <p:sp>
        <p:nvSpPr>
          <p:cNvPr id="12" name="text-219"/>
          <p:cNvSpPr txBox="1"/>
          <p:nvPr/>
        </p:nvSpPr>
        <p:spPr>
          <a:xfrm>
            <a:off x="1024128" y="3593592"/>
            <a:ext cx="1861490" cy="914400"/>
          </a:xfrm>
          <a:prstGeom prst="rect">
            <a:avLst/>
          </a:prstGeom>
          <a:noFill/>
          <a:ln/>
        </p:spPr>
        <p:txBody>
          <a:bodyPr wrap="square" lIns="0" tIns="0" rIns="0" bIns="0" rtlCol="0" anchor="t"/>
          <a:lstStyle/>
          <a:p>
            <a:pPr indent="0" marL="0">
              <a:buNone/>
            </a:pPr>
            <a:r>
              <a:rPr lang="en-US" sz="1200" b="1" dirty="0">
                <a:solidFill>
                  <a:schemeClr val="accent3"/>
                </a:solidFill>
              </a:rPr>
              <a:t>Crash here: </a:t>
            </a:r>
            <a:pPr indent="0" marL="0">
              <a:buNone/>
            </a:pPr>
            <a:r>
              <a:rPr lang="en-US" sz="1200" dirty="0">
                <a:solidFill>
                  <a:schemeClr val="tx1"/>
                </a:solidFill>
              </a:rPr>
              <a:t>Rolled back: no message, no effect.</a:t>
            </a:r>
            <a:endParaRPr lang="en-US" sz="1200" dirty="0"/>
          </a:p>
        </p:txBody>
      </p:sp>
      <p:sp>
        <p:nvSpPr>
          <p:cNvPr id="13" name="card-220"/>
          <p:cNvSpPr/>
          <p:nvPr/>
        </p:nvSpPr>
        <p:spPr>
          <a:xfrm>
            <a:off x="3425114" y="1645920"/>
            <a:ext cx="2464994" cy="1691640"/>
          </a:xfrm>
          <a:prstGeom prst="roundRect">
            <a:avLst>
              <a:gd name="adj" fmla="val 4324"/>
            </a:avLst>
          </a:prstGeom>
          <a:solidFill>
            <a:schemeClr val="bg1"/>
          </a:solidFill>
          <a:ln w="9525">
            <a:solidFill>
              <a:schemeClr val="accent6"/>
            </a:solidFill>
            <a:prstDash val="solid"/>
          </a:ln>
        </p:spPr>
      </p:sp>
      <p:sp>
        <p:nvSpPr>
          <p:cNvPr id="14" name="chip-221"/>
          <p:cNvSpPr/>
          <p:nvPr/>
        </p:nvSpPr>
        <p:spPr>
          <a:xfrm>
            <a:off x="3607994" y="1810512"/>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block-222"/>
          <p:cNvSpPr txBox="1"/>
          <p:nvPr/>
        </p:nvSpPr>
        <p:spPr>
          <a:xfrm>
            <a:off x="3607994" y="2240280"/>
            <a:ext cx="2099234" cy="1051560"/>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Relay publishes</a:t>
            </a:r>
            <a:endParaRPr lang="en-US" sz="1450" dirty="0"/>
          </a:p>
          <a:p>
            <a:pPr indent="0" marL="0">
              <a:spcAft>
                <a:spcPts val="200"/>
              </a:spcAft>
              <a:buNone/>
            </a:pPr>
            <a:r>
              <a:rPr lang="en-US" sz="1250" dirty="0">
                <a:solidFill>
                  <a:schemeClr val="tx2"/>
                </a:solidFill>
              </a:rPr>
              <a:t>SKIP LOCKED claim, publisher confirms, mandatory routing, then record.</a:t>
            </a:r>
            <a:endParaRPr lang="en-US" sz="1450" dirty="0"/>
          </a:p>
        </p:txBody>
      </p:sp>
      <p:sp>
        <p:nvSpPr>
          <p:cNvPr id="16" name="link-223"/>
          <p:cNvSpPr/>
          <p:nvPr/>
        </p:nvSpPr>
        <p:spPr>
          <a:xfrm>
            <a:off x="5926684" y="2487168"/>
            <a:ext cx="338328" cy="0"/>
          </a:xfrm>
          <a:prstGeom prst="line">
            <a:avLst/>
          </a:prstGeom>
          <a:noFill/>
          <a:ln w="19050">
            <a:solidFill>
              <a:schemeClr val="accent1"/>
            </a:solidFill>
            <a:prstDash val="solid"/>
            <a:tailEnd type="triangle"/>
          </a:ln>
        </p:spPr>
      </p:sp>
      <p:sp>
        <p:nvSpPr>
          <p:cNvPr id="17" name="particle-224"/>
          <p:cNvSpPr/>
          <p:nvPr/>
        </p:nvSpPr>
        <p:spPr>
          <a:xfrm>
            <a:off x="6063844" y="2455164"/>
            <a:ext cx="64008" cy="64008"/>
          </a:xfrm>
          <a:prstGeom prst="ellipse">
            <a:avLst/>
          </a:prstGeom>
          <a:solidFill>
            <a:schemeClr val="accent1"/>
          </a:solidFill>
          <a:ln/>
        </p:spPr>
      </p:sp>
      <p:sp>
        <p:nvSpPr>
          <p:cNvPr id="18" name="card-225"/>
          <p:cNvSpPr/>
          <p:nvPr/>
        </p:nvSpPr>
        <p:spPr>
          <a:xfrm>
            <a:off x="3425114" y="3520440"/>
            <a:ext cx="2464994" cy="1051560"/>
          </a:xfrm>
          <a:prstGeom prst="roundRect">
            <a:avLst>
              <a:gd name="adj" fmla="val 6957"/>
            </a:avLst>
          </a:prstGeom>
          <a:solidFill>
            <a:schemeClr val="bg1"/>
          </a:solidFill>
          <a:ln w="9525">
            <a:solidFill>
              <a:schemeClr val="accent3"/>
            </a:solidFill>
            <a:prstDash val="solid"/>
          </a:ln>
        </p:spPr>
      </p:sp>
      <p:pic>
        <p:nvPicPr>
          <p:cNvPr id="19" name="icon-TbBolt-226" descr="Bolt">    </p:cNvPr>
          <p:cNvPicPr>
            <a:picLocks noChangeAspect="1"/>
          </p:cNvPicPr>
          <p:nvPr/>
        </p:nvPicPr>
        <p:blipFill>
          <a:blip r:embed="rId2"/>
          <a:stretch>
            <a:fillRect/>
          </a:stretch>
        </p:blipFill>
        <p:spPr>
          <a:xfrm>
            <a:off x="3571418" y="3630168"/>
            <a:ext cx="274320" cy="274320"/>
          </a:xfrm>
          <a:prstGeom prst="rect">
            <a:avLst/>
          </a:prstGeom>
        </p:spPr>
      </p:pic>
      <p:sp>
        <p:nvSpPr>
          <p:cNvPr id="20" name="text-227"/>
          <p:cNvSpPr txBox="1"/>
          <p:nvPr/>
        </p:nvSpPr>
        <p:spPr>
          <a:xfrm>
            <a:off x="3900602" y="3593592"/>
            <a:ext cx="1861490" cy="914400"/>
          </a:xfrm>
          <a:prstGeom prst="rect">
            <a:avLst/>
          </a:prstGeom>
          <a:noFill/>
          <a:ln/>
        </p:spPr>
        <p:txBody>
          <a:bodyPr wrap="square" lIns="0" tIns="0" rIns="0" bIns="0" rtlCol="0" anchor="t"/>
          <a:lstStyle/>
          <a:p>
            <a:pPr indent="0" marL="0">
              <a:buNone/>
            </a:pPr>
            <a:r>
              <a:rPr lang="en-US" sz="1200" b="1" dirty="0">
                <a:solidFill>
                  <a:schemeClr val="accent3"/>
                </a:solidFill>
              </a:rPr>
              <a:t>Crash here: </a:t>
            </a:r>
            <a:pPr indent="0" marL="0">
              <a:buNone/>
            </a:pPr>
            <a:r>
              <a:rPr lang="en-US" sz="1200" dirty="0">
                <a:solidFill>
                  <a:schemeClr val="tx1"/>
                </a:solidFill>
              </a:rPr>
              <a:t>After confirm, before record: same id and body republished, absorbed.</a:t>
            </a:r>
            <a:endParaRPr lang="en-US" sz="1200" dirty="0"/>
          </a:p>
        </p:txBody>
      </p:sp>
      <p:sp>
        <p:nvSpPr>
          <p:cNvPr id="21" name="card-228"/>
          <p:cNvSpPr/>
          <p:nvPr/>
        </p:nvSpPr>
        <p:spPr>
          <a:xfrm>
            <a:off x="6301588" y="1645920"/>
            <a:ext cx="2464994" cy="1691640"/>
          </a:xfrm>
          <a:prstGeom prst="roundRect">
            <a:avLst>
              <a:gd name="adj" fmla="val 4324"/>
            </a:avLst>
          </a:prstGeom>
          <a:solidFill>
            <a:schemeClr val="bg1"/>
          </a:solidFill>
          <a:ln w="9525">
            <a:solidFill>
              <a:schemeClr val="accent6"/>
            </a:solidFill>
            <a:prstDash val="solid"/>
          </a:ln>
        </p:spPr>
      </p:sp>
      <p:sp>
        <p:nvSpPr>
          <p:cNvPr id="22" name="chip-229"/>
          <p:cNvSpPr/>
          <p:nvPr/>
        </p:nvSpPr>
        <p:spPr>
          <a:xfrm>
            <a:off x="6484468" y="1810512"/>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3" name="block-230"/>
          <p:cNvSpPr txBox="1"/>
          <p:nvPr/>
        </p:nvSpPr>
        <p:spPr>
          <a:xfrm>
            <a:off x="6484468" y="2240280"/>
            <a:ext cx="2099234" cy="1051560"/>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Worker</a:t>
            </a:r>
            <a:endParaRPr lang="en-US" sz="1450" dirty="0"/>
          </a:p>
          <a:p>
            <a:pPr indent="0" marL="0">
              <a:spcAft>
                <a:spcPts val="200"/>
              </a:spcAft>
              <a:buNone/>
            </a:pPr>
            <a:r>
              <a:rPr lang="en-US" sz="1250" dirty="0">
                <a:solidFill>
                  <a:schemeClr val="tx2"/>
                </a:solidFill>
              </a:rPr>
              <a:t>Commit outputs, publish the result, wait for the confirm, then ack. Never nack.</a:t>
            </a:r>
            <a:endParaRPr lang="en-US" sz="1450" dirty="0"/>
          </a:p>
        </p:txBody>
      </p:sp>
      <p:sp>
        <p:nvSpPr>
          <p:cNvPr id="24" name="link-231"/>
          <p:cNvSpPr/>
          <p:nvPr/>
        </p:nvSpPr>
        <p:spPr>
          <a:xfrm>
            <a:off x="8803157" y="2487168"/>
            <a:ext cx="338328" cy="0"/>
          </a:xfrm>
          <a:prstGeom prst="line">
            <a:avLst/>
          </a:prstGeom>
          <a:noFill/>
          <a:ln w="19050">
            <a:solidFill>
              <a:schemeClr val="accent1"/>
            </a:solidFill>
            <a:prstDash val="solid"/>
            <a:tailEnd type="triangle"/>
          </a:ln>
        </p:spPr>
      </p:sp>
      <p:sp>
        <p:nvSpPr>
          <p:cNvPr id="25" name="particle-232"/>
          <p:cNvSpPr/>
          <p:nvPr/>
        </p:nvSpPr>
        <p:spPr>
          <a:xfrm>
            <a:off x="8940317" y="2455164"/>
            <a:ext cx="64008" cy="64008"/>
          </a:xfrm>
          <a:prstGeom prst="ellipse">
            <a:avLst/>
          </a:prstGeom>
          <a:solidFill>
            <a:schemeClr val="accent1"/>
          </a:solidFill>
          <a:ln/>
        </p:spPr>
      </p:sp>
      <p:sp>
        <p:nvSpPr>
          <p:cNvPr id="26" name="card-233"/>
          <p:cNvSpPr/>
          <p:nvPr/>
        </p:nvSpPr>
        <p:spPr>
          <a:xfrm>
            <a:off x="6301588" y="3520440"/>
            <a:ext cx="2464994" cy="1051560"/>
          </a:xfrm>
          <a:prstGeom prst="roundRect">
            <a:avLst>
              <a:gd name="adj" fmla="val 6957"/>
            </a:avLst>
          </a:prstGeom>
          <a:solidFill>
            <a:schemeClr val="bg1"/>
          </a:solidFill>
          <a:ln w="9525">
            <a:solidFill>
              <a:schemeClr val="accent3"/>
            </a:solidFill>
            <a:prstDash val="solid"/>
          </a:ln>
        </p:spPr>
      </p:sp>
      <p:pic>
        <p:nvPicPr>
          <p:cNvPr id="27" name="icon-TbBolt-234" descr="Bolt">    </p:cNvPr>
          <p:cNvPicPr>
            <a:picLocks noChangeAspect="1"/>
          </p:cNvPicPr>
          <p:nvPr/>
        </p:nvPicPr>
        <p:blipFill>
          <a:blip r:embed="rId3"/>
          <a:stretch>
            <a:fillRect/>
          </a:stretch>
        </p:blipFill>
        <p:spPr>
          <a:xfrm>
            <a:off x="6447892" y="3630168"/>
            <a:ext cx="274320" cy="274320"/>
          </a:xfrm>
          <a:prstGeom prst="rect">
            <a:avLst/>
          </a:prstGeom>
        </p:spPr>
      </p:pic>
      <p:sp>
        <p:nvSpPr>
          <p:cNvPr id="28" name="text-235"/>
          <p:cNvSpPr txBox="1"/>
          <p:nvPr/>
        </p:nvSpPr>
        <p:spPr>
          <a:xfrm>
            <a:off x="6777076" y="3593592"/>
            <a:ext cx="1861490" cy="914400"/>
          </a:xfrm>
          <a:prstGeom prst="rect">
            <a:avLst/>
          </a:prstGeom>
          <a:noFill/>
          <a:ln/>
        </p:spPr>
        <p:txBody>
          <a:bodyPr wrap="square" lIns="0" tIns="0" rIns="0" bIns="0" rtlCol="0" anchor="t"/>
          <a:lstStyle/>
          <a:p>
            <a:pPr indent="0" marL="0">
              <a:buNone/>
            </a:pPr>
            <a:r>
              <a:rPr lang="en-US" sz="1200" b="1" dirty="0">
                <a:solidFill>
                  <a:schemeClr val="accent3"/>
                </a:solidFill>
              </a:rPr>
              <a:t>Crash here: </a:t>
            </a:r>
            <a:pPr indent="0" marL="0">
              <a:buNone/>
            </a:pPr>
            <a:r>
              <a:rPr lang="en-US" sz="1200" dirty="0">
                <a:solidFill>
                  <a:schemeClr val="tx1"/>
                </a:solidFill>
              </a:rPr>
              <a:t>Before ack: redelivered; the committed output is reused.</a:t>
            </a:r>
            <a:endParaRPr lang="en-US" sz="1200" dirty="0"/>
          </a:p>
        </p:txBody>
      </p:sp>
      <p:sp>
        <p:nvSpPr>
          <p:cNvPr id="29" name="card-236"/>
          <p:cNvSpPr/>
          <p:nvPr/>
        </p:nvSpPr>
        <p:spPr>
          <a:xfrm>
            <a:off x="9178061" y="1645920"/>
            <a:ext cx="2464994" cy="1691640"/>
          </a:xfrm>
          <a:prstGeom prst="roundRect">
            <a:avLst>
              <a:gd name="adj" fmla="val 4324"/>
            </a:avLst>
          </a:prstGeom>
          <a:solidFill>
            <a:schemeClr val="bg1"/>
          </a:solidFill>
          <a:ln w="9525">
            <a:solidFill>
              <a:schemeClr val="accent6"/>
            </a:solidFill>
            <a:prstDash val="solid"/>
          </a:ln>
        </p:spPr>
      </p:sp>
      <p:sp>
        <p:nvSpPr>
          <p:cNvPr id="30" name="chip-237"/>
          <p:cNvSpPr/>
          <p:nvPr/>
        </p:nvSpPr>
        <p:spPr>
          <a:xfrm>
            <a:off x="9360941" y="1810512"/>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1" name="block-238"/>
          <p:cNvSpPr txBox="1"/>
          <p:nvPr/>
        </p:nvSpPr>
        <p:spPr>
          <a:xfrm>
            <a:off x="9360941" y="2240280"/>
            <a:ext cx="2099234" cy="1051560"/>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Results apply</a:t>
            </a:r>
            <a:endParaRPr lang="en-US" sz="1450" dirty="0"/>
          </a:p>
          <a:p>
            <a:pPr indent="0" marL="0">
              <a:spcAft>
                <a:spcPts val="200"/>
              </a:spcAft>
              <a:buNone/>
            </a:pPr>
            <a:r>
              <a:rPr lang="en-US" sz="1250" dirty="0">
                <a:solidFill>
                  <a:schemeClr val="tx2"/>
                </a:solidFill>
              </a:rPr>
              <a:t>INSERT applied_result … ON CONFLICT (message_id) DO NOTHING, then the transition.</a:t>
            </a:r>
            <a:endParaRPr lang="en-US" sz="1450" dirty="0"/>
          </a:p>
        </p:txBody>
      </p:sp>
      <p:sp>
        <p:nvSpPr>
          <p:cNvPr id="32" name="card-239"/>
          <p:cNvSpPr/>
          <p:nvPr/>
        </p:nvSpPr>
        <p:spPr>
          <a:xfrm>
            <a:off x="9178061" y="3520440"/>
            <a:ext cx="2464994" cy="1051560"/>
          </a:xfrm>
          <a:prstGeom prst="roundRect">
            <a:avLst>
              <a:gd name="adj" fmla="val 6957"/>
            </a:avLst>
          </a:prstGeom>
          <a:solidFill>
            <a:schemeClr val="bg1"/>
          </a:solidFill>
          <a:ln w="9525">
            <a:solidFill>
              <a:schemeClr val="accent3"/>
            </a:solidFill>
            <a:prstDash val="solid"/>
          </a:ln>
        </p:spPr>
      </p:sp>
      <p:pic>
        <p:nvPicPr>
          <p:cNvPr id="33" name="icon-TbBolt-240" descr="Bolt">    </p:cNvPr>
          <p:cNvPicPr>
            <a:picLocks noChangeAspect="1"/>
          </p:cNvPicPr>
          <p:nvPr/>
        </p:nvPicPr>
        <p:blipFill>
          <a:blip r:embed="rId4"/>
          <a:stretch>
            <a:fillRect/>
          </a:stretch>
        </p:blipFill>
        <p:spPr>
          <a:xfrm>
            <a:off x="9324365" y="3630168"/>
            <a:ext cx="274320" cy="274320"/>
          </a:xfrm>
          <a:prstGeom prst="rect">
            <a:avLst/>
          </a:prstGeom>
        </p:spPr>
      </p:pic>
      <p:sp>
        <p:nvSpPr>
          <p:cNvPr id="34" name="text-241"/>
          <p:cNvSpPr txBox="1"/>
          <p:nvPr/>
        </p:nvSpPr>
        <p:spPr>
          <a:xfrm>
            <a:off x="9653549" y="3593592"/>
            <a:ext cx="1861490" cy="914400"/>
          </a:xfrm>
          <a:prstGeom prst="rect">
            <a:avLst/>
          </a:prstGeom>
          <a:noFill/>
          <a:ln/>
        </p:spPr>
        <p:txBody>
          <a:bodyPr wrap="square" lIns="0" tIns="0" rIns="0" bIns="0" rtlCol="0" anchor="t"/>
          <a:lstStyle/>
          <a:p>
            <a:pPr indent="0" marL="0">
              <a:buNone/>
            </a:pPr>
            <a:r>
              <a:rPr lang="en-US" sz="1200" b="1" dirty="0">
                <a:solidFill>
                  <a:schemeClr val="accent3"/>
                </a:solidFill>
              </a:rPr>
              <a:t>Crash here: </a:t>
            </a:r>
            <a:pPr indent="0" marL="0">
              <a:buNone/>
            </a:pPr>
            <a:r>
              <a:rPr lang="en-US" sz="1200" dirty="0">
                <a:solidFill>
                  <a:schemeClr val="tx1"/>
                </a:solidFill>
              </a:rPr>
              <a:t>Duplicate: no row, acked. Invalid: quarantined, never dropped.</a:t>
            </a:r>
            <a:endParaRPr lang="en-US" sz="1200" dirty="0"/>
          </a:p>
        </p:txBody>
      </p:sp>
      <p:sp>
        <p:nvSpPr>
          <p:cNvPr id="35" name="code-242"/>
          <p:cNvSpPr/>
          <p:nvPr/>
        </p:nvSpPr>
        <p:spPr>
          <a:xfrm>
            <a:off x="548640" y="4846320"/>
            <a:ext cx="6035040" cy="1051560"/>
          </a:xfrm>
          <a:prstGeom prst="roundRect">
            <a:avLst>
              <a:gd name="adj" fmla="val 5217"/>
            </a:avLst>
          </a:prstGeom>
          <a:solidFill>
            <a:schemeClr val="tx1"/>
          </a:solidFill>
          <a:ln/>
        </p:spPr>
        <p:txBody>
          <a:bodyPr wrap="square" lIns="127000" tIns="114300" rIns="127000" bIns="10160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result_id = UUIDv5(NS_WEGA,</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stage_attempt_id + "/result/" + outcome)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ingest_id = UUIDv5(NS_WEGA, stage_attempt_id + "/ingest")</a:t>
            </a:r>
            <a:endParaRPr lang="en-US" sz="1150" dirty="0"/>
          </a:p>
        </p:txBody>
      </p:sp>
      <p:sp>
        <p:nvSpPr>
          <p:cNvPr id="36" name="block-243"/>
          <p:cNvSpPr txBox="1"/>
          <p:nvPr/>
        </p:nvSpPr>
        <p:spPr>
          <a:xfrm>
            <a:off x="6858000" y="4773168"/>
            <a:ext cx="4785055" cy="1371600"/>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Every external write has a natural idempotency key</a:t>
            </a:r>
            <a:endParaRPr lang="en-US" sz="1450" dirty="0"/>
          </a:p>
          <a:p>
            <a:pPr indent="0" marL="0">
              <a:spcAft>
                <a:spcPts val="200"/>
              </a:spcAft>
              <a:buNone/>
            </a:pPr>
            <a:r>
              <a:rPr lang="en-US" sz="1250" dirty="0">
                <a:solidFill>
                  <a:schemeClr val="tx2"/>
                </a:solidFill>
              </a:rPr>
              <a:t>Oracle: exact-predecessor guard plus version column. S3: attempt-scoped key, skipped when the hash matches. Volume: no-replace link(2). Broker: deterministic message id.</a:t>
            </a:r>
            <a:endParaRPr lang="en-US" sz="14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CORRECTNESS · LEADERSHIP AND LOSS</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Singletons are fenced, and lost messages are found by census</a:t>
            </a:r>
            <a:endParaRPr lang="en-US" sz="2800" dirty="0"/>
          </a:p>
        </p:txBody>
      </p:sp>
      <p:sp>
        <p:nvSpPr>
          <p:cNvPr id="5" name="card-244"/>
          <p:cNvSpPr/>
          <p:nvPr/>
        </p:nvSpPr>
        <p:spPr>
          <a:xfrm>
            <a:off x="548640" y="1645920"/>
            <a:ext cx="5394960" cy="4498848"/>
          </a:xfrm>
          <a:prstGeom prst="roundRect">
            <a:avLst>
              <a:gd name="adj" fmla="val 1626"/>
            </a:avLst>
          </a:prstGeom>
          <a:solidFill>
            <a:schemeClr val="bg1"/>
          </a:solidFill>
          <a:ln w="9525">
            <a:solidFill>
              <a:schemeClr val="accent6"/>
            </a:solidFill>
            <a:prstDash val="solid"/>
          </a:ln>
        </p:spPr>
      </p:sp>
      <p:sp>
        <p:nvSpPr>
          <p:cNvPr id="6" name="badge-245"/>
          <p:cNvSpPr/>
          <p:nvPr/>
        </p:nvSpPr>
        <p:spPr>
          <a:xfrm>
            <a:off x="777240" y="1828800"/>
            <a:ext cx="475488" cy="475488"/>
          </a:xfrm>
          <a:prstGeom prst="ellipse">
            <a:avLst/>
          </a:prstGeom>
          <a:solidFill>
            <a:schemeClr val="accent2"/>
          </a:solidFill>
          <a:ln/>
        </p:spPr>
      </p:sp>
      <p:pic>
        <p:nvPicPr>
          <p:cNvPr id="7" name="icon-TbKey-246" descr="Key">    </p:cNvPr>
          <p:cNvPicPr>
            <a:picLocks noChangeAspect="1"/>
          </p:cNvPicPr>
          <p:nvPr/>
        </p:nvPicPr>
        <p:blipFill>
          <a:blip r:embed="rId1"/>
          <a:stretch>
            <a:fillRect/>
          </a:stretch>
        </p:blipFill>
        <p:spPr>
          <a:xfrm>
            <a:off x="881847" y="1933407"/>
            <a:ext cx="266273" cy="266273"/>
          </a:xfrm>
          <a:prstGeom prst="rect">
            <a:avLst/>
          </a:prstGeom>
        </p:spPr>
      </p:pic>
      <p:sp>
        <p:nvSpPr>
          <p:cNvPr id="8" name="text-247"/>
          <p:cNvSpPr txBox="1"/>
          <p:nvPr/>
        </p:nvSpPr>
        <p:spPr>
          <a:xfrm>
            <a:off x="1417320" y="1828800"/>
            <a:ext cx="4297680" cy="475488"/>
          </a:xfrm>
          <a:prstGeom prst="rect">
            <a:avLst/>
          </a:prstGeom>
          <a:noFill/>
          <a:ln/>
        </p:spPr>
        <p:txBody>
          <a:bodyPr wrap="square" lIns="0" tIns="0" rIns="0" bIns="0" rtlCol="0" anchor="ctr"/>
          <a:lstStyle/>
          <a:p>
            <a:pPr indent="0" marL="0">
              <a:buNone/>
            </a:pPr>
            <a:r>
              <a:rPr lang="en-US" sz="1700" b="1" dirty="0">
                <a:solidFill>
                  <a:schemeClr val="tx1"/>
                </a:solidFill>
              </a:rPr>
              <a:t>Leases with fencing tokens</a:t>
            </a:r>
            <a:endParaRPr lang="en-US" sz="1700" dirty="0"/>
          </a:p>
        </p:txBody>
      </p:sp>
      <p:sp>
        <p:nvSpPr>
          <p:cNvPr id="9" name="pill-248"/>
          <p:cNvSpPr/>
          <p:nvPr/>
        </p:nvSpPr>
        <p:spPr>
          <a:xfrm>
            <a:off x="777240" y="2697480"/>
            <a:ext cx="96012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50" b="1" dirty="0">
                <a:solidFill>
                  <a:schemeClr val="accent2"/>
                </a:solidFill>
              </a:rPr>
              <a:t>Acquire</a:t>
            </a:r>
            <a:endParaRPr lang="en-US" sz="1150" dirty="0"/>
          </a:p>
        </p:txBody>
      </p:sp>
      <p:sp>
        <p:nvSpPr>
          <p:cNvPr id="10" name="text-249"/>
          <p:cNvSpPr txBox="1"/>
          <p:nvPr/>
        </p:nvSpPr>
        <p:spPr>
          <a:xfrm>
            <a:off x="1874520" y="2514600"/>
            <a:ext cx="3840480" cy="658368"/>
          </a:xfrm>
          <a:prstGeom prst="rect">
            <a:avLst/>
          </a:prstGeom>
          <a:noFill/>
          <a:ln/>
        </p:spPr>
        <p:txBody>
          <a:bodyPr wrap="square" lIns="0" tIns="0" rIns="0" bIns="0" rtlCol="0" anchor="ctr"/>
          <a:lstStyle/>
          <a:p>
            <a:pPr indent="0" marL="0">
              <a:buNone/>
            </a:pPr>
            <a:r>
              <a:rPr lang="en-US" sz="1300" dirty="0">
                <a:solidFill>
                  <a:schemeClr val="tx1"/>
                </a:solidFill>
              </a:rPr>
              <a:t>only when expired; the token increments (7 → 8).</a:t>
            </a:r>
            <a:endParaRPr lang="en-US" sz="1300" dirty="0"/>
          </a:p>
        </p:txBody>
      </p:sp>
      <p:sp>
        <p:nvSpPr>
          <p:cNvPr id="11" name="pill-250"/>
          <p:cNvSpPr/>
          <p:nvPr/>
        </p:nvSpPr>
        <p:spPr>
          <a:xfrm>
            <a:off x="777240" y="3410712"/>
            <a:ext cx="96012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50" b="1" dirty="0">
                <a:solidFill>
                  <a:schemeClr val="accent2"/>
                </a:solidFill>
              </a:rPr>
              <a:t>Renew</a:t>
            </a:r>
            <a:endParaRPr lang="en-US" sz="1150" dirty="0"/>
          </a:p>
        </p:txBody>
      </p:sp>
      <p:sp>
        <p:nvSpPr>
          <p:cNvPr id="12" name="text-251"/>
          <p:cNvSpPr txBox="1"/>
          <p:nvPr/>
        </p:nvSpPr>
        <p:spPr>
          <a:xfrm>
            <a:off x="1874520" y="3227832"/>
            <a:ext cx="3840480" cy="658368"/>
          </a:xfrm>
          <a:prstGeom prst="rect">
            <a:avLst/>
          </a:prstGeom>
          <a:noFill/>
          <a:ln/>
        </p:spPr>
        <p:txBody>
          <a:bodyPr wrap="square" lIns="0" tIns="0" rIns="0" bIns="0" rtlCol="0" anchor="ctr"/>
          <a:lstStyle/>
          <a:p>
            <a:pPr indent="0" marL="0">
              <a:buNone/>
            </a:pPr>
            <a:r>
              <a:rPr lang="en-US" sz="1300" dirty="0">
                <a:solidFill>
                  <a:schemeClr val="tx1"/>
                </a:solidFill>
              </a:rPr>
              <a:t>needs holder and token to match; zero rows means leadership is lost, so stop.</a:t>
            </a:r>
            <a:endParaRPr lang="en-US" sz="1300" dirty="0"/>
          </a:p>
        </p:txBody>
      </p:sp>
      <p:sp>
        <p:nvSpPr>
          <p:cNvPr id="13" name="pill-252"/>
          <p:cNvSpPr/>
          <p:nvPr/>
        </p:nvSpPr>
        <p:spPr>
          <a:xfrm>
            <a:off x="777240" y="4123944"/>
            <a:ext cx="96012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50" b="1" dirty="0">
                <a:solidFill>
                  <a:schemeClr val="accent2"/>
                </a:solidFill>
              </a:rPr>
              <a:t>Fence</a:t>
            </a:r>
            <a:endParaRPr lang="en-US" sz="1150" dirty="0"/>
          </a:p>
        </p:txBody>
      </p:sp>
      <p:sp>
        <p:nvSpPr>
          <p:cNvPr id="14" name="text-253"/>
          <p:cNvSpPr txBox="1"/>
          <p:nvPr/>
        </p:nvSpPr>
        <p:spPr>
          <a:xfrm>
            <a:off x="1874520" y="3941064"/>
            <a:ext cx="3840480" cy="658368"/>
          </a:xfrm>
          <a:prstGeom prst="rect">
            <a:avLst/>
          </a:prstGeom>
          <a:noFill/>
          <a:ln/>
        </p:spPr>
        <p:txBody>
          <a:bodyPr wrap="square" lIns="0" tIns="0" rIns="0" bIns="0" rtlCol="0" anchor="ctr"/>
          <a:lstStyle/>
          <a:p>
            <a:pPr indent="0" marL="0">
              <a:buNone/>
            </a:pPr>
            <a:r>
              <a:rPr lang="en-US" sz="1300" dirty="0">
                <a:solidFill>
                  <a:schemeClr val="tx1"/>
                </a:solidFill>
              </a:rPr>
              <a:t>every leader transaction starts with a FOR SHARE check, so a stale leader cannot commit.</a:t>
            </a:r>
            <a:endParaRPr lang="en-US" sz="1300" dirty="0"/>
          </a:p>
        </p:txBody>
      </p:sp>
      <p:sp>
        <p:nvSpPr>
          <p:cNvPr id="15" name="pill-254"/>
          <p:cNvSpPr/>
          <p:nvPr/>
        </p:nvSpPr>
        <p:spPr>
          <a:xfrm>
            <a:off x="777240" y="4837176"/>
            <a:ext cx="96012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50" b="1" dirty="0">
                <a:solidFill>
                  <a:schemeClr val="accent2"/>
                </a:solidFill>
              </a:rPr>
              <a:t>Expire</a:t>
            </a:r>
            <a:endParaRPr lang="en-US" sz="1150" dirty="0"/>
          </a:p>
        </p:txBody>
      </p:sp>
      <p:sp>
        <p:nvSpPr>
          <p:cNvPr id="16" name="text-255"/>
          <p:cNvSpPr txBox="1"/>
          <p:nvPr/>
        </p:nvSpPr>
        <p:spPr>
          <a:xfrm>
            <a:off x="1874520" y="4654296"/>
            <a:ext cx="3840480" cy="658368"/>
          </a:xfrm>
          <a:prstGeom prst="rect">
            <a:avLst/>
          </a:prstGeom>
          <a:noFill/>
          <a:ln/>
        </p:spPr>
        <p:txBody>
          <a:bodyPr wrap="square" lIns="0" tIns="0" rIns="0" bIns="0" rtlCol="0" anchor="ctr"/>
          <a:lstStyle/>
          <a:p>
            <a:pPr indent="0" marL="0">
              <a:buNone/>
            </a:pPr>
            <a:r>
              <a:rPr lang="en-US" sz="1300" dirty="0">
                <a:solidFill>
                  <a:schemeClr val="tx1"/>
                </a:solidFill>
              </a:rPr>
              <a:t>an admin bumps the token: a hung but still-renewing holder loses.</a:t>
            </a:r>
            <a:endParaRPr lang="en-US" sz="1300" dirty="0"/>
          </a:p>
        </p:txBody>
      </p:sp>
      <p:sp>
        <p:nvSpPr>
          <p:cNvPr id="17" name="pill-256"/>
          <p:cNvSpPr/>
          <p:nvPr/>
        </p:nvSpPr>
        <p:spPr>
          <a:xfrm>
            <a:off x="777240" y="5550408"/>
            <a:ext cx="96012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50" b="1" dirty="0">
                <a:solidFill>
                  <a:schemeClr val="accent2"/>
                </a:solidFill>
              </a:rPr>
              <a:t>Margin</a:t>
            </a:r>
            <a:endParaRPr lang="en-US" sz="1150" dirty="0"/>
          </a:p>
        </p:txBody>
      </p:sp>
      <p:sp>
        <p:nvSpPr>
          <p:cNvPr id="18" name="text-257"/>
          <p:cNvSpPr txBox="1"/>
          <p:nvPr/>
        </p:nvSpPr>
        <p:spPr>
          <a:xfrm>
            <a:off x="1874520" y="5367528"/>
            <a:ext cx="3840480" cy="658368"/>
          </a:xfrm>
          <a:prstGeom prst="rect">
            <a:avLst/>
          </a:prstGeom>
          <a:noFill/>
          <a:ln/>
        </p:spPr>
        <p:txBody>
          <a:bodyPr wrap="square" lIns="0" tIns="0" rIns="0" bIns="0" rtlCol="0" anchor="ctr"/>
          <a:lstStyle/>
          <a:p>
            <a:pPr indent="0" marL="0">
              <a:buNone/>
            </a:pPr>
            <a:r>
              <a:rPr lang="en-US" sz="1300" dirty="0">
                <a:solidFill>
                  <a:schemeClr val="tx1"/>
                </a:solidFill>
              </a:rPr>
              <a:t>external calls start only with lease time to spare; pinned by a 45 s slow-API test.</a:t>
            </a:r>
            <a:endParaRPr lang="en-US" sz="1300" dirty="0"/>
          </a:p>
        </p:txBody>
      </p:sp>
      <p:sp>
        <p:nvSpPr>
          <p:cNvPr id="19" name="card-258"/>
          <p:cNvSpPr/>
          <p:nvPr/>
        </p:nvSpPr>
        <p:spPr>
          <a:xfrm>
            <a:off x="6217920" y="1645920"/>
            <a:ext cx="5425135" cy="4498848"/>
          </a:xfrm>
          <a:prstGeom prst="roundRect">
            <a:avLst>
              <a:gd name="adj" fmla="val 1626"/>
            </a:avLst>
          </a:prstGeom>
          <a:solidFill>
            <a:schemeClr val="bg1"/>
          </a:solidFill>
          <a:ln w="9525">
            <a:solidFill>
              <a:schemeClr val="accent6"/>
            </a:solidFill>
            <a:prstDash val="solid"/>
          </a:ln>
        </p:spPr>
      </p:sp>
      <p:sp>
        <p:nvSpPr>
          <p:cNvPr id="20" name="badge-259"/>
          <p:cNvSpPr/>
          <p:nvPr/>
        </p:nvSpPr>
        <p:spPr>
          <a:xfrm>
            <a:off x="6446520" y="1828800"/>
            <a:ext cx="475488" cy="475488"/>
          </a:xfrm>
          <a:prstGeom prst="ellipse">
            <a:avLst/>
          </a:prstGeom>
          <a:solidFill>
            <a:schemeClr val="accent1"/>
          </a:solidFill>
          <a:ln/>
        </p:spPr>
      </p:sp>
      <p:pic>
        <p:nvPicPr>
          <p:cNvPr id="21" name="icon-TbRadar-260" descr="Radar">    </p:cNvPr>
          <p:cNvPicPr>
            <a:picLocks noChangeAspect="1"/>
          </p:cNvPicPr>
          <p:nvPr/>
        </p:nvPicPr>
        <p:blipFill>
          <a:blip r:embed="rId2"/>
          <a:stretch>
            <a:fillRect/>
          </a:stretch>
        </p:blipFill>
        <p:spPr>
          <a:xfrm>
            <a:off x="6551127" y="1933407"/>
            <a:ext cx="266273" cy="266273"/>
          </a:xfrm>
          <a:prstGeom prst="rect">
            <a:avLst/>
          </a:prstGeom>
        </p:spPr>
      </p:pic>
      <p:sp>
        <p:nvSpPr>
          <p:cNvPr id="22" name="text-261"/>
          <p:cNvSpPr txBox="1"/>
          <p:nvPr/>
        </p:nvSpPr>
        <p:spPr>
          <a:xfrm>
            <a:off x="7086600" y="1828800"/>
            <a:ext cx="4327855" cy="475488"/>
          </a:xfrm>
          <a:prstGeom prst="rect">
            <a:avLst/>
          </a:prstGeom>
          <a:noFill/>
          <a:ln/>
        </p:spPr>
        <p:txBody>
          <a:bodyPr wrap="square" lIns="0" tIns="0" rIns="0" bIns="0" rtlCol="0" anchor="ctr"/>
          <a:lstStyle/>
          <a:p>
            <a:pPr indent="0" marL="0">
              <a:buNone/>
            </a:pPr>
            <a:r>
              <a:rPr lang="en-US" sz="1700" b="1" dirty="0">
                <a:solidFill>
                  <a:schemeClr val="tx1"/>
                </a:solidFill>
              </a:rPr>
              <a:t>Census: a lost message cannot hide</a:t>
            </a:r>
            <a:endParaRPr lang="en-US" sz="1700" dirty="0"/>
          </a:p>
        </p:txBody>
      </p:sp>
      <p:sp>
        <p:nvSpPr>
          <p:cNvPr id="23" name="census-bar-262"/>
          <p:cNvSpPr/>
          <p:nvPr/>
        </p:nvSpPr>
        <p:spPr>
          <a:xfrm>
            <a:off x="8138160" y="2560320"/>
            <a:ext cx="2194560" cy="329184"/>
          </a:xfrm>
          <a:prstGeom prst="rect">
            <a:avLst/>
          </a:prstGeom>
          <a:solidFill>
            <a:schemeClr val="tx1"/>
          </a:solidFill>
          <a:ln/>
        </p:spPr>
      </p:sp>
      <p:sp>
        <p:nvSpPr>
          <p:cNvPr id="24" name="text-263"/>
          <p:cNvSpPr txBox="1"/>
          <p:nvPr/>
        </p:nvSpPr>
        <p:spPr>
          <a:xfrm>
            <a:off x="6537960" y="2560320"/>
            <a:ext cx="1554480" cy="329184"/>
          </a:xfrm>
          <a:prstGeom prst="rect">
            <a:avLst/>
          </a:prstGeom>
          <a:noFill/>
          <a:ln/>
        </p:spPr>
        <p:txBody>
          <a:bodyPr wrap="square" lIns="0" tIns="0" rIns="0" bIns="0" rtlCol="0" anchor="ctr"/>
          <a:lstStyle/>
          <a:p>
            <a:pPr indent="0" marL="0">
              <a:buNone/>
            </a:pPr>
            <a:r>
              <a:rPr lang="en-US" sz="1200" dirty="0">
                <a:solidFill>
                  <a:schemeClr val="tx2"/>
                </a:solidFill>
              </a:rPr>
              <a:t>Open attempts N</a:t>
            </a:r>
            <a:endParaRPr lang="en-US" sz="1200" dirty="0"/>
          </a:p>
        </p:txBody>
      </p:sp>
      <p:sp>
        <p:nvSpPr>
          <p:cNvPr id="25" name="census-bar-264"/>
          <p:cNvSpPr/>
          <p:nvPr/>
        </p:nvSpPr>
        <p:spPr>
          <a:xfrm>
            <a:off x="8138160" y="2971800"/>
            <a:ext cx="1828800" cy="329184"/>
          </a:xfrm>
          <a:prstGeom prst="rect">
            <a:avLst/>
          </a:prstGeom>
          <a:solidFill>
            <a:schemeClr val="accent1"/>
          </a:solidFill>
          <a:ln/>
        </p:spPr>
      </p:sp>
      <p:sp>
        <p:nvSpPr>
          <p:cNvPr id="26" name="text-265"/>
          <p:cNvSpPr txBox="1"/>
          <p:nvPr/>
        </p:nvSpPr>
        <p:spPr>
          <a:xfrm>
            <a:off x="6537960" y="2971800"/>
            <a:ext cx="1554480" cy="329184"/>
          </a:xfrm>
          <a:prstGeom prst="rect">
            <a:avLst/>
          </a:prstGeom>
          <a:noFill/>
          <a:ln/>
        </p:spPr>
        <p:txBody>
          <a:bodyPr wrap="square" lIns="0" tIns="0" rIns="0" bIns="0" rtlCol="0" anchor="ctr"/>
          <a:lstStyle/>
          <a:p>
            <a:pPr indent="0" marL="0">
              <a:buNone/>
            </a:pPr>
            <a:r>
              <a:rPr lang="en-US" sz="1200" dirty="0">
                <a:solidFill>
                  <a:schemeClr val="tx2"/>
                </a:solidFill>
              </a:rPr>
              <a:t>Broker holds B</a:t>
            </a:r>
            <a:endParaRPr lang="en-US" sz="1200" dirty="0"/>
          </a:p>
        </p:txBody>
      </p:sp>
      <p:sp>
        <p:nvSpPr>
          <p:cNvPr id="27" name="deficit-266"/>
          <p:cNvSpPr/>
          <p:nvPr/>
        </p:nvSpPr>
        <p:spPr>
          <a:xfrm>
            <a:off x="9966960" y="2971800"/>
            <a:ext cx="365760" cy="329184"/>
          </a:xfrm>
          <a:prstGeom prst="rect">
            <a:avLst/>
          </a:prstGeom>
          <a:solidFill>
            <a:schemeClr val="accent3">
              <a:alpha val="85000"/>
            </a:schemeClr>
          </a:solidFill>
          <a:ln w="12700">
            <a:solidFill>
              <a:schemeClr val="accent3"/>
            </a:solidFill>
            <a:prstDash val="dash"/>
          </a:ln>
        </p:spPr>
      </p:sp>
      <p:sp>
        <p:nvSpPr>
          <p:cNvPr id="28" name="text-267"/>
          <p:cNvSpPr txBox="1"/>
          <p:nvPr/>
        </p:nvSpPr>
        <p:spPr>
          <a:xfrm>
            <a:off x="10442448" y="2971800"/>
            <a:ext cx="1280160" cy="329184"/>
          </a:xfrm>
          <a:prstGeom prst="rect">
            <a:avLst/>
          </a:prstGeom>
          <a:noFill/>
          <a:ln/>
        </p:spPr>
        <p:txBody>
          <a:bodyPr wrap="square" lIns="0" tIns="0" rIns="0" bIns="0" rtlCol="0" anchor="ctr"/>
          <a:lstStyle/>
          <a:p>
            <a:pPr indent="0" marL="0">
              <a:buNone/>
            </a:pPr>
            <a:r>
              <a:rPr lang="en-US" sz="1250" b="1" dirty="0">
                <a:solidFill>
                  <a:schemeClr val="accent3"/>
                </a:solidFill>
              </a:rPr>
              <a:t>D = N − B = 2</a:t>
            </a:r>
            <a:endParaRPr lang="en-US" sz="1250" dirty="0"/>
          </a:p>
        </p:txBody>
      </p:sp>
      <p:sp>
        <p:nvSpPr>
          <p:cNvPr id="29" name="text-268"/>
          <p:cNvSpPr txBox="1"/>
          <p:nvPr/>
        </p:nvSpPr>
        <p:spPr>
          <a:xfrm>
            <a:off x="8138160" y="3337560"/>
            <a:ext cx="1828800" cy="228600"/>
          </a:xfrm>
          <a:prstGeom prst="rect">
            <a:avLst/>
          </a:prstGeom>
          <a:noFill/>
          <a:ln/>
        </p:spPr>
        <p:txBody>
          <a:bodyPr wrap="square" lIns="0" tIns="0" rIns="0" bIns="0" rtlCol="0" anchor="t"/>
          <a:lstStyle/>
          <a:p>
            <a:pPr indent="0" marL="0">
              <a:buNone/>
            </a:pPr>
            <a:r>
              <a:rPr lang="en-US" sz="1000" i="1" dirty="0">
                <a:solidFill>
                  <a:schemeClr val="tx2"/>
                </a:solidFill>
              </a:rPr>
              <a:t>illustration</a:t>
            </a:r>
            <a:endParaRPr lang="en-US" sz="1000" dirty="0"/>
          </a:p>
        </p:txBody>
      </p:sp>
      <p:sp>
        <p:nvSpPr>
          <p:cNvPr id="30" name="chip-269"/>
          <p:cNvSpPr/>
          <p:nvPr/>
        </p:nvSpPr>
        <p:spPr>
          <a:xfrm>
            <a:off x="6492240" y="3721608"/>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1" name="block-270"/>
          <p:cNvSpPr txBox="1"/>
          <p:nvPr/>
        </p:nvSpPr>
        <p:spPr>
          <a:xfrm>
            <a:off x="7004304" y="3703320"/>
            <a:ext cx="4410151" cy="768096"/>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Every 60 s, per stage</a:t>
            </a:r>
            <a:endParaRPr lang="en-US" sz="1400" dirty="0"/>
          </a:p>
          <a:p>
            <a:pPr indent="0" marL="0">
              <a:spcAft>
                <a:spcPts val="200"/>
              </a:spcAft>
              <a:buNone/>
            </a:pPr>
            <a:r>
              <a:rPr lang="en-US" sz="1250" dirty="0">
                <a:solidFill>
                  <a:schemeClr val="tx2"/>
                </a:solidFill>
              </a:rPr>
              <a:t>Count attempts the broker cannot be holding; a FIFO watermark marks deliveries.</a:t>
            </a:r>
            <a:endParaRPr lang="en-US" sz="1400" dirty="0"/>
          </a:p>
        </p:txBody>
      </p:sp>
      <p:sp>
        <p:nvSpPr>
          <p:cNvPr id="32" name="chip-271"/>
          <p:cNvSpPr/>
          <p:nvPr/>
        </p:nvSpPr>
        <p:spPr>
          <a:xfrm>
            <a:off x="6492240" y="4526280"/>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3" name="block-272"/>
          <p:cNvSpPr txBox="1"/>
          <p:nvPr/>
        </p:nvSpPr>
        <p:spPr>
          <a:xfrm>
            <a:off x="7004304" y="4507992"/>
            <a:ext cx="4410151" cy="768096"/>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Three strikes, then act</a:t>
            </a:r>
            <a:endParaRPr lang="en-US" sz="1400" dirty="0"/>
          </a:p>
          <a:p>
            <a:pPr indent="0" marL="0">
              <a:spcAft>
                <a:spcPts val="200"/>
              </a:spcAft>
              <a:buNone/>
            </a:pPr>
            <a:r>
              <a:rPr lang="en-US" sz="1250" dirty="0">
                <a:solidFill>
                  <a:schemeClr val="tx2"/>
                </a:solidFill>
              </a:rPr>
              <a:t>Overdue past consumer timeout + 900 s while D ≥ 1: supersede and redispatch.</a:t>
            </a:r>
            <a:endParaRPr lang="en-US" sz="1400" dirty="0"/>
          </a:p>
        </p:txBody>
      </p:sp>
      <p:sp>
        <p:nvSpPr>
          <p:cNvPr id="34" name="chip-273"/>
          <p:cNvSpPr/>
          <p:nvPr/>
        </p:nvSpPr>
        <p:spPr>
          <a:xfrm>
            <a:off x="6492240" y="5330952"/>
            <a:ext cx="329184" cy="32918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5" name="block-274"/>
          <p:cNvSpPr txBox="1"/>
          <p:nvPr/>
        </p:nvSpPr>
        <p:spPr>
          <a:xfrm>
            <a:off x="7004304" y="5312664"/>
            <a:ext cx="4410151" cy="768096"/>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False verdicts are cheap</a:t>
            </a:r>
            <a:endParaRPr lang="en-US" sz="1400" dirty="0"/>
          </a:p>
          <a:p>
            <a:pPr indent="0" marL="0">
              <a:spcAft>
                <a:spcPts val="200"/>
              </a:spcAft>
              <a:buNone/>
            </a:pPr>
            <a:r>
              <a:rPr lang="en-US" sz="1250" dirty="0">
                <a:solidFill>
                  <a:schemeClr val="tx2"/>
                </a:solidFill>
              </a:rPr>
              <a:t>A late success still applies; OCR adopts its journal, so no Azure job repeats.</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CORRECTNESS · FAILURE CONTAINMENT</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A bad document costs a bounded budget, never the fleet</a:t>
            </a:r>
            <a:endParaRPr lang="en-US" sz="2800" dirty="0"/>
          </a:p>
        </p:txBody>
      </p:sp>
      <p:graphicFrame>
        <p:nvGraphicFramePr>
          <p:cNvPr id="11" name="table-275"/>
          <p:cNvGraphicFramePr>
            <a:graphicFrameLocks noGrp="1"/>
          </p:cNvGraphicFramePr>
          <p:nvPr>
            <p:extLst>
              <p:ext uri="{D42A27DB-BD31-4B8C-83A1-F6EECF244321}">
                <p14:modId xmlns:p14="http://schemas.microsoft.com/office/powerpoint/2010/main" val="1579011935"/>
              </p:ext>
            </p:extLst>
          </p:nvPr>
        </p:nvGraphicFramePr>
        <p:xfrm>
          <a:off x="548640" y="1645920"/>
          <a:ext cx="6309360" cy="914400"/>
        </p:xfrm>
        <a:graphic>
          <a:graphicData uri="http://schemas.openxmlformats.org/drawingml/2006/table">
            <a:tbl>
              <a:tblPr/>
              <a:tblGrid>
                <a:gridCol w="2651760"/>
                <a:gridCol w="1051560"/>
                <a:gridCol w="2606040"/>
              </a:tblGrid>
              <a:tr h="457200">
                <a:tc>
                  <a:txBody>
                    <a:bodyPr/>
                    <a:lstStyle/>
                    <a:p>
                      <a:pPr indent="0" marL="0">
                        <a:buNone/>
                      </a:pPr>
                      <a:r>
                        <a:rPr lang="en-US" sz="1250" b="1" dirty="0">
                          <a:solidFill>
                            <a:schemeClr val="bg1"/>
                          </a:solidFill>
                        </a:rPr>
                        <a:t>Counter</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Cap</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On reaching it</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r>
              <a:tr h="457200">
                <a:tc>
                  <a:txBody>
                    <a:bodyPr/>
                    <a:lstStyle/>
                    <a:p>
                      <a:pPr indent="0" marL="0">
                        <a:buNone/>
                      </a:pPr>
                      <a:r>
                        <a:rPr lang="en-US" sz="1250" dirty="0">
                          <a:solidFill>
                            <a:schemeClr val="tx1"/>
                          </a:solidFill>
                        </a:rPr>
                        <a:t>Stage retry budget</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3</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FAILED, with the last reason code</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457200">
                <a:tc>
                  <a:txBody>
                    <a:bodyPr/>
                    <a:lstStyle/>
                    <a:p>
                      <a:pPr indent="0" marL="0">
                        <a:buNone/>
                      </a:pPr>
                      <a:r>
                        <a:rPr lang="en-US" sz="1250" dirty="0">
                          <a:solidFill>
                            <a:schemeClr val="tx1"/>
                          </a:solidFill>
                        </a:rPr>
                        <a:t>Fleet retries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10</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FLEET_RETRY_EXHAUSTED</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57200">
                <a:tc>
                  <a:txBody>
                    <a:bodyPr/>
                    <a:lstStyle/>
                    <a:p>
                      <a:pPr indent="0" marL="0">
                        <a:buNone/>
                      </a:pPr>
                      <a:r>
                        <a:rPr lang="en-US" sz="1250" dirty="0">
                          <a:solidFill>
                            <a:schemeClr val="tx1"/>
                          </a:solidFill>
                        </a:rPr>
                        <a:t>Handoffs (OCR · chunk · embed)</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8 · 4 · 4</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HANDOFF_LIMIT_EXCEEDED</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457200">
                <a:tc>
                  <a:txBody>
                    <a:bodyPr/>
                    <a:lstStyle/>
                    <a:p>
                      <a:pPr indent="0" marL="0">
                        <a:buNone/>
                      </a:pPr>
                      <a:r>
                        <a:rPr lang="en-US" sz="1250" dirty="0">
                          <a:solidFill>
                            <a:schemeClr val="tx1"/>
                          </a:solidFill>
                        </a:rPr>
                        <a:t>Attempt number</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50</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ATTEMPT_LIMIT_EXCEEDED</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57200">
                <a:tc>
                  <a:txBody>
                    <a:bodyPr/>
                    <a:lstStyle/>
                    <a:p>
                      <a:pPr indent="0" marL="0">
                        <a:buNone/>
                      </a:pPr>
                      <a:r>
                        <a:rPr lang="en-US" sz="1250" dirty="0">
                          <a:solidFill>
                            <a:schemeClr val="tx1"/>
                          </a:solidFill>
                        </a:rPr>
                        <a:t>Lost-message redispatches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3</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ATTEMPT_LOST_REPEATEDLY</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457200">
                <a:tc>
                  <a:txBody>
                    <a:bodyPr/>
                    <a:lstStyle/>
                    <a:p>
                      <a:pPr indent="0" marL="0">
                        <a:buNone/>
                      </a:pPr>
                      <a:r>
                        <a:rPr lang="en-US" sz="1250" dirty="0">
                          <a:solidFill>
                            <a:schemeClr val="tx1"/>
                          </a:solidFill>
                        </a:rPr>
                        <a:t>Ingest deliveries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6</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Dead letter → FAILED, reopenable</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57200">
                <a:tc>
                  <a:txBody>
                    <a:bodyPr/>
                    <a:lstStyle/>
                    <a:p>
                      <a:pPr indent="0" marL="0">
                        <a:buNone/>
                      </a:pPr>
                      <a:r>
                        <a:rPr lang="en-US" sz="1250" dirty="0">
                          <a:solidFill>
                            <a:schemeClr val="tx1"/>
                          </a:solidFill>
                        </a:rPr>
                        <a:t>Manual retries per stage</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5</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Refused</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bl>
          </a:graphicData>
        </a:graphic>
      </p:graphicFrame>
      <p:sp>
        <p:nvSpPr>
          <p:cNvPr id="6" name="text-276"/>
          <p:cNvSpPr txBox="1"/>
          <p:nvPr/>
        </p:nvSpPr>
        <p:spPr>
          <a:xfrm>
            <a:off x="548640" y="5440680"/>
            <a:ext cx="6309360" cy="548640"/>
          </a:xfrm>
          <a:prstGeom prst="rect">
            <a:avLst/>
          </a:prstGeom>
          <a:noFill/>
          <a:ln/>
        </p:spPr>
        <p:txBody>
          <a:bodyPr wrap="square" lIns="0" tIns="0" rIns="0" bIns="0" rtlCol="0" anchor="t"/>
          <a:lstStyle/>
          <a:p>
            <a:pPr indent="0" marL="0">
              <a:buNone/>
            </a:pPr>
            <a:r>
              <a:rPr lang="en-US" sz="1200" dirty="0">
                <a:solidFill>
                  <a:schemeClr val="tx2"/>
                </a:solidFill>
              </a:rPr>
              <a:t>Backoff grows 3× per attempt up to an hour for OCR; handoffs and redispatches cost no budget.</a:t>
            </a:r>
            <a:endParaRPr lang="en-US" sz="1200" dirty="0"/>
          </a:p>
        </p:txBody>
      </p:sp>
      <p:sp>
        <p:nvSpPr>
          <p:cNvPr id="7" name="card-277"/>
          <p:cNvSpPr/>
          <p:nvPr/>
        </p:nvSpPr>
        <p:spPr>
          <a:xfrm>
            <a:off x="7178040" y="1645920"/>
            <a:ext cx="4465015" cy="1371600"/>
          </a:xfrm>
          <a:prstGeom prst="roundRect">
            <a:avLst>
              <a:gd name="adj" fmla="val 5333"/>
            </a:avLst>
          </a:prstGeom>
          <a:solidFill>
            <a:schemeClr val="bg1"/>
          </a:solidFill>
          <a:ln w="9525">
            <a:solidFill>
              <a:schemeClr val="accent6"/>
            </a:solidFill>
            <a:prstDash val="solid"/>
          </a:ln>
        </p:spPr>
      </p:sp>
      <p:sp>
        <p:nvSpPr>
          <p:cNvPr id="8" name="badge-278"/>
          <p:cNvSpPr/>
          <p:nvPr/>
        </p:nvSpPr>
        <p:spPr>
          <a:xfrm>
            <a:off x="7379208" y="1847088"/>
            <a:ext cx="457200" cy="457200"/>
          </a:xfrm>
          <a:prstGeom prst="ellipse">
            <a:avLst/>
          </a:prstGeom>
          <a:solidFill>
            <a:schemeClr val="accent3"/>
          </a:solidFill>
          <a:ln/>
        </p:spPr>
      </p:sp>
      <p:pic>
        <p:nvPicPr>
          <p:cNvPr id="9" name="icon-TbSkull-279" descr="Skull">    </p:cNvPr>
          <p:cNvPicPr>
            <a:picLocks noChangeAspect="1"/>
          </p:cNvPicPr>
          <p:nvPr/>
        </p:nvPicPr>
        <p:blipFill>
          <a:blip r:embed="rId1"/>
          <a:stretch>
            <a:fillRect/>
          </a:stretch>
        </p:blipFill>
        <p:spPr>
          <a:xfrm>
            <a:off x="7479792" y="1947672"/>
            <a:ext cx="256032" cy="256032"/>
          </a:xfrm>
          <a:prstGeom prst="rect">
            <a:avLst/>
          </a:prstGeom>
        </p:spPr>
      </p:pic>
      <p:sp>
        <p:nvSpPr>
          <p:cNvPr id="10" name="block-280"/>
          <p:cNvSpPr txBox="1"/>
          <p:nvPr/>
        </p:nvSpPr>
        <p:spPr>
          <a:xfrm>
            <a:off x="8001000" y="1792224"/>
            <a:ext cx="3459175" cy="1170432"/>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Poison is flagged, not retried forever</a:t>
            </a:r>
            <a:endParaRPr lang="en-US" sz="1400" dirty="0"/>
          </a:p>
          <a:p>
            <a:pPr indent="0" marL="0">
              <a:spcAft>
                <a:spcPts val="200"/>
              </a:spcAft>
              <a:buNone/>
            </a:pPr>
            <a:r>
              <a:rPr lang="en-US" sz="1250" dirty="0">
                <a:solidFill>
                  <a:schemeClr val="tx2"/>
                </a:solidFill>
              </a:rPr>
              <a:t>poison_suspected is raised on repeated OCR failure or a killed parser child, and cleared only by an accepted success.</a:t>
            </a:r>
            <a:endParaRPr lang="en-US" sz="1400" dirty="0"/>
          </a:p>
        </p:txBody>
      </p:sp>
      <p:sp>
        <p:nvSpPr>
          <p:cNvPr id="11" name="card-281"/>
          <p:cNvSpPr/>
          <p:nvPr/>
        </p:nvSpPr>
        <p:spPr>
          <a:xfrm>
            <a:off x="7178040" y="3182112"/>
            <a:ext cx="4465015" cy="1371600"/>
          </a:xfrm>
          <a:prstGeom prst="roundRect">
            <a:avLst>
              <a:gd name="adj" fmla="val 5333"/>
            </a:avLst>
          </a:prstGeom>
          <a:solidFill>
            <a:schemeClr val="bg1"/>
          </a:solidFill>
          <a:ln w="9525">
            <a:solidFill>
              <a:schemeClr val="accent6"/>
            </a:solidFill>
            <a:prstDash val="solid"/>
          </a:ln>
        </p:spPr>
      </p:sp>
      <p:sp>
        <p:nvSpPr>
          <p:cNvPr id="12" name="badge-282"/>
          <p:cNvSpPr/>
          <p:nvPr/>
        </p:nvSpPr>
        <p:spPr>
          <a:xfrm>
            <a:off x="7379208" y="3383280"/>
            <a:ext cx="457200" cy="457200"/>
          </a:xfrm>
          <a:prstGeom prst="ellipse">
            <a:avLst/>
          </a:prstGeom>
          <a:solidFill>
            <a:schemeClr val="accent3"/>
          </a:solidFill>
          <a:ln/>
        </p:spPr>
      </p:sp>
      <p:pic>
        <p:nvPicPr>
          <p:cNvPr id="13" name="icon-TbCircuitSwitchOpen-283" descr="CircuitSwitchOpen">    </p:cNvPr>
          <p:cNvPicPr>
            <a:picLocks noChangeAspect="1"/>
          </p:cNvPicPr>
          <p:nvPr/>
        </p:nvPicPr>
        <p:blipFill>
          <a:blip r:embed="rId2"/>
          <a:stretch>
            <a:fillRect/>
          </a:stretch>
        </p:blipFill>
        <p:spPr>
          <a:xfrm>
            <a:off x="7479792" y="3483864"/>
            <a:ext cx="256032" cy="256032"/>
          </a:xfrm>
          <a:prstGeom prst="rect">
            <a:avLst/>
          </a:prstGeom>
        </p:spPr>
      </p:pic>
      <p:sp>
        <p:nvSpPr>
          <p:cNvPr id="14" name="block-284"/>
          <p:cNvSpPr txBox="1"/>
          <p:nvPr/>
        </p:nvSpPr>
        <p:spPr>
          <a:xfrm>
            <a:off x="8001000" y="3328416"/>
            <a:ext cx="3459175" cy="1170432"/>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One bad pod cannot stop a stage</a:t>
            </a:r>
            <a:endParaRPr lang="en-US" sz="1400" dirty="0"/>
          </a:p>
          <a:p>
            <a:pPr indent="0" marL="0">
              <a:spcAft>
                <a:spcPts val="200"/>
              </a:spcAft>
              <a:buNone/>
            </a:pPr>
            <a:r>
              <a:rPr lang="en-US" sz="1250" dirty="0">
                <a:solidFill>
                  <a:schemeClr val="tx2"/>
                </a:solidFill>
              </a:rPr>
              <a:t>The breaker opens on 20+ infra failures under 20% success; forcing it open needs 3 fatal results from at least two pods.</a:t>
            </a:r>
            <a:endParaRPr lang="en-US" sz="1400" dirty="0"/>
          </a:p>
        </p:txBody>
      </p:sp>
      <p:sp>
        <p:nvSpPr>
          <p:cNvPr id="15" name="card-285"/>
          <p:cNvSpPr/>
          <p:nvPr/>
        </p:nvSpPr>
        <p:spPr>
          <a:xfrm>
            <a:off x="7178040" y="4718304"/>
            <a:ext cx="4465015" cy="1371600"/>
          </a:xfrm>
          <a:prstGeom prst="roundRect">
            <a:avLst>
              <a:gd name="adj" fmla="val 5333"/>
            </a:avLst>
          </a:prstGeom>
          <a:solidFill>
            <a:schemeClr val="bg1"/>
          </a:solidFill>
          <a:ln w="9525">
            <a:solidFill>
              <a:schemeClr val="accent6"/>
            </a:solidFill>
            <a:prstDash val="solid"/>
          </a:ln>
        </p:spPr>
      </p:sp>
      <p:sp>
        <p:nvSpPr>
          <p:cNvPr id="16" name="badge-286"/>
          <p:cNvSpPr/>
          <p:nvPr/>
        </p:nvSpPr>
        <p:spPr>
          <a:xfrm>
            <a:off x="7379208" y="4919472"/>
            <a:ext cx="457200" cy="457200"/>
          </a:xfrm>
          <a:prstGeom prst="ellipse">
            <a:avLst/>
          </a:prstGeom>
          <a:solidFill>
            <a:schemeClr val="accent3"/>
          </a:solidFill>
          <a:ln/>
        </p:spPr>
      </p:sp>
      <p:pic>
        <p:nvPicPr>
          <p:cNvPr id="17" name="icon-TbInbox-287" descr="Inbox">    </p:cNvPr>
          <p:cNvPicPr>
            <a:picLocks noChangeAspect="1"/>
          </p:cNvPicPr>
          <p:nvPr/>
        </p:nvPicPr>
        <p:blipFill>
          <a:blip r:embed="rId3"/>
          <a:stretch>
            <a:fillRect/>
          </a:stretch>
        </p:blipFill>
        <p:spPr>
          <a:xfrm>
            <a:off x="7479792" y="5020056"/>
            <a:ext cx="256032" cy="256032"/>
          </a:xfrm>
          <a:prstGeom prst="rect">
            <a:avLst/>
          </a:prstGeom>
        </p:spPr>
      </p:pic>
      <p:sp>
        <p:nvSpPr>
          <p:cNvPr id="18" name="block-288"/>
          <p:cNvSpPr txBox="1"/>
          <p:nvPr/>
        </p:nvSpPr>
        <p:spPr>
          <a:xfrm>
            <a:off x="8001000" y="4864608"/>
            <a:ext cx="3459175" cy="1170432"/>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One dead-letter path</a:t>
            </a:r>
            <a:endParaRPr lang="en-US" sz="1400" dirty="0"/>
          </a:p>
          <a:p>
            <a:pPr indent="0" marL="0">
              <a:spcAft>
                <a:spcPts val="200"/>
              </a:spcAft>
              <a:buNone/>
            </a:pPr>
            <a:r>
              <a:rPr lang="en-US" sz="1250" dirty="0">
                <a:solidFill>
                  <a:schemeClr val="tx2"/>
                </a:solidFill>
              </a:rPr>
              <a:t>Six DLQs, one intake, one table, in the same transaction as the ledger effect; result dead letters are applied again.</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OCR AT SCALE</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OCR is sliced, journaled and isolated: no wasted Azure spend</a:t>
            </a:r>
            <a:endParaRPr lang="en-US" sz="2800" dirty="0"/>
          </a:p>
        </p:txBody>
      </p:sp>
      <p:sp>
        <p:nvSpPr>
          <p:cNvPr id="5" name="card-289"/>
          <p:cNvSpPr/>
          <p:nvPr/>
        </p:nvSpPr>
        <p:spPr>
          <a:xfrm>
            <a:off x="548640" y="1645920"/>
            <a:ext cx="5410048" cy="2103120"/>
          </a:xfrm>
          <a:prstGeom prst="roundRect">
            <a:avLst>
              <a:gd name="adj" fmla="val 3478"/>
            </a:avLst>
          </a:prstGeom>
          <a:solidFill>
            <a:schemeClr val="bg1"/>
          </a:solidFill>
          <a:ln w="9525">
            <a:solidFill>
              <a:schemeClr val="accent6"/>
            </a:solidFill>
            <a:prstDash val="solid"/>
          </a:ln>
        </p:spPr>
      </p:sp>
      <p:sp>
        <p:nvSpPr>
          <p:cNvPr id="6" name="badge-290"/>
          <p:cNvSpPr/>
          <p:nvPr/>
        </p:nvSpPr>
        <p:spPr>
          <a:xfrm>
            <a:off x="777240" y="1874520"/>
            <a:ext cx="512064" cy="512064"/>
          </a:xfrm>
          <a:prstGeom prst="ellipse">
            <a:avLst/>
          </a:prstGeom>
          <a:solidFill>
            <a:schemeClr val="accent1"/>
          </a:solidFill>
          <a:ln/>
        </p:spPr>
      </p:sp>
      <p:pic>
        <p:nvPicPr>
          <p:cNvPr id="7" name="icon-TbLayoutBoardSplit-291" descr="LayoutBoardSplit">    </p:cNvPr>
          <p:cNvPicPr>
            <a:picLocks noChangeAspect="1"/>
          </p:cNvPicPr>
          <p:nvPr/>
        </p:nvPicPr>
        <p:blipFill>
          <a:blip r:embed="rId1"/>
          <a:stretch>
            <a:fillRect/>
          </a:stretch>
        </p:blipFill>
        <p:spPr>
          <a:xfrm>
            <a:off x="889894" y="1987174"/>
            <a:ext cx="286756" cy="286756"/>
          </a:xfrm>
          <a:prstGeom prst="rect">
            <a:avLst/>
          </a:prstGeom>
        </p:spPr>
      </p:pic>
      <p:sp>
        <p:nvSpPr>
          <p:cNvPr id="8" name="block-292"/>
          <p:cNvSpPr txBox="1"/>
          <p:nvPr/>
        </p:nvSpPr>
        <p:spPr>
          <a:xfrm>
            <a:off x="1463040" y="1847088"/>
            <a:ext cx="4267048" cy="1737360"/>
          </a:xfrm>
          <a:prstGeom prst="rect">
            <a:avLst/>
          </a:prstGeom>
          <a:noFill/>
          <a:ln/>
        </p:spPr>
        <p:txBody>
          <a:bodyPr wrap="square" lIns="0" tIns="0" rIns="0" bIns="0" rtlCol="0" anchor="t"/>
          <a:lstStyle/>
          <a:p>
            <a:pPr indent="0" marL="0">
              <a:spcAft>
                <a:spcPts val="400"/>
              </a:spcAft>
              <a:buNone/>
            </a:pPr>
            <a:r>
              <a:rPr lang="en-US" sz="1650" b="1" dirty="0">
                <a:solidFill>
                  <a:schemeClr val="tx1"/>
                </a:solidFill>
              </a:rPr>
              <a:t>Slice for speed</a:t>
            </a:r>
            <a:endParaRPr lang="en-US" sz="1650" dirty="0"/>
          </a:p>
          <a:p>
            <a:pPr indent="0" marL="0">
              <a:spcAft>
                <a:spcPts val="200"/>
              </a:spcAft>
              <a:buNone/>
            </a:pPr>
            <a:r>
              <a:rPr lang="en-US" sz="1400" dirty="0">
                <a:solidFill>
                  <a:schemeClr val="tx2"/>
                </a:solidFill>
              </a:rPr>
              <a:t>Documents over 30 pages split into slices of at most 20 pages. Fan-out is the only measured speed lever: 15 to 30 times faster.</a:t>
            </a:r>
            <a:endParaRPr lang="en-US" sz="1650" dirty="0"/>
          </a:p>
        </p:txBody>
      </p:sp>
      <p:sp>
        <p:nvSpPr>
          <p:cNvPr id="9" name="card-293"/>
          <p:cNvSpPr/>
          <p:nvPr/>
        </p:nvSpPr>
        <p:spPr>
          <a:xfrm>
            <a:off x="6233008" y="1645920"/>
            <a:ext cx="5410048" cy="2103120"/>
          </a:xfrm>
          <a:prstGeom prst="roundRect">
            <a:avLst>
              <a:gd name="adj" fmla="val 3478"/>
            </a:avLst>
          </a:prstGeom>
          <a:solidFill>
            <a:schemeClr val="bg1"/>
          </a:solidFill>
          <a:ln w="9525">
            <a:solidFill>
              <a:schemeClr val="accent6"/>
            </a:solidFill>
            <a:prstDash val="solid"/>
          </a:ln>
        </p:spPr>
      </p:sp>
      <p:sp>
        <p:nvSpPr>
          <p:cNvPr id="10" name="badge-294"/>
          <p:cNvSpPr/>
          <p:nvPr/>
        </p:nvSpPr>
        <p:spPr>
          <a:xfrm>
            <a:off x="6461608" y="1874520"/>
            <a:ext cx="512064" cy="512064"/>
          </a:xfrm>
          <a:prstGeom prst="ellipse">
            <a:avLst/>
          </a:prstGeom>
          <a:solidFill>
            <a:schemeClr val="accent1"/>
          </a:solidFill>
          <a:ln/>
        </p:spPr>
      </p:sp>
      <p:pic>
        <p:nvPicPr>
          <p:cNvPr id="11" name="icon-TbFileCheck-295" descr="FileCheck">    </p:cNvPr>
          <p:cNvPicPr>
            <a:picLocks noChangeAspect="1"/>
          </p:cNvPicPr>
          <p:nvPr/>
        </p:nvPicPr>
        <p:blipFill>
          <a:blip r:embed="rId2"/>
          <a:stretch>
            <a:fillRect/>
          </a:stretch>
        </p:blipFill>
        <p:spPr>
          <a:xfrm>
            <a:off x="6574262" y="1987174"/>
            <a:ext cx="286756" cy="286756"/>
          </a:xfrm>
          <a:prstGeom prst="rect">
            <a:avLst/>
          </a:prstGeom>
        </p:spPr>
      </p:pic>
      <p:sp>
        <p:nvSpPr>
          <p:cNvPr id="12" name="block-296"/>
          <p:cNvSpPr txBox="1"/>
          <p:nvPr/>
        </p:nvSpPr>
        <p:spPr>
          <a:xfrm>
            <a:off x="7147408" y="1847088"/>
            <a:ext cx="4267048" cy="1737360"/>
          </a:xfrm>
          <a:prstGeom prst="rect">
            <a:avLst/>
          </a:prstGeom>
          <a:noFill/>
          <a:ln/>
        </p:spPr>
        <p:txBody>
          <a:bodyPr wrap="square" lIns="0" tIns="0" rIns="0" bIns="0" rtlCol="0" anchor="t"/>
          <a:lstStyle/>
          <a:p>
            <a:pPr indent="0" marL="0">
              <a:spcAft>
                <a:spcPts val="400"/>
              </a:spcAft>
              <a:buNone/>
            </a:pPr>
            <a:r>
              <a:rPr lang="en-US" sz="1650" b="1" dirty="0">
                <a:solidFill>
                  <a:schemeClr val="tx1"/>
                </a:solidFill>
              </a:rPr>
              <a:t>Journal before billing</a:t>
            </a:r>
            <a:endParaRPr lang="en-US" sz="1650" dirty="0"/>
          </a:p>
          <a:p>
            <a:pPr indent="0" marL="0">
              <a:spcAft>
                <a:spcPts val="200"/>
              </a:spcAft>
              <a:buNone/>
            </a:pPr>
            <a:r>
              <a:rPr lang="en-US" sz="1400" dirty="0">
                <a:solidFill>
                  <a:schemeClr val="tx2"/>
                </a:solidFill>
              </a:rPr>
              <a:t>intent.json is durable before the POST; any later attempt adopts the running job. The residual tens-of-ms window closes with gateway change GW-CR-1.</a:t>
            </a:r>
            <a:endParaRPr lang="en-US" sz="1650" dirty="0"/>
          </a:p>
        </p:txBody>
      </p:sp>
      <p:sp>
        <p:nvSpPr>
          <p:cNvPr id="13" name="card-297"/>
          <p:cNvSpPr/>
          <p:nvPr/>
        </p:nvSpPr>
        <p:spPr>
          <a:xfrm>
            <a:off x="548640" y="3977640"/>
            <a:ext cx="5410048" cy="2103120"/>
          </a:xfrm>
          <a:prstGeom prst="roundRect">
            <a:avLst>
              <a:gd name="adj" fmla="val 3478"/>
            </a:avLst>
          </a:prstGeom>
          <a:solidFill>
            <a:schemeClr val="bg1"/>
          </a:solidFill>
          <a:ln w="9525">
            <a:solidFill>
              <a:schemeClr val="accent6"/>
            </a:solidFill>
            <a:prstDash val="solid"/>
          </a:ln>
        </p:spPr>
      </p:sp>
      <p:sp>
        <p:nvSpPr>
          <p:cNvPr id="14" name="badge-298"/>
          <p:cNvSpPr/>
          <p:nvPr/>
        </p:nvSpPr>
        <p:spPr>
          <a:xfrm>
            <a:off x="777240" y="4206240"/>
            <a:ext cx="512064" cy="512064"/>
          </a:xfrm>
          <a:prstGeom prst="ellipse">
            <a:avLst/>
          </a:prstGeom>
          <a:solidFill>
            <a:schemeClr val="accent1"/>
          </a:solidFill>
          <a:ln/>
        </p:spPr>
      </p:sp>
      <p:pic>
        <p:nvPicPr>
          <p:cNvPr id="15" name="icon-TbCpu-299" descr="Cpu">    </p:cNvPr>
          <p:cNvPicPr>
            <a:picLocks noChangeAspect="1"/>
          </p:cNvPicPr>
          <p:nvPr/>
        </p:nvPicPr>
        <p:blipFill>
          <a:blip r:embed="rId3"/>
          <a:stretch>
            <a:fillRect/>
          </a:stretch>
        </p:blipFill>
        <p:spPr>
          <a:xfrm>
            <a:off x="889894" y="4318894"/>
            <a:ext cx="286756" cy="286756"/>
          </a:xfrm>
          <a:prstGeom prst="rect">
            <a:avLst/>
          </a:prstGeom>
        </p:spPr>
      </p:pic>
      <p:sp>
        <p:nvSpPr>
          <p:cNvPr id="16" name="block-300"/>
          <p:cNvSpPr txBox="1"/>
          <p:nvPr/>
        </p:nvSpPr>
        <p:spPr>
          <a:xfrm>
            <a:off x="1463040" y="4178808"/>
            <a:ext cx="4267048" cy="1737360"/>
          </a:xfrm>
          <a:prstGeom prst="rect">
            <a:avLst/>
          </a:prstGeom>
          <a:noFill/>
          <a:ln/>
        </p:spPr>
        <p:txBody>
          <a:bodyPr wrap="square" lIns="0" tIns="0" rIns="0" bIns="0" rtlCol="0" anchor="t"/>
          <a:lstStyle/>
          <a:p>
            <a:pPr indent="0" marL="0">
              <a:spcAft>
                <a:spcPts val="400"/>
              </a:spcAft>
              <a:buNone/>
            </a:pPr>
            <a:r>
              <a:rPr lang="en-US" sz="1650" b="1" dirty="0">
                <a:solidFill>
                  <a:schemeClr val="tx1"/>
                </a:solidFill>
              </a:rPr>
              <a:t>Isolate poison</a:t>
            </a:r>
            <a:endParaRPr lang="en-US" sz="1650" dirty="0"/>
          </a:p>
          <a:p>
            <a:pPr indent="0" marL="0">
              <a:spcAft>
                <a:spcPts val="200"/>
              </a:spcAft>
              <a:buNone/>
            </a:pPr>
            <a:r>
              <a:rPr lang="en-US" sz="1400" dirty="0">
                <a:solidFill>
                  <a:schemeClr val="tx2"/>
                </a:solidFill>
              </a:rPr>
              <a:t>Parsing runs in two child processes capped at 1.5 GiB; a killed pool is replaced and each job re-run alone to find the culprit. The pod never restarts.</a:t>
            </a:r>
            <a:endParaRPr lang="en-US" sz="1650" dirty="0"/>
          </a:p>
        </p:txBody>
      </p:sp>
      <p:sp>
        <p:nvSpPr>
          <p:cNvPr id="17" name="card-301"/>
          <p:cNvSpPr/>
          <p:nvPr/>
        </p:nvSpPr>
        <p:spPr>
          <a:xfrm>
            <a:off x="6233008" y="3977640"/>
            <a:ext cx="5410048" cy="2103120"/>
          </a:xfrm>
          <a:prstGeom prst="roundRect">
            <a:avLst>
              <a:gd name="adj" fmla="val 3478"/>
            </a:avLst>
          </a:prstGeom>
          <a:solidFill>
            <a:schemeClr val="bg1"/>
          </a:solidFill>
          <a:ln w="9525">
            <a:solidFill>
              <a:schemeClr val="accent6"/>
            </a:solidFill>
            <a:prstDash val="solid"/>
          </a:ln>
        </p:spPr>
      </p:sp>
      <p:sp>
        <p:nvSpPr>
          <p:cNvPr id="18" name="badge-302"/>
          <p:cNvSpPr/>
          <p:nvPr/>
        </p:nvSpPr>
        <p:spPr>
          <a:xfrm>
            <a:off x="6461608" y="4206240"/>
            <a:ext cx="512064" cy="512064"/>
          </a:xfrm>
          <a:prstGeom prst="ellipse">
            <a:avLst/>
          </a:prstGeom>
          <a:solidFill>
            <a:schemeClr val="accent1"/>
          </a:solidFill>
          <a:ln/>
        </p:spPr>
      </p:sp>
      <p:pic>
        <p:nvPicPr>
          <p:cNvPr id="19" name="icon-TbTrafficLights-303" descr="TrafficLights">    </p:cNvPr>
          <p:cNvPicPr>
            <a:picLocks noChangeAspect="1"/>
          </p:cNvPicPr>
          <p:nvPr/>
        </p:nvPicPr>
        <p:blipFill>
          <a:blip r:embed="rId4"/>
          <a:stretch>
            <a:fillRect/>
          </a:stretch>
        </p:blipFill>
        <p:spPr>
          <a:xfrm>
            <a:off x="6574262" y="4318894"/>
            <a:ext cx="286756" cy="286756"/>
          </a:xfrm>
          <a:prstGeom prst="rect">
            <a:avLst/>
          </a:prstGeom>
        </p:spPr>
      </p:pic>
      <p:sp>
        <p:nvSpPr>
          <p:cNvPr id="20" name="block-304"/>
          <p:cNvSpPr txBox="1"/>
          <p:nvPr/>
        </p:nvSpPr>
        <p:spPr>
          <a:xfrm>
            <a:off x="7147408" y="4178808"/>
            <a:ext cx="4267048" cy="1737360"/>
          </a:xfrm>
          <a:prstGeom prst="rect">
            <a:avLst/>
          </a:prstGeom>
          <a:noFill/>
          <a:ln/>
        </p:spPr>
        <p:txBody>
          <a:bodyPr wrap="square" lIns="0" tIns="0" rIns="0" bIns="0" rtlCol="0" anchor="t"/>
          <a:lstStyle/>
          <a:p>
            <a:pPr indent="0" marL="0">
              <a:spcAft>
                <a:spcPts val="400"/>
              </a:spcAft>
              <a:buNone/>
            </a:pPr>
            <a:r>
              <a:rPr lang="en-US" sz="1650" b="1" dirty="0">
                <a:solidFill>
                  <a:schemeClr val="tx1"/>
                </a:solidFill>
              </a:rPr>
              <a:t>Pace and fall back</a:t>
            </a:r>
            <a:endParaRPr lang="en-US" sz="1650" dirty="0"/>
          </a:p>
          <a:p>
            <a:pPr indent="0" marL="0">
              <a:spcAft>
                <a:spcPts val="200"/>
              </a:spcAft>
              <a:buNone/>
            </a:pPr>
            <a:r>
              <a:rPr lang="en-US" sz="1400" dirty="0">
                <a:solidFill>
                  <a:schemeClr val="tx2"/>
                </a:solidFill>
              </a:rPr>
              <a:t>Per-pod AIMD windows per endpoint (+1 on success, halved on 429/503), breakers with probe permits, and Layout → Read fallback on 15 named triggers.</a:t>
            </a:r>
            <a:endParaRPr lang="en-US" sz="1650" dirty="0"/>
          </a:p>
        </p:txBody>
      </p:sp>
      <p:sp>
        <p:nvSpPr>
          <p:cNvPr id="21" name="pill-305"/>
          <p:cNvSpPr/>
          <p:nvPr/>
        </p:nvSpPr>
        <p:spPr>
          <a:xfrm>
            <a:off x="1463040" y="3246120"/>
            <a:ext cx="830191"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dirty="0">
                <a:solidFill>
                  <a:schemeClr val="bg1"/>
                </a:solidFill>
              </a:rPr>
              <a:t>17 pp</a:t>
            </a:r>
            <a:endParaRPr lang="en-US" sz="1050" dirty="0"/>
          </a:p>
        </p:txBody>
      </p:sp>
      <p:sp>
        <p:nvSpPr>
          <p:cNvPr id="22" name="pill-306"/>
          <p:cNvSpPr/>
          <p:nvPr/>
        </p:nvSpPr>
        <p:spPr>
          <a:xfrm>
            <a:off x="2329807" y="3246120"/>
            <a:ext cx="830191"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dirty="0">
                <a:solidFill>
                  <a:schemeClr val="bg1"/>
                </a:solidFill>
              </a:rPr>
              <a:t>17 pp</a:t>
            </a:r>
            <a:endParaRPr lang="en-US" sz="1050" dirty="0"/>
          </a:p>
        </p:txBody>
      </p:sp>
      <p:sp>
        <p:nvSpPr>
          <p:cNvPr id="23" name="pill-307"/>
          <p:cNvSpPr/>
          <p:nvPr/>
        </p:nvSpPr>
        <p:spPr>
          <a:xfrm>
            <a:off x="3196573" y="3246120"/>
            <a:ext cx="830191"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dirty="0">
                <a:solidFill>
                  <a:schemeClr val="bg1"/>
                </a:solidFill>
              </a:rPr>
              <a:t>17 pp</a:t>
            </a:r>
            <a:endParaRPr lang="en-US" sz="1050" dirty="0"/>
          </a:p>
        </p:txBody>
      </p:sp>
      <p:sp>
        <p:nvSpPr>
          <p:cNvPr id="24" name="pill-308"/>
          <p:cNvSpPr/>
          <p:nvPr/>
        </p:nvSpPr>
        <p:spPr>
          <a:xfrm>
            <a:off x="4063340" y="3246120"/>
            <a:ext cx="830191"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dirty="0">
                <a:solidFill>
                  <a:schemeClr val="bg1"/>
                </a:solidFill>
              </a:rPr>
              <a:t>17 pp</a:t>
            </a:r>
            <a:endParaRPr lang="en-US" sz="1050" dirty="0"/>
          </a:p>
        </p:txBody>
      </p:sp>
      <p:sp>
        <p:nvSpPr>
          <p:cNvPr id="25" name="pill-309"/>
          <p:cNvSpPr/>
          <p:nvPr/>
        </p:nvSpPr>
        <p:spPr>
          <a:xfrm>
            <a:off x="4930106" y="3246120"/>
            <a:ext cx="626245"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13 pp</a:t>
            </a:r>
            <a:endParaRPr lang="en-US" sz="10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CHUNKING AND EMBEDDING</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Chunking and embedding run DES code verbatim</a:t>
            </a:r>
            <a:endParaRPr lang="en-US" sz="2800" dirty="0"/>
          </a:p>
        </p:txBody>
      </p:sp>
      <p:sp>
        <p:nvSpPr>
          <p:cNvPr id="5" name="card-310"/>
          <p:cNvSpPr/>
          <p:nvPr/>
        </p:nvSpPr>
        <p:spPr>
          <a:xfrm>
            <a:off x="548640" y="1645920"/>
            <a:ext cx="5440680" cy="4498848"/>
          </a:xfrm>
          <a:prstGeom prst="roundRect">
            <a:avLst>
              <a:gd name="adj" fmla="val 1626"/>
            </a:avLst>
          </a:prstGeom>
          <a:solidFill>
            <a:schemeClr val="bg1"/>
          </a:solidFill>
          <a:ln w="9525">
            <a:solidFill>
              <a:schemeClr val="accent6"/>
            </a:solidFill>
            <a:prstDash val="solid"/>
          </a:ln>
        </p:spPr>
      </p:sp>
      <p:sp>
        <p:nvSpPr>
          <p:cNvPr id="6" name="text-311"/>
          <p:cNvSpPr txBox="1"/>
          <p:nvPr/>
        </p:nvSpPr>
        <p:spPr>
          <a:xfrm>
            <a:off x="777240" y="1783080"/>
            <a:ext cx="4983480" cy="329184"/>
          </a:xfrm>
          <a:prstGeom prst="rect">
            <a:avLst/>
          </a:prstGeom>
          <a:noFill/>
          <a:ln/>
        </p:spPr>
        <p:txBody>
          <a:bodyPr wrap="square" lIns="0" tIns="0" rIns="0" bIns="0" rtlCol="0" anchor="t"/>
          <a:lstStyle/>
          <a:p>
            <a:pPr indent="0" marL="0">
              <a:buNone/>
            </a:pPr>
            <a:r>
              <a:rPr lang="en-US" sz="1500" b="1" dirty="0">
                <a:solidFill>
                  <a:schemeClr val="tx1"/>
                </a:solidFill>
              </a:rPr>
              <a:t>Chunker: DES wega_parts 1.2.0, vendored byte for byte</a:t>
            </a:r>
            <a:endParaRPr lang="en-US" sz="1500" dirty="0"/>
          </a:p>
        </p:txBody>
      </p:sp>
      <p:sp>
        <p:nvSpPr>
          <p:cNvPr id="7" name="chip-312"/>
          <p:cNvSpPr/>
          <p:nvPr/>
        </p:nvSpPr>
        <p:spPr>
          <a:xfrm>
            <a:off x="777240" y="2276856"/>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313"/>
          <p:cNvSpPr txBox="1"/>
          <p:nvPr/>
        </p:nvSpPr>
        <p:spPr>
          <a:xfrm>
            <a:off x="1207008" y="2240280"/>
            <a:ext cx="4526280" cy="402336"/>
          </a:xfrm>
          <a:prstGeom prst="rect">
            <a:avLst/>
          </a:prstGeom>
          <a:noFill/>
          <a:ln/>
        </p:spPr>
        <p:txBody>
          <a:bodyPr wrap="square" lIns="0" tIns="0" rIns="0" bIns="0" rtlCol="0" anchor="ctr"/>
          <a:lstStyle/>
          <a:p>
            <a:pPr indent="0" marL="0">
              <a:buNone/>
            </a:pPr>
            <a:r>
              <a:rPr lang="en-US" sz="1300" dirty="0">
                <a:solidFill>
                  <a:schemeClr val="tx1"/>
                </a:solidFill>
              </a:rPr>
              <a:t>Layout paragraphs in, page furniture out; normalized boxes</a:t>
            </a:r>
            <a:endParaRPr lang="en-US" sz="1300" dirty="0"/>
          </a:p>
        </p:txBody>
      </p:sp>
      <p:sp>
        <p:nvSpPr>
          <p:cNvPr id="9" name="chip-314"/>
          <p:cNvSpPr/>
          <p:nvPr/>
        </p:nvSpPr>
        <p:spPr>
          <a:xfrm>
            <a:off x="777240" y="2788920"/>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0" name="text-315"/>
          <p:cNvSpPr txBox="1"/>
          <p:nvPr/>
        </p:nvSpPr>
        <p:spPr>
          <a:xfrm>
            <a:off x="1207008" y="2752344"/>
            <a:ext cx="4526280" cy="402336"/>
          </a:xfrm>
          <a:prstGeom prst="rect">
            <a:avLst/>
          </a:prstGeom>
          <a:noFill/>
          <a:ln/>
        </p:spPr>
        <p:txBody>
          <a:bodyPr wrap="square" lIns="0" tIns="0" rIns="0" bIns="0" rtlCol="0" anchor="ctr"/>
          <a:lstStyle/>
          <a:p>
            <a:pPr indent="0" marL="0">
              <a:buNone/>
            </a:pPr>
            <a:r>
              <a:rPr lang="en-US" sz="1300" dirty="0">
                <a:solidFill>
                  <a:schemeClr val="tx1"/>
                </a:solidFill>
              </a:rPr>
              <a:t>Gap-spaced part ids with column-aware splicing</a:t>
            </a:r>
            <a:endParaRPr lang="en-US" sz="1300" dirty="0"/>
          </a:p>
        </p:txBody>
      </p:sp>
      <p:sp>
        <p:nvSpPr>
          <p:cNvPr id="11" name="chip-316"/>
          <p:cNvSpPr/>
          <p:nvPr/>
        </p:nvSpPr>
        <p:spPr>
          <a:xfrm>
            <a:off x="777240" y="3300984"/>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2" name="text-317"/>
          <p:cNvSpPr txBox="1"/>
          <p:nvPr/>
        </p:nvSpPr>
        <p:spPr>
          <a:xfrm>
            <a:off x="1207008" y="3264408"/>
            <a:ext cx="4526280" cy="402336"/>
          </a:xfrm>
          <a:prstGeom prst="rect">
            <a:avLst/>
          </a:prstGeom>
          <a:noFill/>
          <a:ln/>
        </p:spPr>
        <p:txBody>
          <a:bodyPr wrap="square" lIns="0" tIns="0" rIns="0" bIns="0" rtlCol="0" anchor="ctr"/>
          <a:lstStyle/>
          <a:p>
            <a:pPr indent="0" marL="0">
              <a:buNone/>
            </a:pPr>
            <a:r>
              <a:rPr lang="en-US" sz="1300" dirty="0">
                <a:solidFill>
                  <a:schemeClr val="tx1"/>
                </a:solidFill>
              </a:rPr>
              <a:t>Markdown tables and 300-dpi figures in reading order</a:t>
            </a:r>
            <a:endParaRPr lang="en-US" sz="1300" dirty="0"/>
          </a:p>
        </p:txBody>
      </p:sp>
      <p:sp>
        <p:nvSpPr>
          <p:cNvPr id="13" name="chip-318"/>
          <p:cNvSpPr/>
          <p:nvPr/>
        </p:nvSpPr>
        <p:spPr>
          <a:xfrm>
            <a:off x="777240" y="3813048"/>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4" name="text-319"/>
          <p:cNvSpPr txBox="1"/>
          <p:nvPr/>
        </p:nvSpPr>
        <p:spPr>
          <a:xfrm>
            <a:off x="1207008" y="3776472"/>
            <a:ext cx="4526280" cy="402336"/>
          </a:xfrm>
          <a:prstGeom prst="rect">
            <a:avLst/>
          </a:prstGeom>
          <a:noFill/>
          <a:ln/>
        </p:spPr>
        <p:txBody>
          <a:bodyPr wrap="square" lIns="0" tIns="0" rIns="0" bIns="0" rtlCol="0" anchor="ctr"/>
          <a:lstStyle/>
          <a:p>
            <a:pPr indent="0" marL="0">
              <a:buNone/>
            </a:pPr>
            <a:r>
              <a:rPr lang="en-US" sz="1300" dirty="0">
                <a:solidFill>
                  <a:schemeClr val="tx1"/>
                </a:solidFill>
              </a:rPr>
              <a:t>Same-role merge with title and section prefix</a:t>
            </a:r>
            <a:endParaRPr lang="en-US" sz="1300" dirty="0"/>
          </a:p>
        </p:txBody>
      </p:sp>
      <p:sp>
        <p:nvSpPr>
          <p:cNvPr id="15" name="chip-320"/>
          <p:cNvSpPr/>
          <p:nvPr/>
        </p:nvSpPr>
        <p:spPr>
          <a:xfrm>
            <a:off x="777240" y="432511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16" name="text-321"/>
          <p:cNvSpPr txBox="1"/>
          <p:nvPr/>
        </p:nvSpPr>
        <p:spPr>
          <a:xfrm>
            <a:off x="1207008" y="4288536"/>
            <a:ext cx="4526280" cy="402336"/>
          </a:xfrm>
          <a:prstGeom prst="rect">
            <a:avLst/>
          </a:prstGeom>
          <a:noFill/>
          <a:ln/>
        </p:spPr>
        <p:txBody>
          <a:bodyPr wrap="square" lIns="0" tIns="0" rIns="0" bIns="0" rtlCol="0" anchor="ctr"/>
          <a:lstStyle/>
          <a:p>
            <a:pPr indent="0" marL="0">
              <a:buNone/>
            </a:pPr>
            <a:r>
              <a:rPr lang="en-US" sz="1300" dirty="0">
                <a:solidFill>
                  <a:schemeClr val="tx1"/>
                </a:solidFill>
              </a:rPr>
              <a:t>Splits only inside parts; UUIDv5 chunk groups</a:t>
            </a:r>
            <a:endParaRPr lang="en-US" sz="1300" dirty="0"/>
          </a:p>
        </p:txBody>
      </p:sp>
      <p:sp>
        <p:nvSpPr>
          <p:cNvPr id="17" name="chip-322"/>
          <p:cNvSpPr/>
          <p:nvPr/>
        </p:nvSpPr>
        <p:spPr>
          <a:xfrm>
            <a:off x="777240" y="4837176"/>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18" name="text-323"/>
          <p:cNvSpPr txBox="1"/>
          <p:nvPr/>
        </p:nvSpPr>
        <p:spPr>
          <a:xfrm>
            <a:off x="1207008" y="4800600"/>
            <a:ext cx="4526280" cy="402336"/>
          </a:xfrm>
          <a:prstGeom prst="rect">
            <a:avLst/>
          </a:prstGeom>
          <a:noFill/>
          <a:ln/>
        </p:spPr>
        <p:txBody>
          <a:bodyPr wrap="square" lIns="0" tIns="0" rIns="0" bIns="0" rtlCol="0" anchor="ctr"/>
          <a:lstStyle/>
          <a:p>
            <a:pPr indent="0" marL="0">
              <a:buNone/>
            </a:pPr>
            <a:r>
              <a:rPr lang="en-US" sz="1300" dirty="0">
                <a:solidFill>
                  <a:schemeClr val="tx1"/>
                </a:solidFill>
              </a:rPr>
              <a:t>Presidio PII masking and per-chunk provenance</a:t>
            </a:r>
            <a:endParaRPr lang="en-US" sz="1300" dirty="0"/>
          </a:p>
        </p:txBody>
      </p:sp>
      <p:sp>
        <p:nvSpPr>
          <p:cNvPr id="19" name="text-324"/>
          <p:cNvSpPr txBox="1"/>
          <p:nvPr/>
        </p:nvSpPr>
        <p:spPr>
          <a:xfrm>
            <a:off x="777240" y="5440680"/>
            <a:ext cx="4983480" cy="548640"/>
          </a:xfrm>
          <a:prstGeom prst="rect">
            <a:avLst/>
          </a:prstGeom>
          <a:noFill/>
          <a:ln/>
        </p:spPr>
        <p:txBody>
          <a:bodyPr wrap="square" lIns="0" tIns="0" rIns="0" bIns="0" rtlCol="0" anchor="t"/>
          <a:lstStyle/>
          <a:p>
            <a:pPr indent="0" marL="0">
              <a:buNone/>
            </a:pPr>
            <a:r>
              <a:rPr lang="en-US" sz="1200" dirty="0">
                <a:solidFill>
                  <a:schemeClr val="tx2"/>
                </a:solidFill>
              </a:rPr>
              <a:t>A digest check fails on one drifted byte; chunks.json is schema-checked before it is committed.</a:t>
            </a:r>
            <a:endParaRPr lang="en-US" sz="1200" dirty="0"/>
          </a:p>
        </p:txBody>
      </p:sp>
      <p:sp>
        <p:nvSpPr>
          <p:cNvPr id="20" name="text-325"/>
          <p:cNvSpPr txBox="1"/>
          <p:nvPr/>
        </p:nvSpPr>
        <p:spPr>
          <a:xfrm>
            <a:off x="6263640" y="1645920"/>
            <a:ext cx="5379415" cy="329184"/>
          </a:xfrm>
          <a:prstGeom prst="rect">
            <a:avLst/>
          </a:prstGeom>
          <a:noFill/>
          <a:ln/>
        </p:spPr>
        <p:txBody>
          <a:bodyPr wrap="square" lIns="0" tIns="0" rIns="0" bIns="0" rtlCol="0" anchor="t"/>
          <a:lstStyle/>
          <a:p>
            <a:pPr indent="0" marL="0">
              <a:buNone/>
            </a:pPr>
            <a:r>
              <a:rPr lang="en-US" sz="1500" b="1" dirty="0">
                <a:solidFill>
                  <a:schemeClr val="tx1"/>
                </a:solidFill>
              </a:rPr>
              <a:t>Embedder: TEI model server and pgvector sink</a:t>
            </a:r>
            <a:endParaRPr lang="en-US" sz="1500" dirty="0"/>
          </a:p>
        </p:txBody>
      </p:sp>
      <p:sp>
        <p:nvSpPr>
          <p:cNvPr id="21" name="box-326"/>
          <p:cNvSpPr/>
          <p:nvPr/>
        </p:nvSpPr>
        <p:spPr>
          <a:xfrm>
            <a:off x="6263640" y="2103120"/>
            <a:ext cx="1537106" cy="731520"/>
          </a:xfrm>
          <a:prstGeom prst="roundRect">
            <a:avLst>
              <a:gd name="adj" fmla="val 7500"/>
            </a:avLst>
          </a:prstGeom>
          <a:solidFill>
            <a:schemeClr val="bg1"/>
          </a:solidFill>
          <a:ln w="12700">
            <a:solidFill>
              <a:schemeClr val="accent6"/>
            </a:solidFill>
          </a:ln>
        </p:spPr>
        <p:txBody>
          <a:bodyPr wrap="square" lIns="101600" tIns="38100" rIns="101600" bIns="38100" rtlCol="0" anchor="ctr"/>
          <a:lstStyle/>
          <a:p>
            <a:pPr algn="ctr" indent="0" marL="0">
              <a:buNone/>
            </a:pPr>
            <a:r>
              <a:rPr lang="en-US" sz="1300" b="1" dirty="0">
                <a:solidFill>
                  <a:schemeClr val="tx1"/>
                </a:solidFill>
              </a:rPr>
              <a:t>chunks.json</a:t>
            </a:r>
            <a:endParaRPr lang="en-US" sz="1300" dirty="0"/>
          </a:p>
          <a:p>
            <a:pPr algn="ctr" indent="0" marL="0">
              <a:buNone/>
            </a:pPr>
            <a:r>
              <a:rPr lang="en-US" sz="1100" dirty="0">
                <a:solidFill>
                  <a:schemeClr val="tx2"/>
                </a:solidFill>
              </a:rPr>
              <a:t>from the chunker</a:t>
            </a:r>
            <a:endParaRPr lang="en-US" sz="1300" dirty="0"/>
          </a:p>
        </p:txBody>
      </p:sp>
      <p:sp>
        <p:nvSpPr>
          <p:cNvPr id="22" name="link-327"/>
          <p:cNvSpPr/>
          <p:nvPr/>
        </p:nvSpPr>
        <p:spPr>
          <a:xfrm>
            <a:off x="7828178" y="2468880"/>
            <a:ext cx="329184" cy="0"/>
          </a:xfrm>
          <a:prstGeom prst="line">
            <a:avLst/>
          </a:prstGeom>
          <a:noFill/>
          <a:ln w="19050">
            <a:solidFill>
              <a:schemeClr val="accent1"/>
            </a:solidFill>
            <a:prstDash val="solid"/>
            <a:tailEnd type="triangle"/>
          </a:ln>
        </p:spPr>
      </p:sp>
      <p:sp>
        <p:nvSpPr>
          <p:cNvPr id="23" name="particle-328"/>
          <p:cNvSpPr/>
          <p:nvPr/>
        </p:nvSpPr>
        <p:spPr>
          <a:xfrm>
            <a:off x="7960766" y="2436876"/>
            <a:ext cx="64008" cy="64008"/>
          </a:xfrm>
          <a:prstGeom prst="ellipse">
            <a:avLst/>
          </a:prstGeom>
          <a:solidFill>
            <a:schemeClr val="accent1"/>
          </a:solidFill>
          <a:ln/>
        </p:spPr>
      </p:sp>
      <p:sp>
        <p:nvSpPr>
          <p:cNvPr id="24" name="box-329"/>
          <p:cNvSpPr/>
          <p:nvPr/>
        </p:nvSpPr>
        <p:spPr>
          <a:xfrm>
            <a:off x="8184794" y="2103120"/>
            <a:ext cx="1537106" cy="731520"/>
          </a:xfrm>
          <a:prstGeom prst="roundRect">
            <a:avLst>
              <a:gd name="adj" fmla="val 7500"/>
            </a:avLst>
          </a:prstGeom>
          <a:solidFill>
            <a:schemeClr val="bg1"/>
          </a:solidFill>
          <a:ln w="12700">
            <a:solidFill>
              <a:schemeClr val="accent6"/>
            </a:solidFill>
          </a:ln>
        </p:spPr>
        <p:txBody>
          <a:bodyPr wrap="square" lIns="101600" tIns="38100" rIns="101600" bIns="38100" rtlCol="0" anchor="ctr"/>
          <a:lstStyle/>
          <a:p>
            <a:pPr algn="ctr" indent="0" marL="0">
              <a:buNone/>
            </a:pPr>
            <a:r>
              <a:rPr lang="en-US" sz="1300" b="1" dirty="0">
                <a:solidFill>
                  <a:schemeClr val="tx1"/>
                </a:solidFill>
              </a:rPr>
              <a:t>TEI</a:t>
            </a:r>
            <a:endParaRPr lang="en-US" sz="1300" dirty="0"/>
          </a:p>
          <a:p>
            <a:pPr algn="ctr" indent="0" marL="0">
              <a:buNone/>
            </a:pPr>
            <a:r>
              <a:rPr lang="en-US" sz="1100" dirty="0">
                <a:solidFill>
                  <a:schemeClr val="tx2"/>
                </a:solidFill>
              </a:rPr>
              <a:t>gte-large-en-v1.5</a:t>
            </a:r>
            <a:endParaRPr lang="en-US" sz="1300" dirty="0"/>
          </a:p>
        </p:txBody>
      </p:sp>
      <p:sp>
        <p:nvSpPr>
          <p:cNvPr id="25" name="link-330"/>
          <p:cNvSpPr/>
          <p:nvPr/>
        </p:nvSpPr>
        <p:spPr>
          <a:xfrm>
            <a:off x="9749333" y="2468880"/>
            <a:ext cx="329184" cy="0"/>
          </a:xfrm>
          <a:prstGeom prst="line">
            <a:avLst/>
          </a:prstGeom>
          <a:noFill/>
          <a:ln w="19050">
            <a:solidFill>
              <a:schemeClr val="accent1"/>
            </a:solidFill>
            <a:prstDash val="solid"/>
            <a:tailEnd type="triangle"/>
          </a:ln>
        </p:spPr>
      </p:sp>
      <p:sp>
        <p:nvSpPr>
          <p:cNvPr id="26" name="particle-331"/>
          <p:cNvSpPr/>
          <p:nvPr/>
        </p:nvSpPr>
        <p:spPr>
          <a:xfrm>
            <a:off x="9881921" y="2436876"/>
            <a:ext cx="64008" cy="64008"/>
          </a:xfrm>
          <a:prstGeom prst="ellipse">
            <a:avLst/>
          </a:prstGeom>
          <a:solidFill>
            <a:schemeClr val="accent1"/>
          </a:solidFill>
          <a:ln/>
        </p:spPr>
      </p:sp>
      <p:sp>
        <p:nvSpPr>
          <p:cNvPr id="27" name="box-332"/>
          <p:cNvSpPr/>
          <p:nvPr/>
        </p:nvSpPr>
        <p:spPr>
          <a:xfrm>
            <a:off x="10105949" y="2103120"/>
            <a:ext cx="1537106" cy="731520"/>
          </a:xfrm>
          <a:prstGeom prst="roundRect">
            <a:avLst>
              <a:gd name="adj" fmla="val 7500"/>
            </a:avLst>
          </a:prstGeom>
          <a:solidFill>
            <a:schemeClr val="bg1"/>
          </a:solidFill>
          <a:ln w="12700">
            <a:solidFill>
              <a:schemeClr val="accent6"/>
            </a:solidFill>
          </a:ln>
        </p:spPr>
        <p:txBody>
          <a:bodyPr wrap="square" lIns="101600" tIns="38100" rIns="101600" bIns="38100" rtlCol="0" anchor="ctr"/>
          <a:lstStyle/>
          <a:p>
            <a:pPr algn="ctr" indent="0" marL="0">
              <a:buNone/>
            </a:pPr>
            <a:r>
              <a:rPr lang="en-US" sz="1300" b="1" dirty="0">
                <a:solidFill>
                  <a:schemeClr val="tx1"/>
                </a:solidFill>
              </a:rPr>
              <a:t>Outputs</a:t>
            </a:r>
            <a:endParaRPr lang="en-US" sz="1300" dirty="0"/>
          </a:p>
          <a:p>
            <a:pPr algn="ctr" indent="0" marL="0">
              <a:buNone/>
            </a:pPr>
            <a:r>
              <a:rPr lang="en-US" sz="1100" dirty="0">
                <a:solidFill>
                  <a:schemeClr val="tx2"/>
                </a:solidFill>
              </a:rPr>
              <a:t>vectors file + pgvector</a:t>
            </a:r>
            <a:endParaRPr lang="en-US" sz="1300" dirty="0"/>
          </a:p>
        </p:txBody>
      </p:sp>
      <p:sp>
        <p:nvSpPr>
          <p:cNvPr id="28" name="badge-333"/>
          <p:cNvSpPr/>
          <p:nvPr/>
        </p:nvSpPr>
        <p:spPr>
          <a:xfrm>
            <a:off x="6263640" y="3063240"/>
            <a:ext cx="420624" cy="420624"/>
          </a:xfrm>
          <a:prstGeom prst="ellipse">
            <a:avLst/>
          </a:prstGeom>
          <a:solidFill>
            <a:schemeClr val="accent2"/>
          </a:solidFill>
          <a:ln/>
        </p:spPr>
      </p:sp>
      <p:pic>
        <p:nvPicPr>
          <p:cNvPr id="29" name="icon-TbRuler-334" descr="Ruler">    </p:cNvPr>
          <p:cNvPicPr>
            <a:picLocks noChangeAspect="1"/>
          </p:cNvPicPr>
          <p:nvPr/>
        </p:nvPicPr>
        <p:blipFill>
          <a:blip r:embed="rId1"/>
          <a:stretch>
            <a:fillRect/>
          </a:stretch>
        </p:blipFill>
        <p:spPr>
          <a:xfrm>
            <a:off x="6356177" y="3155777"/>
            <a:ext cx="235549" cy="235549"/>
          </a:xfrm>
          <a:prstGeom prst="rect">
            <a:avLst/>
          </a:prstGeom>
        </p:spPr>
      </p:pic>
      <p:sp>
        <p:nvSpPr>
          <p:cNvPr id="30" name="block-335"/>
          <p:cNvSpPr txBox="1"/>
          <p:nvPr/>
        </p:nvSpPr>
        <p:spPr>
          <a:xfrm>
            <a:off x="6830568" y="3026664"/>
            <a:ext cx="4812487" cy="969264"/>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Model contract checked</a:t>
            </a:r>
            <a:endParaRPr lang="en-US" sz="1400" dirty="0"/>
          </a:p>
          <a:p>
            <a:pPr indent="0" marL="0">
              <a:spcAft>
                <a:spcPts val="200"/>
              </a:spcAft>
              <a:buNone/>
            </a:pPr>
            <a:r>
              <a:rPr lang="en-US" sz="1250" dirty="0">
                <a:solidFill>
                  <a:schemeClr val="tx2"/>
                </a:solidFill>
              </a:rPr>
              <a:t>CLS pooling, 1024-D float32, unit length within 1e-3; /info and a paraphrase probe gate startup.</a:t>
            </a:r>
            <a:endParaRPr lang="en-US" sz="1400" dirty="0"/>
          </a:p>
        </p:txBody>
      </p:sp>
      <p:sp>
        <p:nvSpPr>
          <p:cNvPr id="31" name="badge-336"/>
          <p:cNvSpPr/>
          <p:nvPr/>
        </p:nvSpPr>
        <p:spPr>
          <a:xfrm>
            <a:off x="6263640" y="4087368"/>
            <a:ext cx="420624" cy="420624"/>
          </a:xfrm>
          <a:prstGeom prst="ellipse">
            <a:avLst/>
          </a:prstGeom>
          <a:solidFill>
            <a:schemeClr val="accent2"/>
          </a:solidFill>
          <a:ln/>
        </p:spPr>
      </p:sp>
      <p:pic>
        <p:nvPicPr>
          <p:cNvPr id="32" name="icon-TbScissors-337" descr="Scissors">    </p:cNvPr>
          <p:cNvPicPr>
            <a:picLocks noChangeAspect="1"/>
          </p:cNvPicPr>
          <p:nvPr/>
        </p:nvPicPr>
        <p:blipFill>
          <a:blip r:embed="rId2"/>
          <a:stretch>
            <a:fillRect/>
          </a:stretch>
        </p:blipFill>
        <p:spPr>
          <a:xfrm>
            <a:off x="6356177" y="4179905"/>
            <a:ext cx="235549" cy="235549"/>
          </a:xfrm>
          <a:prstGeom prst="rect">
            <a:avLst/>
          </a:prstGeom>
        </p:spPr>
      </p:pic>
      <p:sp>
        <p:nvSpPr>
          <p:cNvPr id="33" name="block-338"/>
          <p:cNvSpPr txBox="1"/>
          <p:nvPr/>
        </p:nvSpPr>
        <p:spPr>
          <a:xfrm>
            <a:off x="6830568" y="4050792"/>
            <a:ext cx="4812487" cy="969264"/>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Never truncates</a:t>
            </a:r>
            <a:endParaRPr lang="en-US" sz="1400" dirty="0"/>
          </a:p>
          <a:p>
            <a:pPr indent="0" marL="0">
              <a:spcAft>
                <a:spcPts val="200"/>
              </a:spcAft>
              <a:buNone/>
            </a:pPr>
            <a:r>
              <a:rPr lang="en-US" sz="1250" dirty="0">
                <a:solidFill>
                  <a:schemeClr val="tx2"/>
                </a:solidFill>
              </a:rPr>
              <a:t>A chunk past the 8,192-token limit fails as CHUNK_TOO_LONG instead of being silently cut.</a:t>
            </a:r>
            <a:endParaRPr lang="en-US" sz="1400" dirty="0"/>
          </a:p>
        </p:txBody>
      </p:sp>
      <p:sp>
        <p:nvSpPr>
          <p:cNvPr id="34" name="badge-339"/>
          <p:cNvSpPr/>
          <p:nvPr/>
        </p:nvSpPr>
        <p:spPr>
          <a:xfrm>
            <a:off x="6263640" y="5111496"/>
            <a:ext cx="420624" cy="420624"/>
          </a:xfrm>
          <a:prstGeom prst="ellipse">
            <a:avLst/>
          </a:prstGeom>
          <a:solidFill>
            <a:schemeClr val="accent2"/>
          </a:solidFill>
          <a:ln/>
        </p:spPr>
      </p:sp>
      <p:pic>
        <p:nvPicPr>
          <p:cNvPr id="35" name="icon-TbDatabaseSearch-340" descr="DatabaseSearch">    </p:cNvPr>
          <p:cNvPicPr>
            <a:picLocks noChangeAspect="1"/>
          </p:cNvPicPr>
          <p:nvPr/>
        </p:nvPicPr>
        <p:blipFill>
          <a:blip r:embed="rId3"/>
          <a:stretch>
            <a:fillRect/>
          </a:stretch>
        </p:blipFill>
        <p:spPr>
          <a:xfrm>
            <a:off x="6356177" y="5204033"/>
            <a:ext cx="235549" cy="235549"/>
          </a:xfrm>
          <a:prstGeom prst="rect">
            <a:avLst/>
          </a:prstGeom>
        </p:spPr>
      </p:pic>
      <p:sp>
        <p:nvSpPr>
          <p:cNvPr id="36" name="block-341"/>
          <p:cNvSpPr txBox="1"/>
          <p:nvPr/>
        </p:nvSpPr>
        <p:spPr>
          <a:xfrm>
            <a:off x="6830568" y="5074920"/>
            <a:ext cx="4812487" cy="969264"/>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Idempotent vector writes</a:t>
            </a:r>
            <a:endParaRPr lang="en-US" sz="1400" dirty="0"/>
          </a:p>
          <a:p>
            <a:pPr indent="0" marL="0">
              <a:spcAft>
                <a:spcPts val="200"/>
              </a:spcAft>
              <a:buNone/>
            </a:pPr>
            <a:r>
              <a:rPr lang="en-US" sz="1250" dirty="0">
                <a:solidFill>
                  <a:schemeClr val="tx2"/>
                </a:solidFill>
              </a:rPr>
              <a:t>UUIDv5 row keys; a newer attempt upserts and soft-deletes leftovers; a newer generation retires older rows.</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IN SHORT</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A simple queue of workers versus Wega</a:t>
            </a:r>
            <a:endParaRPr lang="en-US" sz="2800" dirty="0"/>
          </a:p>
        </p:txBody>
      </p:sp>
      <p:graphicFrame>
        <p:nvGraphicFramePr>
          <p:cNvPr id="14" name="table-342"/>
          <p:cNvGraphicFramePr>
            <a:graphicFrameLocks noGrp="1"/>
          </p:cNvGraphicFramePr>
          <p:nvPr>
            <p:extLst>
              <p:ext uri="{D42A27DB-BD31-4B8C-83A1-F6EECF244321}">
                <p14:modId xmlns:p14="http://schemas.microsoft.com/office/powerpoint/2010/main" val="1579011935"/>
              </p:ext>
            </p:extLst>
          </p:nvPr>
        </p:nvGraphicFramePr>
        <p:xfrm>
          <a:off x="548640" y="1627632"/>
          <a:ext cx="11094415" cy="914400"/>
        </p:xfrm>
        <a:graphic>
          <a:graphicData uri="http://schemas.openxmlformats.org/drawingml/2006/table">
            <a:tbl>
              <a:tblPr/>
              <a:tblGrid>
                <a:gridCol w="2011680"/>
                <a:gridCol w="3886200"/>
                <a:gridCol w="5196535"/>
              </a:tblGrid>
              <a:tr h="406908">
                <a:tc>
                  <a:txBody>
                    <a:bodyPr/>
                    <a:lstStyle/>
                    <a:p>
                      <a:pPr indent="0" marL="0">
                        <a:buNone/>
                      </a:pPr>
                      <a:r>
                        <a:rPr lang="en-US" sz="1250" b="1" dirty="0">
                          <a:solidFill>
                            <a:schemeClr val="bg1"/>
                          </a:solidFill>
                        </a:rPr>
                        <a:t>Concern</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Simple queue of workers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Wega</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r>
              <a:tr h="406908">
                <a:tc>
                  <a:txBody>
                    <a:bodyPr/>
                    <a:lstStyle/>
                    <a:p>
                      <a:pPr indent="0" marL="0">
                        <a:buNone/>
                      </a:pPr>
                      <a:r>
                        <a:rPr lang="en-US" sz="1250" b="1" dirty="0">
                          <a:solidFill>
                            <a:schemeClr val="tx1"/>
                          </a:solidFill>
                        </a:rPr>
                        <a:t>Commit point</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2"/>
                          </a:solidFill>
                        </a:rPr>
                        <a:t>Publish, database and external writes as separate steps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Postgres only; every outside effect is an idempotent task row</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06908">
                <a:tc>
                  <a:txBody>
                    <a:bodyPr/>
                    <a:lstStyle/>
                    <a:p>
                      <a:pPr indent="0" marL="0">
                        <a:buNone/>
                      </a:pPr>
                      <a:r>
                        <a:rPr lang="en-US" sz="1250" b="1" dirty="0">
                          <a:solidFill>
                            <a:schemeClr val="tx1"/>
                          </a:solidFill>
                        </a:rPr>
                        <a:t>Duplicates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2"/>
                          </a:solidFill>
                        </a:rPr>
                        <a:t>Hoped to be rare</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Expected and absorbed: UUIDv5 ids, write-once files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06908">
                <a:tc>
                  <a:txBody>
                    <a:bodyPr/>
                    <a:lstStyle/>
                    <a:p>
                      <a:pPr indent="0" marL="0">
                        <a:buNone/>
                      </a:pPr>
                      <a:r>
                        <a:rPr lang="en-US" sz="1250" b="1" dirty="0">
                          <a:solidFill>
                            <a:schemeClr val="tx1"/>
                          </a:solidFill>
                        </a:rPr>
                        <a:t>Paid OCR</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2"/>
                          </a:solidFill>
                        </a:rPr>
                        <a:t>Retried blindly and billed again</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Journal adopts running jobs; residual window counted</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06908">
                <a:tc>
                  <a:txBody>
                    <a:bodyPr/>
                    <a:lstStyle/>
                    <a:p>
                      <a:pPr indent="0" marL="0">
                        <a:buNone/>
                      </a:pPr>
                      <a:r>
                        <a:rPr lang="en-US" sz="1250" b="1" dirty="0">
                          <a:solidFill>
                            <a:schemeClr val="tx1"/>
                          </a:solidFill>
                        </a:rPr>
                        <a:t>Lost messages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2"/>
                          </a:solidFill>
                        </a:rPr>
                        <a:t>Never noticed</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Census of attempts versus broker; redispatch after 3 strikes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06908">
                <a:tc>
                  <a:txBody>
                    <a:bodyPr/>
                    <a:lstStyle/>
                    <a:p>
                      <a:pPr indent="0" marL="0">
                        <a:buNone/>
                      </a:pPr>
                      <a:r>
                        <a:rPr lang="en-US" sz="1250" b="1" dirty="0">
                          <a:solidFill>
                            <a:schemeClr val="tx1"/>
                          </a:solidFill>
                        </a:rPr>
                        <a:t>Long documents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2"/>
                          </a:solidFill>
                        </a:rPr>
                        <a:t>Time out and restart from zero</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Slice, then hand off to an attempt that adopts the journal</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06908">
                <a:tc>
                  <a:txBody>
                    <a:bodyPr/>
                    <a:lstStyle/>
                    <a:p>
                      <a:pPr indent="0" marL="0">
                        <a:buNone/>
                      </a:pPr>
                      <a:r>
                        <a:rPr lang="en-US" sz="1250" b="1" dirty="0">
                          <a:solidFill>
                            <a:schemeClr val="tx1"/>
                          </a:solidFill>
                        </a:rPr>
                        <a:t>Backlog</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2"/>
                          </a:solidFill>
                        </a:rPr>
                        <a:t>Piles up in queues and on disk</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Waits in Postgres; admission sized in OCR slots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06908">
                <a:tc>
                  <a:txBody>
                    <a:bodyPr/>
                    <a:lstStyle/>
                    <a:p>
                      <a:pPr indent="0" marL="0">
                        <a:buNone/>
                      </a:pPr>
                      <a:r>
                        <a:rPr lang="en-US" sz="1250" b="1" dirty="0">
                          <a:solidFill>
                            <a:schemeClr val="tx1"/>
                          </a:solidFill>
                        </a:rPr>
                        <a:t>Poison documents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2"/>
                          </a:solidFill>
                        </a:rPr>
                        <a:t>Crash-loop the pod</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Isolated in child processes, flagged with evidence</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06908">
                <a:tc>
                  <a:txBody>
                    <a:bodyPr/>
                    <a:lstStyle/>
                    <a:p>
                      <a:pPr indent="0" marL="0">
                        <a:buNone/>
                      </a:pPr>
                      <a:r>
                        <a:rPr lang="en-US" sz="1250" b="1" dirty="0">
                          <a:solidFill>
                            <a:schemeClr val="tx1"/>
                          </a:solidFill>
                        </a:rPr>
                        <a:t>System of record</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2"/>
                          </a:solidFill>
                        </a:rPr>
                        <a:t>Written whenever, sometimes twice</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Guarded, once per step, checked against Oracle’s audit</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06908">
                <a:tc>
                  <a:txBody>
                    <a:bodyPr/>
                    <a:lstStyle/>
                    <a:p>
                      <a:pPr indent="0" marL="0">
                        <a:buNone/>
                      </a:pPr>
                      <a:r>
                        <a:rPr lang="en-US" sz="1250" b="1" dirty="0">
                          <a:solidFill>
                            <a:schemeClr val="tx1"/>
                          </a:solidFill>
                        </a:rPr>
                        <a:t>Leadership</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2"/>
                          </a:solidFill>
                        </a:rPr>
                        <a:t>Assumed</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Lease rows with fencing tokens; stale leaders cannot commit</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06908">
                <a:tc>
                  <a:txBody>
                    <a:bodyPr/>
                    <a:lstStyle/>
                    <a:p>
                      <a:pPr indent="0" marL="0">
                        <a:buNone/>
                      </a:pPr>
                      <a:r>
                        <a:rPr lang="en-US" sz="1250" b="1" dirty="0">
                          <a:solidFill>
                            <a:schemeClr val="tx1"/>
                          </a:solidFill>
                        </a:rPr>
                        <a:t>Capacity claims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2"/>
                          </a:solidFill>
                        </a:rPr>
                        <a:t>“Add more pods”</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50" dirty="0">
                          <a:solidFill>
                            <a:schemeClr val="tx1"/>
                          </a:solidFill>
                        </a:rPr>
                        <a:t>Measured slots gate every release claim</a:t>
                      </a:r>
                      <a:endParaRPr lang="en-US" sz="125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2743200" cy="1143000"/>
          </a:xfrm>
          <a:prstGeom prst="rect">
            <a:avLst/>
          </a:prstGeom>
          <a:noFill/>
          <a:ln/>
        </p:spPr>
        <p:txBody>
          <a:bodyPr wrap="square" lIns="0" tIns="0" rIns="0" bIns="0" rtlCol="0" anchor="b"/>
          <a:lstStyle/>
          <a:p>
            <a:pPr algn="l" indent="0" marL="0">
              <a:buNone/>
            </a:pPr>
            <a:r>
              <a:rPr lang="en-US" sz="7200" b="1" dirty="0">
                <a:solidFill>
                  <a:schemeClr val="accent1"/>
                </a:solidFill>
              </a:rPr>
              <a:t>02</a:t>
            </a:r>
            <a:endParaRPr lang="en-US" sz="7200" dirty="0"/>
          </a:p>
        </p:txBody>
      </p:sp>
      <p:sp>
        <p:nvSpPr>
          <p:cNvPr id="3" name="Text 0"/>
          <p:cNvSpPr/>
          <p:nvPr>
            <p:ph idx="101" type="title" hasCustomPrompt="1"/>
          </p:nvPr>
        </p:nvSpPr>
        <p:spPr>
          <a:xfrm>
            <a:off x="731520" y="2697480"/>
            <a:ext cx="7498080" cy="1234440"/>
          </a:xfrm>
          <a:prstGeom prst="rect">
            <a:avLst/>
          </a:prstGeom>
          <a:noFill/>
          <a:ln/>
        </p:spPr>
        <p:txBody>
          <a:bodyPr wrap="square" lIns="0" tIns="0" rIns="0" bIns="0" rtlCol="0" anchor="t"/>
          <a:lstStyle/>
          <a:p>
            <a:pPr algn="l" indent="0" marL="0">
              <a:buNone/>
            </a:pPr>
            <a:r>
              <a:rPr lang="en-US" sz="3800" b="1" dirty="0">
                <a:solidFill>
                  <a:schemeClr val="bg1"/>
                </a:solidFill>
              </a:rPr>
              <a:t>Operate with confidence</a:t>
            </a:r>
            <a:endParaRPr lang="en-US" sz="3800" dirty="0"/>
          </a:p>
        </p:txBody>
      </p:sp>
      <p:sp>
        <p:nvSpPr>
          <p:cNvPr id="4" name="Text 0"/>
          <p:cNvSpPr/>
          <p:nvPr>
            <p:ph idx="102" type="body" hasCustomPrompt="1"/>
          </p:nvPr>
        </p:nvSpPr>
        <p:spPr>
          <a:xfrm>
            <a:off x="731520" y="4069080"/>
            <a:ext cx="7498080" cy="1188720"/>
          </a:xfrm>
          <a:prstGeom prst="rect">
            <a:avLst/>
          </a:prstGeom>
          <a:noFill/>
          <a:ln/>
        </p:spPr>
        <p:txBody>
          <a:bodyPr wrap="square" lIns="0" tIns="0" rIns="0" bIns="0" rtlCol="0" anchor="t"/>
          <a:lstStyle/>
          <a:p>
            <a:pPr algn="l" indent="0" marL="0">
              <a:buNone/>
            </a:pPr>
            <a:r>
              <a:rPr lang="en-US" sz="1800" dirty="0">
                <a:solidFill>
                  <a:schemeClr val="accent5"/>
                </a:solidFill>
              </a:rPr>
              <a:t>Security enforced by policy and tests, an alert and runbook for every failure mode, and a control room that shows ground truth.</a:t>
            </a:r>
            <a:endParaRPr lang="en-US" sz="1800" dirty="0"/>
          </a:p>
        </p:txBody>
      </p:sp>
      <p:pic>
        <p:nvPicPr>
          <p:cNvPr id="6" name="icon-TbHeartRateMonitor-343" descr="HeartRateMonitor">    </p:cNvPr>
          <p:cNvPicPr>
            <a:picLocks noChangeAspect="1"/>
          </p:cNvPicPr>
          <p:nvPr/>
        </p:nvPicPr>
        <p:blipFill>
          <a:blip r:embed="rId1"/>
          <a:stretch>
            <a:fillRect/>
          </a:stretch>
        </p:blipFill>
        <p:spPr>
          <a:xfrm>
            <a:off x="8961120" y="2286000"/>
            <a:ext cx="1828800" cy="1828800"/>
          </a:xfrm>
          <a:prstGeom prst="rect">
            <a:avLst/>
          </a:prstGeom>
        </p:spPr>
      </p:pic>
      <p:sp>
        <p:nvSpPr>
          <p:cNvPr id="7" name="section-frame-344"/>
          <p:cNvSpPr/>
          <p:nvPr/>
        </p:nvSpPr>
        <p:spPr>
          <a:xfrm>
            <a:off x="8549640" y="1874520"/>
            <a:ext cx="2651760" cy="2651760"/>
          </a:xfrm>
          <a:prstGeom prst="roundRect">
            <a:avLst>
              <a:gd name="adj" fmla="val 6897"/>
            </a:avLst>
          </a:prstGeom>
          <a:solidFill>
            <a:schemeClr val="bg1">
              <a:alpha val="6000"/>
            </a:schemeClr>
          </a:solidFill>
          <a:ln w="19050">
            <a:solidFill>
              <a:schemeClr val="accent1"/>
            </a:solidFill>
            <a:prstDash val="solid"/>
          </a:ln>
        </p:spPr>
      </p:sp>
      <p:sp>
        <p:nvSpPr>
          <p:cNvPr id="8" name="link-345"/>
          <p:cNvSpPr/>
          <p:nvPr/>
        </p:nvSpPr>
        <p:spPr>
          <a:xfrm>
            <a:off x="8549640" y="4846320"/>
            <a:ext cx="2651760" cy="0"/>
          </a:xfrm>
          <a:prstGeom prst="line">
            <a:avLst/>
          </a:prstGeom>
          <a:noFill/>
          <a:ln w="22225">
            <a:solidFill>
              <a:schemeClr val="accent1"/>
            </a:solidFill>
            <a:prstDash val="solid"/>
            <a:tailEnd type="triangle"/>
          </a:ln>
        </p:spPr>
      </p:sp>
      <p:sp>
        <p:nvSpPr>
          <p:cNvPr id="9" name="particle-346"/>
          <p:cNvSpPr/>
          <p:nvPr/>
        </p:nvSpPr>
        <p:spPr>
          <a:xfrm>
            <a:off x="8959596" y="4814316"/>
            <a:ext cx="64008" cy="64008"/>
          </a:xfrm>
          <a:prstGeom prst="ellipse">
            <a:avLst/>
          </a:prstGeom>
          <a:solidFill>
            <a:schemeClr val="accent1"/>
          </a:solidFill>
          <a:ln/>
        </p:spPr>
      </p:sp>
      <p:sp>
        <p:nvSpPr>
          <p:cNvPr id="10" name="particle-347"/>
          <p:cNvSpPr/>
          <p:nvPr/>
        </p:nvSpPr>
        <p:spPr>
          <a:xfrm>
            <a:off x="9401556" y="4814316"/>
            <a:ext cx="64008" cy="64008"/>
          </a:xfrm>
          <a:prstGeom prst="ellipse">
            <a:avLst/>
          </a:prstGeom>
          <a:solidFill>
            <a:schemeClr val="accent1"/>
          </a:solidFill>
          <a:ln/>
        </p:spPr>
      </p:sp>
      <p:sp>
        <p:nvSpPr>
          <p:cNvPr id="11" name="particle-348"/>
          <p:cNvSpPr/>
          <p:nvPr/>
        </p:nvSpPr>
        <p:spPr>
          <a:xfrm>
            <a:off x="9843516" y="4814316"/>
            <a:ext cx="64008" cy="64008"/>
          </a:xfrm>
          <a:prstGeom prst="ellipse">
            <a:avLst/>
          </a:prstGeom>
          <a:solidFill>
            <a:schemeClr val="accent1"/>
          </a:solidFill>
          <a:ln/>
        </p:spPr>
      </p:sp>
      <p:sp>
        <p:nvSpPr>
          <p:cNvPr id="12" name="particle-349"/>
          <p:cNvSpPr/>
          <p:nvPr/>
        </p:nvSpPr>
        <p:spPr>
          <a:xfrm>
            <a:off x="10285476" y="4814316"/>
            <a:ext cx="64008" cy="64008"/>
          </a:xfrm>
          <a:prstGeom prst="ellipse">
            <a:avLst/>
          </a:prstGeom>
          <a:solidFill>
            <a:schemeClr val="accent1"/>
          </a:solidFill>
          <a:ln/>
        </p:spPr>
      </p:sp>
      <p:sp>
        <p:nvSpPr>
          <p:cNvPr id="13" name="particle-350"/>
          <p:cNvSpPr/>
          <p:nvPr/>
        </p:nvSpPr>
        <p:spPr>
          <a:xfrm>
            <a:off x="10727436" y="4814316"/>
            <a:ext cx="64008" cy="64008"/>
          </a:xfrm>
          <a:prstGeom prst="ellipse">
            <a:avLst/>
          </a:prstGeom>
          <a:solidFill>
            <a:schemeClr val="accent1"/>
          </a:solidFill>
          <a:ln/>
        </p:spPr>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SECURITY AND COMPLIANCE</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Security is enforced by policy and tests, not convention</a:t>
            </a:r>
            <a:endParaRPr lang="en-US" sz="2800" dirty="0"/>
          </a:p>
        </p:txBody>
      </p:sp>
      <p:sp>
        <p:nvSpPr>
          <p:cNvPr id="5" name="card-351"/>
          <p:cNvSpPr/>
          <p:nvPr/>
        </p:nvSpPr>
        <p:spPr>
          <a:xfrm>
            <a:off x="548640" y="1627632"/>
            <a:ext cx="3527450" cy="1261872"/>
          </a:xfrm>
          <a:prstGeom prst="roundRect">
            <a:avLst>
              <a:gd name="adj" fmla="val 5797"/>
            </a:avLst>
          </a:prstGeom>
          <a:solidFill>
            <a:schemeClr val="bg1"/>
          </a:solidFill>
          <a:ln w="9525">
            <a:solidFill>
              <a:schemeClr val="accent6"/>
            </a:solidFill>
            <a:prstDash val="solid"/>
          </a:ln>
        </p:spPr>
      </p:sp>
      <p:sp>
        <p:nvSpPr>
          <p:cNvPr id="6" name="badge-352"/>
          <p:cNvSpPr/>
          <p:nvPr/>
        </p:nvSpPr>
        <p:spPr>
          <a:xfrm>
            <a:off x="749808" y="1828800"/>
            <a:ext cx="420624" cy="420624"/>
          </a:xfrm>
          <a:prstGeom prst="ellipse">
            <a:avLst/>
          </a:prstGeom>
          <a:solidFill>
            <a:schemeClr val="accent2"/>
          </a:solidFill>
          <a:ln/>
        </p:spPr>
      </p:sp>
      <p:pic>
        <p:nvPicPr>
          <p:cNvPr id="7" name="icon-TbUserShield-353" descr="UserShield">    </p:cNvPr>
          <p:cNvPicPr>
            <a:picLocks noChangeAspect="1"/>
          </p:cNvPicPr>
          <p:nvPr/>
        </p:nvPicPr>
        <p:blipFill>
          <a:blip r:embed="rId1"/>
          <a:stretch>
            <a:fillRect/>
          </a:stretch>
        </p:blipFill>
        <p:spPr>
          <a:xfrm>
            <a:off x="842345" y="1921337"/>
            <a:ext cx="235549" cy="235549"/>
          </a:xfrm>
          <a:prstGeom prst="rect">
            <a:avLst/>
          </a:prstGeom>
        </p:spPr>
      </p:pic>
      <p:sp>
        <p:nvSpPr>
          <p:cNvPr id="8" name="block-354"/>
          <p:cNvSpPr txBox="1"/>
          <p:nvPr/>
        </p:nvSpPr>
        <p:spPr>
          <a:xfrm>
            <a:off x="1335024" y="1810512"/>
            <a:ext cx="2539898" cy="969264"/>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Capability RBAC</a:t>
            </a:r>
            <a:endParaRPr lang="en-US" sz="1450" dirty="0"/>
          </a:p>
          <a:p>
            <a:pPr indent="0" marL="0">
              <a:spcAft>
                <a:spcPts val="200"/>
              </a:spcAft>
              <a:buNone/>
            </a:pPr>
            <a:r>
              <a:rPr lang="en-US" sz="1200" dirty="0">
                <a:solidFill>
                  <a:schemeClr val="tx2"/>
                </a:solidFill>
              </a:rPr>
              <a:t>Nested view, operate and administer, plus a separate PII reveal; startup fails if a route lacks one.</a:t>
            </a:r>
            <a:endParaRPr lang="en-US" sz="1450" dirty="0"/>
          </a:p>
        </p:txBody>
      </p:sp>
      <p:sp>
        <p:nvSpPr>
          <p:cNvPr id="9" name="card-355"/>
          <p:cNvSpPr/>
          <p:nvPr/>
        </p:nvSpPr>
        <p:spPr>
          <a:xfrm>
            <a:off x="4332122" y="1627632"/>
            <a:ext cx="3527450" cy="1261872"/>
          </a:xfrm>
          <a:prstGeom prst="roundRect">
            <a:avLst>
              <a:gd name="adj" fmla="val 5797"/>
            </a:avLst>
          </a:prstGeom>
          <a:solidFill>
            <a:schemeClr val="bg1"/>
          </a:solidFill>
          <a:ln w="9525">
            <a:solidFill>
              <a:schemeClr val="accent6"/>
            </a:solidFill>
            <a:prstDash val="solid"/>
          </a:ln>
        </p:spPr>
      </p:sp>
      <p:sp>
        <p:nvSpPr>
          <p:cNvPr id="10" name="badge-356"/>
          <p:cNvSpPr/>
          <p:nvPr/>
        </p:nvSpPr>
        <p:spPr>
          <a:xfrm>
            <a:off x="4533290" y="1828800"/>
            <a:ext cx="420624" cy="420624"/>
          </a:xfrm>
          <a:prstGeom prst="ellipse">
            <a:avLst/>
          </a:prstGeom>
          <a:solidFill>
            <a:schemeClr val="accent2"/>
          </a:solidFill>
          <a:ln/>
        </p:spPr>
      </p:sp>
      <p:pic>
        <p:nvPicPr>
          <p:cNvPr id="11" name="icon-TbEyeOff-357" descr="EyeOff">    </p:cNvPr>
          <p:cNvPicPr>
            <a:picLocks noChangeAspect="1"/>
          </p:cNvPicPr>
          <p:nvPr/>
        </p:nvPicPr>
        <p:blipFill>
          <a:blip r:embed="rId2"/>
          <a:stretch>
            <a:fillRect/>
          </a:stretch>
        </p:blipFill>
        <p:spPr>
          <a:xfrm>
            <a:off x="4625828" y="1921337"/>
            <a:ext cx="235549" cy="235549"/>
          </a:xfrm>
          <a:prstGeom prst="rect">
            <a:avLst/>
          </a:prstGeom>
        </p:spPr>
      </p:pic>
      <p:sp>
        <p:nvSpPr>
          <p:cNvPr id="12" name="block-358"/>
          <p:cNvSpPr txBox="1"/>
          <p:nvPr/>
        </p:nvSpPr>
        <p:spPr>
          <a:xfrm>
            <a:off x="5118506" y="1810512"/>
            <a:ext cx="2539898" cy="969264"/>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PII never served</a:t>
            </a:r>
            <a:endParaRPr lang="en-US" sz="1450" dirty="0"/>
          </a:p>
          <a:p>
            <a:pPr indent="0" marL="0">
              <a:spcAft>
                <a:spcPts val="200"/>
              </a:spcAft>
              <a:buNone/>
            </a:pPr>
            <a:r>
              <a:rPr lang="en-US" sz="1200" dirty="0">
                <a:solidFill>
                  <a:schemeClr val="tx2"/>
                </a:solidFill>
              </a:rPr>
              <a:t>Names as HMAC hashes; content, OCR, chunks and vectors are never served, in any role.</a:t>
            </a:r>
            <a:endParaRPr lang="en-US" sz="1450" dirty="0"/>
          </a:p>
        </p:txBody>
      </p:sp>
      <p:sp>
        <p:nvSpPr>
          <p:cNvPr id="13" name="card-359"/>
          <p:cNvSpPr/>
          <p:nvPr/>
        </p:nvSpPr>
        <p:spPr>
          <a:xfrm>
            <a:off x="8115605" y="1627632"/>
            <a:ext cx="3527450" cy="1261872"/>
          </a:xfrm>
          <a:prstGeom prst="roundRect">
            <a:avLst>
              <a:gd name="adj" fmla="val 5797"/>
            </a:avLst>
          </a:prstGeom>
          <a:solidFill>
            <a:schemeClr val="bg1"/>
          </a:solidFill>
          <a:ln w="9525">
            <a:solidFill>
              <a:schemeClr val="accent6"/>
            </a:solidFill>
            <a:prstDash val="solid"/>
          </a:ln>
        </p:spPr>
      </p:sp>
      <p:sp>
        <p:nvSpPr>
          <p:cNvPr id="14" name="badge-360"/>
          <p:cNvSpPr/>
          <p:nvPr/>
        </p:nvSpPr>
        <p:spPr>
          <a:xfrm>
            <a:off x="8316773" y="1828800"/>
            <a:ext cx="420624" cy="420624"/>
          </a:xfrm>
          <a:prstGeom prst="ellipse">
            <a:avLst/>
          </a:prstGeom>
          <a:solidFill>
            <a:schemeClr val="accent2"/>
          </a:solidFill>
          <a:ln/>
        </p:spPr>
      </p:sp>
      <p:pic>
        <p:nvPicPr>
          <p:cNvPr id="15" name="icon-TbFileText-361" descr="FileText">    </p:cNvPr>
          <p:cNvPicPr>
            <a:picLocks noChangeAspect="1"/>
          </p:cNvPicPr>
          <p:nvPr/>
        </p:nvPicPr>
        <p:blipFill>
          <a:blip r:embed="rId3"/>
          <a:stretch>
            <a:fillRect/>
          </a:stretch>
        </p:blipFill>
        <p:spPr>
          <a:xfrm>
            <a:off x="8409310" y="1921337"/>
            <a:ext cx="235549" cy="235549"/>
          </a:xfrm>
          <a:prstGeom prst="rect">
            <a:avLst/>
          </a:prstGeom>
        </p:spPr>
      </p:pic>
      <p:sp>
        <p:nvSpPr>
          <p:cNvPr id="16" name="block-362"/>
          <p:cNvSpPr txBox="1"/>
          <p:nvPr/>
        </p:nvSpPr>
        <p:spPr>
          <a:xfrm>
            <a:off x="8901989" y="1810512"/>
            <a:ext cx="2539898" cy="969264"/>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Log policy as code</a:t>
            </a:r>
            <a:endParaRPr lang="en-US" sz="1450" dirty="0"/>
          </a:p>
          <a:p>
            <a:pPr indent="0" marL="0">
              <a:spcAft>
                <a:spcPts val="200"/>
              </a:spcAft>
              <a:buNone/>
            </a:pPr>
            <a:r>
              <a:rPr lang="en-US" sz="1200" dirty="0">
                <a:solidFill>
                  <a:schemeClr val="tx2"/>
                </a:solidFill>
              </a:rPr>
              <a:t>Allowlisted keys, denylisted keys fail tests, identifiers only as HMAC. No body logging.</a:t>
            </a:r>
            <a:endParaRPr lang="en-US" sz="1450" dirty="0"/>
          </a:p>
        </p:txBody>
      </p:sp>
      <p:sp>
        <p:nvSpPr>
          <p:cNvPr id="17" name="card-363"/>
          <p:cNvSpPr/>
          <p:nvPr/>
        </p:nvSpPr>
        <p:spPr>
          <a:xfrm>
            <a:off x="548640" y="3072384"/>
            <a:ext cx="3527450" cy="1261872"/>
          </a:xfrm>
          <a:prstGeom prst="roundRect">
            <a:avLst>
              <a:gd name="adj" fmla="val 5797"/>
            </a:avLst>
          </a:prstGeom>
          <a:solidFill>
            <a:schemeClr val="bg1"/>
          </a:solidFill>
          <a:ln w="9525">
            <a:solidFill>
              <a:schemeClr val="accent6"/>
            </a:solidFill>
            <a:prstDash val="solid"/>
          </a:ln>
        </p:spPr>
      </p:sp>
      <p:sp>
        <p:nvSpPr>
          <p:cNvPr id="18" name="badge-364"/>
          <p:cNvSpPr/>
          <p:nvPr/>
        </p:nvSpPr>
        <p:spPr>
          <a:xfrm>
            <a:off x="749808" y="3273552"/>
            <a:ext cx="420624" cy="420624"/>
          </a:xfrm>
          <a:prstGeom prst="ellipse">
            <a:avLst/>
          </a:prstGeom>
          <a:solidFill>
            <a:schemeClr val="accent2"/>
          </a:solidFill>
          <a:ln/>
        </p:spPr>
      </p:sp>
      <p:pic>
        <p:nvPicPr>
          <p:cNvPr id="19" name="icon-TbLink-365" descr="Link">    </p:cNvPr>
          <p:cNvPicPr>
            <a:picLocks noChangeAspect="1"/>
          </p:cNvPicPr>
          <p:nvPr/>
        </p:nvPicPr>
        <p:blipFill>
          <a:blip r:embed="rId4"/>
          <a:stretch>
            <a:fillRect/>
          </a:stretch>
        </p:blipFill>
        <p:spPr>
          <a:xfrm>
            <a:off x="842345" y="3366089"/>
            <a:ext cx="235549" cy="235549"/>
          </a:xfrm>
          <a:prstGeom prst="rect">
            <a:avLst/>
          </a:prstGeom>
        </p:spPr>
      </p:pic>
      <p:sp>
        <p:nvSpPr>
          <p:cNvPr id="20" name="block-366"/>
          <p:cNvSpPr txBox="1"/>
          <p:nvPr/>
        </p:nvSpPr>
        <p:spPr>
          <a:xfrm>
            <a:off x="1335024" y="3255264"/>
            <a:ext cx="2539898" cy="969264"/>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Hash-chained audit</a:t>
            </a:r>
            <a:endParaRPr lang="en-US" sz="1450" dirty="0"/>
          </a:p>
          <a:p>
            <a:pPr indent="0" marL="0">
              <a:spcAft>
                <a:spcPts val="200"/>
              </a:spcAft>
              <a:buNone/>
            </a:pPr>
            <a:r>
              <a:rPr lang="en-US" sz="1200" dirty="0">
                <a:solidFill>
                  <a:schemeClr val="tx2"/>
                </a:solidFill>
              </a:rPr>
              <a:t>Each row hashes the previous; verified hourly, anchored externally, never editable.</a:t>
            </a:r>
            <a:endParaRPr lang="en-US" sz="1450" dirty="0"/>
          </a:p>
        </p:txBody>
      </p:sp>
      <p:sp>
        <p:nvSpPr>
          <p:cNvPr id="21" name="card-367"/>
          <p:cNvSpPr/>
          <p:nvPr/>
        </p:nvSpPr>
        <p:spPr>
          <a:xfrm>
            <a:off x="4332122" y="3072384"/>
            <a:ext cx="3527450" cy="1261872"/>
          </a:xfrm>
          <a:prstGeom prst="roundRect">
            <a:avLst>
              <a:gd name="adj" fmla="val 5797"/>
            </a:avLst>
          </a:prstGeom>
          <a:solidFill>
            <a:schemeClr val="bg1"/>
          </a:solidFill>
          <a:ln w="9525">
            <a:solidFill>
              <a:schemeClr val="accent6"/>
            </a:solidFill>
            <a:prstDash val="solid"/>
          </a:ln>
        </p:spPr>
      </p:sp>
      <p:sp>
        <p:nvSpPr>
          <p:cNvPr id="22" name="badge-368"/>
          <p:cNvSpPr/>
          <p:nvPr/>
        </p:nvSpPr>
        <p:spPr>
          <a:xfrm>
            <a:off x="4533290" y="3273552"/>
            <a:ext cx="420624" cy="420624"/>
          </a:xfrm>
          <a:prstGeom prst="ellipse">
            <a:avLst/>
          </a:prstGeom>
          <a:solidFill>
            <a:schemeClr val="accent2"/>
          </a:solidFill>
          <a:ln/>
        </p:spPr>
      </p:sp>
      <p:pic>
        <p:nvPicPr>
          <p:cNvPr id="23" name="icon-TbGavel-369" descr="Gavel">    </p:cNvPr>
          <p:cNvPicPr>
            <a:picLocks noChangeAspect="1"/>
          </p:cNvPicPr>
          <p:nvPr/>
        </p:nvPicPr>
        <p:blipFill>
          <a:blip r:embed="rId5"/>
          <a:stretch>
            <a:fillRect/>
          </a:stretch>
        </p:blipFill>
        <p:spPr>
          <a:xfrm>
            <a:off x="4625828" y="3366089"/>
            <a:ext cx="235549" cy="235549"/>
          </a:xfrm>
          <a:prstGeom prst="rect">
            <a:avLst/>
          </a:prstGeom>
        </p:spPr>
      </p:pic>
      <p:sp>
        <p:nvSpPr>
          <p:cNvPr id="24" name="block-370"/>
          <p:cNvSpPr txBox="1"/>
          <p:nvPr/>
        </p:nvSpPr>
        <p:spPr>
          <a:xfrm>
            <a:off x="5118506" y="3255264"/>
            <a:ext cx="2539898" cy="969264"/>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Two-person admin</a:t>
            </a:r>
            <a:endParaRPr lang="en-US" sz="1450" dirty="0"/>
          </a:p>
          <a:p>
            <a:pPr indent="0" marL="0">
              <a:spcAft>
                <a:spcPts val="200"/>
              </a:spcAft>
              <a:buNone/>
            </a:pPr>
            <a:r>
              <a:rPr lang="en-US" sz="1200" dirty="0">
                <a:solidFill>
                  <a:schemeClr val="tx2"/>
                </a:solidFill>
              </a:rPr>
              <a:t>27 previewed, audited actions run outside the internet-facing pod; prod needs two admins.</a:t>
            </a:r>
            <a:endParaRPr lang="en-US" sz="1450" dirty="0"/>
          </a:p>
        </p:txBody>
      </p:sp>
      <p:sp>
        <p:nvSpPr>
          <p:cNvPr id="25" name="card-371"/>
          <p:cNvSpPr/>
          <p:nvPr/>
        </p:nvSpPr>
        <p:spPr>
          <a:xfrm>
            <a:off x="8115605" y="3072384"/>
            <a:ext cx="3527450" cy="1261872"/>
          </a:xfrm>
          <a:prstGeom prst="roundRect">
            <a:avLst>
              <a:gd name="adj" fmla="val 5797"/>
            </a:avLst>
          </a:prstGeom>
          <a:solidFill>
            <a:schemeClr val="bg1"/>
          </a:solidFill>
          <a:ln w="9525">
            <a:solidFill>
              <a:schemeClr val="accent6"/>
            </a:solidFill>
            <a:prstDash val="solid"/>
          </a:ln>
        </p:spPr>
      </p:sp>
      <p:sp>
        <p:nvSpPr>
          <p:cNvPr id="26" name="badge-372"/>
          <p:cNvSpPr/>
          <p:nvPr/>
        </p:nvSpPr>
        <p:spPr>
          <a:xfrm>
            <a:off x="8316773" y="3273552"/>
            <a:ext cx="420624" cy="420624"/>
          </a:xfrm>
          <a:prstGeom prst="ellipse">
            <a:avLst/>
          </a:prstGeom>
          <a:solidFill>
            <a:schemeClr val="accent2"/>
          </a:solidFill>
          <a:ln/>
        </p:spPr>
      </p:sp>
      <p:pic>
        <p:nvPicPr>
          <p:cNvPr id="27" name="icon-TbWall-373" descr="Wall">    </p:cNvPr>
          <p:cNvPicPr>
            <a:picLocks noChangeAspect="1"/>
          </p:cNvPicPr>
          <p:nvPr/>
        </p:nvPicPr>
        <p:blipFill>
          <a:blip r:embed="rId6"/>
          <a:stretch>
            <a:fillRect/>
          </a:stretch>
        </p:blipFill>
        <p:spPr>
          <a:xfrm>
            <a:off x="8409310" y="3366089"/>
            <a:ext cx="235549" cy="235549"/>
          </a:xfrm>
          <a:prstGeom prst="rect">
            <a:avLst/>
          </a:prstGeom>
        </p:spPr>
      </p:pic>
      <p:sp>
        <p:nvSpPr>
          <p:cNvPr id="28" name="block-374"/>
          <p:cNvSpPr txBox="1"/>
          <p:nvPr/>
        </p:nvSpPr>
        <p:spPr>
          <a:xfrm>
            <a:off x="8901989" y="3255264"/>
            <a:ext cx="2539898" cy="969264"/>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Default-deny network</a:t>
            </a:r>
            <a:endParaRPr lang="en-US" sz="1450" dirty="0"/>
          </a:p>
          <a:p>
            <a:pPr indent="0" marL="0">
              <a:spcAft>
                <a:spcPts val="200"/>
              </a:spcAft>
              <a:buNone/>
            </a:pPr>
            <a:r>
              <a:rPr lang="en-US" sz="1200" dirty="0">
                <a:solidFill>
                  <a:schemeClr val="tx2"/>
                </a:solidFill>
              </a:rPr>
              <a:t>Ingress and egress denied by default; 44 policies allow exactly what each pod needs.</a:t>
            </a:r>
            <a:endParaRPr lang="en-US" sz="1450" dirty="0"/>
          </a:p>
        </p:txBody>
      </p:sp>
      <p:sp>
        <p:nvSpPr>
          <p:cNvPr id="29" name="card-375"/>
          <p:cNvSpPr/>
          <p:nvPr/>
        </p:nvSpPr>
        <p:spPr>
          <a:xfrm>
            <a:off x="548640" y="4517136"/>
            <a:ext cx="3527450" cy="1261872"/>
          </a:xfrm>
          <a:prstGeom prst="roundRect">
            <a:avLst>
              <a:gd name="adj" fmla="val 5797"/>
            </a:avLst>
          </a:prstGeom>
          <a:solidFill>
            <a:schemeClr val="bg1"/>
          </a:solidFill>
          <a:ln w="9525">
            <a:solidFill>
              <a:schemeClr val="accent6"/>
            </a:solidFill>
            <a:prstDash val="solid"/>
          </a:ln>
        </p:spPr>
      </p:sp>
      <p:sp>
        <p:nvSpPr>
          <p:cNvPr id="30" name="badge-376"/>
          <p:cNvSpPr/>
          <p:nvPr/>
        </p:nvSpPr>
        <p:spPr>
          <a:xfrm>
            <a:off x="749808" y="4718304"/>
            <a:ext cx="420624" cy="420624"/>
          </a:xfrm>
          <a:prstGeom prst="ellipse">
            <a:avLst/>
          </a:prstGeom>
          <a:solidFill>
            <a:schemeClr val="accent2"/>
          </a:solidFill>
          <a:ln/>
        </p:spPr>
      </p:sp>
      <p:pic>
        <p:nvPicPr>
          <p:cNvPr id="31" name="icon-TbKey-377" descr="Key">    </p:cNvPr>
          <p:cNvPicPr>
            <a:picLocks noChangeAspect="1"/>
          </p:cNvPicPr>
          <p:nvPr/>
        </p:nvPicPr>
        <p:blipFill>
          <a:blip r:embed="rId7"/>
          <a:stretch>
            <a:fillRect/>
          </a:stretch>
        </p:blipFill>
        <p:spPr>
          <a:xfrm>
            <a:off x="842345" y="4810841"/>
            <a:ext cx="235549" cy="235549"/>
          </a:xfrm>
          <a:prstGeom prst="rect">
            <a:avLst/>
          </a:prstGeom>
        </p:spPr>
      </p:pic>
      <p:sp>
        <p:nvSpPr>
          <p:cNvPr id="32" name="block-378"/>
          <p:cNvSpPr txBox="1"/>
          <p:nvPr/>
        </p:nvSpPr>
        <p:spPr>
          <a:xfrm>
            <a:off x="1335024" y="4700016"/>
            <a:ext cx="2539898" cy="969264"/>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Secrets as files</a:t>
            </a:r>
            <a:endParaRPr lang="en-US" sz="1450" dirty="0"/>
          </a:p>
          <a:p>
            <a:pPr indent="0" marL="0">
              <a:spcAft>
                <a:spcPts val="200"/>
              </a:spcAft>
              <a:buNone/>
            </a:pPr>
            <a:r>
              <a:rPr lang="en-US" sz="1200" dirty="0">
                <a:solidFill>
                  <a:schemeClr val="tx2"/>
                </a:solidFill>
              </a:rPr>
              <a:t>Mounted read-only and never placed in environment variables; policy rejects secretKeyRef.</a:t>
            </a:r>
            <a:endParaRPr lang="en-US" sz="1450" dirty="0"/>
          </a:p>
        </p:txBody>
      </p:sp>
      <p:sp>
        <p:nvSpPr>
          <p:cNvPr id="33" name="card-379"/>
          <p:cNvSpPr/>
          <p:nvPr/>
        </p:nvSpPr>
        <p:spPr>
          <a:xfrm>
            <a:off x="4332122" y="4517136"/>
            <a:ext cx="3527450" cy="1261872"/>
          </a:xfrm>
          <a:prstGeom prst="roundRect">
            <a:avLst>
              <a:gd name="adj" fmla="val 5797"/>
            </a:avLst>
          </a:prstGeom>
          <a:solidFill>
            <a:schemeClr val="bg1"/>
          </a:solidFill>
          <a:ln w="9525">
            <a:solidFill>
              <a:schemeClr val="accent6"/>
            </a:solidFill>
            <a:prstDash val="solid"/>
          </a:ln>
        </p:spPr>
      </p:sp>
      <p:sp>
        <p:nvSpPr>
          <p:cNvPr id="34" name="badge-380"/>
          <p:cNvSpPr/>
          <p:nvPr/>
        </p:nvSpPr>
        <p:spPr>
          <a:xfrm>
            <a:off x="4533290" y="4718304"/>
            <a:ext cx="420624" cy="420624"/>
          </a:xfrm>
          <a:prstGeom prst="ellipse">
            <a:avLst/>
          </a:prstGeom>
          <a:solidFill>
            <a:schemeClr val="accent2"/>
          </a:solidFill>
          <a:ln/>
        </p:spPr>
      </p:sp>
      <p:pic>
        <p:nvPicPr>
          <p:cNvPr id="35" name="icon-TbPackage-381" descr="Package">    </p:cNvPr>
          <p:cNvPicPr>
            <a:picLocks noChangeAspect="1"/>
          </p:cNvPicPr>
          <p:nvPr/>
        </p:nvPicPr>
        <p:blipFill>
          <a:blip r:embed="rId8"/>
          <a:stretch>
            <a:fillRect/>
          </a:stretch>
        </p:blipFill>
        <p:spPr>
          <a:xfrm>
            <a:off x="4625828" y="4810841"/>
            <a:ext cx="235549" cy="235549"/>
          </a:xfrm>
          <a:prstGeom prst="rect">
            <a:avLst/>
          </a:prstGeom>
        </p:spPr>
      </p:pic>
      <p:sp>
        <p:nvSpPr>
          <p:cNvPr id="36" name="block-382"/>
          <p:cNvSpPr txBox="1"/>
          <p:nvPr/>
        </p:nvSpPr>
        <p:spPr>
          <a:xfrm>
            <a:off x="5118506" y="4700016"/>
            <a:ext cx="2539898" cy="969264"/>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Pinned supply chain</a:t>
            </a:r>
            <a:endParaRPr lang="en-US" sz="1450" dirty="0"/>
          </a:p>
          <a:p>
            <a:pPr indent="0" marL="0">
              <a:spcAft>
                <a:spcPts val="200"/>
              </a:spcAft>
              <a:buNone/>
            </a:pPr>
            <a:r>
              <a:rPr lang="en-US" sz="1200" dirty="0">
                <a:solidFill>
                  <a:schemeClr val="tx2"/>
                </a:solidFill>
              </a:rPr>
              <a:t>Deploy by digest only; SBOM and a HIGH/CRITICAL vulnerability gate; lockfiles committed.</a:t>
            </a:r>
            <a:endParaRPr lang="en-US" sz="1450" dirty="0"/>
          </a:p>
        </p:txBody>
      </p:sp>
      <p:sp>
        <p:nvSpPr>
          <p:cNvPr id="37" name="card-383"/>
          <p:cNvSpPr/>
          <p:nvPr/>
        </p:nvSpPr>
        <p:spPr>
          <a:xfrm>
            <a:off x="8115605" y="4517136"/>
            <a:ext cx="3527450" cy="1261872"/>
          </a:xfrm>
          <a:prstGeom prst="roundRect">
            <a:avLst>
              <a:gd name="adj" fmla="val 5797"/>
            </a:avLst>
          </a:prstGeom>
          <a:solidFill>
            <a:schemeClr val="bg1"/>
          </a:solidFill>
          <a:ln w="9525">
            <a:solidFill>
              <a:schemeClr val="accent6"/>
            </a:solidFill>
            <a:prstDash val="solid"/>
          </a:ln>
        </p:spPr>
      </p:sp>
      <p:sp>
        <p:nvSpPr>
          <p:cNvPr id="38" name="badge-384"/>
          <p:cNvSpPr/>
          <p:nvPr/>
        </p:nvSpPr>
        <p:spPr>
          <a:xfrm>
            <a:off x="8316773" y="4718304"/>
            <a:ext cx="420624" cy="420624"/>
          </a:xfrm>
          <a:prstGeom prst="ellipse">
            <a:avLst/>
          </a:prstGeom>
          <a:solidFill>
            <a:schemeClr val="accent2"/>
          </a:solidFill>
          <a:ln/>
        </p:spPr>
      </p:sp>
      <p:pic>
        <p:nvPicPr>
          <p:cNvPr id="39" name="icon-TbLockAccess-385" descr="LockAccess">    </p:cNvPr>
          <p:cNvPicPr>
            <a:picLocks noChangeAspect="1"/>
          </p:cNvPicPr>
          <p:nvPr/>
        </p:nvPicPr>
        <p:blipFill>
          <a:blip r:embed="rId9"/>
          <a:stretch>
            <a:fillRect/>
          </a:stretch>
        </p:blipFill>
        <p:spPr>
          <a:xfrm>
            <a:off x="8409310" y="4810841"/>
            <a:ext cx="235549" cy="235549"/>
          </a:xfrm>
          <a:prstGeom prst="rect">
            <a:avLst/>
          </a:prstGeom>
        </p:spPr>
      </p:pic>
      <p:sp>
        <p:nvSpPr>
          <p:cNvPr id="40" name="block-386"/>
          <p:cNvSpPr txBox="1"/>
          <p:nvPr/>
        </p:nvSpPr>
        <p:spPr>
          <a:xfrm>
            <a:off x="8901989" y="4700016"/>
            <a:ext cx="2539898" cy="969264"/>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Least privilege</a:t>
            </a:r>
            <a:endParaRPr lang="en-US" sz="1450" dirty="0"/>
          </a:p>
          <a:p>
            <a:pPr indent="0" marL="0">
              <a:spcAft>
                <a:spcPts val="200"/>
              </a:spcAft>
              <a:buNone/>
            </a:pPr>
            <a:r>
              <a:rPr lang="en-US" sz="1200" dirty="0">
                <a:solidFill>
                  <a:schemeClr val="tx2"/>
                </a:solidFill>
              </a:rPr>
              <a:t>The API role has no table writes; vision holds no S3, Postgres or Oracle credential.</a:t>
            </a:r>
            <a:endParaRPr lang="en-US" sz="1450" dirty="0"/>
          </a:p>
        </p:txBody>
      </p:sp>
      <p:sp>
        <p:nvSpPr>
          <p:cNvPr id="41" name="text-387"/>
          <p:cNvSpPr txBox="1"/>
          <p:nvPr/>
        </p:nvSpPr>
        <p:spPr>
          <a:xfrm>
            <a:off x="548640" y="5916168"/>
            <a:ext cx="11094415" cy="310896"/>
          </a:xfrm>
          <a:prstGeom prst="rect">
            <a:avLst/>
          </a:prstGeom>
          <a:noFill/>
          <a:ln/>
        </p:spPr>
        <p:txBody>
          <a:bodyPr wrap="square" lIns="0" tIns="0" rIns="0" bIns="0" rtlCol="0" anchor="t"/>
          <a:lstStyle/>
          <a:p>
            <a:pPr indent="0" marL="0">
              <a:buNone/>
            </a:pPr>
            <a:r>
              <a:rPr lang="en-US" sz="1250" i="1" dirty="0">
                <a:solidFill>
                  <a:schemeClr val="tx2"/>
                </a:solidFill>
              </a:rPr>
              <a:t>12 policy-as-code rules with 75 tests gate every manifest: hardening, probes, digests, files-only secrets, no mocks in production.</a:t>
            </a:r>
            <a:endParaRPr lang="en-US" sz="12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OBSERVABILITY</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62 alerts, 62 runbooks, generated from one catalogue</a:t>
            </a:r>
            <a:endParaRPr lang="en-US" sz="2800" dirty="0"/>
          </a:p>
        </p:txBody>
      </p:sp>
      <p:sp>
        <p:nvSpPr>
          <p:cNvPr id="5" name="card-388"/>
          <p:cNvSpPr/>
          <p:nvPr/>
        </p:nvSpPr>
        <p:spPr>
          <a:xfrm>
            <a:off x="548640" y="1645920"/>
            <a:ext cx="4069080" cy="4498848"/>
          </a:xfrm>
          <a:prstGeom prst="roundRect">
            <a:avLst>
              <a:gd name="adj" fmla="val 1798"/>
            </a:avLst>
          </a:prstGeom>
          <a:solidFill>
            <a:schemeClr val="bg1"/>
          </a:solidFill>
          <a:ln w="9525">
            <a:solidFill>
              <a:schemeClr val="accent6"/>
            </a:solidFill>
            <a:prstDash val="solid"/>
          </a:ln>
        </p:spPr>
      </p:sp>
      <p:sp>
        <p:nvSpPr>
          <p:cNvPr id="6" name="stat-389"/>
          <p:cNvSpPr txBox="1"/>
          <p:nvPr/>
        </p:nvSpPr>
        <p:spPr>
          <a:xfrm>
            <a:off x="822960" y="1828800"/>
            <a:ext cx="3520440" cy="1143000"/>
          </a:xfrm>
          <a:prstGeom prst="rect">
            <a:avLst/>
          </a:prstGeom>
          <a:noFill/>
          <a:ln/>
        </p:spPr>
        <p:txBody>
          <a:bodyPr wrap="square" lIns="0" tIns="0" rIns="0" bIns="0" rtlCol="0" anchor="t"/>
          <a:lstStyle/>
          <a:p>
            <a:pPr algn="l" indent="0" marL="0">
              <a:buNone/>
            </a:pPr>
            <a:r>
              <a:rPr lang="en-US" sz="4000" b="1" dirty="0">
                <a:solidFill>
                  <a:schemeClr val="accent2"/>
                </a:solidFill>
                <a:latin typeface="Arial" pitchFamily="34" charset="0"/>
                <a:ea typeface="Arial" pitchFamily="34" charset="-122"/>
                <a:cs typeface="Arial" pitchFamily="34" charset="-120"/>
              </a:rPr>
              <a:t>62</a:t>
            </a:r>
            <a:endParaRPr lang="en-US" sz="4000" dirty="0"/>
          </a:p>
          <a:p>
            <a:pPr algn="l" indent="0" marL="0">
              <a:buNone/>
            </a:pPr>
            <a:r>
              <a:rPr lang="en-US" sz="1300" dirty="0">
                <a:solidFill>
                  <a:schemeClr val="tx2"/>
                </a:solidFill>
              </a:rPr>
              <a:t>distinct alerts, each with its own runbook section</a:t>
            </a:r>
            <a:endParaRPr lang="en-US" sz="4000" dirty="0"/>
          </a:p>
        </p:txBody>
      </p:sp>
      <p:sp>
        <p:nvSpPr>
          <p:cNvPr id="7" name="text-390"/>
          <p:cNvSpPr txBox="1"/>
          <p:nvPr/>
        </p:nvSpPr>
        <p:spPr>
          <a:xfrm>
            <a:off x="822960" y="3154680"/>
            <a:ext cx="3520440" cy="292608"/>
          </a:xfrm>
          <a:prstGeom prst="rect">
            <a:avLst/>
          </a:prstGeom>
          <a:noFill/>
          <a:ln/>
        </p:spPr>
        <p:txBody>
          <a:bodyPr wrap="square" lIns="0" tIns="0" rIns="0" bIns="0" rtlCol="0" anchor="ctr"/>
          <a:lstStyle/>
          <a:p>
            <a:pPr indent="0" marL="0">
              <a:buNone/>
            </a:pPr>
            <a:r>
              <a:rPr lang="en-US" sz="1300" b="1" dirty="0">
                <a:solidFill>
                  <a:schemeClr val="tx1"/>
                </a:solidFill>
              </a:rPr>
              <a:t>65 alert rules by severity</a:t>
            </a:r>
            <a:endParaRPr lang="en-US" sz="1300" dirty="0"/>
          </a:p>
        </p:txBody>
      </p:sp>
      <p:sp>
        <p:nvSpPr>
          <p:cNvPr id="8" name="segment-391"/>
          <p:cNvSpPr/>
          <p:nvPr/>
        </p:nvSpPr>
        <p:spPr>
          <a:xfrm>
            <a:off x="822960" y="3520440"/>
            <a:ext cx="1543226" cy="566928"/>
          </a:xfrm>
          <a:prstGeom prst="rect">
            <a:avLst/>
          </a:prstGeom>
          <a:solidFill>
            <a:srgbClr val="D62828"/>
          </a:solidFill>
          <a:ln/>
        </p:spPr>
        <p:txBody>
          <a:bodyPr wrap="square" lIns="0" tIns="0" rIns="0" bIns="0" rtlCol="0" anchor="ctr"/>
          <a:lstStyle/>
          <a:p>
            <a:pPr algn="ctr" indent="0" marL="0">
              <a:buNone/>
            </a:pPr>
            <a:r>
              <a:rPr lang="en-US" sz="1300" b="1" dirty="0">
                <a:solidFill>
                  <a:schemeClr val="bg1"/>
                </a:solidFill>
              </a:rPr>
              <a:t>29  critical</a:t>
            </a:r>
            <a:endParaRPr lang="en-US" sz="1300" dirty="0"/>
          </a:p>
        </p:txBody>
      </p:sp>
      <p:sp>
        <p:nvSpPr>
          <p:cNvPr id="9" name="segment-392"/>
          <p:cNvSpPr/>
          <p:nvPr/>
        </p:nvSpPr>
        <p:spPr>
          <a:xfrm>
            <a:off x="2393618" y="3520440"/>
            <a:ext cx="1922350" cy="566928"/>
          </a:xfrm>
          <a:prstGeom prst="rect">
            <a:avLst/>
          </a:prstGeom>
          <a:solidFill>
            <a:srgbClr val="C98500"/>
          </a:solidFill>
          <a:ln/>
        </p:spPr>
        <p:txBody>
          <a:bodyPr wrap="square" lIns="0" tIns="0" rIns="0" bIns="0" rtlCol="0" anchor="ctr"/>
          <a:lstStyle/>
          <a:p>
            <a:pPr algn="ctr" indent="0" marL="0">
              <a:buNone/>
            </a:pPr>
            <a:r>
              <a:rPr lang="en-US" sz="1300" b="1" dirty="0">
                <a:solidFill>
                  <a:schemeClr val="tx1"/>
                </a:solidFill>
              </a:rPr>
              <a:t>36  warning</a:t>
            </a:r>
            <a:endParaRPr lang="en-US" sz="1300" dirty="0"/>
          </a:p>
        </p:txBody>
      </p:sp>
      <p:pic>
        <p:nvPicPr>
          <p:cNvPr id="10" name="icon-TbCheck-393" descr="Check">    </p:cNvPr>
          <p:cNvPicPr>
            <a:picLocks noChangeAspect="1"/>
          </p:cNvPicPr>
          <p:nvPr/>
        </p:nvPicPr>
        <p:blipFill>
          <a:blip r:embed="rId1"/>
          <a:stretch>
            <a:fillRect/>
          </a:stretch>
        </p:blipFill>
        <p:spPr>
          <a:xfrm>
            <a:off x="822960" y="4370832"/>
            <a:ext cx="237744" cy="237744"/>
          </a:xfrm>
          <a:prstGeom prst="rect">
            <a:avLst/>
          </a:prstGeom>
        </p:spPr>
      </p:pic>
      <p:sp>
        <p:nvSpPr>
          <p:cNvPr id="11" name="text-394"/>
          <p:cNvSpPr txBox="1"/>
          <p:nvPr/>
        </p:nvSpPr>
        <p:spPr>
          <a:xfrm>
            <a:off x="1170432" y="4297680"/>
            <a:ext cx="3154680" cy="475488"/>
          </a:xfrm>
          <a:prstGeom prst="rect">
            <a:avLst/>
          </a:prstGeom>
          <a:noFill/>
          <a:ln/>
        </p:spPr>
        <p:txBody>
          <a:bodyPr wrap="square" lIns="0" tIns="0" rIns="0" bIns="0" rtlCol="0" anchor="ctr"/>
          <a:lstStyle/>
          <a:p>
            <a:pPr indent="0" marL="0">
              <a:buNone/>
            </a:pPr>
            <a:r>
              <a:rPr lang="en-US" sz="1250" dirty="0">
                <a:solidFill>
                  <a:schemeClr val="tx1"/>
                </a:solidFill>
              </a:rPr>
              <a:t>3 alerts carry both a warning and a critical threshold</a:t>
            </a:r>
            <a:endParaRPr lang="en-US" sz="1250" dirty="0"/>
          </a:p>
        </p:txBody>
      </p:sp>
      <p:pic>
        <p:nvPicPr>
          <p:cNvPr id="12" name="icon-TbCheck-395" descr="Check">    </p:cNvPr>
          <p:cNvPicPr>
            <a:picLocks noChangeAspect="1"/>
          </p:cNvPicPr>
          <p:nvPr/>
        </p:nvPicPr>
        <p:blipFill>
          <a:blip r:embed="rId2"/>
          <a:stretch>
            <a:fillRect/>
          </a:stretch>
        </p:blipFill>
        <p:spPr>
          <a:xfrm>
            <a:off x="822960" y="4919472"/>
            <a:ext cx="237744" cy="237744"/>
          </a:xfrm>
          <a:prstGeom prst="rect">
            <a:avLst/>
          </a:prstGeom>
        </p:spPr>
      </p:pic>
      <p:sp>
        <p:nvSpPr>
          <p:cNvPr id="13" name="text-396"/>
          <p:cNvSpPr txBox="1"/>
          <p:nvPr/>
        </p:nvSpPr>
        <p:spPr>
          <a:xfrm>
            <a:off x="1170432" y="4846320"/>
            <a:ext cx="3154680" cy="475488"/>
          </a:xfrm>
          <a:prstGeom prst="rect">
            <a:avLst/>
          </a:prstGeom>
          <a:noFill/>
          <a:ln/>
        </p:spPr>
        <p:txBody>
          <a:bodyPr wrap="square" lIns="0" tIns="0" rIns="0" bIns="0" rtlCol="0" anchor="ctr"/>
          <a:lstStyle/>
          <a:p>
            <a:pPr indent="0" marL="0">
              <a:buNone/>
            </a:pPr>
            <a:r>
              <a:rPr lang="en-US" sz="1250" dirty="0">
                <a:solidFill>
                  <a:schemeClr val="tx1"/>
                </a:solidFill>
              </a:rPr>
              <a:t>Plus 6 recording rules</a:t>
            </a:r>
            <a:endParaRPr lang="en-US" sz="1250" dirty="0"/>
          </a:p>
        </p:txBody>
      </p:sp>
      <p:pic>
        <p:nvPicPr>
          <p:cNvPr id="14" name="icon-TbCheck-397" descr="Check">    </p:cNvPr>
          <p:cNvPicPr>
            <a:picLocks noChangeAspect="1"/>
          </p:cNvPicPr>
          <p:nvPr/>
        </p:nvPicPr>
        <p:blipFill>
          <a:blip r:embed="rId3"/>
          <a:stretch>
            <a:fillRect/>
          </a:stretch>
        </p:blipFill>
        <p:spPr>
          <a:xfrm>
            <a:off x="822960" y="5468112"/>
            <a:ext cx="237744" cy="237744"/>
          </a:xfrm>
          <a:prstGeom prst="rect">
            <a:avLst/>
          </a:prstGeom>
        </p:spPr>
      </p:pic>
      <p:sp>
        <p:nvSpPr>
          <p:cNvPr id="15" name="text-398"/>
          <p:cNvSpPr txBox="1"/>
          <p:nvPr/>
        </p:nvSpPr>
        <p:spPr>
          <a:xfrm>
            <a:off x="1170432" y="5394960"/>
            <a:ext cx="3154680" cy="475488"/>
          </a:xfrm>
          <a:prstGeom prst="rect">
            <a:avLst/>
          </a:prstGeom>
          <a:noFill/>
          <a:ln/>
        </p:spPr>
        <p:txBody>
          <a:bodyPr wrap="square" lIns="0" tIns="0" rIns="0" bIns="0" rtlCol="0" anchor="ctr"/>
          <a:lstStyle/>
          <a:p>
            <a:pPr indent="0" marL="0">
              <a:buNone/>
            </a:pPr>
            <a:r>
              <a:rPr lang="en-US" sz="1250" dirty="0">
                <a:solidFill>
                  <a:schemeClr val="tx1"/>
                </a:solidFill>
              </a:rPr>
              <a:t>Each alert links its runbook, its control-room view and a first action</a:t>
            </a:r>
            <a:endParaRPr lang="en-US" sz="1250" dirty="0"/>
          </a:p>
        </p:txBody>
      </p:sp>
      <p:sp>
        <p:nvSpPr>
          <p:cNvPr id="16" name="card-399"/>
          <p:cNvSpPr/>
          <p:nvPr/>
        </p:nvSpPr>
        <p:spPr>
          <a:xfrm>
            <a:off x="4892040" y="1645920"/>
            <a:ext cx="3247492" cy="2148840"/>
          </a:xfrm>
          <a:prstGeom prst="roundRect">
            <a:avLst>
              <a:gd name="adj" fmla="val 3404"/>
            </a:avLst>
          </a:prstGeom>
          <a:solidFill>
            <a:schemeClr val="bg1"/>
          </a:solidFill>
          <a:ln w="9525">
            <a:solidFill>
              <a:schemeClr val="accent6"/>
            </a:solidFill>
            <a:prstDash val="solid"/>
          </a:ln>
        </p:spPr>
      </p:sp>
      <p:sp>
        <p:nvSpPr>
          <p:cNvPr id="17" name="badge-400"/>
          <p:cNvSpPr/>
          <p:nvPr/>
        </p:nvSpPr>
        <p:spPr>
          <a:xfrm>
            <a:off x="5129784" y="1883664"/>
            <a:ext cx="457200" cy="457200"/>
          </a:xfrm>
          <a:prstGeom prst="ellipse">
            <a:avLst/>
          </a:prstGeom>
          <a:solidFill>
            <a:schemeClr val="accent2"/>
          </a:solidFill>
          <a:ln/>
        </p:spPr>
      </p:sp>
      <p:pic>
        <p:nvPicPr>
          <p:cNvPr id="18" name="icon-TbBell-401" descr="Bell">    </p:cNvPr>
          <p:cNvPicPr>
            <a:picLocks noChangeAspect="1"/>
          </p:cNvPicPr>
          <p:nvPr/>
        </p:nvPicPr>
        <p:blipFill>
          <a:blip r:embed="rId4"/>
          <a:stretch>
            <a:fillRect/>
          </a:stretch>
        </p:blipFill>
        <p:spPr>
          <a:xfrm>
            <a:off x="5230368" y="1984248"/>
            <a:ext cx="256032" cy="256032"/>
          </a:xfrm>
          <a:prstGeom prst="rect">
            <a:avLst/>
          </a:prstGeom>
        </p:spPr>
      </p:pic>
      <p:sp>
        <p:nvSpPr>
          <p:cNvPr id="19" name="block-402"/>
          <p:cNvSpPr txBox="1"/>
          <p:nvPr/>
        </p:nvSpPr>
        <p:spPr>
          <a:xfrm>
            <a:off x="5129784" y="2487168"/>
            <a:ext cx="2772004" cy="11887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Alerts as code</a:t>
            </a:r>
            <a:endParaRPr lang="en-US" sz="1500" dirty="0"/>
          </a:p>
          <a:p>
            <a:pPr indent="0" marL="0">
              <a:spcAft>
                <a:spcPts val="200"/>
              </a:spcAft>
              <a:buNone/>
            </a:pPr>
            <a:r>
              <a:rPr lang="en-US" sz="1300" dirty="0">
                <a:solidFill>
                  <a:schemeClr val="tx2"/>
                </a:solidFill>
              </a:rPr>
              <a:t>One entry generates the Prometheus rule, the control room’s attention check and the runbook skeleton.</a:t>
            </a:r>
            <a:endParaRPr lang="en-US" sz="1500" dirty="0"/>
          </a:p>
        </p:txBody>
      </p:sp>
      <p:sp>
        <p:nvSpPr>
          <p:cNvPr id="20" name="card-403"/>
          <p:cNvSpPr/>
          <p:nvPr/>
        </p:nvSpPr>
        <p:spPr>
          <a:xfrm>
            <a:off x="8395564" y="1645920"/>
            <a:ext cx="3247492" cy="2148840"/>
          </a:xfrm>
          <a:prstGeom prst="roundRect">
            <a:avLst>
              <a:gd name="adj" fmla="val 3404"/>
            </a:avLst>
          </a:prstGeom>
          <a:solidFill>
            <a:schemeClr val="bg1"/>
          </a:solidFill>
          <a:ln w="9525">
            <a:solidFill>
              <a:schemeClr val="accent6"/>
            </a:solidFill>
            <a:prstDash val="solid"/>
          </a:ln>
        </p:spPr>
      </p:sp>
      <p:sp>
        <p:nvSpPr>
          <p:cNvPr id="21" name="badge-404"/>
          <p:cNvSpPr/>
          <p:nvPr/>
        </p:nvSpPr>
        <p:spPr>
          <a:xfrm>
            <a:off x="8633308" y="1883664"/>
            <a:ext cx="457200" cy="457200"/>
          </a:xfrm>
          <a:prstGeom prst="ellipse">
            <a:avLst/>
          </a:prstGeom>
          <a:solidFill>
            <a:schemeClr val="accent2"/>
          </a:solidFill>
          <a:ln/>
        </p:spPr>
      </p:sp>
      <p:pic>
        <p:nvPicPr>
          <p:cNvPr id="22" name="icon-TbBook2-405" descr="Book2">    </p:cNvPr>
          <p:cNvPicPr>
            <a:picLocks noChangeAspect="1"/>
          </p:cNvPicPr>
          <p:nvPr/>
        </p:nvPicPr>
        <p:blipFill>
          <a:blip r:embed="rId5"/>
          <a:stretch>
            <a:fillRect/>
          </a:stretch>
        </p:blipFill>
        <p:spPr>
          <a:xfrm>
            <a:off x="8733892" y="1984248"/>
            <a:ext cx="256032" cy="256032"/>
          </a:xfrm>
          <a:prstGeom prst="rect">
            <a:avLst/>
          </a:prstGeom>
        </p:spPr>
      </p:pic>
      <p:sp>
        <p:nvSpPr>
          <p:cNvPr id="23" name="block-406"/>
          <p:cNvSpPr txBox="1"/>
          <p:nvPr/>
        </p:nvSpPr>
        <p:spPr>
          <a:xfrm>
            <a:off x="8633308" y="2487168"/>
            <a:ext cx="2772004" cy="11887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Runbooks that cannot rot</a:t>
            </a:r>
            <a:endParaRPr lang="en-US" sz="1500" dirty="0"/>
          </a:p>
          <a:p>
            <a:pPr indent="0" marL="0">
              <a:spcAft>
                <a:spcPts val="200"/>
              </a:spcAft>
              <a:buNone/>
            </a:pPr>
            <a:r>
              <a:rPr lang="en-US" sz="1300" dirty="0">
                <a:solidFill>
                  <a:schemeClr val="tx2"/>
                </a:solidFill>
              </a:rPr>
              <a:t>One section per alert; the build fails if an alert lacks one or names a command that does not exist.</a:t>
            </a:r>
            <a:endParaRPr lang="en-US" sz="1500" dirty="0"/>
          </a:p>
        </p:txBody>
      </p:sp>
      <p:sp>
        <p:nvSpPr>
          <p:cNvPr id="24" name="card-407"/>
          <p:cNvSpPr/>
          <p:nvPr/>
        </p:nvSpPr>
        <p:spPr>
          <a:xfrm>
            <a:off x="4892040" y="3995928"/>
            <a:ext cx="3247492" cy="2148840"/>
          </a:xfrm>
          <a:prstGeom prst="roundRect">
            <a:avLst>
              <a:gd name="adj" fmla="val 3404"/>
            </a:avLst>
          </a:prstGeom>
          <a:solidFill>
            <a:schemeClr val="bg1"/>
          </a:solidFill>
          <a:ln w="9525">
            <a:solidFill>
              <a:schemeClr val="accent6"/>
            </a:solidFill>
            <a:prstDash val="solid"/>
          </a:ln>
        </p:spPr>
      </p:sp>
      <p:sp>
        <p:nvSpPr>
          <p:cNvPr id="25" name="badge-408"/>
          <p:cNvSpPr/>
          <p:nvPr/>
        </p:nvSpPr>
        <p:spPr>
          <a:xfrm>
            <a:off x="5129784" y="4233672"/>
            <a:ext cx="457200" cy="457200"/>
          </a:xfrm>
          <a:prstGeom prst="ellipse">
            <a:avLst/>
          </a:prstGeom>
          <a:solidFill>
            <a:schemeClr val="accent2"/>
          </a:solidFill>
          <a:ln/>
        </p:spPr>
      </p:sp>
      <p:pic>
        <p:nvPicPr>
          <p:cNvPr id="26" name="icon-TbChartBar-409" descr="ChartBar">    </p:cNvPr>
          <p:cNvPicPr>
            <a:picLocks noChangeAspect="1"/>
          </p:cNvPicPr>
          <p:nvPr/>
        </p:nvPicPr>
        <p:blipFill>
          <a:blip r:embed="rId6"/>
          <a:stretch>
            <a:fillRect/>
          </a:stretch>
        </p:blipFill>
        <p:spPr>
          <a:xfrm>
            <a:off x="5230368" y="4334256"/>
            <a:ext cx="256032" cy="256032"/>
          </a:xfrm>
          <a:prstGeom prst="rect">
            <a:avLst/>
          </a:prstGeom>
        </p:spPr>
      </p:pic>
      <p:sp>
        <p:nvSpPr>
          <p:cNvPr id="27" name="block-410"/>
          <p:cNvSpPr txBox="1"/>
          <p:nvPr/>
        </p:nvSpPr>
        <p:spPr>
          <a:xfrm>
            <a:off x="5129784" y="4837176"/>
            <a:ext cx="2772004" cy="11887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Metrics and traces</a:t>
            </a:r>
            <a:endParaRPr lang="en-US" sz="1500" dirty="0"/>
          </a:p>
          <a:p>
            <a:pPr indent="0" marL="0">
              <a:spcAft>
                <a:spcPts val="200"/>
              </a:spcAft>
              <a:buNone/>
            </a:pPr>
            <a:r>
              <a:rPr lang="en-US" sz="1300" dirty="0">
                <a:solidFill>
                  <a:schemeClr val="tx2"/>
                </a:solidFill>
              </a:rPr>
              <a:t>About 122 wega_* metrics with closed labels (no ids, names or paths); traces cover whole documents.</a:t>
            </a:r>
            <a:endParaRPr lang="en-US" sz="1500" dirty="0"/>
          </a:p>
        </p:txBody>
      </p:sp>
      <p:sp>
        <p:nvSpPr>
          <p:cNvPr id="28" name="card-411"/>
          <p:cNvSpPr/>
          <p:nvPr/>
        </p:nvSpPr>
        <p:spPr>
          <a:xfrm>
            <a:off x="8395564" y="3995928"/>
            <a:ext cx="3247492" cy="2148840"/>
          </a:xfrm>
          <a:prstGeom prst="roundRect">
            <a:avLst>
              <a:gd name="adj" fmla="val 3404"/>
            </a:avLst>
          </a:prstGeom>
          <a:solidFill>
            <a:schemeClr val="bg1"/>
          </a:solidFill>
          <a:ln w="9525">
            <a:solidFill>
              <a:schemeClr val="accent6"/>
            </a:solidFill>
            <a:prstDash val="solid"/>
          </a:ln>
        </p:spPr>
      </p:sp>
      <p:sp>
        <p:nvSpPr>
          <p:cNvPr id="29" name="badge-412"/>
          <p:cNvSpPr/>
          <p:nvPr/>
        </p:nvSpPr>
        <p:spPr>
          <a:xfrm>
            <a:off x="8633308" y="4233672"/>
            <a:ext cx="457200" cy="457200"/>
          </a:xfrm>
          <a:prstGeom prst="ellipse">
            <a:avLst/>
          </a:prstGeom>
          <a:solidFill>
            <a:schemeClr val="accent2"/>
          </a:solidFill>
          <a:ln/>
        </p:spPr>
      </p:sp>
      <p:pic>
        <p:nvPicPr>
          <p:cNvPr id="30" name="icon-TbAdjustments-413" descr="Adjustments">    </p:cNvPr>
          <p:cNvPicPr>
            <a:picLocks noChangeAspect="1"/>
          </p:cNvPicPr>
          <p:nvPr/>
        </p:nvPicPr>
        <p:blipFill>
          <a:blip r:embed="rId7"/>
          <a:stretch>
            <a:fillRect/>
          </a:stretch>
        </p:blipFill>
        <p:spPr>
          <a:xfrm>
            <a:off x="8733892" y="4334256"/>
            <a:ext cx="256032" cy="256032"/>
          </a:xfrm>
          <a:prstGeom prst="rect">
            <a:avLst/>
          </a:prstGeom>
        </p:spPr>
      </p:pic>
      <p:sp>
        <p:nvSpPr>
          <p:cNvPr id="31" name="block-414"/>
          <p:cNvSpPr txBox="1"/>
          <p:nvPr/>
        </p:nvSpPr>
        <p:spPr>
          <a:xfrm>
            <a:off x="8633308" y="4837176"/>
            <a:ext cx="2772004" cy="11887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Scaling on real demand</a:t>
            </a:r>
            <a:endParaRPr lang="en-US" sz="1500" dirty="0"/>
          </a:p>
          <a:p>
            <a:pPr indent="0" marL="0">
              <a:spcAft>
                <a:spcPts val="200"/>
              </a:spcAft>
              <a:buNone/>
            </a:pPr>
            <a:r>
              <a:rPr lang="en-US" sz="1300" dirty="0">
                <a:solidFill>
                  <a:schemeClr val="tx2"/>
                </a:solidFill>
              </a:rPr>
              <a:t>KEDA on queue depth; vision’s ceiling comes from gateway slots, and a blind scaler holds at max.</a:t>
            </a:r>
            <a:endParaRPr lang="en-US" sz="15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CONTROL ROOM 2</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The control room shows the pipeline as it is, not a dashboard</a:t>
            </a:r>
            <a:endParaRPr lang="en-US" sz="2800" dirty="0"/>
          </a:p>
        </p:txBody>
      </p:sp>
      <p:sp>
        <p:nvSpPr>
          <p:cNvPr id="5" name="canvas-415"/>
          <p:cNvSpPr/>
          <p:nvPr/>
        </p:nvSpPr>
        <p:spPr>
          <a:xfrm>
            <a:off x="548640" y="1627632"/>
            <a:ext cx="6629400" cy="4526280"/>
          </a:xfrm>
          <a:prstGeom prst="roundRect">
            <a:avLst>
              <a:gd name="adj" fmla="val 1616"/>
            </a:avLst>
          </a:prstGeom>
          <a:solidFill>
            <a:schemeClr val="tx1"/>
          </a:solidFill>
          <a:ln/>
        </p:spPr>
      </p:sp>
      <p:sp>
        <p:nvSpPr>
          <p:cNvPr id="6" name="kpi-416"/>
          <p:cNvSpPr/>
          <p:nvPr/>
        </p:nvSpPr>
        <p:spPr>
          <a:xfrm>
            <a:off x="777240" y="1828800"/>
            <a:ext cx="1440180" cy="640080"/>
          </a:xfrm>
          <a:prstGeom prst="roundRect">
            <a:avLst>
              <a:gd name="adj" fmla="val 8571"/>
            </a:avLst>
          </a:prstGeom>
          <a:solidFill>
            <a:schemeClr val="bg1">
              <a:alpha val="10000"/>
            </a:schemeClr>
          </a:solidFill>
          <a:ln w="6350">
            <a:solidFill>
              <a:schemeClr val="accent5">
                <a:alpha val="50000"/>
              </a:schemeClr>
            </a:solidFill>
            <a:prstDash val="solid"/>
          </a:ln>
        </p:spPr>
      </p:sp>
      <p:sp>
        <p:nvSpPr>
          <p:cNvPr id="7" name="text-417"/>
          <p:cNvSpPr txBox="1"/>
          <p:nvPr/>
        </p:nvSpPr>
        <p:spPr>
          <a:xfrm>
            <a:off x="886968" y="1865376"/>
            <a:ext cx="1257300" cy="237744"/>
          </a:xfrm>
          <a:prstGeom prst="rect">
            <a:avLst/>
          </a:prstGeom>
          <a:noFill/>
          <a:ln/>
        </p:spPr>
        <p:txBody>
          <a:bodyPr wrap="square" lIns="0" tIns="0" rIns="0" bIns="0" rtlCol="0" anchor="t"/>
          <a:lstStyle/>
          <a:p>
            <a:pPr indent="0" marL="0">
              <a:buNone/>
            </a:pPr>
            <a:r>
              <a:rPr lang="en-US" sz="1000" dirty="0">
                <a:solidFill>
                  <a:schemeClr val="accent5"/>
                </a:solidFill>
              </a:rPr>
              <a:t>In flight</a:t>
            </a:r>
            <a:endParaRPr lang="en-US" sz="1000" dirty="0"/>
          </a:p>
        </p:txBody>
      </p:sp>
      <p:sp>
        <p:nvSpPr>
          <p:cNvPr id="8" name="text-418"/>
          <p:cNvSpPr txBox="1"/>
          <p:nvPr/>
        </p:nvSpPr>
        <p:spPr>
          <a:xfrm>
            <a:off x="886968" y="2103120"/>
            <a:ext cx="1257300" cy="310896"/>
          </a:xfrm>
          <a:prstGeom prst="rect">
            <a:avLst/>
          </a:prstGeom>
          <a:noFill/>
          <a:ln/>
        </p:spPr>
        <p:txBody>
          <a:bodyPr wrap="square" lIns="0" tIns="0" rIns="0" bIns="0" rtlCol="0" anchor="t"/>
          <a:lstStyle/>
          <a:p>
            <a:pPr indent="0" marL="0">
              <a:buNone/>
            </a:pPr>
            <a:r>
              <a:rPr lang="en-US" sz="1500" b="1" dirty="0">
                <a:solidFill>
                  <a:schemeClr val="bg1"/>
                </a:solidFill>
              </a:rPr>
              <a:t>—</a:t>
            </a:r>
            <a:endParaRPr lang="en-US" sz="1500" dirty="0"/>
          </a:p>
        </p:txBody>
      </p:sp>
      <p:sp>
        <p:nvSpPr>
          <p:cNvPr id="9" name="kpi-419"/>
          <p:cNvSpPr/>
          <p:nvPr/>
        </p:nvSpPr>
        <p:spPr>
          <a:xfrm>
            <a:off x="2354580" y="1828800"/>
            <a:ext cx="1440180" cy="640080"/>
          </a:xfrm>
          <a:prstGeom prst="roundRect">
            <a:avLst>
              <a:gd name="adj" fmla="val 8571"/>
            </a:avLst>
          </a:prstGeom>
          <a:solidFill>
            <a:schemeClr val="bg1">
              <a:alpha val="10000"/>
            </a:schemeClr>
          </a:solidFill>
          <a:ln w="6350">
            <a:solidFill>
              <a:schemeClr val="accent5">
                <a:alpha val="50000"/>
              </a:schemeClr>
            </a:solidFill>
            <a:prstDash val="solid"/>
          </a:ln>
        </p:spPr>
      </p:sp>
      <p:sp>
        <p:nvSpPr>
          <p:cNvPr id="10" name="text-420"/>
          <p:cNvSpPr txBox="1"/>
          <p:nvPr/>
        </p:nvSpPr>
        <p:spPr>
          <a:xfrm>
            <a:off x="2464308" y="1865376"/>
            <a:ext cx="1257300" cy="237744"/>
          </a:xfrm>
          <a:prstGeom prst="rect">
            <a:avLst/>
          </a:prstGeom>
          <a:noFill/>
          <a:ln/>
        </p:spPr>
        <p:txBody>
          <a:bodyPr wrap="square" lIns="0" tIns="0" rIns="0" bIns="0" rtlCol="0" anchor="t"/>
          <a:lstStyle/>
          <a:p>
            <a:pPr indent="0" marL="0">
              <a:buNone/>
            </a:pPr>
            <a:r>
              <a:rPr lang="en-US" sz="1000" dirty="0">
                <a:solidFill>
                  <a:schemeClr val="accent5"/>
                </a:solidFill>
              </a:rPr>
              <a:t>Docs/min</a:t>
            </a:r>
            <a:endParaRPr lang="en-US" sz="1000" dirty="0"/>
          </a:p>
        </p:txBody>
      </p:sp>
      <p:sp>
        <p:nvSpPr>
          <p:cNvPr id="11" name="text-421"/>
          <p:cNvSpPr txBox="1"/>
          <p:nvPr/>
        </p:nvSpPr>
        <p:spPr>
          <a:xfrm>
            <a:off x="2464308" y="2103120"/>
            <a:ext cx="1257300" cy="310896"/>
          </a:xfrm>
          <a:prstGeom prst="rect">
            <a:avLst/>
          </a:prstGeom>
          <a:noFill/>
          <a:ln/>
        </p:spPr>
        <p:txBody>
          <a:bodyPr wrap="square" lIns="0" tIns="0" rIns="0" bIns="0" rtlCol="0" anchor="t"/>
          <a:lstStyle/>
          <a:p>
            <a:pPr indent="0" marL="0">
              <a:buNone/>
            </a:pPr>
            <a:r>
              <a:rPr lang="en-US" sz="1500" b="1" dirty="0">
                <a:solidFill>
                  <a:schemeClr val="bg1"/>
                </a:solidFill>
              </a:rPr>
              <a:t>— / 69.4</a:t>
            </a:r>
            <a:endParaRPr lang="en-US" sz="1500" dirty="0"/>
          </a:p>
        </p:txBody>
      </p:sp>
      <p:sp>
        <p:nvSpPr>
          <p:cNvPr id="12" name="kpi-422"/>
          <p:cNvSpPr/>
          <p:nvPr/>
        </p:nvSpPr>
        <p:spPr>
          <a:xfrm>
            <a:off x="3931920" y="1828800"/>
            <a:ext cx="1440180" cy="640080"/>
          </a:xfrm>
          <a:prstGeom prst="roundRect">
            <a:avLst>
              <a:gd name="adj" fmla="val 8571"/>
            </a:avLst>
          </a:prstGeom>
          <a:solidFill>
            <a:schemeClr val="bg1">
              <a:alpha val="10000"/>
            </a:schemeClr>
          </a:solidFill>
          <a:ln w="6350">
            <a:solidFill>
              <a:schemeClr val="accent5">
                <a:alpha val="50000"/>
              </a:schemeClr>
            </a:solidFill>
            <a:prstDash val="solid"/>
          </a:ln>
        </p:spPr>
      </p:sp>
      <p:sp>
        <p:nvSpPr>
          <p:cNvPr id="13" name="text-423"/>
          <p:cNvSpPr txBox="1"/>
          <p:nvPr/>
        </p:nvSpPr>
        <p:spPr>
          <a:xfrm>
            <a:off x="4041648" y="1865376"/>
            <a:ext cx="1257300" cy="237744"/>
          </a:xfrm>
          <a:prstGeom prst="rect">
            <a:avLst/>
          </a:prstGeom>
          <a:noFill/>
          <a:ln/>
        </p:spPr>
        <p:txBody>
          <a:bodyPr wrap="square" lIns="0" tIns="0" rIns="0" bIns="0" rtlCol="0" anchor="t"/>
          <a:lstStyle/>
          <a:p>
            <a:pPr indent="0" marL="0">
              <a:buNone/>
            </a:pPr>
            <a:r>
              <a:rPr lang="en-US" sz="1000" dirty="0">
                <a:solidFill>
                  <a:schemeClr val="accent5"/>
                </a:solidFill>
              </a:rPr>
              <a:t>p95 stage</a:t>
            </a:r>
            <a:endParaRPr lang="en-US" sz="1000" dirty="0"/>
          </a:p>
        </p:txBody>
      </p:sp>
      <p:sp>
        <p:nvSpPr>
          <p:cNvPr id="14" name="text-424"/>
          <p:cNvSpPr txBox="1"/>
          <p:nvPr/>
        </p:nvSpPr>
        <p:spPr>
          <a:xfrm>
            <a:off x="4041648" y="2103120"/>
            <a:ext cx="1257300" cy="310896"/>
          </a:xfrm>
          <a:prstGeom prst="rect">
            <a:avLst/>
          </a:prstGeom>
          <a:noFill/>
          <a:ln/>
        </p:spPr>
        <p:txBody>
          <a:bodyPr wrap="square" lIns="0" tIns="0" rIns="0" bIns="0" rtlCol="0" anchor="t"/>
          <a:lstStyle/>
          <a:p>
            <a:pPr indent="0" marL="0">
              <a:buNone/>
            </a:pPr>
            <a:r>
              <a:rPr lang="en-US" sz="1500" b="1" dirty="0">
                <a:solidFill>
                  <a:schemeClr val="bg1"/>
                </a:solidFill>
              </a:rPr>
              <a:t>—</a:t>
            </a:r>
            <a:endParaRPr lang="en-US" sz="1500" dirty="0"/>
          </a:p>
        </p:txBody>
      </p:sp>
      <p:sp>
        <p:nvSpPr>
          <p:cNvPr id="15" name="kpi-425"/>
          <p:cNvSpPr/>
          <p:nvPr/>
        </p:nvSpPr>
        <p:spPr>
          <a:xfrm>
            <a:off x="5509260" y="1828800"/>
            <a:ext cx="1440180" cy="640080"/>
          </a:xfrm>
          <a:prstGeom prst="roundRect">
            <a:avLst>
              <a:gd name="adj" fmla="val 8571"/>
            </a:avLst>
          </a:prstGeom>
          <a:solidFill>
            <a:schemeClr val="bg1">
              <a:alpha val="10000"/>
            </a:schemeClr>
          </a:solidFill>
          <a:ln w="6350">
            <a:solidFill>
              <a:schemeClr val="accent5">
                <a:alpha val="50000"/>
              </a:schemeClr>
            </a:solidFill>
            <a:prstDash val="solid"/>
          </a:ln>
        </p:spPr>
      </p:sp>
      <p:sp>
        <p:nvSpPr>
          <p:cNvPr id="16" name="text-426"/>
          <p:cNvSpPr txBox="1"/>
          <p:nvPr/>
        </p:nvSpPr>
        <p:spPr>
          <a:xfrm>
            <a:off x="5618988" y="1865376"/>
            <a:ext cx="1257300" cy="237744"/>
          </a:xfrm>
          <a:prstGeom prst="rect">
            <a:avLst/>
          </a:prstGeom>
          <a:noFill/>
          <a:ln/>
        </p:spPr>
        <p:txBody>
          <a:bodyPr wrap="square" lIns="0" tIns="0" rIns="0" bIns="0" rtlCol="0" anchor="t"/>
          <a:lstStyle/>
          <a:p>
            <a:pPr indent="0" marL="0">
              <a:buNone/>
            </a:pPr>
            <a:r>
              <a:rPr lang="en-US" sz="1000" dirty="0">
                <a:solidFill>
                  <a:schemeClr val="accent5"/>
                </a:solidFill>
              </a:rPr>
              <a:t>Error rate</a:t>
            </a:r>
            <a:endParaRPr lang="en-US" sz="1000" dirty="0"/>
          </a:p>
        </p:txBody>
      </p:sp>
      <p:sp>
        <p:nvSpPr>
          <p:cNvPr id="17" name="text-427"/>
          <p:cNvSpPr txBox="1"/>
          <p:nvPr/>
        </p:nvSpPr>
        <p:spPr>
          <a:xfrm>
            <a:off x="5618988" y="2103120"/>
            <a:ext cx="1257300" cy="310896"/>
          </a:xfrm>
          <a:prstGeom prst="rect">
            <a:avLst/>
          </a:prstGeom>
          <a:noFill/>
          <a:ln/>
        </p:spPr>
        <p:txBody>
          <a:bodyPr wrap="square" lIns="0" tIns="0" rIns="0" bIns="0" rtlCol="0" anchor="t"/>
          <a:lstStyle/>
          <a:p>
            <a:pPr indent="0" marL="0">
              <a:buNone/>
            </a:pPr>
            <a:r>
              <a:rPr lang="en-US" sz="1500" b="1" dirty="0">
                <a:solidFill>
                  <a:schemeClr val="bg1"/>
                </a:solidFill>
              </a:rPr>
              <a:t>—</a:t>
            </a:r>
            <a:endParaRPr lang="en-US" sz="1500" dirty="0"/>
          </a:p>
        </p:txBody>
      </p:sp>
      <p:sp>
        <p:nvSpPr>
          <p:cNvPr id="18" name="text-428"/>
          <p:cNvSpPr txBox="1"/>
          <p:nvPr/>
        </p:nvSpPr>
        <p:spPr>
          <a:xfrm>
            <a:off x="777240" y="2651760"/>
            <a:ext cx="2743200" cy="219456"/>
          </a:xfrm>
          <a:prstGeom prst="rect">
            <a:avLst/>
          </a:prstGeom>
          <a:noFill/>
          <a:ln/>
        </p:spPr>
        <p:txBody>
          <a:bodyPr wrap="square" lIns="0" tIns="0" rIns="0" bIns="0" rtlCol="0" anchor="t"/>
          <a:lstStyle/>
          <a:p>
            <a:pPr indent="0" marL="0">
              <a:buNone/>
            </a:pPr>
            <a:r>
              <a:rPr lang="en-US" sz="1000" dirty="0">
                <a:solidFill>
                  <a:schemeClr val="accent5"/>
                </a:solidFill>
              </a:rPr>
              <a:t>CONTROL PLANE</a:t>
            </a:r>
            <a:endParaRPr lang="en-US" sz="1000" dirty="0"/>
          </a:p>
        </p:txBody>
      </p:sp>
      <p:sp>
        <p:nvSpPr>
          <p:cNvPr id="19" name="pill-429"/>
          <p:cNvSpPr/>
          <p:nvPr/>
        </p:nvSpPr>
        <p:spPr>
          <a:xfrm>
            <a:off x="777240" y="2926080"/>
            <a:ext cx="1097280" cy="292608"/>
          </a:xfrm>
          <a:prstGeom prst="roundRect">
            <a:avLst>
              <a:gd name="adj" fmla="val 50000"/>
            </a:avLst>
          </a:prstGeom>
          <a:solidFill>
            <a:schemeClr val="bg1"/>
          </a:solidFill>
          <a:ln/>
        </p:spPr>
        <p:txBody>
          <a:bodyPr wrap="square" lIns="0" tIns="0" rIns="0" bIns="0" rtlCol="0" anchor="ctr"/>
          <a:lstStyle/>
          <a:p>
            <a:pPr algn="ctr" indent="0" marL="0">
              <a:buNone/>
            </a:pPr>
            <a:r>
              <a:rPr lang="en-US" sz="1050" b="1" dirty="0">
                <a:solidFill>
                  <a:schemeClr val="tx1"/>
                </a:solidFill>
              </a:rPr>
              <a:t>intake</a:t>
            </a:r>
            <a:endParaRPr lang="en-US" sz="1050" dirty="0"/>
          </a:p>
        </p:txBody>
      </p:sp>
      <p:sp>
        <p:nvSpPr>
          <p:cNvPr id="20" name="pill-430"/>
          <p:cNvSpPr/>
          <p:nvPr/>
        </p:nvSpPr>
        <p:spPr>
          <a:xfrm>
            <a:off x="2020824" y="2926080"/>
            <a:ext cx="1097280" cy="292608"/>
          </a:xfrm>
          <a:prstGeom prst="roundRect">
            <a:avLst>
              <a:gd name="adj" fmla="val 50000"/>
            </a:avLst>
          </a:prstGeom>
          <a:solidFill>
            <a:schemeClr val="bg1"/>
          </a:solidFill>
          <a:ln/>
        </p:spPr>
        <p:txBody>
          <a:bodyPr wrap="square" lIns="0" tIns="0" rIns="0" bIns="0" rtlCol="0" anchor="ctr"/>
          <a:lstStyle/>
          <a:p>
            <a:pPr algn="ctr" indent="0" marL="0">
              <a:buNone/>
            </a:pPr>
            <a:r>
              <a:rPr lang="en-US" sz="1050" b="1" dirty="0">
                <a:solidFill>
                  <a:schemeClr val="tx1"/>
                </a:solidFill>
              </a:rPr>
              <a:t>reconciler</a:t>
            </a:r>
            <a:endParaRPr lang="en-US" sz="1050" dirty="0"/>
          </a:p>
        </p:txBody>
      </p:sp>
      <p:sp>
        <p:nvSpPr>
          <p:cNvPr id="21" name="pill-431"/>
          <p:cNvSpPr/>
          <p:nvPr/>
        </p:nvSpPr>
        <p:spPr>
          <a:xfrm>
            <a:off x="3264408" y="2926080"/>
            <a:ext cx="1097280" cy="292608"/>
          </a:xfrm>
          <a:prstGeom prst="roundRect">
            <a:avLst>
              <a:gd name="adj" fmla="val 50000"/>
            </a:avLst>
          </a:prstGeom>
          <a:solidFill>
            <a:schemeClr val="bg1"/>
          </a:solidFill>
          <a:ln/>
        </p:spPr>
        <p:txBody>
          <a:bodyPr wrap="square" lIns="0" tIns="0" rIns="0" bIns="0" rtlCol="0" anchor="ctr"/>
          <a:lstStyle/>
          <a:p>
            <a:pPr algn="ctr" indent="0" marL="0">
              <a:buNone/>
            </a:pPr>
            <a:r>
              <a:rPr lang="en-US" sz="1050" b="1" dirty="0">
                <a:solidFill>
                  <a:schemeClr val="tx1"/>
                </a:solidFill>
              </a:rPr>
              <a:t>observer</a:t>
            </a:r>
            <a:endParaRPr lang="en-US" sz="1050" dirty="0"/>
          </a:p>
        </p:txBody>
      </p:sp>
      <p:sp>
        <p:nvSpPr>
          <p:cNvPr id="22" name="pill-432"/>
          <p:cNvSpPr/>
          <p:nvPr/>
        </p:nvSpPr>
        <p:spPr>
          <a:xfrm>
            <a:off x="4507992" y="2926080"/>
            <a:ext cx="1097280" cy="292608"/>
          </a:xfrm>
          <a:prstGeom prst="roundRect">
            <a:avLst>
              <a:gd name="adj" fmla="val 50000"/>
            </a:avLst>
          </a:prstGeom>
          <a:solidFill>
            <a:schemeClr val="bg1"/>
          </a:solidFill>
          <a:ln/>
        </p:spPr>
        <p:txBody>
          <a:bodyPr wrap="square" lIns="0" tIns="0" rIns="0" bIns="0" rtlCol="0" anchor="ctr"/>
          <a:lstStyle/>
          <a:p>
            <a:pPr algn="ctr" indent="0" marL="0">
              <a:buNone/>
            </a:pPr>
            <a:r>
              <a:rPr lang="en-US" sz="1050" b="1" dirty="0">
                <a:solidFill>
                  <a:schemeClr val="tx1"/>
                </a:solidFill>
              </a:rPr>
              <a:t>topology</a:t>
            </a:r>
            <a:endParaRPr lang="en-US" sz="1050" dirty="0"/>
          </a:p>
        </p:txBody>
      </p:sp>
      <p:sp>
        <p:nvSpPr>
          <p:cNvPr id="23" name="pill-433"/>
          <p:cNvSpPr/>
          <p:nvPr/>
        </p:nvSpPr>
        <p:spPr>
          <a:xfrm>
            <a:off x="5751576" y="2926080"/>
            <a:ext cx="1097280" cy="292608"/>
          </a:xfrm>
          <a:prstGeom prst="roundRect">
            <a:avLst>
              <a:gd name="adj" fmla="val 50000"/>
            </a:avLst>
          </a:prstGeom>
          <a:solidFill>
            <a:schemeClr val="bg1"/>
          </a:solidFill>
          <a:ln/>
        </p:spPr>
        <p:txBody>
          <a:bodyPr wrap="square" lIns="0" tIns="0" rIns="0" bIns="0" rtlCol="0" anchor="ctr"/>
          <a:lstStyle/>
          <a:p>
            <a:pPr algn="ctr" indent="0" marL="0">
              <a:buNone/>
            </a:pPr>
            <a:r>
              <a:rPr lang="en-US" sz="1050" b="1" dirty="0">
                <a:solidFill>
                  <a:schemeClr val="tx1"/>
                </a:solidFill>
              </a:rPr>
              <a:t>projector</a:t>
            </a:r>
            <a:endParaRPr lang="en-US" sz="1050" dirty="0"/>
          </a:p>
        </p:txBody>
      </p:sp>
      <p:sp>
        <p:nvSpPr>
          <p:cNvPr id="24" name="text-434"/>
          <p:cNvSpPr txBox="1"/>
          <p:nvPr/>
        </p:nvSpPr>
        <p:spPr>
          <a:xfrm>
            <a:off x="777240" y="3438144"/>
            <a:ext cx="2743200" cy="219456"/>
          </a:xfrm>
          <a:prstGeom prst="rect">
            <a:avLst/>
          </a:prstGeom>
          <a:noFill/>
          <a:ln/>
        </p:spPr>
        <p:txBody>
          <a:bodyPr wrap="square" lIns="0" tIns="0" rIns="0" bIns="0" rtlCol="0" anchor="t"/>
          <a:lstStyle/>
          <a:p>
            <a:pPr indent="0" marL="0">
              <a:buNone/>
            </a:pPr>
            <a:r>
              <a:rPr lang="en-US" sz="1000" dirty="0">
                <a:solidFill>
                  <a:schemeClr val="accent5"/>
                </a:solidFill>
              </a:rPr>
              <a:t>JOURNEY</a:t>
            </a:r>
            <a:endParaRPr lang="en-US" sz="1000" dirty="0"/>
          </a:p>
        </p:txBody>
      </p:sp>
      <p:sp>
        <p:nvSpPr>
          <p:cNvPr id="25" name="node-435"/>
          <p:cNvSpPr/>
          <p:nvPr/>
        </p:nvSpPr>
        <p:spPr>
          <a:xfrm>
            <a:off x="777240" y="3749040"/>
            <a:ext cx="658368" cy="566928"/>
          </a:xfrm>
          <a:prstGeom prst="roundRect">
            <a:avLst>
              <a:gd name="adj" fmla="val 12903"/>
            </a:avLst>
          </a:prstGeom>
          <a:solidFill>
            <a:schemeClr val="bg1">
              <a:alpha val="14000"/>
            </a:schemeClr>
          </a:solidFill>
          <a:ln w="12700">
            <a:solidFill>
              <a:schemeClr val="accent5"/>
            </a:solidFill>
            <a:prstDash val="solid"/>
          </a:ln>
        </p:spPr>
      </p:sp>
      <p:sp>
        <p:nvSpPr>
          <p:cNvPr id="26" name="text-436"/>
          <p:cNvSpPr txBox="1"/>
          <p:nvPr/>
        </p:nvSpPr>
        <p:spPr>
          <a:xfrm>
            <a:off x="777240" y="3749040"/>
            <a:ext cx="658368" cy="566928"/>
          </a:xfrm>
          <a:prstGeom prst="rect">
            <a:avLst/>
          </a:prstGeom>
          <a:noFill/>
          <a:ln/>
        </p:spPr>
        <p:txBody>
          <a:bodyPr wrap="square" lIns="0" tIns="0" rIns="0" bIns="0" rtlCol="0" anchor="ctr"/>
          <a:lstStyle/>
          <a:p>
            <a:pPr algn="ctr" indent="0" marL="0">
              <a:buNone/>
            </a:pPr>
            <a:r>
              <a:rPr lang="en-US" sz="1000" b="1" dirty="0">
                <a:solidFill>
                  <a:schemeClr val="bg1"/>
                </a:solidFill>
              </a:rPr>
              <a:t>Oracle</a:t>
            </a:r>
            <a:endParaRPr lang="en-US" sz="1000" dirty="0"/>
          </a:p>
        </p:txBody>
      </p:sp>
      <p:sp>
        <p:nvSpPr>
          <p:cNvPr id="27" name="link-437"/>
          <p:cNvSpPr/>
          <p:nvPr/>
        </p:nvSpPr>
        <p:spPr>
          <a:xfrm>
            <a:off x="1453896" y="4032504"/>
            <a:ext cx="92746" cy="0"/>
          </a:xfrm>
          <a:prstGeom prst="line">
            <a:avLst/>
          </a:prstGeom>
          <a:noFill/>
          <a:ln w="15875">
            <a:solidFill>
              <a:schemeClr val="accent1"/>
            </a:solidFill>
            <a:prstDash val="solid"/>
          </a:ln>
        </p:spPr>
      </p:sp>
      <p:sp>
        <p:nvSpPr>
          <p:cNvPr id="28" name="particle-438"/>
          <p:cNvSpPr/>
          <p:nvPr/>
        </p:nvSpPr>
        <p:spPr>
          <a:xfrm>
            <a:off x="1457379" y="4005072"/>
            <a:ext cx="54864" cy="54864"/>
          </a:xfrm>
          <a:prstGeom prst="ellipse">
            <a:avLst/>
          </a:prstGeom>
          <a:solidFill>
            <a:schemeClr val="accent1"/>
          </a:solidFill>
          <a:ln/>
        </p:spPr>
      </p:sp>
      <p:sp>
        <p:nvSpPr>
          <p:cNvPr id="29" name="particle-439"/>
          <p:cNvSpPr/>
          <p:nvPr/>
        </p:nvSpPr>
        <p:spPr>
          <a:xfrm>
            <a:off x="1488295" y="4005072"/>
            <a:ext cx="54864" cy="54864"/>
          </a:xfrm>
          <a:prstGeom prst="ellipse">
            <a:avLst/>
          </a:prstGeom>
          <a:solidFill>
            <a:schemeClr val="accent1"/>
          </a:solidFill>
          <a:ln/>
        </p:spPr>
      </p:sp>
      <p:sp>
        <p:nvSpPr>
          <p:cNvPr id="30" name="node-440"/>
          <p:cNvSpPr/>
          <p:nvPr/>
        </p:nvSpPr>
        <p:spPr>
          <a:xfrm>
            <a:off x="1564930" y="3749040"/>
            <a:ext cx="658368" cy="566928"/>
          </a:xfrm>
          <a:prstGeom prst="roundRect">
            <a:avLst>
              <a:gd name="adj" fmla="val 12903"/>
            </a:avLst>
          </a:prstGeom>
          <a:solidFill>
            <a:schemeClr val="bg1">
              <a:alpha val="14000"/>
            </a:schemeClr>
          </a:solidFill>
          <a:ln w="12700">
            <a:solidFill>
              <a:schemeClr val="accent5"/>
            </a:solidFill>
            <a:prstDash val="solid"/>
          </a:ln>
        </p:spPr>
      </p:sp>
      <p:sp>
        <p:nvSpPr>
          <p:cNvPr id="31" name="text-441"/>
          <p:cNvSpPr txBox="1"/>
          <p:nvPr/>
        </p:nvSpPr>
        <p:spPr>
          <a:xfrm>
            <a:off x="1564930" y="3749040"/>
            <a:ext cx="658368" cy="566928"/>
          </a:xfrm>
          <a:prstGeom prst="rect">
            <a:avLst/>
          </a:prstGeom>
          <a:noFill/>
          <a:ln/>
        </p:spPr>
        <p:txBody>
          <a:bodyPr wrap="square" lIns="0" tIns="0" rIns="0" bIns="0" rtlCol="0" anchor="ctr"/>
          <a:lstStyle/>
          <a:p>
            <a:pPr algn="ctr" indent="0" marL="0">
              <a:buNone/>
            </a:pPr>
            <a:r>
              <a:rPr lang="en-US" sz="1000" b="1" dirty="0">
                <a:solidFill>
                  <a:schemeClr val="bg1"/>
                </a:solidFill>
              </a:rPr>
              <a:t>Ledger</a:t>
            </a:r>
            <a:endParaRPr lang="en-US" sz="1000" dirty="0"/>
          </a:p>
        </p:txBody>
      </p:sp>
      <p:sp>
        <p:nvSpPr>
          <p:cNvPr id="32" name="link-442"/>
          <p:cNvSpPr/>
          <p:nvPr/>
        </p:nvSpPr>
        <p:spPr>
          <a:xfrm>
            <a:off x="2241586" y="4032504"/>
            <a:ext cx="92746" cy="0"/>
          </a:xfrm>
          <a:prstGeom prst="line">
            <a:avLst/>
          </a:prstGeom>
          <a:noFill/>
          <a:ln w="15875">
            <a:solidFill>
              <a:schemeClr val="accent1"/>
            </a:solidFill>
            <a:prstDash val="solid"/>
          </a:ln>
        </p:spPr>
      </p:sp>
      <p:sp>
        <p:nvSpPr>
          <p:cNvPr id="33" name="particle-443"/>
          <p:cNvSpPr/>
          <p:nvPr/>
        </p:nvSpPr>
        <p:spPr>
          <a:xfrm>
            <a:off x="2245070" y="4005072"/>
            <a:ext cx="54864" cy="54864"/>
          </a:xfrm>
          <a:prstGeom prst="ellipse">
            <a:avLst/>
          </a:prstGeom>
          <a:solidFill>
            <a:schemeClr val="accent1"/>
          </a:solidFill>
          <a:ln/>
        </p:spPr>
      </p:sp>
      <p:sp>
        <p:nvSpPr>
          <p:cNvPr id="34" name="particle-444"/>
          <p:cNvSpPr/>
          <p:nvPr/>
        </p:nvSpPr>
        <p:spPr>
          <a:xfrm>
            <a:off x="2275985" y="4005072"/>
            <a:ext cx="54864" cy="54864"/>
          </a:xfrm>
          <a:prstGeom prst="ellipse">
            <a:avLst/>
          </a:prstGeom>
          <a:solidFill>
            <a:schemeClr val="accent1"/>
          </a:solidFill>
          <a:ln/>
        </p:spPr>
      </p:sp>
      <p:sp>
        <p:nvSpPr>
          <p:cNvPr id="35" name="node-445"/>
          <p:cNvSpPr/>
          <p:nvPr/>
        </p:nvSpPr>
        <p:spPr>
          <a:xfrm>
            <a:off x="2352621" y="3749040"/>
            <a:ext cx="658368" cy="566928"/>
          </a:xfrm>
          <a:prstGeom prst="roundRect">
            <a:avLst>
              <a:gd name="adj" fmla="val 12903"/>
            </a:avLst>
          </a:prstGeom>
          <a:solidFill>
            <a:schemeClr val="bg1">
              <a:alpha val="14000"/>
            </a:schemeClr>
          </a:solidFill>
          <a:ln w="12700">
            <a:solidFill>
              <a:schemeClr val="accent5"/>
            </a:solidFill>
            <a:prstDash val="solid"/>
          </a:ln>
        </p:spPr>
      </p:sp>
      <p:sp>
        <p:nvSpPr>
          <p:cNvPr id="36" name="text-446"/>
          <p:cNvSpPr txBox="1"/>
          <p:nvPr/>
        </p:nvSpPr>
        <p:spPr>
          <a:xfrm>
            <a:off x="2352621" y="3749040"/>
            <a:ext cx="658368" cy="566928"/>
          </a:xfrm>
          <a:prstGeom prst="rect">
            <a:avLst/>
          </a:prstGeom>
          <a:noFill/>
          <a:ln/>
        </p:spPr>
        <p:txBody>
          <a:bodyPr wrap="square" lIns="0" tIns="0" rIns="0" bIns="0" rtlCol="0" anchor="ctr"/>
          <a:lstStyle/>
          <a:p>
            <a:pPr algn="ctr" indent="0" marL="0">
              <a:buNone/>
            </a:pPr>
            <a:r>
              <a:rPr lang="en-US" sz="1000" b="1" dirty="0">
                <a:solidFill>
                  <a:schemeClr val="bg1"/>
                </a:solidFill>
              </a:rPr>
              <a:t>Volume</a:t>
            </a:r>
            <a:endParaRPr lang="en-US" sz="1000" dirty="0"/>
          </a:p>
        </p:txBody>
      </p:sp>
      <p:sp>
        <p:nvSpPr>
          <p:cNvPr id="37" name="link-447"/>
          <p:cNvSpPr/>
          <p:nvPr/>
        </p:nvSpPr>
        <p:spPr>
          <a:xfrm>
            <a:off x="3029277" y="4032504"/>
            <a:ext cx="92746" cy="0"/>
          </a:xfrm>
          <a:prstGeom prst="line">
            <a:avLst/>
          </a:prstGeom>
          <a:noFill/>
          <a:ln w="15875">
            <a:solidFill>
              <a:schemeClr val="accent1"/>
            </a:solidFill>
            <a:prstDash val="solid"/>
          </a:ln>
        </p:spPr>
      </p:sp>
      <p:sp>
        <p:nvSpPr>
          <p:cNvPr id="38" name="particle-448"/>
          <p:cNvSpPr/>
          <p:nvPr/>
        </p:nvSpPr>
        <p:spPr>
          <a:xfrm>
            <a:off x="3032760" y="4005072"/>
            <a:ext cx="54864" cy="54864"/>
          </a:xfrm>
          <a:prstGeom prst="ellipse">
            <a:avLst/>
          </a:prstGeom>
          <a:solidFill>
            <a:schemeClr val="accent1"/>
          </a:solidFill>
          <a:ln/>
        </p:spPr>
      </p:sp>
      <p:sp>
        <p:nvSpPr>
          <p:cNvPr id="39" name="particle-449"/>
          <p:cNvSpPr/>
          <p:nvPr/>
        </p:nvSpPr>
        <p:spPr>
          <a:xfrm>
            <a:off x="3063675" y="4005072"/>
            <a:ext cx="54864" cy="54864"/>
          </a:xfrm>
          <a:prstGeom prst="ellipse">
            <a:avLst/>
          </a:prstGeom>
          <a:solidFill>
            <a:schemeClr val="accent1"/>
          </a:solidFill>
          <a:ln/>
        </p:spPr>
      </p:sp>
      <p:sp>
        <p:nvSpPr>
          <p:cNvPr id="40" name="node-450"/>
          <p:cNvSpPr/>
          <p:nvPr/>
        </p:nvSpPr>
        <p:spPr>
          <a:xfrm>
            <a:off x="3140311" y="3749040"/>
            <a:ext cx="658368" cy="566928"/>
          </a:xfrm>
          <a:prstGeom prst="roundRect">
            <a:avLst>
              <a:gd name="adj" fmla="val 12903"/>
            </a:avLst>
          </a:prstGeom>
          <a:solidFill>
            <a:schemeClr val="bg1">
              <a:alpha val="14000"/>
            </a:schemeClr>
          </a:solidFill>
          <a:ln w="12700">
            <a:solidFill>
              <a:schemeClr val="accent5"/>
            </a:solidFill>
            <a:prstDash val="solid"/>
          </a:ln>
        </p:spPr>
      </p:sp>
      <p:sp>
        <p:nvSpPr>
          <p:cNvPr id="41" name="text-451"/>
          <p:cNvSpPr txBox="1"/>
          <p:nvPr/>
        </p:nvSpPr>
        <p:spPr>
          <a:xfrm>
            <a:off x="3140311" y="3749040"/>
            <a:ext cx="658368" cy="566928"/>
          </a:xfrm>
          <a:prstGeom prst="rect">
            <a:avLst/>
          </a:prstGeom>
          <a:noFill/>
          <a:ln/>
        </p:spPr>
        <p:txBody>
          <a:bodyPr wrap="square" lIns="0" tIns="0" rIns="0" bIns="0" rtlCol="0" anchor="ctr"/>
          <a:lstStyle/>
          <a:p>
            <a:pPr algn="ctr" indent="0" marL="0">
              <a:buNone/>
            </a:pPr>
            <a:r>
              <a:rPr lang="en-US" sz="1000" b="1" dirty="0">
                <a:solidFill>
                  <a:schemeClr val="bg1"/>
                </a:solidFill>
              </a:rPr>
              <a:t>Queues</a:t>
            </a:r>
            <a:endParaRPr lang="en-US" sz="1000" dirty="0"/>
          </a:p>
        </p:txBody>
      </p:sp>
      <p:sp>
        <p:nvSpPr>
          <p:cNvPr id="42" name="link-452"/>
          <p:cNvSpPr/>
          <p:nvPr/>
        </p:nvSpPr>
        <p:spPr>
          <a:xfrm>
            <a:off x="3816967" y="4032504"/>
            <a:ext cx="92746" cy="0"/>
          </a:xfrm>
          <a:prstGeom prst="line">
            <a:avLst/>
          </a:prstGeom>
          <a:noFill/>
          <a:ln w="15875">
            <a:solidFill>
              <a:schemeClr val="accent1"/>
            </a:solidFill>
            <a:prstDash val="solid"/>
          </a:ln>
        </p:spPr>
      </p:sp>
      <p:sp>
        <p:nvSpPr>
          <p:cNvPr id="43" name="particle-453"/>
          <p:cNvSpPr/>
          <p:nvPr/>
        </p:nvSpPr>
        <p:spPr>
          <a:xfrm>
            <a:off x="3820450" y="4005072"/>
            <a:ext cx="54864" cy="54864"/>
          </a:xfrm>
          <a:prstGeom prst="ellipse">
            <a:avLst/>
          </a:prstGeom>
          <a:solidFill>
            <a:schemeClr val="accent1"/>
          </a:solidFill>
          <a:ln/>
        </p:spPr>
      </p:sp>
      <p:sp>
        <p:nvSpPr>
          <p:cNvPr id="44" name="particle-454"/>
          <p:cNvSpPr/>
          <p:nvPr/>
        </p:nvSpPr>
        <p:spPr>
          <a:xfrm>
            <a:off x="3851366" y="4005072"/>
            <a:ext cx="54864" cy="54864"/>
          </a:xfrm>
          <a:prstGeom prst="ellipse">
            <a:avLst/>
          </a:prstGeom>
          <a:solidFill>
            <a:schemeClr val="accent1"/>
          </a:solidFill>
          <a:ln/>
        </p:spPr>
      </p:sp>
      <p:sp>
        <p:nvSpPr>
          <p:cNvPr id="45" name="node-455"/>
          <p:cNvSpPr/>
          <p:nvPr/>
        </p:nvSpPr>
        <p:spPr>
          <a:xfrm>
            <a:off x="3928001" y="3749040"/>
            <a:ext cx="658368" cy="566928"/>
          </a:xfrm>
          <a:prstGeom prst="roundRect">
            <a:avLst>
              <a:gd name="adj" fmla="val 12903"/>
            </a:avLst>
          </a:prstGeom>
          <a:solidFill>
            <a:schemeClr val="bg1">
              <a:alpha val="14000"/>
            </a:schemeClr>
          </a:solidFill>
          <a:ln w="12700">
            <a:solidFill>
              <a:schemeClr val="accent1"/>
            </a:solidFill>
            <a:prstDash val="solid"/>
          </a:ln>
        </p:spPr>
      </p:sp>
      <p:sp>
        <p:nvSpPr>
          <p:cNvPr id="46" name="text-456"/>
          <p:cNvSpPr txBox="1"/>
          <p:nvPr/>
        </p:nvSpPr>
        <p:spPr>
          <a:xfrm>
            <a:off x="3928001" y="3749040"/>
            <a:ext cx="658368" cy="566928"/>
          </a:xfrm>
          <a:prstGeom prst="rect">
            <a:avLst/>
          </a:prstGeom>
          <a:noFill/>
          <a:ln/>
        </p:spPr>
        <p:txBody>
          <a:bodyPr wrap="square" lIns="0" tIns="0" rIns="0" bIns="0" rtlCol="0" anchor="ctr"/>
          <a:lstStyle/>
          <a:p>
            <a:pPr algn="ctr" indent="0" marL="0">
              <a:buNone/>
            </a:pPr>
            <a:r>
              <a:rPr lang="en-US" sz="1000" b="1" dirty="0">
                <a:solidFill>
                  <a:schemeClr val="bg1"/>
                </a:solidFill>
              </a:rPr>
              <a:t>Vision</a:t>
            </a:r>
            <a:endParaRPr lang="en-US" sz="1000" dirty="0"/>
          </a:p>
        </p:txBody>
      </p:sp>
      <p:sp>
        <p:nvSpPr>
          <p:cNvPr id="47" name="link-457"/>
          <p:cNvSpPr/>
          <p:nvPr/>
        </p:nvSpPr>
        <p:spPr>
          <a:xfrm>
            <a:off x="4604657" y="4032504"/>
            <a:ext cx="92746" cy="0"/>
          </a:xfrm>
          <a:prstGeom prst="line">
            <a:avLst/>
          </a:prstGeom>
          <a:noFill/>
          <a:ln w="15875">
            <a:solidFill>
              <a:schemeClr val="accent1"/>
            </a:solidFill>
            <a:prstDash val="solid"/>
          </a:ln>
        </p:spPr>
      </p:sp>
      <p:sp>
        <p:nvSpPr>
          <p:cNvPr id="48" name="particle-458"/>
          <p:cNvSpPr/>
          <p:nvPr/>
        </p:nvSpPr>
        <p:spPr>
          <a:xfrm>
            <a:off x="4608141" y="4005072"/>
            <a:ext cx="54864" cy="54864"/>
          </a:xfrm>
          <a:prstGeom prst="ellipse">
            <a:avLst/>
          </a:prstGeom>
          <a:solidFill>
            <a:schemeClr val="accent1"/>
          </a:solidFill>
          <a:ln/>
        </p:spPr>
      </p:sp>
      <p:sp>
        <p:nvSpPr>
          <p:cNvPr id="49" name="particle-459"/>
          <p:cNvSpPr/>
          <p:nvPr/>
        </p:nvSpPr>
        <p:spPr>
          <a:xfrm>
            <a:off x="4639056" y="4005072"/>
            <a:ext cx="54864" cy="54864"/>
          </a:xfrm>
          <a:prstGeom prst="ellipse">
            <a:avLst/>
          </a:prstGeom>
          <a:solidFill>
            <a:schemeClr val="accent1"/>
          </a:solidFill>
          <a:ln/>
        </p:spPr>
      </p:sp>
      <p:sp>
        <p:nvSpPr>
          <p:cNvPr id="50" name="node-460"/>
          <p:cNvSpPr/>
          <p:nvPr/>
        </p:nvSpPr>
        <p:spPr>
          <a:xfrm>
            <a:off x="4715691" y="3749040"/>
            <a:ext cx="658368" cy="566928"/>
          </a:xfrm>
          <a:prstGeom prst="roundRect">
            <a:avLst>
              <a:gd name="adj" fmla="val 12903"/>
            </a:avLst>
          </a:prstGeom>
          <a:solidFill>
            <a:schemeClr val="bg1">
              <a:alpha val="14000"/>
            </a:schemeClr>
          </a:solidFill>
          <a:ln w="12700">
            <a:solidFill>
              <a:schemeClr val="accent1"/>
            </a:solidFill>
            <a:prstDash val="solid"/>
          </a:ln>
        </p:spPr>
      </p:sp>
      <p:sp>
        <p:nvSpPr>
          <p:cNvPr id="51" name="text-461"/>
          <p:cNvSpPr txBox="1"/>
          <p:nvPr/>
        </p:nvSpPr>
        <p:spPr>
          <a:xfrm>
            <a:off x="4715691" y="3749040"/>
            <a:ext cx="658368" cy="566928"/>
          </a:xfrm>
          <a:prstGeom prst="rect">
            <a:avLst/>
          </a:prstGeom>
          <a:noFill/>
          <a:ln/>
        </p:spPr>
        <p:txBody>
          <a:bodyPr wrap="square" lIns="0" tIns="0" rIns="0" bIns="0" rtlCol="0" anchor="ctr"/>
          <a:lstStyle/>
          <a:p>
            <a:pPr algn="ctr" indent="0" marL="0">
              <a:buNone/>
            </a:pPr>
            <a:r>
              <a:rPr lang="en-US" sz="1000" b="1" dirty="0">
                <a:solidFill>
                  <a:schemeClr val="bg1"/>
                </a:solidFill>
              </a:rPr>
              <a:t>Chunk</a:t>
            </a:r>
            <a:endParaRPr lang="en-US" sz="1000" dirty="0"/>
          </a:p>
        </p:txBody>
      </p:sp>
      <p:sp>
        <p:nvSpPr>
          <p:cNvPr id="52" name="link-462"/>
          <p:cNvSpPr/>
          <p:nvPr/>
        </p:nvSpPr>
        <p:spPr>
          <a:xfrm>
            <a:off x="5392347" y="4032504"/>
            <a:ext cx="92746" cy="0"/>
          </a:xfrm>
          <a:prstGeom prst="line">
            <a:avLst/>
          </a:prstGeom>
          <a:noFill/>
          <a:ln w="15875">
            <a:solidFill>
              <a:schemeClr val="accent1"/>
            </a:solidFill>
            <a:prstDash val="solid"/>
          </a:ln>
        </p:spPr>
      </p:sp>
      <p:sp>
        <p:nvSpPr>
          <p:cNvPr id="53" name="particle-463"/>
          <p:cNvSpPr/>
          <p:nvPr/>
        </p:nvSpPr>
        <p:spPr>
          <a:xfrm>
            <a:off x="5395831" y="4005072"/>
            <a:ext cx="54864" cy="54864"/>
          </a:xfrm>
          <a:prstGeom prst="ellipse">
            <a:avLst/>
          </a:prstGeom>
          <a:solidFill>
            <a:schemeClr val="accent1"/>
          </a:solidFill>
          <a:ln/>
        </p:spPr>
      </p:sp>
      <p:sp>
        <p:nvSpPr>
          <p:cNvPr id="54" name="particle-464"/>
          <p:cNvSpPr/>
          <p:nvPr/>
        </p:nvSpPr>
        <p:spPr>
          <a:xfrm>
            <a:off x="5426746" y="4005072"/>
            <a:ext cx="54864" cy="54864"/>
          </a:xfrm>
          <a:prstGeom prst="ellipse">
            <a:avLst/>
          </a:prstGeom>
          <a:solidFill>
            <a:schemeClr val="accent1"/>
          </a:solidFill>
          <a:ln/>
        </p:spPr>
      </p:sp>
      <p:sp>
        <p:nvSpPr>
          <p:cNvPr id="55" name="node-465"/>
          <p:cNvSpPr/>
          <p:nvPr/>
        </p:nvSpPr>
        <p:spPr>
          <a:xfrm>
            <a:off x="5503382" y="3749040"/>
            <a:ext cx="658368" cy="566928"/>
          </a:xfrm>
          <a:prstGeom prst="roundRect">
            <a:avLst>
              <a:gd name="adj" fmla="val 12903"/>
            </a:avLst>
          </a:prstGeom>
          <a:solidFill>
            <a:schemeClr val="bg1">
              <a:alpha val="14000"/>
            </a:schemeClr>
          </a:solidFill>
          <a:ln w="12700">
            <a:solidFill>
              <a:schemeClr val="accent1"/>
            </a:solidFill>
            <a:prstDash val="solid"/>
          </a:ln>
        </p:spPr>
      </p:sp>
      <p:sp>
        <p:nvSpPr>
          <p:cNvPr id="56" name="text-466"/>
          <p:cNvSpPr txBox="1"/>
          <p:nvPr/>
        </p:nvSpPr>
        <p:spPr>
          <a:xfrm>
            <a:off x="5503382" y="3749040"/>
            <a:ext cx="658368" cy="566928"/>
          </a:xfrm>
          <a:prstGeom prst="rect">
            <a:avLst/>
          </a:prstGeom>
          <a:noFill/>
          <a:ln/>
        </p:spPr>
        <p:txBody>
          <a:bodyPr wrap="square" lIns="0" tIns="0" rIns="0" bIns="0" rtlCol="0" anchor="ctr"/>
          <a:lstStyle/>
          <a:p>
            <a:pPr algn="ctr" indent="0" marL="0">
              <a:buNone/>
            </a:pPr>
            <a:r>
              <a:rPr lang="en-US" sz="1000" b="1" dirty="0">
                <a:solidFill>
                  <a:schemeClr val="bg1"/>
                </a:solidFill>
              </a:rPr>
              <a:t>Embed</a:t>
            </a:r>
            <a:endParaRPr lang="en-US" sz="1000" dirty="0"/>
          </a:p>
        </p:txBody>
      </p:sp>
      <p:sp>
        <p:nvSpPr>
          <p:cNvPr id="57" name="link-467"/>
          <p:cNvSpPr/>
          <p:nvPr/>
        </p:nvSpPr>
        <p:spPr>
          <a:xfrm>
            <a:off x="6180038" y="4032504"/>
            <a:ext cx="92746" cy="0"/>
          </a:xfrm>
          <a:prstGeom prst="line">
            <a:avLst/>
          </a:prstGeom>
          <a:noFill/>
          <a:ln w="15875">
            <a:solidFill>
              <a:schemeClr val="accent1"/>
            </a:solidFill>
            <a:prstDash val="solid"/>
          </a:ln>
        </p:spPr>
      </p:sp>
      <p:sp>
        <p:nvSpPr>
          <p:cNvPr id="58" name="particle-468"/>
          <p:cNvSpPr/>
          <p:nvPr/>
        </p:nvSpPr>
        <p:spPr>
          <a:xfrm>
            <a:off x="6183521" y="4005072"/>
            <a:ext cx="54864" cy="54864"/>
          </a:xfrm>
          <a:prstGeom prst="ellipse">
            <a:avLst/>
          </a:prstGeom>
          <a:solidFill>
            <a:schemeClr val="accent1"/>
          </a:solidFill>
          <a:ln/>
        </p:spPr>
      </p:sp>
      <p:sp>
        <p:nvSpPr>
          <p:cNvPr id="59" name="particle-469"/>
          <p:cNvSpPr/>
          <p:nvPr/>
        </p:nvSpPr>
        <p:spPr>
          <a:xfrm>
            <a:off x="6214437" y="4005072"/>
            <a:ext cx="54864" cy="54864"/>
          </a:xfrm>
          <a:prstGeom prst="ellipse">
            <a:avLst/>
          </a:prstGeom>
          <a:solidFill>
            <a:schemeClr val="accent1"/>
          </a:solidFill>
          <a:ln/>
        </p:spPr>
      </p:sp>
      <p:sp>
        <p:nvSpPr>
          <p:cNvPr id="60" name="node-470"/>
          <p:cNvSpPr/>
          <p:nvPr/>
        </p:nvSpPr>
        <p:spPr>
          <a:xfrm>
            <a:off x="6291072" y="3749040"/>
            <a:ext cx="658368" cy="566928"/>
          </a:xfrm>
          <a:prstGeom prst="roundRect">
            <a:avLst>
              <a:gd name="adj" fmla="val 12903"/>
            </a:avLst>
          </a:prstGeom>
          <a:solidFill>
            <a:schemeClr val="bg1">
              <a:alpha val="14000"/>
            </a:schemeClr>
          </a:solidFill>
          <a:ln w="12700">
            <a:solidFill>
              <a:schemeClr val="accent5"/>
            </a:solidFill>
            <a:prstDash val="solid"/>
          </a:ln>
        </p:spPr>
      </p:sp>
      <p:sp>
        <p:nvSpPr>
          <p:cNvPr id="61" name="text-471"/>
          <p:cNvSpPr txBox="1"/>
          <p:nvPr/>
        </p:nvSpPr>
        <p:spPr>
          <a:xfrm>
            <a:off x="6291072" y="3749040"/>
            <a:ext cx="658368" cy="566928"/>
          </a:xfrm>
          <a:prstGeom prst="rect">
            <a:avLst/>
          </a:prstGeom>
          <a:noFill/>
          <a:ln/>
        </p:spPr>
        <p:txBody>
          <a:bodyPr wrap="square" lIns="0" tIns="0" rIns="0" bIns="0" rtlCol="0" anchor="ctr"/>
          <a:lstStyle/>
          <a:p>
            <a:pPr algn="ctr" indent="0" marL="0">
              <a:buNone/>
            </a:pPr>
            <a:r>
              <a:rPr lang="en-US" sz="1000" b="1" dirty="0">
                <a:solidFill>
                  <a:schemeClr val="bg1"/>
                </a:solidFill>
              </a:rPr>
              <a:t>S3</a:t>
            </a:r>
            <a:endParaRPr lang="en-US" sz="1000" dirty="0"/>
          </a:p>
        </p:txBody>
      </p:sp>
      <p:sp>
        <p:nvSpPr>
          <p:cNvPr id="62" name="text-472"/>
          <p:cNvSpPr txBox="1"/>
          <p:nvPr/>
        </p:nvSpPr>
        <p:spPr>
          <a:xfrm>
            <a:off x="777240" y="4535424"/>
            <a:ext cx="2743200" cy="219456"/>
          </a:xfrm>
          <a:prstGeom prst="rect">
            <a:avLst/>
          </a:prstGeom>
          <a:noFill/>
          <a:ln/>
        </p:spPr>
        <p:txBody>
          <a:bodyPr wrap="square" lIns="0" tIns="0" rIns="0" bIns="0" rtlCol="0" anchor="t"/>
          <a:lstStyle/>
          <a:p>
            <a:pPr indent="0" marL="0">
              <a:buNone/>
            </a:pPr>
            <a:r>
              <a:rPr lang="en-US" sz="1000" dirty="0">
                <a:solidFill>
                  <a:schemeClr val="accent5"/>
                </a:solidFill>
              </a:rPr>
              <a:t>STORAGE</a:t>
            </a:r>
            <a:endParaRPr lang="en-US" sz="1000" dirty="0"/>
          </a:p>
        </p:txBody>
      </p:sp>
      <p:sp>
        <p:nvSpPr>
          <p:cNvPr id="63" name="store-473"/>
          <p:cNvSpPr/>
          <p:nvPr/>
        </p:nvSpPr>
        <p:spPr>
          <a:xfrm>
            <a:off x="777240" y="4809744"/>
            <a:ext cx="1417320" cy="457200"/>
          </a:xfrm>
          <a:prstGeom prst="roundRect">
            <a:avLst>
              <a:gd name="adj" fmla="val 12000"/>
            </a:avLst>
          </a:prstGeom>
          <a:solidFill>
            <a:schemeClr val="bg1">
              <a:alpha val="8000"/>
            </a:schemeClr>
          </a:solidFill>
          <a:ln w="9525">
            <a:solidFill>
              <a:schemeClr val="accent5"/>
            </a:solidFill>
            <a:prstDash val="solid"/>
          </a:ln>
        </p:spPr>
      </p:sp>
      <p:sp>
        <p:nvSpPr>
          <p:cNvPr id="64" name="text-474"/>
          <p:cNvSpPr txBox="1"/>
          <p:nvPr/>
        </p:nvSpPr>
        <p:spPr>
          <a:xfrm>
            <a:off x="777240" y="4809744"/>
            <a:ext cx="1417320" cy="457200"/>
          </a:xfrm>
          <a:prstGeom prst="rect">
            <a:avLst/>
          </a:prstGeom>
          <a:noFill/>
          <a:ln/>
        </p:spPr>
        <p:txBody>
          <a:bodyPr wrap="square" lIns="0" tIns="0" rIns="0" bIns="0" rtlCol="0" anchor="ctr"/>
          <a:lstStyle/>
          <a:p>
            <a:pPr algn="ctr" indent="0" marL="0">
              <a:buNone/>
            </a:pPr>
            <a:r>
              <a:rPr lang="en-US" sz="1050" dirty="0">
                <a:solidFill>
                  <a:schemeClr val="bg1"/>
                </a:solidFill>
              </a:rPr>
              <a:t>Postgres</a:t>
            </a:r>
            <a:endParaRPr lang="en-US" sz="1050" dirty="0"/>
          </a:p>
        </p:txBody>
      </p:sp>
      <p:sp>
        <p:nvSpPr>
          <p:cNvPr id="65" name="store-475"/>
          <p:cNvSpPr/>
          <p:nvPr/>
        </p:nvSpPr>
        <p:spPr>
          <a:xfrm>
            <a:off x="2350008" y="4809744"/>
            <a:ext cx="1417320" cy="457200"/>
          </a:xfrm>
          <a:prstGeom prst="roundRect">
            <a:avLst>
              <a:gd name="adj" fmla="val 12000"/>
            </a:avLst>
          </a:prstGeom>
          <a:solidFill>
            <a:schemeClr val="bg1">
              <a:alpha val="8000"/>
            </a:schemeClr>
          </a:solidFill>
          <a:ln w="9525">
            <a:solidFill>
              <a:schemeClr val="accent5"/>
            </a:solidFill>
            <a:prstDash val="solid"/>
          </a:ln>
        </p:spPr>
      </p:sp>
      <p:sp>
        <p:nvSpPr>
          <p:cNvPr id="66" name="text-476"/>
          <p:cNvSpPr txBox="1"/>
          <p:nvPr/>
        </p:nvSpPr>
        <p:spPr>
          <a:xfrm>
            <a:off x="2350008" y="4809744"/>
            <a:ext cx="1417320" cy="457200"/>
          </a:xfrm>
          <a:prstGeom prst="rect">
            <a:avLst/>
          </a:prstGeom>
          <a:noFill/>
          <a:ln/>
        </p:spPr>
        <p:txBody>
          <a:bodyPr wrap="square" lIns="0" tIns="0" rIns="0" bIns="0" rtlCol="0" anchor="ctr"/>
          <a:lstStyle/>
          <a:p>
            <a:pPr algn="ctr" indent="0" marL="0">
              <a:buNone/>
            </a:pPr>
            <a:r>
              <a:rPr lang="en-US" sz="1050" dirty="0">
                <a:solidFill>
                  <a:schemeClr val="bg1"/>
                </a:solidFill>
              </a:rPr>
              <a:t>pgvector</a:t>
            </a:r>
            <a:endParaRPr lang="en-US" sz="1050" dirty="0"/>
          </a:p>
        </p:txBody>
      </p:sp>
      <p:sp>
        <p:nvSpPr>
          <p:cNvPr id="67" name="store-477"/>
          <p:cNvSpPr/>
          <p:nvPr/>
        </p:nvSpPr>
        <p:spPr>
          <a:xfrm>
            <a:off x="3922776" y="4809744"/>
            <a:ext cx="1417320" cy="457200"/>
          </a:xfrm>
          <a:prstGeom prst="roundRect">
            <a:avLst>
              <a:gd name="adj" fmla="val 12000"/>
            </a:avLst>
          </a:prstGeom>
          <a:solidFill>
            <a:schemeClr val="bg1">
              <a:alpha val="8000"/>
            </a:schemeClr>
          </a:solidFill>
          <a:ln w="9525">
            <a:solidFill>
              <a:schemeClr val="accent5"/>
            </a:solidFill>
            <a:prstDash val="solid"/>
          </a:ln>
        </p:spPr>
      </p:sp>
      <p:sp>
        <p:nvSpPr>
          <p:cNvPr id="68" name="text-478"/>
          <p:cNvSpPr txBox="1"/>
          <p:nvPr/>
        </p:nvSpPr>
        <p:spPr>
          <a:xfrm>
            <a:off x="3922776" y="4809744"/>
            <a:ext cx="1417320" cy="457200"/>
          </a:xfrm>
          <a:prstGeom prst="rect">
            <a:avLst/>
          </a:prstGeom>
          <a:noFill/>
          <a:ln/>
        </p:spPr>
        <p:txBody>
          <a:bodyPr wrap="square" lIns="0" tIns="0" rIns="0" bIns="0" rtlCol="0" anchor="ctr"/>
          <a:lstStyle/>
          <a:p>
            <a:pPr algn="ctr" indent="0" marL="0">
              <a:buNone/>
            </a:pPr>
            <a:r>
              <a:rPr lang="en-US" sz="1050" dirty="0">
                <a:solidFill>
                  <a:schemeClr val="bg1"/>
                </a:solidFill>
              </a:rPr>
              <a:t>RWX volume</a:t>
            </a:r>
            <a:endParaRPr lang="en-US" sz="1050" dirty="0"/>
          </a:p>
        </p:txBody>
      </p:sp>
      <p:sp>
        <p:nvSpPr>
          <p:cNvPr id="69" name="store-479"/>
          <p:cNvSpPr/>
          <p:nvPr/>
        </p:nvSpPr>
        <p:spPr>
          <a:xfrm>
            <a:off x="5495544" y="4809744"/>
            <a:ext cx="1417320" cy="457200"/>
          </a:xfrm>
          <a:prstGeom prst="roundRect">
            <a:avLst>
              <a:gd name="adj" fmla="val 12000"/>
            </a:avLst>
          </a:prstGeom>
          <a:solidFill>
            <a:schemeClr val="bg1">
              <a:alpha val="8000"/>
            </a:schemeClr>
          </a:solidFill>
          <a:ln w="9525">
            <a:solidFill>
              <a:schemeClr val="accent5"/>
            </a:solidFill>
            <a:prstDash val="solid"/>
          </a:ln>
        </p:spPr>
      </p:sp>
      <p:sp>
        <p:nvSpPr>
          <p:cNvPr id="70" name="text-480"/>
          <p:cNvSpPr txBox="1"/>
          <p:nvPr/>
        </p:nvSpPr>
        <p:spPr>
          <a:xfrm>
            <a:off x="5495544" y="4809744"/>
            <a:ext cx="1417320" cy="457200"/>
          </a:xfrm>
          <a:prstGeom prst="rect">
            <a:avLst/>
          </a:prstGeom>
          <a:noFill/>
          <a:ln/>
        </p:spPr>
        <p:txBody>
          <a:bodyPr wrap="square" lIns="0" tIns="0" rIns="0" bIns="0" rtlCol="0" anchor="ctr"/>
          <a:lstStyle/>
          <a:p>
            <a:pPr algn="ctr" indent="0" marL="0">
              <a:buNone/>
            </a:pPr>
            <a:r>
              <a:rPr lang="en-US" sz="1050" dirty="0">
                <a:solidFill>
                  <a:schemeClr val="bg1"/>
                </a:solidFill>
              </a:rPr>
              <a:t>S3 artifacts</a:t>
            </a:r>
            <a:endParaRPr lang="en-US" sz="1050" dirty="0"/>
          </a:p>
        </p:txBody>
      </p:sp>
      <p:sp>
        <p:nvSpPr>
          <p:cNvPr id="71" name="scrubber-481"/>
          <p:cNvSpPr/>
          <p:nvPr/>
        </p:nvSpPr>
        <p:spPr>
          <a:xfrm>
            <a:off x="777240" y="5669280"/>
            <a:ext cx="6172200" cy="45720"/>
          </a:xfrm>
          <a:prstGeom prst="rect">
            <a:avLst/>
          </a:prstGeom>
          <a:solidFill>
            <a:schemeClr val="accent5">
              <a:alpha val="60000"/>
            </a:schemeClr>
          </a:solidFill>
          <a:ln/>
        </p:spPr>
      </p:sp>
      <p:sp>
        <p:nvSpPr>
          <p:cNvPr id="72" name="scrub-knob-482"/>
          <p:cNvSpPr/>
          <p:nvPr/>
        </p:nvSpPr>
        <p:spPr>
          <a:xfrm>
            <a:off x="5838444" y="5605272"/>
            <a:ext cx="164592" cy="164592"/>
          </a:xfrm>
          <a:prstGeom prst="ellipse">
            <a:avLst/>
          </a:prstGeom>
          <a:solidFill>
            <a:schemeClr val="accent1"/>
          </a:solidFill>
          <a:ln/>
        </p:spPr>
      </p:sp>
      <p:sp>
        <p:nvSpPr>
          <p:cNvPr id="73" name="text-483"/>
          <p:cNvSpPr txBox="1"/>
          <p:nvPr/>
        </p:nvSpPr>
        <p:spPr>
          <a:xfrm>
            <a:off x="777240" y="5760720"/>
            <a:ext cx="3200400" cy="237744"/>
          </a:xfrm>
          <a:prstGeom prst="rect">
            <a:avLst/>
          </a:prstGeom>
          <a:noFill/>
          <a:ln/>
        </p:spPr>
        <p:txBody>
          <a:bodyPr wrap="square" lIns="0" tIns="0" rIns="0" bIns="0" rtlCol="0" anchor="t"/>
          <a:lstStyle/>
          <a:p>
            <a:pPr indent="0" marL="0">
              <a:buNone/>
            </a:pPr>
            <a:r>
              <a:rPr lang="en-US" sz="1000" dirty="0">
                <a:solidFill>
                  <a:schemeClr val="accent5"/>
                </a:solidFill>
              </a:rPr>
              <a:t>last 60 min  ·  replay 10× / 60×</a:t>
            </a:r>
            <a:endParaRPr lang="en-US" sz="1000" dirty="0"/>
          </a:p>
        </p:txBody>
      </p:sp>
      <p:sp>
        <p:nvSpPr>
          <p:cNvPr id="74" name="text-484"/>
          <p:cNvSpPr txBox="1"/>
          <p:nvPr/>
        </p:nvSpPr>
        <p:spPr>
          <a:xfrm>
            <a:off x="4754880" y="5760720"/>
            <a:ext cx="2194560" cy="237744"/>
          </a:xfrm>
          <a:prstGeom prst="rect">
            <a:avLst/>
          </a:prstGeom>
          <a:noFill/>
          <a:ln/>
        </p:spPr>
        <p:txBody>
          <a:bodyPr wrap="square" lIns="0" tIns="0" rIns="0" bIns="0" rtlCol="0" anchor="t"/>
          <a:lstStyle/>
          <a:p>
            <a:pPr algn="r" indent="0" marL="0">
              <a:buNone/>
            </a:pPr>
            <a:r>
              <a:rPr lang="en-US" sz="1000" i="1" dirty="0">
                <a:solidFill>
                  <a:schemeClr val="accent5"/>
                </a:solidFill>
              </a:rPr>
              <a:t>Schematic, not a screenshot</a:t>
            </a:r>
            <a:endParaRPr lang="en-US" sz="1000" dirty="0"/>
          </a:p>
        </p:txBody>
      </p:sp>
      <p:pic>
        <p:nvPicPr>
          <p:cNvPr id="75" name="icon-TbCircleCheck-485" descr="CircleCheck">    </p:cNvPr>
          <p:cNvPicPr>
            <a:picLocks noChangeAspect="1"/>
          </p:cNvPicPr>
          <p:nvPr/>
        </p:nvPicPr>
        <p:blipFill>
          <a:blip r:embed="rId1"/>
          <a:stretch>
            <a:fillRect/>
          </a:stretch>
        </p:blipFill>
        <p:spPr>
          <a:xfrm>
            <a:off x="7498080" y="1700784"/>
            <a:ext cx="274320" cy="274320"/>
          </a:xfrm>
          <a:prstGeom prst="rect">
            <a:avLst/>
          </a:prstGeom>
        </p:spPr>
      </p:pic>
      <p:sp>
        <p:nvSpPr>
          <p:cNvPr id="76" name="text-486"/>
          <p:cNvSpPr txBox="1"/>
          <p:nvPr/>
        </p:nvSpPr>
        <p:spPr>
          <a:xfrm>
            <a:off x="7882128" y="1645920"/>
            <a:ext cx="3760927" cy="548640"/>
          </a:xfrm>
          <a:prstGeom prst="rect">
            <a:avLst/>
          </a:prstGeom>
          <a:noFill/>
          <a:ln/>
        </p:spPr>
        <p:txBody>
          <a:bodyPr wrap="square" lIns="0" tIns="0" rIns="0" bIns="0" rtlCol="0" anchor="t"/>
          <a:lstStyle/>
          <a:p>
            <a:pPr indent="0" marL="0">
              <a:buNone/>
            </a:pPr>
            <a:r>
              <a:rPr lang="en-US" sz="1250" dirty="0">
                <a:solidFill>
                  <a:schemeClr val="tx1"/>
                </a:solidFill>
              </a:rPr>
              <a:t>Every node is a real component; particle rate is measured throughput</a:t>
            </a:r>
            <a:endParaRPr lang="en-US" sz="1250" dirty="0"/>
          </a:p>
        </p:txBody>
      </p:sp>
      <p:pic>
        <p:nvPicPr>
          <p:cNvPr id="77" name="icon-TbCircleCheck-487" descr="CircleCheck">    </p:cNvPr>
          <p:cNvPicPr>
            <a:picLocks noChangeAspect="1"/>
          </p:cNvPicPr>
          <p:nvPr/>
        </p:nvPicPr>
        <p:blipFill>
          <a:blip r:embed="rId2"/>
          <a:stretch>
            <a:fillRect/>
          </a:stretch>
        </p:blipFill>
        <p:spPr>
          <a:xfrm>
            <a:off x="7498080" y="2304288"/>
            <a:ext cx="274320" cy="274320"/>
          </a:xfrm>
          <a:prstGeom prst="rect">
            <a:avLst/>
          </a:prstGeom>
        </p:spPr>
      </p:pic>
      <p:sp>
        <p:nvSpPr>
          <p:cNvPr id="78" name="text-488"/>
          <p:cNvSpPr txBox="1"/>
          <p:nvPr/>
        </p:nvSpPr>
        <p:spPr>
          <a:xfrm>
            <a:off x="7882128" y="2249424"/>
            <a:ext cx="3760927" cy="548640"/>
          </a:xfrm>
          <a:prstGeom prst="rect">
            <a:avLst/>
          </a:prstGeom>
          <a:noFill/>
          <a:ln/>
        </p:spPr>
        <p:txBody>
          <a:bodyPr wrap="square" lIns="0" tIns="0" rIns="0" bIns="0" rtlCol="0" anchor="t"/>
          <a:lstStyle/>
          <a:p>
            <a:pPr indent="0" marL="0">
              <a:buNone/>
            </a:pPr>
            <a:r>
              <a:rPr lang="en-US" sz="1250" dirty="0">
                <a:solidFill>
                  <a:schemeClr val="tx1"/>
                </a:solidFill>
              </a:rPr>
              <a:t>3D plant view, wall mode with auto-tour, 60-minute time scrubber</a:t>
            </a:r>
            <a:endParaRPr lang="en-US" sz="1250" dirty="0"/>
          </a:p>
        </p:txBody>
      </p:sp>
      <p:pic>
        <p:nvPicPr>
          <p:cNvPr id="79" name="icon-TbCircleCheck-489" descr="CircleCheck">    </p:cNvPr>
          <p:cNvPicPr>
            <a:picLocks noChangeAspect="1"/>
          </p:cNvPicPr>
          <p:nvPr/>
        </p:nvPicPr>
        <p:blipFill>
          <a:blip r:embed="rId3"/>
          <a:stretch>
            <a:fillRect/>
          </a:stretch>
        </p:blipFill>
        <p:spPr>
          <a:xfrm>
            <a:off x="7498080" y="2907792"/>
            <a:ext cx="274320" cy="274320"/>
          </a:xfrm>
          <a:prstGeom prst="rect">
            <a:avLst/>
          </a:prstGeom>
        </p:spPr>
      </p:pic>
      <p:sp>
        <p:nvSpPr>
          <p:cNvPr id="80" name="text-490"/>
          <p:cNvSpPr txBox="1"/>
          <p:nvPr/>
        </p:nvSpPr>
        <p:spPr>
          <a:xfrm>
            <a:off x="7882128" y="2852928"/>
            <a:ext cx="3760927" cy="548640"/>
          </a:xfrm>
          <a:prstGeom prst="rect">
            <a:avLst/>
          </a:prstGeom>
          <a:noFill/>
          <a:ln/>
        </p:spPr>
        <p:txBody>
          <a:bodyPr wrap="square" lIns="0" tIns="0" rIns="0" bIns="0" rtlCol="0" anchor="t"/>
          <a:lstStyle/>
          <a:p>
            <a:pPr indent="0" marL="0">
              <a:buNone/>
            </a:pPr>
            <a:r>
              <a:rPr lang="en-US" sz="1250" dirty="0">
                <a:solidFill>
                  <a:schemeClr val="tx1"/>
                </a:solidFill>
              </a:rPr>
              <a:t>Stale data is hatched; a missing number shows “—”, never zero</a:t>
            </a:r>
            <a:endParaRPr lang="en-US" sz="1250" dirty="0"/>
          </a:p>
        </p:txBody>
      </p:sp>
      <p:sp>
        <p:nvSpPr>
          <p:cNvPr id="81" name="text-491"/>
          <p:cNvSpPr txBox="1"/>
          <p:nvPr/>
        </p:nvSpPr>
        <p:spPr>
          <a:xfrm>
            <a:off x="7498080" y="3520440"/>
            <a:ext cx="4144975" cy="310896"/>
          </a:xfrm>
          <a:prstGeom prst="rect">
            <a:avLst/>
          </a:prstGeom>
          <a:noFill/>
          <a:ln/>
        </p:spPr>
        <p:txBody>
          <a:bodyPr wrap="square" lIns="0" tIns="0" rIns="0" bIns="0" rtlCol="0" anchor="ctr"/>
          <a:lstStyle/>
          <a:p>
            <a:pPr indent="0" marL="0">
              <a:buNone/>
            </a:pPr>
            <a:r>
              <a:rPr lang="en-US" sz="1300" b="1" dirty="0">
                <a:solidFill>
                  <a:schemeClr val="tx1"/>
                </a:solidFill>
              </a:rPr>
              <a:t>Measured budgets, % of gate used</a:t>
            </a:r>
            <a:endParaRPr lang="en-US" sz="1300" dirty="0"/>
          </a:p>
        </p:txBody>
      </p:sp>
      <p:sp>
        <p:nvSpPr>
          <p:cNvPr id="82" name="text-492"/>
          <p:cNvSpPr txBox="1"/>
          <p:nvPr/>
        </p:nvSpPr>
        <p:spPr>
          <a:xfrm>
            <a:off x="7498080" y="3941064"/>
            <a:ext cx="1051560" cy="442570"/>
          </a:xfrm>
          <a:prstGeom prst="rect">
            <a:avLst/>
          </a:prstGeom>
          <a:noFill/>
          <a:ln/>
        </p:spPr>
        <p:txBody>
          <a:bodyPr wrap="square" lIns="0" tIns="0" rIns="0" bIns="0" rtlCol="0" anchor="ctr"/>
          <a:lstStyle/>
          <a:p>
            <a:pPr algn="r" indent="0" marL="0">
              <a:buNone/>
            </a:pPr>
            <a:r>
              <a:rPr lang="en-US" sz="1150" dirty="0">
                <a:solidFill>
                  <a:schemeClr val="tx2"/>
                </a:solidFill>
              </a:rPr>
              <a:t>Main bundle</a:t>
            </a:r>
            <a:endParaRPr lang="en-US" sz="1150" dirty="0"/>
          </a:p>
        </p:txBody>
      </p:sp>
      <p:sp>
        <p:nvSpPr>
          <p:cNvPr id="83" name="bar-493"/>
          <p:cNvSpPr/>
          <p:nvPr/>
        </p:nvSpPr>
        <p:spPr>
          <a:xfrm>
            <a:off x="8659368" y="4025152"/>
            <a:ext cx="996111" cy="274393"/>
          </a:xfrm>
          <a:prstGeom prst="rect">
            <a:avLst/>
          </a:prstGeom>
          <a:solidFill>
            <a:schemeClr val="accent2"/>
          </a:solidFill>
          <a:ln/>
        </p:spPr>
      </p:sp>
      <p:sp>
        <p:nvSpPr>
          <p:cNvPr id="84" name="text-494"/>
          <p:cNvSpPr txBox="1"/>
          <p:nvPr/>
        </p:nvSpPr>
        <p:spPr>
          <a:xfrm>
            <a:off x="9728631" y="3941064"/>
            <a:ext cx="1987576" cy="442570"/>
          </a:xfrm>
          <a:prstGeom prst="rect">
            <a:avLst/>
          </a:prstGeom>
          <a:noFill/>
          <a:ln/>
        </p:spPr>
        <p:txBody>
          <a:bodyPr wrap="square" lIns="0" tIns="0" rIns="0" bIns="0" rtlCol="0" anchor="ctr"/>
          <a:lstStyle/>
          <a:p>
            <a:pPr indent="0" marL="0">
              <a:buNone/>
            </a:pPr>
            <a:r>
              <a:rPr lang="en-US" sz="1150" b="1" dirty="0">
                <a:solidFill>
                  <a:schemeClr val="tx1"/>
                </a:solidFill>
              </a:rPr>
              <a:t>72%  ·  324 of 450 KB</a:t>
            </a:r>
            <a:endParaRPr lang="en-US" sz="1150" dirty="0"/>
          </a:p>
        </p:txBody>
      </p:sp>
      <p:sp>
        <p:nvSpPr>
          <p:cNvPr id="85" name="text-495"/>
          <p:cNvSpPr txBox="1"/>
          <p:nvPr/>
        </p:nvSpPr>
        <p:spPr>
          <a:xfrm>
            <a:off x="7498080" y="4383634"/>
            <a:ext cx="1051560" cy="442570"/>
          </a:xfrm>
          <a:prstGeom prst="rect">
            <a:avLst/>
          </a:prstGeom>
          <a:noFill/>
          <a:ln/>
        </p:spPr>
        <p:txBody>
          <a:bodyPr wrap="square" lIns="0" tIns="0" rIns="0" bIns="0" rtlCol="0" anchor="ctr"/>
          <a:lstStyle/>
          <a:p>
            <a:pPr algn="r" indent="0" marL="0">
              <a:buNone/>
            </a:pPr>
            <a:r>
              <a:rPr lang="en-US" sz="1150" dirty="0">
                <a:solidFill>
                  <a:schemeClr val="tx2"/>
                </a:solidFill>
              </a:rPr>
              <a:t>Plant chunk</a:t>
            </a:r>
            <a:endParaRPr lang="en-US" sz="1150" dirty="0"/>
          </a:p>
        </p:txBody>
      </p:sp>
      <p:sp>
        <p:nvSpPr>
          <p:cNvPr id="86" name="bar-496"/>
          <p:cNvSpPr/>
          <p:nvPr/>
        </p:nvSpPr>
        <p:spPr>
          <a:xfrm>
            <a:off x="8659368" y="4467722"/>
            <a:ext cx="1245138" cy="274393"/>
          </a:xfrm>
          <a:prstGeom prst="rect">
            <a:avLst/>
          </a:prstGeom>
          <a:solidFill>
            <a:schemeClr val="accent2"/>
          </a:solidFill>
          <a:ln/>
        </p:spPr>
      </p:sp>
      <p:sp>
        <p:nvSpPr>
          <p:cNvPr id="87" name="text-497"/>
          <p:cNvSpPr txBox="1"/>
          <p:nvPr/>
        </p:nvSpPr>
        <p:spPr>
          <a:xfrm>
            <a:off x="9977658" y="4383634"/>
            <a:ext cx="1738549" cy="442570"/>
          </a:xfrm>
          <a:prstGeom prst="rect">
            <a:avLst/>
          </a:prstGeom>
          <a:noFill/>
          <a:ln/>
        </p:spPr>
        <p:txBody>
          <a:bodyPr wrap="square" lIns="0" tIns="0" rIns="0" bIns="0" rtlCol="0" anchor="ctr"/>
          <a:lstStyle/>
          <a:p>
            <a:pPr indent="0" marL="0">
              <a:buNone/>
            </a:pPr>
            <a:r>
              <a:rPr lang="en-US" sz="1150" b="1" dirty="0">
                <a:solidFill>
                  <a:schemeClr val="tx1"/>
                </a:solidFill>
              </a:rPr>
              <a:t>90%  ·  162 of 180 KB</a:t>
            </a:r>
            <a:endParaRPr lang="en-US" sz="1150" dirty="0"/>
          </a:p>
        </p:txBody>
      </p:sp>
      <p:sp>
        <p:nvSpPr>
          <p:cNvPr id="88" name="text-498"/>
          <p:cNvSpPr txBox="1"/>
          <p:nvPr/>
        </p:nvSpPr>
        <p:spPr>
          <a:xfrm>
            <a:off x="7498080" y="4826203"/>
            <a:ext cx="1051560" cy="442570"/>
          </a:xfrm>
          <a:prstGeom prst="rect">
            <a:avLst/>
          </a:prstGeom>
          <a:noFill/>
          <a:ln/>
        </p:spPr>
        <p:txBody>
          <a:bodyPr wrap="square" lIns="0" tIns="0" rIns="0" bIns="0" rtlCol="0" anchor="ctr"/>
          <a:lstStyle/>
          <a:p>
            <a:pPr algn="r" indent="0" marL="0">
              <a:buNone/>
            </a:pPr>
            <a:r>
              <a:rPr lang="en-US" sz="1150" dirty="0">
                <a:solidFill>
                  <a:schemeClr val="tx2"/>
                </a:solidFill>
              </a:rPr>
              <a:t>Draw calls</a:t>
            </a:r>
            <a:endParaRPr lang="en-US" sz="1150" dirty="0"/>
          </a:p>
        </p:txBody>
      </p:sp>
      <p:sp>
        <p:nvSpPr>
          <p:cNvPr id="89" name="bar-499"/>
          <p:cNvSpPr/>
          <p:nvPr/>
        </p:nvSpPr>
        <p:spPr>
          <a:xfrm>
            <a:off x="8659368" y="4910291"/>
            <a:ext cx="1203634" cy="274393"/>
          </a:xfrm>
          <a:prstGeom prst="rect">
            <a:avLst/>
          </a:prstGeom>
          <a:solidFill>
            <a:schemeClr val="accent2"/>
          </a:solidFill>
          <a:ln/>
        </p:spPr>
      </p:sp>
      <p:sp>
        <p:nvSpPr>
          <p:cNvPr id="90" name="text-500"/>
          <p:cNvSpPr txBox="1"/>
          <p:nvPr/>
        </p:nvSpPr>
        <p:spPr>
          <a:xfrm>
            <a:off x="9936154" y="4826203"/>
            <a:ext cx="1780053" cy="442570"/>
          </a:xfrm>
          <a:prstGeom prst="rect">
            <a:avLst/>
          </a:prstGeom>
          <a:noFill/>
          <a:ln/>
        </p:spPr>
        <p:txBody>
          <a:bodyPr wrap="square" lIns="0" tIns="0" rIns="0" bIns="0" rtlCol="0" anchor="ctr"/>
          <a:lstStyle/>
          <a:p>
            <a:pPr indent="0" marL="0">
              <a:buNone/>
            </a:pPr>
            <a:r>
              <a:rPr lang="en-US" sz="1150" b="1" dirty="0">
                <a:solidFill>
                  <a:schemeClr val="tx1"/>
                </a:solidFill>
              </a:rPr>
              <a:t>87%  ·  26 of 30</a:t>
            </a:r>
            <a:endParaRPr lang="en-US" sz="1150" dirty="0"/>
          </a:p>
        </p:txBody>
      </p:sp>
      <p:sp>
        <p:nvSpPr>
          <p:cNvPr id="91" name="text-501"/>
          <p:cNvSpPr txBox="1"/>
          <p:nvPr/>
        </p:nvSpPr>
        <p:spPr>
          <a:xfrm>
            <a:off x="7498080" y="5268773"/>
            <a:ext cx="1051560" cy="442570"/>
          </a:xfrm>
          <a:prstGeom prst="rect">
            <a:avLst/>
          </a:prstGeom>
          <a:noFill/>
          <a:ln/>
        </p:spPr>
        <p:txBody>
          <a:bodyPr wrap="square" lIns="0" tIns="0" rIns="0" bIns="0" rtlCol="0" anchor="ctr"/>
          <a:lstStyle/>
          <a:p>
            <a:pPr algn="r" indent="0" marL="0">
              <a:buNone/>
            </a:pPr>
            <a:r>
              <a:rPr lang="en-US" sz="1150" dirty="0">
                <a:solidFill>
                  <a:schemeClr val="tx2"/>
                </a:solidFill>
              </a:rPr>
              <a:t>Triangles</a:t>
            </a:r>
            <a:endParaRPr lang="en-US" sz="1150" dirty="0"/>
          </a:p>
        </p:txBody>
      </p:sp>
      <p:sp>
        <p:nvSpPr>
          <p:cNvPr id="92" name="bar-502"/>
          <p:cNvSpPr/>
          <p:nvPr/>
        </p:nvSpPr>
        <p:spPr>
          <a:xfrm>
            <a:off x="8659368" y="5352861"/>
            <a:ext cx="553395" cy="274393"/>
          </a:xfrm>
          <a:prstGeom prst="rect">
            <a:avLst/>
          </a:prstGeom>
          <a:solidFill>
            <a:schemeClr val="accent2"/>
          </a:solidFill>
          <a:ln/>
        </p:spPr>
      </p:sp>
      <p:sp>
        <p:nvSpPr>
          <p:cNvPr id="93" name="text-503"/>
          <p:cNvSpPr txBox="1"/>
          <p:nvPr/>
        </p:nvSpPr>
        <p:spPr>
          <a:xfrm>
            <a:off x="9285915" y="5268773"/>
            <a:ext cx="2430292" cy="442570"/>
          </a:xfrm>
          <a:prstGeom prst="rect">
            <a:avLst/>
          </a:prstGeom>
          <a:noFill/>
          <a:ln/>
        </p:spPr>
        <p:txBody>
          <a:bodyPr wrap="square" lIns="0" tIns="0" rIns="0" bIns="0" rtlCol="0" anchor="ctr"/>
          <a:lstStyle/>
          <a:p>
            <a:pPr indent="0" marL="0">
              <a:buNone/>
            </a:pPr>
            <a:r>
              <a:rPr lang="en-US" sz="1150" b="1" dirty="0">
                <a:solidFill>
                  <a:schemeClr val="tx1"/>
                </a:solidFill>
              </a:rPr>
              <a:t>40%  ·  7,962 of 20k</a:t>
            </a:r>
            <a:endParaRPr lang="en-US" sz="1150" dirty="0"/>
          </a:p>
        </p:txBody>
      </p:sp>
      <p:sp>
        <p:nvSpPr>
          <p:cNvPr id="94" name="text-504"/>
          <p:cNvSpPr txBox="1"/>
          <p:nvPr/>
        </p:nvSpPr>
        <p:spPr>
          <a:xfrm>
            <a:off x="7498080" y="5711342"/>
            <a:ext cx="1051560" cy="442570"/>
          </a:xfrm>
          <a:prstGeom prst="rect">
            <a:avLst/>
          </a:prstGeom>
          <a:noFill/>
          <a:ln/>
        </p:spPr>
        <p:txBody>
          <a:bodyPr wrap="square" lIns="0" tIns="0" rIns="0" bIns="0" rtlCol="0" anchor="ctr"/>
          <a:lstStyle/>
          <a:p>
            <a:pPr algn="r" indent="0" marL="0">
              <a:buNone/>
            </a:pPr>
            <a:r>
              <a:rPr lang="en-US" sz="1150" dirty="0">
                <a:solidFill>
                  <a:schemeClr val="tx2"/>
                </a:solidFill>
              </a:rPr>
              <a:t>Frame p95</a:t>
            </a:r>
            <a:endParaRPr lang="en-US" sz="1150" dirty="0"/>
          </a:p>
        </p:txBody>
      </p:sp>
      <p:sp>
        <p:nvSpPr>
          <p:cNvPr id="95" name="bar-505"/>
          <p:cNvSpPr/>
          <p:nvPr/>
        </p:nvSpPr>
        <p:spPr>
          <a:xfrm>
            <a:off x="8659368" y="5795431"/>
            <a:ext cx="249028" cy="274393"/>
          </a:xfrm>
          <a:prstGeom prst="rect">
            <a:avLst/>
          </a:prstGeom>
          <a:solidFill>
            <a:schemeClr val="accent2"/>
          </a:solidFill>
          <a:ln/>
        </p:spPr>
      </p:sp>
      <p:sp>
        <p:nvSpPr>
          <p:cNvPr id="96" name="text-506"/>
          <p:cNvSpPr txBox="1"/>
          <p:nvPr/>
        </p:nvSpPr>
        <p:spPr>
          <a:xfrm>
            <a:off x="8981548" y="5711342"/>
            <a:ext cx="2734660" cy="442570"/>
          </a:xfrm>
          <a:prstGeom prst="rect">
            <a:avLst/>
          </a:prstGeom>
          <a:noFill/>
          <a:ln/>
        </p:spPr>
        <p:txBody>
          <a:bodyPr wrap="square" lIns="0" tIns="0" rIns="0" bIns="0" rtlCol="0" anchor="ctr"/>
          <a:lstStyle/>
          <a:p>
            <a:pPr indent="0" marL="0">
              <a:buNone/>
            </a:pPr>
            <a:r>
              <a:rPr lang="en-US" sz="1150" b="1" dirty="0">
                <a:solidFill>
                  <a:schemeClr val="tx1"/>
                </a:solidFill>
              </a:rPr>
              <a:t>18%  ·  2.1 of 12 ms</a:t>
            </a:r>
            <a:endParaRPr lang="en-US" sz="1150" dirty="0"/>
          </a:p>
        </p:txBody>
      </p:sp>
      <p:sp>
        <p:nvSpPr>
          <p:cNvPr id="97" name="link-507"/>
          <p:cNvSpPr/>
          <p:nvPr/>
        </p:nvSpPr>
        <p:spPr>
          <a:xfrm>
            <a:off x="8659368" y="3941064"/>
            <a:ext cx="0" cy="2212848"/>
          </a:xfrm>
          <a:prstGeom prst="line">
            <a:avLst/>
          </a:prstGeom>
          <a:noFill/>
          <a:ln w="9525">
            <a:solidFill>
              <a:schemeClr val="accent6"/>
            </a:solidFill>
            <a:prstDash val="solid"/>
          </a:ln>
        </p:spPr>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CONTRACTS AND CONFORMANCE</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One contract package defines every queue, schema and file</a:t>
            </a:r>
            <a:endParaRPr lang="en-US" sz="2800" dirty="0"/>
          </a:p>
        </p:txBody>
      </p:sp>
      <p:sp>
        <p:nvSpPr>
          <p:cNvPr id="5" name="box-508"/>
          <p:cNvSpPr/>
          <p:nvPr/>
        </p:nvSpPr>
        <p:spPr>
          <a:xfrm>
            <a:off x="3611880" y="2514600"/>
            <a:ext cx="2743200" cy="2103120"/>
          </a:xfrm>
          <a:prstGeom prst="roundRect">
            <a:avLst>
              <a:gd name="adj" fmla="val 2609"/>
            </a:avLst>
          </a:prstGeom>
          <a:solidFill>
            <a:schemeClr val="tx1"/>
          </a:solidFill>
          <a:ln/>
        </p:spPr>
        <p:txBody>
          <a:bodyPr wrap="square" lIns="101600" tIns="38100" rIns="101600" bIns="38100" rtlCol="0" anchor="ctr"/>
          <a:lstStyle/>
          <a:p>
            <a:pPr algn="ctr" indent="0" marL="0">
              <a:buNone/>
            </a:pPr>
            <a:r>
              <a:rPr lang="en-US" sz="1800" b="1" dirty="0">
                <a:solidFill>
                  <a:schemeClr val="bg1"/>
                </a:solidFill>
              </a:rPr>
              <a:t>wega-contracts</a:t>
            </a:r>
            <a:endParaRPr lang="en-US" sz="1800" dirty="0"/>
          </a:p>
          <a:p>
            <a:pPr algn="ctr" indent="0" marL="0">
              <a:buNone/>
            </a:pPr>
            <a:r>
              <a:rPr lang="en-US" sz="1200" dirty="0">
                <a:solidFill>
                  <a:schemeClr val="accent5"/>
                </a:solidFill>
              </a:rPr>
              <a:t>10 JSON Schemas, topology, ids and paths, the commit protocol, PII log rules and the worker base</a:t>
            </a:r>
            <a:endParaRPr lang="en-US" sz="1800" dirty="0"/>
          </a:p>
        </p:txBody>
      </p:sp>
      <p:sp>
        <p:nvSpPr>
          <p:cNvPr id="6" name="box-509"/>
          <p:cNvSpPr/>
          <p:nvPr/>
        </p:nvSpPr>
        <p:spPr>
          <a:xfrm>
            <a:off x="548640" y="2606040"/>
            <a:ext cx="2514600" cy="731520"/>
          </a:xfrm>
          <a:prstGeom prst="roundRect">
            <a:avLst>
              <a:gd name="adj" fmla="val 7500"/>
            </a:avLst>
          </a:prstGeom>
          <a:solidFill>
            <a:schemeClr val="bg1"/>
          </a:solidFill>
          <a:ln w="12700">
            <a:solidFill>
              <a:schemeClr val="accent1"/>
            </a:solidFill>
          </a:ln>
        </p:spPr>
        <p:txBody>
          <a:bodyPr wrap="square" lIns="101600" tIns="38100" rIns="101600" bIns="38100" rtlCol="0" anchor="ctr"/>
          <a:lstStyle/>
          <a:p>
            <a:pPr algn="ctr" indent="0" marL="0">
              <a:buNone/>
            </a:pPr>
            <a:r>
              <a:rPr lang="en-US" sz="1350" b="1" dirty="0">
                <a:solidFill>
                  <a:schemeClr val="tx1"/>
                </a:solidFill>
              </a:rPr>
              <a:t>Orchestrator</a:t>
            </a:r>
            <a:endParaRPr lang="en-US" sz="1350" dirty="0"/>
          </a:p>
          <a:p>
            <a:pPr algn="ctr" indent="0" marL="0">
              <a:buNone/>
            </a:pPr>
            <a:r>
              <a:rPr lang="en-US" sz="1100" dirty="0">
                <a:solidFill>
                  <a:schemeClr val="tx2"/>
                </a:solidFill>
              </a:rPr>
              <a:t>owns the package</a:t>
            </a:r>
            <a:endParaRPr lang="en-US" sz="1350" dirty="0"/>
          </a:p>
        </p:txBody>
      </p:sp>
      <p:sp>
        <p:nvSpPr>
          <p:cNvPr id="7" name="link-510"/>
          <p:cNvSpPr/>
          <p:nvPr/>
        </p:nvSpPr>
        <p:spPr>
          <a:xfrm>
            <a:off x="3099816" y="2971800"/>
            <a:ext cx="475488" cy="0"/>
          </a:xfrm>
          <a:prstGeom prst="line">
            <a:avLst/>
          </a:prstGeom>
          <a:noFill/>
          <a:ln w="19050">
            <a:solidFill>
              <a:schemeClr val="accent1"/>
            </a:solidFill>
            <a:prstDash val="solid"/>
          </a:ln>
        </p:spPr>
      </p:sp>
      <p:sp>
        <p:nvSpPr>
          <p:cNvPr id="8" name="particle-511"/>
          <p:cNvSpPr/>
          <p:nvPr/>
        </p:nvSpPr>
        <p:spPr>
          <a:xfrm>
            <a:off x="3226308" y="2939796"/>
            <a:ext cx="64008" cy="64008"/>
          </a:xfrm>
          <a:prstGeom prst="ellipse">
            <a:avLst/>
          </a:prstGeom>
          <a:solidFill>
            <a:schemeClr val="accent1"/>
          </a:solidFill>
          <a:ln/>
        </p:spPr>
      </p:sp>
      <p:sp>
        <p:nvSpPr>
          <p:cNvPr id="9" name="particle-512"/>
          <p:cNvSpPr/>
          <p:nvPr/>
        </p:nvSpPr>
        <p:spPr>
          <a:xfrm>
            <a:off x="3384804" y="2939796"/>
            <a:ext cx="64008" cy="64008"/>
          </a:xfrm>
          <a:prstGeom prst="ellipse">
            <a:avLst/>
          </a:prstGeom>
          <a:solidFill>
            <a:schemeClr val="accent1"/>
          </a:solidFill>
          <a:ln/>
        </p:spPr>
      </p:sp>
      <p:sp>
        <p:nvSpPr>
          <p:cNvPr id="10" name="box-513"/>
          <p:cNvSpPr/>
          <p:nvPr/>
        </p:nvSpPr>
        <p:spPr>
          <a:xfrm>
            <a:off x="548640" y="3794760"/>
            <a:ext cx="2514600" cy="731520"/>
          </a:xfrm>
          <a:prstGeom prst="roundRect">
            <a:avLst>
              <a:gd name="adj" fmla="val 7500"/>
            </a:avLst>
          </a:prstGeom>
          <a:solidFill>
            <a:schemeClr val="bg1"/>
          </a:solidFill>
          <a:ln w="12700">
            <a:solidFill>
              <a:schemeClr val="accent1"/>
            </a:solidFill>
          </a:ln>
        </p:spPr>
        <p:txBody>
          <a:bodyPr wrap="square" lIns="101600" tIns="38100" rIns="101600" bIns="38100" rtlCol="0" anchor="ctr"/>
          <a:lstStyle/>
          <a:p>
            <a:pPr algn="ctr" indent="0" marL="0">
              <a:buNone/>
            </a:pPr>
            <a:r>
              <a:rPr lang="en-US" sz="1350" b="1" dirty="0">
                <a:solidFill>
                  <a:schemeClr val="tx1"/>
                </a:solidFill>
              </a:rPr>
              <a:t>Vision</a:t>
            </a:r>
            <a:endParaRPr lang="en-US" sz="1350" dirty="0"/>
          </a:p>
          <a:p>
            <a:pPr algn="ctr" indent="0" marL="0">
              <a:buNone/>
            </a:pPr>
            <a:r>
              <a:rPr lang="en-US" sz="1100" dirty="0">
                <a:solidFill>
                  <a:schemeClr val="tx2"/>
                </a:solidFill>
              </a:rPr>
              <a:t>vendored, digest-locked</a:t>
            </a:r>
            <a:endParaRPr lang="en-US" sz="1350" dirty="0"/>
          </a:p>
        </p:txBody>
      </p:sp>
      <p:sp>
        <p:nvSpPr>
          <p:cNvPr id="11" name="link-514"/>
          <p:cNvSpPr/>
          <p:nvPr/>
        </p:nvSpPr>
        <p:spPr>
          <a:xfrm>
            <a:off x="3099816" y="4160520"/>
            <a:ext cx="475488" cy="0"/>
          </a:xfrm>
          <a:prstGeom prst="line">
            <a:avLst/>
          </a:prstGeom>
          <a:noFill/>
          <a:ln w="19050">
            <a:solidFill>
              <a:schemeClr val="accent1"/>
            </a:solidFill>
            <a:prstDash val="solid"/>
          </a:ln>
        </p:spPr>
      </p:sp>
      <p:sp>
        <p:nvSpPr>
          <p:cNvPr id="12" name="particle-515"/>
          <p:cNvSpPr/>
          <p:nvPr/>
        </p:nvSpPr>
        <p:spPr>
          <a:xfrm>
            <a:off x="3226308" y="4128516"/>
            <a:ext cx="64008" cy="64008"/>
          </a:xfrm>
          <a:prstGeom prst="ellipse">
            <a:avLst/>
          </a:prstGeom>
          <a:solidFill>
            <a:schemeClr val="accent1"/>
          </a:solidFill>
          <a:ln/>
        </p:spPr>
      </p:sp>
      <p:sp>
        <p:nvSpPr>
          <p:cNvPr id="13" name="particle-516"/>
          <p:cNvSpPr/>
          <p:nvPr/>
        </p:nvSpPr>
        <p:spPr>
          <a:xfrm>
            <a:off x="3384804" y="4128516"/>
            <a:ext cx="64008" cy="64008"/>
          </a:xfrm>
          <a:prstGeom prst="ellipse">
            <a:avLst/>
          </a:prstGeom>
          <a:solidFill>
            <a:schemeClr val="accent1"/>
          </a:solidFill>
          <a:ln/>
        </p:spPr>
      </p:sp>
      <p:sp>
        <p:nvSpPr>
          <p:cNvPr id="14" name="box-517"/>
          <p:cNvSpPr/>
          <p:nvPr/>
        </p:nvSpPr>
        <p:spPr>
          <a:xfrm>
            <a:off x="6858000" y="2606040"/>
            <a:ext cx="2514600" cy="731520"/>
          </a:xfrm>
          <a:prstGeom prst="roundRect">
            <a:avLst>
              <a:gd name="adj" fmla="val 7500"/>
            </a:avLst>
          </a:prstGeom>
          <a:solidFill>
            <a:schemeClr val="bg1"/>
          </a:solidFill>
          <a:ln w="12700">
            <a:solidFill>
              <a:schemeClr val="accent1"/>
            </a:solidFill>
          </a:ln>
        </p:spPr>
        <p:txBody>
          <a:bodyPr wrap="square" lIns="101600" tIns="38100" rIns="101600" bIns="38100" rtlCol="0" anchor="ctr"/>
          <a:lstStyle/>
          <a:p>
            <a:pPr algn="ctr" indent="0" marL="0">
              <a:buNone/>
            </a:pPr>
            <a:r>
              <a:rPr lang="en-US" sz="1350" b="1" dirty="0">
                <a:solidFill>
                  <a:schemeClr val="tx1"/>
                </a:solidFill>
              </a:rPr>
              <a:t>Chunker</a:t>
            </a:r>
            <a:endParaRPr lang="en-US" sz="1350" dirty="0"/>
          </a:p>
          <a:p>
            <a:pPr algn="ctr" indent="0" marL="0">
              <a:buNone/>
            </a:pPr>
            <a:r>
              <a:rPr lang="en-US" sz="1100" dirty="0">
                <a:solidFill>
                  <a:schemeClr val="tx2"/>
                </a:solidFill>
              </a:rPr>
              <a:t>vendored, digest-locked</a:t>
            </a:r>
            <a:endParaRPr lang="en-US" sz="1350" dirty="0"/>
          </a:p>
        </p:txBody>
      </p:sp>
      <p:sp>
        <p:nvSpPr>
          <p:cNvPr id="15" name="link-518"/>
          <p:cNvSpPr/>
          <p:nvPr/>
        </p:nvSpPr>
        <p:spPr>
          <a:xfrm>
            <a:off x="6391656" y="2971800"/>
            <a:ext cx="429768" cy="0"/>
          </a:xfrm>
          <a:prstGeom prst="line">
            <a:avLst/>
          </a:prstGeom>
          <a:noFill/>
          <a:ln w="19050">
            <a:solidFill>
              <a:schemeClr val="accent1"/>
            </a:solidFill>
            <a:prstDash val="solid"/>
          </a:ln>
        </p:spPr>
      </p:sp>
      <p:sp>
        <p:nvSpPr>
          <p:cNvPr id="16" name="particle-519"/>
          <p:cNvSpPr/>
          <p:nvPr/>
        </p:nvSpPr>
        <p:spPr>
          <a:xfrm>
            <a:off x="6502908" y="2939796"/>
            <a:ext cx="64008" cy="64008"/>
          </a:xfrm>
          <a:prstGeom prst="ellipse">
            <a:avLst/>
          </a:prstGeom>
          <a:solidFill>
            <a:schemeClr val="accent1"/>
          </a:solidFill>
          <a:ln/>
        </p:spPr>
      </p:sp>
      <p:sp>
        <p:nvSpPr>
          <p:cNvPr id="17" name="particle-520"/>
          <p:cNvSpPr/>
          <p:nvPr/>
        </p:nvSpPr>
        <p:spPr>
          <a:xfrm>
            <a:off x="6646164" y="2939796"/>
            <a:ext cx="64008" cy="64008"/>
          </a:xfrm>
          <a:prstGeom prst="ellipse">
            <a:avLst/>
          </a:prstGeom>
          <a:solidFill>
            <a:schemeClr val="accent1"/>
          </a:solidFill>
          <a:ln/>
        </p:spPr>
      </p:sp>
      <p:sp>
        <p:nvSpPr>
          <p:cNvPr id="18" name="box-521"/>
          <p:cNvSpPr/>
          <p:nvPr/>
        </p:nvSpPr>
        <p:spPr>
          <a:xfrm>
            <a:off x="6858000" y="3794760"/>
            <a:ext cx="2514600" cy="731520"/>
          </a:xfrm>
          <a:prstGeom prst="roundRect">
            <a:avLst>
              <a:gd name="adj" fmla="val 7500"/>
            </a:avLst>
          </a:prstGeom>
          <a:solidFill>
            <a:schemeClr val="bg1"/>
          </a:solidFill>
          <a:ln w="12700">
            <a:solidFill>
              <a:schemeClr val="accent1"/>
            </a:solidFill>
          </a:ln>
        </p:spPr>
        <p:txBody>
          <a:bodyPr wrap="square" lIns="101600" tIns="38100" rIns="101600" bIns="38100" rtlCol="0" anchor="ctr"/>
          <a:lstStyle/>
          <a:p>
            <a:pPr algn="ctr" indent="0" marL="0">
              <a:buNone/>
            </a:pPr>
            <a:r>
              <a:rPr lang="en-US" sz="1350" b="1" dirty="0">
                <a:solidFill>
                  <a:schemeClr val="tx1"/>
                </a:solidFill>
              </a:rPr>
              <a:t>Embedder</a:t>
            </a:r>
            <a:endParaRPr lang="en-US" sz="1350" dirty="0"/>
          </a:p>
          <a:p>
            <a:pPr algn="ctr" indent="0" marL="0">
              <a:buNone/>
            </a:pPr>
            <a:r>
              <a:rPr lang="en-US" sz="1100" dirty="0">
                <a:solidFill>
                  <a:schemeClr val="tx2"/>
                </a:solidFill>
              </a:rPr>
              <a:t>vendored, digest-locked</a:t>
            </a:r>
            <a:endParaRPr lang="en-US" sz="1350" dirty="0"/>
          </a:p>
        </p:txBody>
      </p:sp>
      <p:sp>
        <p:nvSpPr>
          <p:cNvPr id="19" name="link-522"/>
          <p:cNvSpPr/>
          <p:nvPr/>
        </p:nvSpPr>
        <p:spPr>
          <a:xfrm>
            <a:off x="6391656" y="4160520"/>
            <a:ext cx="429768" cy="0"/>
          </a:xfrm>
          <a:prstGeom prst="line">
            <a:avLst/>
          </a:prstGeom>
          <a:noFill/>
          <a:ln w="19050">
            <a:solidFill>
              <a:schemeClr val="accent1"/>
            </a:solidFill>
            <a:prstDash val="solid"/>
          </a:ln>
        </p:spPr>
      </p:sp>
      <p:sp>
        <p:nvSpPr>
          <p:cNvPr id="20" name="particle-523"/>
          <p:cNvSpPr/>
          <p:nvPr/>
        </p:nvSpPr>
        <p:spPr>
          <a:xfrm>
            <a:off x="6502908" y="4128516"/>
            <a:ext cx="64008" cy="64008"/>
          </a:xfrm>
          <a:prstGeom prst="ellipse">
            <a:avLst/>
          </a:prstGeom>
          <a:solidFill>
            <a:schemeClr val="accent1"/>
          </a:solidFill>
          <a:ln/>
        </p:spPr>
      </p:sp>
      <p:sp>
        <p:nvSpPr>
          <p:cNvPr id="21" name="particle-524"/>
          <p:cNvSpPr/>
          <p:nvPr/>
        </p:nvSpPr>
        <p:spPr>
          <a:xfrm>
            <a:off x="6646164" y="4128516"/>
            <a:ext cx="64008" cy="64008"/>
          </a:xfrm>
          <a:prstGeom prst="ellipse">
            <a:avLst/>
          </a:prstGeom>
          <a:solidFill>
            <a:schemeClr val="accent1"/>
          </a:solidFill>
          <a:ln/>
        </p:spPr>
      </p:sp>
      <p:sp>
        <p:nvSpPr>
          <p:cNvPr id="22" name="text-525"/>
          <p:cNvSpPr txBox="1"/>
          <p:nvPr/>
        </p:nvSpPr>
        <p:spPr>
          <a:xfrm>
            <a:off x="548640" y="5074920"/>
            <a:ext cx="8961120" cy="548640"/>
          </a:xfrm>
          <a:prstGeom prst="rect">
            <a:avLst/>
          </a:prstGeom>
          <a:noFill/>
          <a:ln/>
        </p:spPr>
        <p:txBody>
          <a:bodyPr wrap="square" lIns="0" tIns="0" rIns="0" bIns="0" rtlCol="0" anchor="t"/>
          <a:lstStyle/>
          <a:p>
            <a:pPr indent="0" marL="0">
              <a:buNone/>
            </a:pPr>
            <a:r>
              <a:rPr lang="en-US" sz="1250" dirty="0">
                <a:solidFill>
                  <a:schemeClr val="tx2"/>
                </a:solidFill>
              </a:rPr>
              <a:t>Versioning: an optional field is a minor change; removing or renaming is a major one, with v1 kept for at least 90 days. Readers ignore unknown fields.</a:t>
            </a:r>
            <a:endParaRPr lang="en-US" sz="1250" dirty="0"/>
          </a:p>
        </p:txBody>
      </p:sp>
      <p:sp>
        <p:nvSpPr>
          <p:cNvPr id="23" name="stat-526"/>
          <p:cNvSpPr txBox="1"/>
          <p:nvPr/>
        </p:nvSpPr>
        <p:spPr>
          <a:xfrm>
            <a:off x="9829800" y="1691640"/>
            <a:ext cx="1813255" cy="1371600"/>
          </a:xfrm>
          <a:prstGeom prst="rect">
            <a:avLst/>
          </a:prstGeom>
          <a:noFill/>
          <a:ln/>
        </p:spPr>
        <p:txBody>
          <a:bodyPr wrap="square" lIns="0" tIns="0" rIns="0" bIns="0" rtlCol="0" anchor="t"/>
          <a:lstStyle/>
          <a:p>
            <a:pPr algn="l" indent="0" marL="0">
              <a:buNone/>
            </a:pPr>
            <a:r>
              <a:rPr lang="en-US" sz="3400" b="1" dirty="0">
                <a:solidFill>
                  <a:schemeClr val="accent2"/>
                </a:solidFill>
                <a:latin typeface="Arial" pitchFamily="34" charset="0"/>
                <a:ea typeface="Arial" pitchFamily="34" charset="-122"/>
                <a:cs typeface="Arial" pitchFamily="34" charset="-120"/>
              </a:rPr>
              <a:t>34</a:t>
            </a:r>
            <a:endParaRPr lang="en-US" sz="3400" dirty="0"/>
          </a:p>
          <a:p>
            <a:pPr algn="l" indent="0" marL="0">
              <a:buNone/>
            </a:pPr>
            <a:r>
              <a:rPr lang="en-US" sz="1200" dirty="0">
                <a:solidFill>
                  <a:schemeClr val="tx2"/>
                </a:solidFill>
              </a:rPr>
              <a:t>conformance checks gate every worker release</a:t>
            </a:r>
            <a:endParaRPr lang="en-US" sz="3400" dirty="0"/>
          </a:p>
        </p:txBody>
      </p:sp>
      <p:sp>
        <p:nvSpPr>
          <p:cNvPr id="24" name="stat-527"/>
          <p:cNvSpPr txBox="1"/>
          <p:nvPr/>
        </p:nvSpPr>
        <p:spPr>
          <a:xfrm>
            <a:off x="9829800" y="3172968"/>
            <a:ext cx="1813255" cy="1371600"/>
          </a:xfrm>
          <a:prstGeom prst="rect">
            <a:avLst/>
          </a:prstGeom>
          <a:noFill/>
          <a:ln/>
        </p:spPr>
        <p:txBody>
          <a:bodyPr wrap="square" lIns="0" tIns="0" rIns="0" bIns="0" rtlCol="0" anchor="t"/>
          <a:lstStyle/>
          <a:p>
            <a:pPr algn="l" indent="0" marL="0">
              <a:buNone/>
            </a:pPr>
            <a:r>
              <a:rPr lang="en-US" sz="3400" b="1" dirty="0">
                <a:solidFill>
                  <a:schemeClr val="accent2"/>
                </a:solidFill>
                <a:latin typeface="Arial" pitchFamily="34" charset="0"/>
                <a:ea typeface="Arial" pitchFamily="34" charset="-122"/>
                <a:cs typeface="Arial" pitchFamily="34" charset="-120"/>
              </a:rPr>
              <a:t>8</a:t>
            </a:r>
            <a:endParaRPr lang="en-US" sz="3400" dirty="0"/>
          </a:p>
          <a:p>
            <a:pPr algn="l" indent="0" marL="0">
              <a:buNone/>
            </a:pPr>
            <a:r>
              <a:rPr lang="en-US" sz="1200" dirty="0">
                <a:solidFill>
                  <a:schemeClr val="tx2"/>
                </a:solidFill>
              </a:rPr>
              <a:t>checks proven to bite on an injected fault</a:t>
            </a:r>
            <a:endParaRPr lang="en-US" sz="3400" dirty="0"/>
          </a:p>
        </p:txBody>
      </p:sp>
      <p:sp>
        <p:nvSpPr>
          <p:cNvPr id="25" name="stat-528"/>
          <p:cNvSpPr txBox="1"/>
          <p:nvPr/>
        </p:nvSpPr>
        <p:spPr>
          <a:xfrm>
            <a:off x="9829800" y="4654296"/>
            <a:ext cx="1813255" cy="1371600"/>
          </a:xfrm>
          <a:prstGeom prst="rect">
            <a:avLst/>
          </a:prstGeom>
          <a:noFill/>
          <a:ln/>
        </p:spPr>
        <p:txBody>
          <a:bodyPr wrap="square" lIns="0" tIns="0" rIns="0" bIns="0" rtlCol="0" anchor="t"/>
          <a:lstStyle/>
          <a:p>
            <a:pPr algn="l" indent="0" marL="0">
              <a:buNone/>
            </a:pPr>
            <a:r>
              <a:rPr lang="en-US" sz="3400" b="1" dirty="0">
                <a:solidFill>
                  <a:schemeClr val="accent2"/>
                </a:solidFill>
                <a:latin typeface="Arial" pitchFamily="34" charset="0"/>
                <a:ea typeface="Arial" pitchFamily="34" charset="-122"/>
                <a:cs typeface="Arial" pitchFamily="34" charset="-120"/>
              </a:rPr>
              <a:t>366</a:t>
            </a:r>
            <a:endParaRPr lang="en-US" sz="3400" dirty="0"/>
          </a:p>
          <a:p>
            <a:pPr algn="l" indent="0" marL="0">
              <a:buNone/>
            </a:pPr>
            <a:r>
              <a:rPr lang="en-US" sz="1200" dirty="0">
                <a:solidFill>
                  <a:schemeClr val="tx2"/>
                </a:solidFill>
              </a:rPr>
              <a:t>parity tests tie spec, code, manifests, alerts and runbooks</a:t>
            </a:r>
            <a:endParaRPr lang="en-US" sz="3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2743200" cy="1143000"/>
          </a:xfrm>
          <a:prstGeom prst="rect">
            <a:avLst/>
          </a:prstGeom>
          <a:noFill/>
          <a:ln/>
        </p:spPr>
        <p:txBody>
          <a:bodyPr wrap="square" lIns="0" tIns="0" rIns="0" bIns="0" rtlCol="0" anchor="b"/>
          <a:lstStyle/>
          <a:p>
            <a:pPr algn="l" indent="0" marL="0">
              <a:buNone/>
            </a:pPr>
            <a:r>
              <a:rPr lang="en-US" sz="7200" b="1" dirty="0">
                <a:solidFill>
                  <a:schemeClr val="accent1"/>
                </a:solidFill>
              </a:rPr>
              <a:t>03</a:t>
            </a:r>
            <a:endParaRPr lang="en-US" sz="7200" dirty="0"/>
          </a:p>
        </p:txBody>
      </p:sp>
      <p:sp>
        <p:nvSpPr>
          <p:cNvPr id="3" name="Text 0"/>
          <p:cNvSpPr/>
          <p:nvPr>
            <p:ph idx="101" type="title" hasCustomPrompt="1"/>
          </p:nvPr>
        </p:nvSpPr>
        <p:spPr>
          <a:xfrm>
            <a:off x="731520" y="2697480"/>
            <a:ext cx="7498080" cy="1234440"/>
          </a:xfrm>
          <a:prstGeom prst="rect">
            <a:avLst/>
          </a:prstGeom>
          <a:noFill/>
          <a:ln/>
        </p:spPr>
        <p:txBody>
          <a:bodyPr wrap="square" lIns="0" tIns="0" rIns="0" bIns="0" rtlCol="0" anchor="t"/>
          <a:lstStyle/>
          <a:p>
            <a:pPr algn="l" indent="0" marL="0">
              <a:buNone/>
            </a:pPr>
            <a:r>
              <a:rPr lang="en-US" sz="3800" b="1" dirty="0">
                <a:solidFill>
                  <a:schemeClr val="bg1"/>
                </a:solidFill>
              </a:rPr>
              <a:t>Proof and next steps</a:t>
            </a:r>
            <a:endParaRPr lang="en-US" sz="3800" dirty="0"/>
          </a:p>
        </p:txBody>
      </p:sp>
      <p:sp>
        <p:nvSpPr>
          <p:cNvPr id="4" name="Text 0"/>
          <p:cNvSpPr/>
          <p:nvPr>
            <p:ph idx="102" type="body" hasCustomPrompt="1"/>
          </p:nvPr>
        </p:nvSpPr>
        <p:spPr>
          <a:xfrm>
            <a:off x="731520" y="4069080"/>
            <a:ext cx="7498080" cy="1188720"/>
          </a:xfrm>
          <a:prstGeom prst="rect">
            <a:avLst/>
          </a:prstGeom>
          <a:noFill/>
          <a:ln/>
        </p:spPr>
        <p:txBody>
          <a:bodyPr wrap="square" lIns="0" tIns="0" rIns="0" bIns="0" rtlCol="0" anchor="t"/>
          <a:lstStyle/>
          <a:p>
            <a:pPr algn="l" indent="0" marL="0">
              <a:buNone/>
            </a:pPr>
            <a:r>
              <a:rPr lang="en-US" sz="1800" dirty="0">
                <a:solidFill>
                  <a:schemeClr val="accent5"/>
                </a:solidFill>
              </a:rPr>
              <a:t>What has been verified, what a cluster still has to prove, and the decisions that unlock 100,000 documents a day.</a:t>
            </a:r>
            <a:endParaRPr lang="en-US" sz="1800" dirty="0"/>
          </a:p>
        </p:txBody>
      </p:sp>
      <p:pic>
        <p:nvPicPr>
          <p:cNvPr id="6" name="icon-TbRoute-529" descr="Route">    </p:cNvPr>
          <p:cNvPicPr>
            <a:picLocks noChangeAspect="1"/>
          </p:cNvPicPr>
          <p:nvPr/>
        </p:nvPicPr>
        <p:blipFill>
          <a:blip r:embed="rId1"/>
          <a:stretch>
            <a:fillRect/>
          </a:stretch>
        </p:blipFill>
        <p:spPr>
          <a:xfrm>
            <a:off x="8961120" y="2286000"/>
            <a:ext cx="1828800" cy="1828800"/>
          </a:xfrm>
          <a:prstGeom prst="rect">
            <a:avLst/>
          </a:prstGeom>
        </p:spPr>
      </p:pic>
      <p:sp>
        <p:nvSpPr>
          <p:cNvPr id="7" name="section-frame-530"/>
          <p:cNvSpPr/>
          <p:nvPr/>
        </p:nvSpPr>
        <p:spPr>
          <a:xfrm>
            <a:off x="8549640" y="1874520"/>
            <a:ext cx="2651760" cy="2651760"/>
          </a:xfrm>
          <a:prstGeom prst="roundRect">
            <a:avLst>
              <a:gd name="adj" fmla="val 6897"/>
            </a:avLst>
          </a:prstGeom>
          <a:solidFill>
            <a:schemeClr val="bg1">
              <a:alpha val="6000"/>
            </a:schemeClr>
          </a:solidFill>
          <a:ln w="19050">
            <a:solidFill>
              <a:schemeClr val="accent1"/>
            </a:solidFill>
            <a:prstDash val="solid"/>
          </a:ln>
        </p:spPr>
      </p:sp>
      <p:sp>
        <p:nvSpPr>
          <p:cNvPr id="8" name="link-531"/>
          <p:cNvSpPr/>
          <p:nvPr/>
        </p:nvSpPr>
        <p:spPr>
          <a:xfrm>
            <a:off x="8549640" y="4846320"/>
            <a:ext cx="2651760" cy="0"/>
          </a:xfrm>
          <a:prstGeom prst="line">
            <a:avLst/>
          </a:prstGeom>
          <a:noFill/>
          <a:ln w="22225">
            <a:solidFill>
              <a:schemeClr val="accent1"/>
            </a:solidFill>
            <a:prstDash val="solid"/>
            <a:tailEnd type="triangle"/>
          </a:ln>
        </p:spPr>
      </p:sp>
      <p:sp>
        <p:nvSpPr>
          <p:cNvPr id="9" name="particle-532"/>
          <p:cNvSpPr/>
          <p:nvPr/>
        </p:nvSpPr>
        <p:spPr>
          <a:xfrm>
            <a:off x="8959596" y="4814316"/>
            <a:ext cx="64008" cy="64008"/>
          </a:xfrm>
          <a:prstGeom prst="ellipse">
            <a:avLst/>
          </a:prstGeom>
          <a:solidFill>
            <a:schemeClr val="accent1"/>
          </a:solidFill>
          <a:ln/>
        </p:spPr>
      </p:sp>
      <p:sp>
        <p:nvSpPr>
          <p:cNvPr id="10" name="particle-533"/>
          <p:cNvSpPr/>
          <p:nvPr/>
        </p:nvSpPr>
        <p:spPr>
          <a:xfrm>
            <a:off x="9401556" y="4814316"/>
            <a:ext cx="64008" cy="64008"/>
          </a:xfrm>
          <a:prstGeom prst="ellipse">
            <a:avLst/>
          </a:prstGeom>
          <a:solidFill>
            <a:schemeClr val="accent1"/>
          </a:solidFill>
          <a:ln/>
        </p:spPr>
      </p:sp>
      <p:sp>
        <p:nvSpPr>
          <p:cNvPr id="11" name="particle-534"/>
          <p:cNvSpPr/>
          <p:nvPr/>
        </p:nvSpPr>
        <p:spPr>
          <a:xfrm>
            <a:off x="9843516" y="4814316"/>
            <a:ext cx="64008" cy="64008"/>
          </a:xfrm>
          <a:prstGeom prst="ellipse">
            <a:avLst/>
          </a:prstGeom>
          <a:solidFill>
            <a:schemeClr val="accent1"/>
          </a:solidFill>
          <a:ln/>
        </p:spPr>
      </p:sp>
      <p:sp>
        <p:nvSpPr>
          <p:cNvPr id="12" name="particle-535"/>
          <p:cNvSpPr/>
          <p:nvPr/>
        </p:nvSpPr>
        <p:spPr>
          <a:xfrm>
            <a:off x="10285476" y="4814316"/>
            <a:ext cx="64008" cy="64008"/>
          </a:xfrm>
          <a:prstGeom prst="ellipse">
            <a:avLst/>
          </a:prstGeom>
          <a:solidFill>
            <a:schemeClr val="accent1"/>
          </a:solidFill>
          <a:ln/>
        </p:spPr>
      </p:sp>
      <p:sp>
        <p:nvSpPr>
          <p:cNvPr id="13" name="particle-536"/>
          <p:cNvSpPr/>
          <p:nvPr/>
        </p:nvSpPr>
        <p:spPr>
          <a:xfrm>
            <a:off x="10727436" y="4814316"/>
            <a:ext cx="64008" cy="64008"/>
          </a:xfrm>
          <a:prstGeom prst="ellipse">
            <a:avLst/>
          </a:prstGeom>
          <a:solidFill>
            <a:schemeClr val="accent1"/>
          </a:solidFill>
          <a:ln/>
        </p:spPr>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DELIVERY</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Spec first, then 29 work packages, in under three weeks</a:t>
            </a:r>
            <a:endParaRPr lang="en-US" sz="2800" dirty="0"/>
          </a:p>
        </p:txBody>
      </p:sp>
      <p:sp>
        <p:nvSpPr>
          <p:cNvPr id="5" name="link-537"/>
          <p:cNvSpPr/>
          <p:nvPr/>
        </p:nvSpPr>
        <p:spPr>
          <a:xfrm>
            <a:off x="548640" y="2514600"/>
            <a:ext cx="11094415" cy="0"/>
          </a:xfrm>
          <a:prstGeom prst="line">
            <a:avLst/>
          </a:prstGeom>
          <a:noFill/>
          <a:ln w="25400">
            <a:solidFill>
              <a:schemeClr val="accent1"/>
            </a:solidFill>
            <a:prstDash val="solid"/>
          </a:ln>
        </p:spPr>
      </p:sp>
      <p:sp>
        <p:nvSpPr>
          <p:cNvPr id="6" name="milestone-538"/>
          <p:cNvSpPr/>
          <p:nvPr/>
        </p:nvSpPr>
        <p:spPr>
          <a:xfrm>
            <a:off x="1222226" y="2395728"/>
            <a:ext cx="237744" cy="237744"/>
          </a:xfrm>
          <a:prstGeom prst="ellipse">
            <a:avLst/>
          </a:prstGeom>
          <a:solidFill>
            <a:schemeClr val="accent1"/>
          </a:solidFill>
          <a:ln w="25400">
            <a:solidFill>
              <a:schemeClr val="bg2"/>
            </a:solidFill>
            <a:prstDash val="solid"/>
          </a:ln>
        </p:spPr>
      </p:sp>
      <p:sp>
        <p:nvSpPr>
          <p:cNvPr id="7" name="text-539"/>
          <p:cNvSpPr txBox="1"/>
          <p:nvPr/>
        </p:nvSpPr>
        <p:spPr>
          <a:xfrm>
            <a:off x="548640" y="1856232"/>
            <a:ext cx="1584916" cy="310896"/>
          </a:xfrm>
          <a:prstGeom prst="rect">
            <a:avLst/>
          </a:prstGeom>
          <a:noFill/>
          <a:ln/>
        </p:spPr>
        <p:txBody>
          <a:bodyPr wrap="square" lIns="0" tIns="0" rIns="0" bIns="0" rtlCol="0" anchor="t"/>
          <a:lstStyle/>
          <a:p>
            <a:pPr algn="ctr" indent="0" marL="0">
              <a:buNone/>
            </a:pPr>
            <a:r>
              <a:rPr lang="en-US" sz="1300" b="1" dirty="0">
                <a:solidFill>
                  <a:schemeClr val="accent2"/>
                </a:solidFill>
              </a:rPr>
              <a:t>15 Sep</a:t>
            </a:r>
            <a:endParaRPr lang="en-US" sz="1300" dirty="0"/>
          </a:p>
        </p:txBody>
      </p:sp>
      <p:sp>
        <p:nvSpPr>
          <p:cNvPr id="8" name="text-540"/>
          <p:cNvSpPr txBox="1"/>
          <p:nvPr/>
        </p:nvSpPr>
        <p:spPr>
          <a:xfrm>
            <a:off x="594360" y="2770632"/>
            <a:ext cx="1493476" cy="457200"/>
          </a:xfrm>
          <a:prstGeom prst="rect">
            <a:avLst/>
          </a:prstGeom>
          <a:noFill/>
          <a:ln/>
        </p:spPr>
        <p:txBody>
          <a:bodyPr wrap="square" lIns="0" tIns="0" rIns="0" bIns="0" rtlCol="0" anchor="t"/>
          <a:lstStyle/>
          <a:p>
            <a:pPr algn="ctr" indent="0" marL="0">
              <a:buNone/>
            </a:pPr>
            <a:r>
              <a:rPr lang="en-US" sz="1300" b="1" dirty="0">
                <a:solidFill>
                  <a:schemeClr val="tx1"/>
                </a:solidFill>
              </a:rPr>
              <a:t>Spec baseline</a:t>
            </a:r>
            <a:endParaRPr lang="en-US" sz="1300" dirty="0"/>
          </a:p>
        </p:txBody>
      </p:sp>
      <p:sp>
        <p:nvSpPr>
          <p:cNvPr id="9" name="text-541"/>
          <p:cNvSpPr txBox="1"/>
          <p:nvPr/>
        </p:nvSpPr>
        <p:spPr>
          <a:xfrm>
            <a:off x="640080" y="3246120"/>
            <a:ext cx="1402036" cy="868680"/>
          </a:xfrm>
          <a:prstGeom prst="rect">
            <a:avLst/>
          </a:prstGeom>
          <a:noFill/>
          <a:ln/>
        </p:spPr>
        <p:txBody>
          <a:bodyPr wrap="square" lIns="0" tIns="0" rIns="0" bIns="0" rtlCol="0" anchor="t"/>
          <a:lstStyle/>
          <a:p>
            <a:pPr algn="ctr" indent="0" marL="0">
              <a:buNone/>
            </a:pPr>
            <a:r>
              <a:rPr lang="en-US" sz="1150" dirty="0">
                <a:solidFill>
                  <a:schemeClr val="tx2"/>
                </a:solidFill>
              </a:rPr>
              <a:t>5 drafts, 4 judge reports, 53 gaps closed</a:t>
            </a:r>
            <a:endParaRPr lang="en-US" sz="1150" dirty="0"/>
          </a:p>
        </p:txBody>
      </p:sp>
      <p:sp>
        <p:nvSpPr>
          <p:cNvPr id="10" name="milestone-542"/>
          <p:cNvSpPr/>
          <p:nvPr/>
        </p:nvSpPr>
        <p:spPr>
          <a:xfrm>
            <a:off x="2807143" y="2395728"/>
            <a:ext cx="237744" cy="237744"/>
          </a:xfrm>
          <a:prstGeom prst="ellipse">
            <a:avLst/>
          </a:prstGeom>
          <a:solidFill>
            <a:schemeClr val="accent1"/>
          </a:solidFill>
          <a:ln w="25400">
            <a:solidFill>
              <a:schemeClr val="bg2"/>
            </a:solidFill>
            <a:prstDash val="solid"/>
          </a:ln>
        </p:spPr>
      </p:sp>
      <p:sp>
        <p:nvSpPr>
          <p:cNvPr id="11" name="text-543"/>
          <p:cNvSpPr txBox="1"/>
          <p:nvPr/>
        </p:nvSpPr>
        <p:spPr>
          <a:xfrm>
            <a:off x="2133556" y="1856232"/>
            <a:ext cx="1584916" cy="310896"/>
          </a:xfrm>
          <a:prstGeom prst="rect">
            <a:avLst/>
          </a:prstGeom>
          <a:noFill/>
          <a:ln/>
        </p:spPr>
        <p:txBody>
          <a:bodyPr wrap="square" lIns="0" tIns="0" rIns="0" bIns="0" rtlCol="0" anchor="t"/>
          <a:lstStyle/>
          <a:p>
            <a:pPr algn="ctr" indent="0" marL="0">
              <a:buNone/>
            </a:pPr>
            <a:r>
              <a:rPr lang="en-US" sz="1300" b="1" dirty="0">
                <a:solidFill>
                  <a:schemeClr val="accent2"/>
                </a:solidFill>
              </a:rPr>
              <a:t>16 Sep</a:t>
            </a:r>
            <a:endParaRPr lang="en-US" sz="1300" dirty="0"/>
          </a:p>
        </p:txBody>
      </p:sp>
      <p:sp>
        <p:nvSpPr>
          <p:cNvPr id="12" name="text-544"/>
          <p:cNvSpPr txBox="1"/>
          <p:nvPr/>
        </p:nvSpPr>
        <p:spPr>
          <a:xfrm>
            <a:off x="2179276" y="2770632"/>
            <a:ext cx="1493476" cy="457200"/>
          </a:xfrm>
          <a:prstGeom prst="rect">
            <a:avLst/>
          </a:prstGeom>
          <a:noFill/>
          <a:ln/>
        </p:spPr>
        <p:txBody>
          <a:bodyPr wrap="square" lIns="0" tIns="0" rIns="0" bIns="0" rtlCol="0" anchor="t"/>
          <a:lstStyle/>
          <a:p>
            <a:pPr algn="ctr" indent="0" marL="0">
              <a:buNone/>
            </a:pPr>
            <a:r>
              <a:rPr lang="en-US" sz="1300" b="1" dirty="0">
                <a:solidFill>
                  <a:schemeClr val="tx1"/>
                </a:solidFill>
              </a:rPr>
              <a:t>Interfaces frozen</a:t>
            </a:r>
            <a:endParaRPr lang="en-US" sz="1300" dirty="0"/>
          </a:p>
        </p:txBody>
      </p:sp>
      <p:sp>
        <p:nvSpPr>
          <p:cNvPr id="13" name="text-545"/>
          <p:cNvSpPr txBox="1"/>
          <p:nvPr/>
        </p:nvSpPr>
        <p:spPr>
          <a:xfrm>
            <a:off x="2224996" y="3246120"/>
            <a:ext cx="1402036" cy="868680"/>
          </a:xfrm>
          <a:prstGeom prst="rect">
            <a:avLst/>
          </a:prstGeom>
          <a:noFill/>
          <a:ln/>
        </p:spPr>
        <p:txBody>
          <a:bodyPr wrap="square" lIns="0" tIns="0" rIns="0" bIns="0" rtlCol="0" anchor="t"/>
          <a:lstStyle/>
          <a:p>
            <a:pPr algn="ctr" indent="0" marL="0">
              <a:buNone/>
            </a:pPr>
            <a:r>
              <a:rPr lang="en-US" sz="1150" dirty="0">
                <a:solidFill>
                  <a:schemeClr val="tx2"/>
                </a:solidFill>
              </a:rPr>
              <a:t>contracts, migrations, state machine</a:t>
            </a:r>
            <a:endParaRPr lang="en-US" sz="1150" dirty="0"/>
          </a:p>
        </p:txBody>
      </p:sp>
      <p:sp>
        <p:nvSpPr>
          <p:cNvPr id="14" name="milestone-546"/>
          <p:cNvSpPr/>
          <p:nvPr/>
        </p:nvSpPr>
        <p:spPr>
          <a:xfrm>
            <a:off x="4392059" y="2395728"/>
            <a:ext cx="237744" cy="237744"/>
          </a:xfrm>
          <a:prstGeom prst="ellipse">
            <a:avLst/>
          </a:prstGeom>
          <a:solidFill>
            <a:schemeClr val="accent1"/>
          </a:solidFill>
          <a:ln w="25400">
            <a:solidFill>
              <a:schemeClr val="bg2"/>
            </a:solidFill>
            <a:prstDash val="solid"/>
          </a:ln>
        </p:spPr>
      </p:sp>
      <p:sp>
        <p:nvSpPr>
          <p:cNvPr id="15" name="text-547"/>
          <p:cNvSpPr txBox="1"/>
          <p:nvPr/>
        </p:nvSpPr>
        <p:spPr>
          <a:xfrm>
            <a:off x="3718473" y="1856232"/>
            <a:ext cx="1584916" cy="310896"/>
          </a:xfrm>
          <a:prstGeom prst="rect">
            <a:avLst/>
          </a:prstGeom>
          <a:noFill/>
          <a:ln/>
        </p:spPr>
        <p:txBody>
          <a:bodyPr wrap="square" lIns="0" tIns="0" rIns="0" bIns="0" rtlCol="0" anchor="t"/>
          <a:lstStyle/>
          <a:p>
            <a:pPr algn="ctr" indent="0" marL="0">
              <a:buNone/>
            </a:pPr>
            <a:r>
              <a:rPr lang="en-US" sz="1300" b="1" dirty="0">
                <a:solidFill>
                  <a:schemeClr val="accent2"/>
                </a:solidFill>
              </a:rPr>
              <a:t>17 Sep</a:t>
            </a:r>
            <a:endParaRPr lang="en-US" sz="1300" dirty="0"/>
          </a:p>
        </p:txBody>
      </p:sp>
      <p:sp>
        <p:nvSpPr>
          <p:cNvPr id="16" name="text-548"/>
          <p:cNvSpPr txBox="1"/>
          <p:nvPr/>
        </p:nvSpPr>
        <p:spPr>
          <a:xfrm>
            <a:off x="3764193" y="2770632"/>
            <a:ext cx="1493476" cy="457200"/>
          </a:xfrm>
          <a:prstGeom prst="rect">
            <a:avLst/>
          </a:prstGeom>
          <a:noFill/>
          <a:ln/>
        </p:spPr>
        <p:txBody>
          <a:bodyPr wrap="square" lIns="0" tIns="0" rIns="0" bIns="0" rtlCol="0" anchor="t"/>
          <a:lstStyle/>
          <a:p>
            <a:pPr algn="ctr" indent="0" marL="0">
              <a:buNone/>
            </a:pPr>
            <a:r>
              <a:rPr lang="en-US" sz="1300" b="1" dirty="0">
                <a:solidFill>
                  <a:schemeClr val="tx1"/>
                </a:solidFill>
              </a:rPr>
              <a:t>Infrastructure</a:t>
            </a:r>
            <a:endParaRPr lang="en-US" sz="1300" dirty="0"/>
          </a:p>
        </p:txBody>
      </p:sp>
      <p:sp>
        <p:nvSpPr>
          <p:cNvPr id="17" name="text-549"/>
          <p:cNvSpPr txBox="1"/>
          <p:nvPr/>
        </p:nvSpPr>
        <p:spPr>
          <a:xfrm>
            <a:off x="3809913" y="3246120"/>
            <a:ext cx="1402036" cy="868680"/>
          </a:xfrm>
          <a:prstGeom prst="rect">
            <a:avLst/>
          </a:prstGeom>
          <a:noFill/>
          <a:ln/>
        </p:spPr>
        <p:txBody>
          <a:bodyPr wrap="square" lIns="0" tIns="0" rIns="0" bIns="0" rtlCol="0" anchor="t"/>
          <a:lstStyle/>
          <a:p>
            <a:pPr algn="ctr" indent="0" marL="0">
              <a:buNone/>
            </a:pPr>
            <a:r>
              <a:rPr lang="en-US" sz="1150" dirty="0">
                <a:solidFill>
                  <a:schemeClr val="tx2"/>
                </a:solidFill>
              </a:rPr>
              <a:t>compose stack, Oracle, topology, simulator</a:t>
            </a:r>
            <a:endParaRPr lang="en-US" sz="1150" dirty="0"/>
          </a:p>
        </p:txBody>
      </p:sp>
      <p:sp>
        <p:nvSpPr>
          <p:cNvPr id="18" name="milestone-550"/>
          <p:cNvSpPr/>
          <p:nvPr/>
        </p:nvSpPr>
        <p:spPr>
          <a:xfrm>
            <a:off x="5976976" y="2395728"/>
            <a:ext cx="237744" cy="237744"/>
          </a:xfrm>
          <a:prstGeom prst="ellipse">
            <a:avLst/>
          </a:prstGeom>
          <a:solidFill>
            <a:schemeClr val="accent1"/>
          </a:solidFill>
          <a:ln w="25400">
            <a:solidFill>
              <a:schemeClr val="bg2"/>
            </a:solidFill>
            <a:prstDash val="solid"/>
          </a:ln>
        </p:spPr>
      </p:sp>
      <p:sp>
        <p:nvSpPr>
          <p:cNvPr id="19" name="text-551"/>
          <p:cNvSpPr txBox="1"/>
          <p:nvPr/>
        </p:nvSpPr>
        <p:spPr>
          <a:xfrm>
            <a:off x="5303389" y="1856232"/>
            <a:ext cx="1584916" cy="310896"/>
          </a:xfrm>
          <a:prstGeom prst="rect">
            <a:avLst/>
          </a:prstGeom>
          <a:noFill/>
          <a:ln/>
        </p:spPr>
        <p:txBody>
          <a:bodyPr wrap="square" lIns="0" tIns="0" rIns="0" bIns="0" rtlCol="0" anchor="t"/>
          <a:lstStyle/>
          <a:p>
            <a:pPr algn="ctr" indent="0" marL="0">
              <a:buNone/>
            </a:pPr>
            <a:r>
              <a:rPr lang="en-US" sz="1300" b="1" dirty="0">
                <a:solidFill>
                  <a:schemeClr val="accent2"/>
                </a:solidFill>
              </a:rPr>
              <a:t>20 Sep</a:t>
            </a:r>
            <a:endParaRPr lang="en-US" sz="1300" dirty="0"/>
          </a:p>
        </p:txBody>
      </p:sp>
      <p:sp>
        <p:nvSpPr>
          <p:cNvPr id="20" name="text-552"/>
          <p:cNvSpPr txBox="1"/>
          <p:nvPr/>
        </p:nvSpPr>
        <p:spPr>
          <a:xfrm>
            <a:off x="5349109" y="2770632"/>
            <a:ext cx="1493476" cy="457200"/>
          </a:xfrm>
          <a:prstGeom prst="rect">
            <a:avLst/>
          </a:prstGeom>
          <a:noFill/>
          <a:ln/>
        </p:spPr>
        <p:txBody>
          <a:bodyPr wrap="square" lIns="0" tIns="0" rIns="0" bIns="0" rtlCol="0" anchor="t"/>
          <a:lstStyle/>
          <a:p>
            <a:pPr algn="ctr" indent="0" marL="0">
              <a:buNone/>
            </a:pPr>
            <a:r>
              <a:rPr lang="en-US" sz="1300" b="1" dirty="0">
                <a:solidFill>
                  <a:schemeClr val="tx1"/>
                </a:solidFill>
              </a:rPr>
              <a:t>Core roles</a:t>
            </a:r>
            <a:endParaRPr lang="en-US" sz="1300" dirty="0"/>
          </a:p>
        </p:txBody>
      </p:sp>
      <p:sp>
        <p:nvSpPr>
          <p:cNvPr id="21" name="text-553"/>
          <p:cNvSpPr txBox="1"/>
          <p:nvPr/>
        </p:nvSpPr>
        <p:spPr>
          <a:xfrm>
            <a:off x="5394829" y="3246120"/>
            <a:ext cx="1402036" cy="868680"/>
          </a:xfrm>
          <a:prstGeom prst="rect">
            <a:avLst/>
          </a:prstGeom>
          <a:noFill/>
          <a:ln/>
        </p:spPr>
        <p:txBody>
          <a:bodyPr wrap="square" lIns="0" tIns="0" rIns="0" bIns="0" rtlCol="0" anchor="t"/>
          <a:lstStyle/>
          <a:p>
            <a:pPr algn="ctr" indent="0" marL="0">
              <a:buNone/>
            </a:pPr>
            <a:r>
              <a:rPr lang="en-US" sz="1150" dirty="0">
                <a:solidFill>
                  <a:schemeClr val="tx2"/>
                </a:solidFill>
              </a:rPr>
              <a:t>relay, results, reconciler, intake, UI, conformance</a:t>
            </a:r>
            <a:endParaRPr lang="en-US" sz="1150" dirty="0"/>
          </a:p>
        </p:txBody>
      </p:sp>
      <p:sp>
        <p:nvSpPr>
          <p:cNvPr id="22" name="milestone-554"/>
          <p:cNvSpPr/>
          <p:nvPr/>
        </p:nvSpPr>
        <p:spPr>
          <a:xfrm>
            <a:off x="7561892" y="2395728"/>
            <a:ext cx="237744" cy="237744"/>
          </a:xfrm>
          <a:prstGeom prst="ellipse">
            <a:avLst/>
          </a:prstGeom>
          <a:solidFill>
            <a:schemeClr val="accent3"/>
          </a:solidFill>
          <a:ln w="25400">
            <a:solidFill>
              <a:schemeClr val="bg2"/>
            </a:solidFill>
            <a:prstDash val="solid"/>
          </a:ln>
        </p:spPr>
      </p:sp>
      <p:sp>
        <p:nvSpPr>
          <p:cNvPr id="23" name="text-555"/>
          <p:cNvSpPr txBox="1"/>
          <p:nvPr/>
        </p:nvSpPr>
        <p:spPr>
          <a:xfrm>
            <a:off x="6888306" y="1856232"/>
            <a:ext cx="1584916" cy="310896"/>
          </a:xfrm>
          <a:prstGeom prst="rect">
            <a:avLst/>
          </a:prstGeom>
          <a:noFill/>
          <a:ln/>
        </p:spPr>
        <p:txBody>
          <a:bodyPr wrap="square" lIns="0" tIns="0" rIns="0" bIns="0" rtlCol="0" anchor="t"/>
          <a:lstStyle/>
          <a:p>
            <a:pPr algn="ctr" indent="0" marL="0">
              <a:buNone/>
            </a:pPr>
            <a:r>
              <a:rPr lang="en-US" sz="1300" b="1" dirty="0">
                <a:solidFill>
                  <a:schemeClr val="accent2"/>
                </a:solidFill>
              </a:rPr>
              <a:t>21 Sep</a:t>
            </a:r>
            <a:endParaRPr lang="en-US" sz="1300" dirty="0"/>
          </a:p>
        </p:txBody>
      </p:sp>
      <p:sp>
        <p:nvSpPr>
          <p:cNvPr id="24" name="text-556"/>
          <p:cNvSpPr txBox="1"/>
          <p:nvPr/>
        </p:nvSpPr>
        <p:spPr>
          <a:xfrm>
            <a:off x="6934026" y="2770632"/>
            <a:ext cx="1493476" cy="457200"/>
          </a:xfrm>
          <a:prstGeom prst="rect">
            <a:avLst/>
          </a:prstGeom>
          <a:noFill/>
          <a:ln/>
        </p:spPr>
        <p:txBody>
          <a:bodyPr wrap="square" lIns="0" tIns="0" rIns="0" bIns="0" rtlCol="0" anchor="t"/>
          <a:lstStyle/>
          <a:p>
            <a:pPr algn="ctr" indent="0" marL="0">
              <a:buNone/>
            </a:pPr>
            <a:r>
              <a:rPr lang="en-US" sz="1300" b="1" dirty="0">
                <a:solidFill>
                  <a:schemeClr val="tx1"/>
                </a:solidFill>
              </a:rPr>
              <a:t>First end-to-end</a:t>
            </a:r>
            <a:endParaRPr lang="en-US" sz="1300" dirty="0"/>
          </a:p>
        </p:txBody>
      </p:sp>
      <p:sp>
        <p:nvSpPr>
          <p:cNvPr id="25" name="text-557"/>
          <p:cNvSpPr txBox="1"/>
          <p:nvPr/>
        </p:nvSpPr>
        <p:spPr>
          <a:xfrm>
            <a:off x="6979746" y="3246120"/>
            <a:ext cx="1402036" cy="868680"/>
          </a:xfrm>
          <a:prstGeom prst="rect">
            <a:avLst/>
          </a:prstGeom>
          <a:noFill/>
          <a:ln/>
        </p:spPr>
        <p:txBody>
          <a:bodyPr wrap="square" lIns="0" tIns="0" rIns="0" bIns="0" rtlCol="0" anchor="t"/>
          <a:lstStyle/>
          <a:p>
            <a:pPr algn="ctr" indent="0" marL="0">
              <a:buNone/>
            </a:pPr>
            <a:r>
              <a:rPr lang="en-US" sz="1150" dirty="0">
                <a:solidFill>
                  <a:schemeClr val="tx2"/>
                </a:solidFill>
              </a:rPr>
              <a:t>manifests, images; 2 defects found and fixed</a:t>
            </a:r>
            <a:endParaRPr lang="en-US" sz="1150" dirty="0"/>
          </a:p>
        </p:txBody>
      </p:sp>
      <p:sp>
        <p:nvSpPr>
          <p:cNvPr id="26" name="milestone-558"/>
          <p:cNvSpPr/>
          <p:nvPr/>
        </p:nvSpPr>
        <p:spPr>
          <a:xfrm>
            <a:off x="9146809" y="2395728"/>
            <a:ext cx="237744" cy="237744"/>
          </a:xfrm>
          <a:prstGeom prst="ellipse">
            <a:avLst/>
          </a:prstGeom>
          <a:solidFill>
            <a:schemeClr val="accent1"/>
          </a:solidFill>
          <a:ln w="25400">
            <a:solidFill>
              <a:schemeClr val="bg2"/>
            </a:solidFill>
            <a:prstDash val="solid"/>
          </a:ln>
        </p:spPr>
      </p:sp>
      <p:sp>
        <p:nvSpPr>
          <p:cNvPr id="27" name="text-559"/>
          <p:cNvSpPr txBox="1"/>
          <p:nvPr/>
        </p:nvSpPr>
        <p:spPr>
          <a:xfrm>
            <a:off x="8473222" y="1856232"/>
            <a:ext cx="1584916" cy="310896"/>
          </a:xfrm>
          <a:prstGeom prst="rect">
            <a:avLst/>
          </a:prstGeom>
          <a:noFill/>
          <a:ln/>
        </p:spPr>
        <p:txBody>
          <a:bodyPr wrap="square" lIns="0" tIns="0" rIns="0" bIns="0" rtlCol="0" anchor="t"/>
          <a:lstStyle/>
          <a:p>
            <a:pPr algn="ctr" indent="0" marL="0">
              <a:buNone/>
            </a:pPr>
            <a:r>
              <a:rPr lang="en-US" sz="1300" b="1" dirty="0">
                <a:solidFill>
                  <a:schemeClr val="accent2"/>
                </a:solidFill>
              </a:rPr>
              <a:t>3 Oct</a:t>
            </a:r>
            <a:endParaRPr lang="en-US" sz="1300" dirty="0"/>
          </a:p>
        </p:txBody>
      </p:sp>
      <p:sp>
        <p:nvSpPr>
          <p:cNvPr id="28" name="text-560"/>
          <p:cNvSpPr txBox="1"/>
          <p:nvPr/>
        </p:nvSpPr>
        <p:spPr>
          <a:xfrm>
            <a:off x="8518942" y="2770632"/>
            <a:ext cx="1493476" cy="457200"/>
          </a:xfrm>
          <a:prstGeom prst="rect">
            <a:avLst/>
          </a:prstGeom>
          <a:noFill/>
          <a:ln/>
        </p:spPr>
        <p:txBody>
          <a:bodyPr wrap="square" lIns="0" tIns="0" rIns="0" bIns="0" rtlCol="0" anchor="t"/>
          <a:lstStyle/>
          <a:p>
            <a:pPr algn="ctr" indent="0" marL="0">
              <a:buNone/>
            </a:pPr>
            <a:r>
              <a:rPr lang="en-US" sz="1300" b="1" dirty="0">
                <a:solidFill>
                  <a:schemeClr val="tx1"/>
                </a:solidFill>
              </a:rPr>
              <a:t>Control Room 2</a:t>
            </a:r>
            <a:endParaRPr lang="en-US" sz="1300" dirty="0"/>
          </a:p>
        </p:txBody>
      </p:sp>
      <p:sp>
        <p:nvSpPr>
          <p:cNvPr id="29" name="text-561"/>
          <p:cNvSpPr txBox="1"/>
          <p:nvPr/>
        </p:nvSpPr>
        <p:spPr>
          <a:xfrm>
            <a:off x="8564662" y="3246120"/>
            <a:ext cx="1402036" cy="868680"/>
          </a:xfrm>
          <a:prstGeom prst="rect">
            <a:avLst/>
          </a:prstGeom>
          <a:noFill/>
          <a:ln/>
        </p:spPr>
        <p:txBody>
          <a:bodyPr wrap="square" lIns="0" tIns="0" rIns="0" bIns="0" rtlCol="0" anchor="t"/>
          <a:lstStyle/>
          <a:p>
            <a:pPr algn="ctr" indent="0" marL="0">
              <a:buNone/>
            </a:pPr>
            <a:r>
              <a:rPr lang="en-US" sz="1150" dirty="0">
                <a:solidFill>
                  <a:schemeClr val="tx2"/>
                </a:solidFill>
              </a:rPr>
              <a:t>map, plant view, wall mode, scrubber</a:t>
            </a:r>
            <a:endParaRPr lang="en-US" sz="1150" dirty="0"/>
          </a:p>
        </p:txBody>
      </p:sp>
      <p:sp>
        <p:nvSpPr>
          <p:cNvPr id="30" name="milestone-562"/>
          <p:cNvSpPr/>
          <p:nvPr/>
        </p:nvSpPr>
        <p:spPr>
          <a:xfrm>
            <a:off x="10731725" y="2395728"/>
            <a:ext cx="237744" cy="237744"/>
          </a:xfrm>
          <a:prstGeom prst="ellipse">
            <a:avLst/>
          </a:prstGeom>
          <a:solidFill>
            <a:schemeClr val="accent1"/>
          </a:solidFill>
          <a:ln w="25400">
            <a:solidFill>
              <a:schemeClr val="bg2"/>
            </a:solidFill>
            <a:prstDash val="solid"/>
          </a:ln>
        </p:spPr>
      </p:sp>
      <p:sp>
        <p:nvSpPr>
          <p:cNvPr id="31" name="text-563"/>
          <p:cNvSpPr txBox="1"/>
          <p:nvPr/>
        </p:nvSpPr>
        <p:spPr>
          <a:xfrm>
            <a:off x="10058139" y="1856232"/>
            <a:ext cx="1584916" cy="310896"/>
          </a:xfrm>
          <a:prstGeom prst="rect">
            <a:avLst/>
          </a:prstGeom>
          <a:noFill/>
          <a:ln/>
        </p:spPr>
        <p:txBody>
          <a:bodyPr wrap="square" lIns="0" tIns="0" rIns="0" bIns="0" rtlCol="0" anchor="t"/>
          <a:lstStyle/>
          <a:p>
            <a:pPr algn="ctr" indent="0" marL="0">
              <a:buNone/>
            </a:pPr>
            <a:r>
              <a:rPr lang="en-US" sz="1300" b="1" dirty="0">
                <a:solidFill>
                  <a:schemeClr val="accent2"/>
                </a:solidFill>
              </a:rPr>
              <a:t>4 Oct</a:t>
            </a:r>
            <a:endParaRPr lang="en-US" sz="1300" dirty="0"/>
          </a:p>
        </p:txBody>
      </p:sp>
      <p:sp>
        <p:nvSpPr>
          <p:cNvPr id="32" name="text-564"/>
          <p:cNvSpPr txBox="1"/>
          <p:nvPr/>
        </p:nvSpPr>
        <p:spPr>
          <a:xfrm>
            <a:off x="10103859" y="2770632"/>
            <a:ext cx="1493476" cy="457200"/>
          </a:xfrm>
          <a:prstGeom prst="rect">
            <a:avLst/>
          </a:prstGeom>
          <a:noFill/>
          <a:ln/>
        </p:spPr>
        <p:txBody>
          <a:bodyPr wrap="square" lIns="0" tIns="0" rIns="0" bIns="0" rtlCol="0" anchor="t"/>
          <a:lstStyle/>
          <a:p>
            <a:pPr algn="ctr" indent="0" marL="0">
              <a:buNone/>
            </a:pPr>
            <a:r>
              <a:rPr lang="en-US" sz="1300" b="1" dirty="0">
                <a:solidFill>
                  <a:schemeClr val="tx1"/>
                </a:solidFill>
              </a:rPr>
              <a:t>One repository</a:t>
            </a:r>
            <a:endParaRPr lang="en-US" sz="1300" dirty="0"/>
          </a:p>
        </p:txBody>
      </p:sp>
      <p:sp>
        <p:nvSpPr>
          <p:cNvPr id="33" name="text-565"/>
          <p:cNvSpPr txBox="1"/>
          <p:nvPr/>
        </p:nvSpPr>
        <p:spPr>
          <a:xfrm>
            <a:off x="10149579" y="3246120"/>
            <a:ext cx="1402036" cy="868680"/>
          </a:xfrm>
          <a:prstGeom prst="rect">
            <a:avLst/>
          </a:prstGeom>
          <a:noFill/>
          <a:ln/>
        </p:spPr>
        <p:txBody>
          <a:bodyPr wrap="square" lIns="0" tIns="0" rIns="0" bIns="0" rtlCol="0" anchor="t"/>
          <a:lstStyle/>
          <a:p>
            <a:pPr algn="ctr" indent="0" marL="0">
              <a:buNone/>
            </a:pPr>
            <a:r>
              <a:rPr lang="en-US" sz="1150" dirty="0">
                <a:solidFill>
                  <a:schemeClr val="tx2"/>
                </a:solidFill>
              </a:rPr>
              <a:t>contract 1.1, real-system shape, pgvector</a:t>
            </a:r>
            <a:endParaRPr lang="en-US" sz="1150" dirty="0"/>
          </a:p>
        </p:txBody>
      </p:sp>
      <p:sp>
        <p:nvSpPr>
          <p:cNvPr id="34" name="text-566"/>
          <p:cNvSpPr txBox="1"/>
          <p:nvPr/>
        </p:nvSpPr>
        <p:spPr>
          <a:xfrm>
            <a:off x="548640" y="4224528"/>
            <a:ext cx="11094415" cy="274320"/>
          </a:xfrm>
          <a:prstGeom prst="rect">
            <a:avLst/>
          </a:prstGeom>
          <a:noFill/>
          <a:ln/>
        </p:spPr>
        <p:txBody>
          <a:bodyPr wrap="square" lIns="0" tIns="0" rIns="0" bIns="0" rtlCol="0" anchor="t"/>
          <a:lstStyle/>
          <a:p>
            <a:pPr indent="0" marL="0">
              <a:buNone/>
            </a:pPr>
            <a:r>
              <a:rPr lang="en-US" sz="1100" i="1" dirty="0">
                <a:solidFill>
                  <a:schemeClr val="tx2"/>
                </a:solidFill>
              </a:rPr>
              <a:t>Milestones are evenly spaced; the time axis is not to scale.</a:t>
            </a:r>
            <a:endParaRPr lang="en-US" sz="1100" dirty="0"/>
          </a:p>
        </p:txBody>
      </p:sp>
      <p:sp>
        <p:nvSpPr>
          <p:cNvPr id="35" name="card-567"/>
          <p:cNvSpPr/>
          <p:nvPr/>
        </p:nvSpPr>
        <p:spPr>
          <a:xfrm>
            <a:off x="548640" y="4709160"/>
            <a:ext cx="2567864" cy="1417320"/>
          </a:xfrm>
          <a:prstGeom prst="roundRect">
            <a:avLst>
              <a:gd name="adj" fmla="val 5161"/>
            </a:avLst>
          </a:prstGeom>
          <a:solidFill>
            <a:schemeClr val="bg1"/>
          </a:solidFill>
          <a:ln w="9525">
            <a:solidFill>
              <a:schemeClr val="accent6"/>
            </a:solidFill>
            <a:prstDash val="solid"/>
          </a:ln>
        </p:spPr>
      </p:sp>
      <p:sp>
        <p:nvSpPr>
          <p:cNvPr id="36" name="stat-568"/>
          <p:cNvSpPr txBox="1"/>
          <p:nvPr/>
        </p:nvSpPr>
        <p:spPr>
          <a:xfrm>
            <a:off x="777240" y="4846320"/>
            <a:ext cx="2110664" cy="1188720"/>
          </a:xfrm>
          <a:prstGeom prst="rect">
            <a:avLst/>
          </a:prstGeom>
          <a:noFill/>
          <a:ln/>
        </p:spPr>
        <p:txBody>
          <a:bodyPr wrap="square" lIns="0" tIns="0" rIns="0" bIns="0" rtlCol="0" anchor="t"/>
          <a:lstStyle/>
          <a:p>
            <a:pPr algn="l" indent="0" marL="0">
              <a:buNone/>
            </a:pPr>
            <a:r>
              <a:rPr lang="en-US" sz="2800" b="1" dirty="0">
                <a:solidFill>
                  <a:schemeClr val="accent2"/>
                </a:solidFill>
                <a:latin typeface="Arial" pitchFamily="34" charset="0"/>
                <a:ea typeface="Arial" pitchFamily="34" charset="-122"/>
                <a:cs typeface="Arial" pitchFamily="34" charset="-120"/>
              </a:rPr>
              <a:t>476</a:t>
            </a:r>
            <a:endParaRPr lang="en-US" sz="2800" dirty="0"/>
          </a:p>
          <a:p>
            <a:pPr algn="l" indent="0" marL="0">
              <a:buNone/>
            </a:pPr>
            <a:r>
              <a:rPr lang="en-US" sz="1200" dirty="0">
                <a:solidFill>
                  <a:schemeClr val="tx2"/>
                </a:solidFill>
              </a:rPr>
              <a:t>commits across seven imported histories</a:t>
            </a:r>
            <a:endParaRPr lang="en-US" sz="2800" dirty="0"/>
          </a:p>
        </p:txBody>
      </p:sp>
      <p:sp>
        <p:nvSpPr>
          <p:cNvPr id="37" name="card-569"/>
          <p:cNvSpPr/>
          <p:nvPr/>
        </p:nvSpPr>
        <p:spPr>
          <a:xfrm>
            <a:off x="3390824" y="4709160"/>
            <a:ext cx="2567864" cy="1417320"/>
          </a:xfrm>
          <a:prstGeom prst="roundRect">
            <a:avLst>
              <a:gd name="adj" fmla="val 5161"/>
            </a:avLst>
          </a:prstGeom>
          <a:solidFill>
            <a:schemeClr val="bg1"/>
          </a:solidFill>
          <a:ln w="9525">
            <a:solidFill>
              <a:schemeClr val="accent6"/>
            </a:solidFill>
            <a:prstDash val="solid"/>
          </a:ln>
        </p:spPr>
      </p:sp>
      <p:sp>
        <p:nvSpPr>
          <p:cNvPr id="38" name="stat-570"/>
          <p:cNvSpPr txBox="1"/>
          <p:nvPr/>
        </p:nvSpPr>
        <p:spPr>
          <a:xfrm>
            <a:off x="3619424" y="4846320"/>
            <a:ext cx="2110664" cy="1188720"/>
          </a:xfrm>
          <a:prstGeom prst="rect">
            <a:avLst/>
          </a:prstGeom>
          <a:noFill/>
          <a:ln/>
        </p:spPr>
        <p:txBody>
          <a:bodyPr wrap="square" lIns="0" tIns="0" rIns="0" bIns="0" rtlCol="0" anchor="t"/>
          <a:lstStyle/>
          <a:p>
            <a:pPr algn="l" indent="0" marL="0">
              <a:buNone/>
            </a:pPr>
            <a:r>
              <a:rPr lang="en-US" sz="2800" b="1" dirty="0">
                <a:solidFill>
                  <a:schemeClr val="accent2"/>
                </a:solidFill>
                <a:latin typeface="Arial" pitchFamily="34" charset="0"/>
                <a:ea typeface="Arial" pitchFamily="34" charset="-122"/>
                <a:cs typeface="Arial" pitchFamily="34" charset="-120"/>
              </a:rPr>
              <a:t>26 of 29</a:t>
            </a:r>
            <a:endParaRPr lang="en-US" sz="2800" dirty="0"/>
          </a:p>
          <a:p>
            <a:pPr algn="l" indent="0" marL="0">
              <a:buNone/>
            </a:pPr>
            <a:r>
              <a:rPr lang="en-US" sz="1200" dirty="0">
                <a:solidFill>
                  <a:schemeClr val="tx2"/>
                </a:solidFill>
              </a:rPr>
              <a:t>work packages merged, each with exclusive file ownership</a:t>
            </a:r>
            <a:endParaRPr lang="en-US" sz="2800" dirty="0"/>
          </a:p>
        </p:txBody>
      </p:sp>
      <p:sp>
        <p:nvSpPr>
          <p:cNvPr id="39" name="card-571"/>
          <p:cNvSpPr/>
          <p:nvPr/>
        </p:nvSpPr>
        <p:spPr>
          <a:xfrm>
            <a:off x="6233008" y="4709160"/>
            <a:ext cx="2567864" cy="1417320"/>
          </a:xfrm>
          <a:prstGeom prst="roundRect">
            <a:avLst>
              <a:gd name="adj" fmla="val 5161"/>
            </a:avLst>
          </a:prstGeom>
          <a:solidFill>
            <a:schemeClr val="bg1"/>
          </a:solidFill>
          <a:ln w="9525">
            <a:solidFill>
              <a:schemeClr val="accent6"/>
            </a:solidFill>
            <a:prstDash val="solid"/>
          </a:ln>
        </p:spPr>
      </p:sp>
      <p:sp>
        <p:nvSpPr>
          <p:cNvPr id="40" name="stat-572"/>
          <p:cNvSpPr txBox="1"/>
          <p:nvPr/>
        </p:nvSpPr>
        <p:spPr>
          <a:xfrm>
            <a:off x="6461608" y="4846320"/>
            <a:ext cx="2110664" cy="1188720"/>
          </a:xfrm>
          <a:prstGeom prst="rect">
            <a:avLst/>
          </a:prstGeom>
          <a:noFill/>
          <a:ln/>
        </p:spPr>
        <p:txBody>
          <a:bodyPr wrap="square" lIns="0" tIns="0" rIns="0" bIns="0" rtlCol="0" anchor="t"/>
          <a:lstStyle/>
          <a:p>
            <a:pPr algn="l" indent="0" marL="0">
              <a:buNone/>
            </a:pPr>
            <a:r>
              <a:rPr lang="en-US" sz="2800" b="1" dirty="0">
                <a:solidFill>
                  <a:schemeClr val="accent2"/>
                </a:solidFill>
                <a:latin typeface="Arial" pitchFamily="34" charset="0"/>
                <a:ea typeface="Arial" pitchFamily="34" charset="-122"/>
                <a:cs typeface="Arial" pitchFamily="34" charset="-120"/>
              </a:rPr>
              <a:t>8,730</a:t>
            </a:r>
            <a:endParaRPr lang="en-US" sz="2800" dirty="0"/>
          </a:p>
          <a:p>
            <a:pPr algn="l" indent="0" marL="0">
              <a:buNone/>
            </a:pPr>
            <a:r>
              <a:rPr lang="en-US" sz="1200" dirty="0">
                <a:solidFill>
                  <a:schemeClr val="tx2"/>
                </a:solidFill>
              </a:rPr>
              <a:t>lines in the authoritative spec</a:t>
            </a:r>
            <a:endParaRPr lang="en-US" sz="2800" dirty="0"/>
          </a:p>
        </p:txBody>
      </p:sp>
      <p:sp>
        <p:nvSpPr>
          <p:cNvPr id="41" name="card-573"/>
          <p:cNvSpPr/>
          <p:nvPr/>
        </p:nvSpPr>
        <p:spPr>
          <a:xfrm>
            <a:off x="9075191" y="4709160"/>
            <a:ext cx="2567864" cy="1417320"/>
          </a:xfrm>
          <a:prstGeom prst="roundRect">
            <a:avLst>
              <a:gd name="adj" fmla="val 5161"/>
            </a:avLst>
          </a:prstGeom>
          <a:solidFill>
            <a:schemeClr val="bg1"/>
          </a:solidFill>
          <a:ln w="9525">
            <a:solidFill>
              <a:schemeClr val="accent6"/>
            </a:solidFill>
            <a:prstDash val="solid"/>
          </a:ln>
        </p:spPr>
      </p:sp>
      <p:sp>
        <p:nvSpPr>
          <p:cNvPr id="42" name="stat-574"/>
          <p:cNvSpPr txBox="1"/>
          <p:nvPr/>
        </p:nvSpPr>
        <p:spPr>
          <a:xfrm>
            <a:off x="9303791" y="4846320"/>
            <a:ext cx="2110664" cy="1188720"/>
          </a:xfrm>
          <a:prstGeom prst="rect">
            <a:avLst/>
          </a:prstGeom>
          <a:noFill/>
          <a:ln/>
        </p:spPr>
        <p:txBody>
          <a:bodyPr wrap="square" lIns="0" tIns="0" rIns="0" bIns="0" rtlCol="0" anchor="t"/>
          <a:lstStyle/>
          <a:p>
            <a:pPr algn="l" indent="0" marL="0">
              <a:buNone/>
            </a:pPr>
            <a:r>
              <a:rPr lang="en-US" sz="2800" b="1" dirty="0">
                <a:solidFill>
                  <a:schemeClr val="accent2"/>
                </a:solidFill>
                <a:latin typeface="Arial" pitchFamily="34" charset="0"/>
                <a:ea typeface="Arial" pitchFamily="34" charset="-122"/>
                <a:cs typeface="Arial" pitchFamily="34" charset="-120"/>
              </a:rPr>
              <a:t>2,644</a:t>
            </a:r>
            <a:endParaRPr lang="en-US" sz="2800" dirty="0"/>
          </a:p>
          <a:p>
            <a:pPr algn="l" indent="0" marL="0">
              <a:buNone/>
            </a:pPr>
            <a:r>
              <a:rPr lang="en-US" sz="1200" dirty="0">
                <a:solidFill>
                  <a:schemeClr val="tx2"/>
                </a:solidFill>
              </a:rPr>
              <a:t>lines in the standalone worker contract</a:t>
            </a:r>
            <a:endParaRPr lang="en-US" sz="2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QUALITY ENGINEERING</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6,600+ automated tests, and tiers that decide what counts</a:t>
            </a:r>
            <a:endParaRPr lang="en-US" sz="2800" dirty="0"/>
          </a:p>
        </p:txBody>
      </p:sp>
      <p:sp>
        <p:nvSpPr>
          <p:cNvPr id="5" name="card-575"/>
          <p:cNvSpPr/>
          <p:nvPr/>
        </p:nvSpPr>
        <p:spPr>
          <a:xfrm>
            <a:off x="548640" y="1645920"/>
            <a:ext cx="6172200" cy="4498848"/>
          </a:xfrm>
          <a:prstGeom prst="roundRect">
            <a:avLst>
              <a:gd name="adj" fmla="val 1626"/>
            </a:avLst>
          </a:prstGeom>
          <a:solidFill>
            <a:schemeClr val="bg1"/>
          </a:solidFill>
          <a:ln w="9525">
            <a:solidFill>
              <a:schemeClr val="accent6"/>
            </a:solidFill>
            <a:prstDash val="solid"/>
          </a:ln>
        </p:spPr>
      </p:sp>
      <p:sp>
        <p:nvSpPr>
          <p:cNvPr id="6" name="text-576"/>
          <p:cNvSpPr txBox="1"/>
          <p:nvPr/>
        </p:nvSpPr>
        <p:spPr>
          <a:xfrm>
            <a:off x="777240" y="1810512"/>
            <a:ext cx="5760720" cy="310896"/>
          </a:xfrm>
          <a:prstGeom prst="rect">
            <a:avLst/>
          </a:prstGeom>
          <a:noFill/>
          <a:ln/>
        </p:spPr>
        <p:txBody>
          <a:bodyPr wrap="square" lIns="0" tIns="0" rIns="0" bIns="0" rtlCol="0" anchor="ctr"/>
          <a:lstStyle/>
          <a:p>
            <a:pPr indent="0" marL="0">
              <a:buNone/>
            </a:pPr>
            <a:r>
              <a:rPr lang="en-US" sz="1300" b="1" dirty="0">
                <a:solidFill>
                  <a:schemeClr val="tx1"/>
                </a:solidFill>
              </a:rPr>
              <a:t>Latest recorded runs, by suite (6,679 tests)</a:t>
            </a:r>
            <a:endParaRPr lang="en-US" sz="1300" dirty="0"/>
          </a:p>
        </p:txBody>
      </p:sp>
      <p:sp>
        <p:nvSpPr>
          <p:cNvPr id="7" name="text-577"/>
          <p:cNvSpPr txBox="1"/>
          <p:nvPr/>
        </p:nvSpPr>
        <p:spPr>
          <a:xfrm>
            <a:off x="777240" y="2231136"/>
            <a:ext cx="1874520" cy="378562"/>
          </a:xfrm>
          <a:prstGeom prst="rect">
            <a:avLst/>
          </a:prstGeom>
          <a:noFill/>
          <a:ln/>
        </p:spPr>
        <p:txBody>
          <a:bodyPr wrap="square" lIns="0" tIns="0" rIns="0" bIns="0" rtlCol="0" anchor="ctr"/>
          <a:lstStyle/>
          <a:p>
            <a:pPr algn="r" indent="0" marL="0">
              <a:buNone/>
            </a:pPr>
            <a:r>
              <a:rPr lang="en-US" sz="1200" dirty="0">
                <a:solidFill>
                  <a:schemeClr val="tx2"/>
                </a:solidFill>
              </a:rPr>
              <a:t>Orchestrator (Python)</a:t>
            </a:r>
            <a:endParaRPr lang="en-US" sz="1200" dirty="0"/>
          </a:p>
        </p:txBody>
      </p:sp>
      <p:sp>
        <p:nvSpPr>
          <p:cNvPr id="8" name="bar-578"/>
          <p:cNvSpPr/>
          <p:nvPr/>
        </p:nvSpPr>
        <p:spPr>
          <a:xfrm>
            <a:off x="2761488" y="2303063"/>
            <a:ext cx="3090672" cy="234708"/>
          </a:xfrm>
          <a:prstGeom prst="rect">
            <a:avLst/>
          </a:prstGeom>
          <a:solidFill>
            <a:schemeClr val="accent2"/>
          </a:solidFill>
          <a:ln/>
        </p:spPr>
      </p:sp>
      <p:sp>
        <p:nvSpPr>
          <p:cNvPr id="9" name="text-579"/>
          <p:cNvSpPr txBox="1"/>
          <p:nvPr/>
        </p:nvSpPr>
        <p:spPr>
          <a:xfrm>
            <a:off x="5925312" y="2231136"/>
            <a:ext cx="685800" cy="378562"/>
          </a:xfrm>
          <a:prstGeom prst="rect">
            <a:avLst/>
          </a:prstGeom>
          <a:noFill/>
          <a:ln/>
        </p:spPr>
        <p:txBody>
          <a:bodyPr wrap="square" lIns="0" tIns="0" rIns="0" bIns="0" rtlCol="0" anchor="ctr"/>
          <a:lstStyle/>
          <a:p>
            <a:pPr indent="0" marL="0">
              <a:buNone/>
            </a:pPr>
            <a:r>
              <a:rPr lang="en-US" sz="1200" b="1" dirty="0">
                <a:solidFill>
                  <a:schemeClr val="tx1"/>
                </a:solidFill>
              </a:rPr>
              <a:t>1,969</a:t>
            </a:r>
            <a:endParaRPr lang="en-US" sz="1200" dirty="0"/>
          </a:p>
        </p:txBody>
      </p:sp>
      <p:sp>
        <p:nvSpPr>
          <p:cNvPr id="10" name="text-580"/>
          <p:cNvSpPr txBox="1"/>
          <p:nvPr/>
        </p:nvSpPr>
        <p:spPr>
          <a:xfrm>
            <a:off x="777240" y="2609698"/>
            <a:ext cx="1874520" cy="378562"/>
          </a:xfrm>
          <a:prstGeom prst="rect">
            <a:avLst/>
          </a:prstGeom>
          <a:noFill/>
          <a:ln/>
        </p:spPr>
        <p:txBody>
          <a:bodyPr wrap="square" lIns="0" tIns="0" rIns="0" bIns="0" rtlCol="0" anchor="ctr"/>
          <a:lstStyle/>
          <a:p>
            <a:pPr algn="r" indent="0" marL="0">
              <a:buNone/>
            </a:pPr>
            <a:r>
              <a:rPr lang="en-US" sz="1200" dirty="0">
                <a:solidFill>
                  <a:schemeClr val="tx2"/>
                </a:solidFill>
              </a:rPr>
              <a:t>Control room (Vitest)</a:t>
            </a:r>
            <a:endParaRPr lang="en-US" sz="1200" dirty="0"/>
          </a:p>
        </p:txBody>
      </p:sp>
      <p:sp>
        <p:nvSpPr>
          <p:cNvPr id="11" name="bar-581"/>
          <p:cNvSpPr/>
          <p:nvPr/>
        </p:nvSpPr>
        <p:spPr>
          <a:xfrm>
            <a:off x="2761488" y="2681624"/>
            <a:ext cx="2453388" cy="234708"/>
          </a:xfrm>
          <a:prstGeom prst="rect">
            <a:avLst/>
          </a:prstGeom>
          <a:solidFill>
            <a:schemeClr val="accent2"/>
          </a:solidFill>
          <a:ln/>
        </p:spPr>
      </p:sp>
      <p:sp>
        <p:nvSpPr>
          <p:cNvPr id="12" name="text-582"/>
          <p:cNvSpPr txBox="1"/>
          <p:nvPr/>
        </p:nvSpPr>
        <p:spPr>
          <a:xfrm>
            <a:off x="5288028" y="2609698"/>
            <a:ext cx="1323084" cy="378562"/>
          </a:xfrm>
          <a:prstGeom prst="rect">
            <a:avLst/>
          </a:prstGeom>
          <a:noFill/>
          <a:ln/>
        </p:spPr>
        <p:txBody>
          <a:bodyPr wrap="square" lIns="0" tIns="0" rIns="0" bIns="0" rtlCol="0" anchor="ctr"/>
          <a:lstStyle/>
          <a:p>
            <a:pPr indent="0" marL="0">
              <a:buNone/>
            </a:pPr>
            <a:r>
              <a:rPr lang="en-US" sz="1200" b="1" dirty="0">
                <a:solidFill>
                  <a:schemeClr val="tx1"/>
                </a:solidFill>
              </a:rPr>
              <a:t>1,563</a:t>
            </a:r>
            <a:endParaRPr lang="en-US" sz="1200" dirty="0"/>
          </a:p>
        </p:txBody>
      </p:sp>
      <p:sp>
        <p:nvSpPr>
          <p:cNvPr id="13" name="text-583"/>
          <p:cNvSpPr txBox="1"/>
          <p:nvPr/>
        </p:nvSpPr>
        <p:spPr>
          <a:xfrm>
            <a:off x="777240" y="2988259"/>
            <a:ext cx="1874520" cy="378562"/>
          </a:xfrm>
          <a:prstGeom prst="rect">
            <a:avLst/>
          </a:prstGeom>
          <a:noFill/>
          <a:ln/>
        </p:spPr>
        <p:txBody>
          <a:bodyPr wrap="square" lIns="0" tIns="0" rIns="0" bIns="0" rtlCol="0" anchor="ctr"/>
          <a:lstStyle/>
          <a:p>
            <a:pPr algn="r" indent="0" marL="0">
              <a:buNone/>
            </a:pPr>
            <a:r>
              <a:rPr lang="en-US" sz="1200" dirty="0">
                <a:solidFill>
                  <a:schemeClr val="tx2"/>
                </a:solidFill>
              </a:rPr>
              <a:t>Vision</a:t>
            </a:r>
            <a:endParaRPr lang="en-US" sz="1200" dirty="0"/>
          </a:p>
        </p:txBody>
      </p:sp>
      <p:sp>
        <p:nvSpPr>
          <p:cNvPr id="14" name="bar-584"/>
          <p:cNvSpPr/>
          <p:nvPr/>
        </p:nvSpPr>
        <p:spPr>
          <a:xfrm>
            <a:off x="2761488" y="3060186"/>
            <a:ext cx="1568096" cy="234708"/>
          </a:xfrm>
          <a:prstGeom prst="rect">
            <a:avLst/>
          </a:prstGeom>
          <a:solidFill>
            <a:schemeClr val="accent2"/>
          </a:solidFill>
          <a:ln/>
        </p:spPr>
      </p:sp>
      <p:sp>
        <p:nvSpPr>
          <p:cNvPr id="15" name="text-585"/>
          <p:cNvSpPr txBox="1"/>
          <p:nvPr/>
        </p:nvSpPr>
        <p:spPr>
          <a:xfrm>
            <a:off x="4402736" y="2988259"/>
            <a:ext cx="2208376" cy="378562"/>
          </a:xfrm>
          <a:prstGeom prst="rect">
            <a:avLst/>
          </a:prstGeom>
          <a:noFill/>
          <a:ln/>
        </p:spPr>
        <p:txBody>
          <a:bodyPr wrap="square" lIns="0" tIns="0" rIns="0" bIns="0" rtlCol="0" anchor="ctr"/>
          <a:lstStyle/>
          <a:p>
            <a:pPr indent="0" marL="0">
              <a:buNone/>
            </a:pPr>
            <a:r>
              <a:rPr lang="en-US" sz="1200" b="1" dirty="0">
                <a:solidFill>
                  <a:schemeClr val="tx1"/>
                </a:solidFill>
              </a:rPr>
              <a:t>999</a:t>
            </a:r>
            <a:endParaRPr lang="en-US" sz="1200" dirty="0"/>
          </a:p>
        </p:txBody>
      </p:sp>
      <p:sp>
        <p:nvSpPr>
          <p:cNvPr id="16" name="text-586"/>
          <p:cNvSpPr txBox="1"/>
          <p:nvPr/>
        </p:nvSpPr>
        <p:spPr>
          <a:xfrm>
            <a:off x="777240" y="3366821"/>
            <a:ext cx="1874520" cy="378562"/>
          </a:xfrm>
          <a:prstGeom prst="rect">
            <a:avLst/>
          </a:prstGeom>
          <a:noFill/>
          <a:ln/>
        </p:spPr>
        <p:txBody>
          <a:bodyPr wrap="square" lIns="0" tIns="0" rIns="0" bIns="0" rtlCol="0" anchor="ctr"/>
          <a:lstStyle/>
          <a:p>
            <a:pPr algn="r" indent="0" marL="0">
              <a:buNone/>
            </a:pPr>
            <a:r>
              <a:rPr lang="en-US" sz="1200" dirty="0">
                <a:solidFill>
                  <a:schemeClr val="tx2"/>
                </a:solidFill>
              </a:rPr>
              <a:t>Embedder</a:t>
            </a:r>
            <a:endParaRPr lang="en-US" sz="1200" dirty="0"/>
          </a:p>
        </p:txBody>
      </p:sp>
      <p:sp>
        <p:nvSpPr>
          <p:cNvPr id="17" name="bar-587"/>
          <p:cNvSpPr/>
          <p:nvPr/>
        </p:nvSpPr>
        <p:spPr>
          <a:xfrm>
            <a:off x="2761488" y="3438748"/>
            <a:ext cx="839771" cy="234708"/>
          </a:xfrm>
          <a:prstGeom prst="rect">
            <a:avLst/>
          </a:prstGeom>
          <a:solidFill>
            <a:schemeClr val="accent2"/>
          </a:solidFill>
          <a:ln/>
        </p:spPr>
      </p:sp>
      <p:sp>
        <p:nvSpPr>
          <p:cNvPr id="18" name="text-588"/>
          <p:cNvSpPr txBox="1"/>
          <p:nvPr/>
        </p:nvSpPr>
        <p:spPr>
          <a:xfrm>
            <a:off x="3674411" y="3366821"/>
            <a:ext cx="2936701" cy="378562"/>
          </a:xfrm>
          <a:prstGeom prst="rect">
            <a:avLst/>
          </a:prstGeom>
          <a:noFill/>
          <a:ln/>
        </p:spPr>
        <p:txBody>
          <a:bodyPr wrap="square" lIns="0" tIns="0" rIns="0" bIns="0" rtlCol="0" anchor="ctr"/>
          <a:lstStyle/>
          <a:p>
            <a:pPr indent="0" marL="0">
              <a:buNone/>
            </a:pPr>
            <a:r>
              <a:rPr lang="en-US" sz="1200" b="1" dirty="0">
                <a:solidFill>
                  <a:schemeClr val="tx1"/>
                </a:solidFill>
              </a:rPr>
              <a:t>535</a:t>
            </a:r>
            <a:endParaRPr lang="en-US" sz="1200" dirty="0"/>
          </a:p>
        </p:txBody>
      </p:sp>
      <p:sp>
        <p:nvSpPr>
          <p:cNvPr id="19" name="text-589"/>
          <p:cNvSpPr txBox="1"/>
          <p:nvPr/>
        </p:nvSpPr>
        <p:spPr>
          <a:xfrm>
            <a:off x="777240" y="3745382"/>
            <a:ext cx="1874520" cy="378562"/>
          </a:xfrm>
          <a:prstGeom prst="rect">
            <a:avLst/>
          </a:prstGeom>
          <a:noFill/>
          <a:ln/>
        </p:spPr>
        <p:txBody>
          <a:bodyPr wrap="square" lIns="0" tIns="0" rIns="0" bIns="0" rtlCol="0" anchor="ctr"/>
          <a:lstStyle/>
          <a:p>
            <a:pPr algn="r" indent="0" marL="0">
              <a:buNone/>
            </a:pPr>
            <a:r>
              <a:rPr lang="en-US" sz="1200" dirty="0">
                <a:solidFill>
                  <a:schemeClr val="tx2"/>
                </a:solidFill>
              </a:rPr>
              <a:t>DES</a:t>
            </a:r>
            <a:endParaRPr lang="en-US" sz="1200" dirty="0"/>
          </a:p>
        </p:txBody>
      </p:sp>
      <p:sp>
        <p:nvSpPr>
          <p:cNvPr id="20" name="bar-590"/>
          <p:cNvSpPr/>
          <p:nvPr/>
        </p:nvSpPr>
        <p:spPr>
          <a:xfrm>
            <a:off x="2761488" y="3817309"/>
            <a:ext cx="657690" cy="234708"/>
          </a:xfrm>
          <a:prstGeom prst="rect">
            <a:avLst/>
          </a:prstGeom>
          <a:solidFill>
            <a:schemeClr val="accent2"/>
          </a:solidFill>
          <a:ln/>
        </p:spPr>
      </p:sp>
      <p:sp>
        <p:nvSpPr>
          <p:cNvPr id="21" name="text-591"/>
          <p:cNvSpPr txBox="1"/>
          <p:nvPr/>
        </p:nvSpPr>
        <p:spPr>
          <a:xfrm>
            <a:off x="3492330" y="3745382"/>
            <a:ext cx="3118782" cy="378562"/>
          </a:xfrm>
          <a:prstGeom prst="rect">
            <a:avLst/>
          </a:prstGeom>
          <a:noFill/>
          <a:ln/>
        </p:spPr>
        <p:txBody>
          <a:bodyPr wrap="square" lIns="0" tIns="0" rIns="0" bIns="0" rtlCol="0" anchor="ctr"/>
          <a:lstStyle/>
          <a:p>
            <a:pPr indent="0" marL="0">
              <a:buNone/>
            </a:pPr>
            <a:r>
              <a:rPr lang="en-US" sz="1200" b="1" dirty="0">
                <a:solidFill>
                  <a:schemeClr val="tx1"/>
                </a:solidFill>
              </a:rPr>
              <a:t>419</a:t>
            </a:r>
            <a:endParaRPr lang="en-US" sz="1200" dirty="0"/>
          </a:p>
        </p:txBody>
      </p:sp>
      <p:sp>
        <p:nvSpPr>
          <p:cNvPr id="22" name="text-592"/>
          <p:cNvSpPr txBox="1"/>
          <p:nvPr/>
        </p:nvSpPr>
        <p:spPr>
          <a:xfrm>
            <a:off x="777240" y="4123944"/>
            <a:ext cx="1874520" cy="378562"/>
          </a:xfrm>
          <a:prstGeom prst="rect">
            <a:avLst/>
          </a:prstGeom>
          <a:noFill/>
          <a:ln/>
        </p:spPr>
        <p:txBody>
          <a:bodyPr wrap="square" lIns="0" tIns="0" rIns="0" bIns="0" rtlCol="0" anchor="ctr"/>
          <a:lstStyle/>
          <a:p>
            <a:pPr algn="r" indent="0" marL="0">
              <a:buNone/>
            </a:pPr>
            <a:r>
              <a:rPr lang="en-US" sz="1200" dirty="0">
                <a:solidFill>
                  <a:schemeClr val="tx2"/>
                </a:solidFill>
              </a:rPr>
              <a:t>Parity (spec vs code)</a:t>
            </a:r>
            <a:endParaRPr lang="en-US" sz="1200" dirty="0"/>
          </a:p>
        </p:txBody>
      </p:sp>
      <p:sp>
        <p:nvSpPr>
          <p:cNvPr id="23" name="bar-593"/>
          <p:cNvSpPr/>
          <p:nvPr/>
        </p:nvSpPr>
        <p:spPr>
          <a:xfrm>
            <a:off x="2761488" y="4195871"/>
            <a:ext cx="574498" cy="234708"/>
          </a:xfrm>
          <a:prstGeom prst="rect">
            <a:avLst/>
          </a:prstGeom>
          <a:solidFill>
            <a:schemeClr val="accent2"/>
          </a:solidFill>
          <a:ln/>
        </p:spPr>
      </p:sp>
      <p:sp>
        <p:nvSpPr>
          <p:cNvPr id="24" name="text-594"/>
          <p:cNvSpPr txBox="1"/>
          <p:nvPr/>
        </p:nvSpPr>
        <p:spPr>
          <a:xfrm>
            <a:off x="3409138" y="4123944"/>
            <a:ext cx="3201974" cy="378562"/>
          </a:xfrm>
          <a:prstGeom prst="rect">
            <a:avLst/>
          </a:prstGeom>
          <a:noFill/>
          <a:ln/>
        </p:spPr>
        <p:txBody>
          <a:bodyPr wrap="square" lIns="0" tIns="0" rIns="0" bIns="0" rtlCol="0" anchor="ctr"/>
          <a:lstStyle/>
          <a:p>
            <a:pPr indent="0" marL="0">
              <a:buNone/>
            </a:pPr>
            <a:r>
              <a:rPr lang="en-US" sz="1200" b="1" dirty="0">
                <a:solidFill>
                  <a:schemeClr val="tx1"/>
                </a:solidFill>
              </a:rPr>
              <a:t>366</a:t>
            </a:r>
            <a:endParaRPr lang="en-US" sz="1200" dirty="0"/>
          </a:p>
        </p:txBody>
      </p:sp>
      <p:sp>
        <p:nvSpPr>
          <p:cNvPr id="25" name="text-595"/>
          <p:cNvSpPr txBox="1"/>
          <p:nvPr/>
        </p:nvSpPr>
        <p:spPr>
          <a:xfrm>
            <a:off x="777240" y="4502506"/>
            <a:ext cx="1874520" cy="378562"/>
          </a:xfrm>
          <a:prstGeom prst="rect">
            <a:avLst/>
          </a:prstGeom>
          <a:noFill/>
          <a:ln/>
        </p:spPr>
        <p:txBody>
          <a:bodyPr wrap="square" lIns="0" tIns="0" rIns="0" bIns="0" rtlCol="0" anchor="ctr"/>
          <a:lstStyle/>
          <a:p>
            <a:pPr algn="r" indent="0" marL="0">
              <a:buNone/>
            </a:pPr>
            <a:r>
              <a:rPr lang="en-US" sz="1200" dirty="0">
                <a:solidFill>
                  <a:schemeClr val="tx2"/>
                </a:solidFill>
              </a:rPr>
              <a:t>Chunker</a:t>
            </a:r>
            <a:endParaRPr lang="en-US" sz="1200" dirty="0"/>
          </a:p>
        </p:txBody>
      </p:sp>
      <p:sp>
        <p:nvSpPr>
          <p:cNvPr id="26" name="bar-596"/>
          <p:cNvSpPr/>
          <p:nvPr/>
        </p:nvSpPr>
        <p:spPr>
          <a:xfrm>
            <a:off x="2761488" y="4574432"/>
            <a:ext cx="494445" cy="234708"/>
          </a:xfrm>
          <a:prstGeom prst="rect">
            <a:avLst/>
          </a:prstGeom>
          <a:solidFill>
            <a:schemeClr val="accent2"/>
          </a:solidFill>
          <a:ln/>
        </p:spPr>
      </p:sp>
      <p:sp>
        <p:nvSpPr>
          <p:cNvPr id="27" name="text-597"/>
          <p:cNvSpPr txBox="1"/>
          <p:nvPr/>
        </p:nvSpPr>
        <p:spPr>
          <a:xfrm>
            <a:off x="3329085" y="4502506"/>
            <a:ext cx="3282027" cy="378562"/>
          </a:xfrm>
          <a:prstGeom prst="rect">
            <a:avLst/>
          </a:prstGeom>
          <a:noFill/>
          <a:ln/>
        </p:spPr>
        <p:txBody>
          <a:bodyPr wrap="square" lIns="0" tIns="0" rIns="0" bIns="0" rtlCol="0" anchor="ctr"/>
          <a:lstStyle/>
          <a:p>
            <a:pPr indent="0" marL="0">
              <a:buNone/>
            </a:pPr>
            <a:r>
              <a:rPr lang="en-US" sz="1200" b="1" dirty="0">
                <a:solidFill>
                  <a:schemeClr val="tx1"/>
                </a:solidFill>
              </a:rPr>
              <a:t>315</a:t>
            </a:r>
            <a:endParaRPr lang="en-US" sz="1200" dirty="0"/>
          </a:p>
        </p:txBody>
      </p:sp>
      <p:sp>
        <p:nvSpPr>
          <p:cNvPr id="28" name="text-598"/>
          <p:cNvSpPr txBox="1"/>
          <p:nvPr/>
        </p:nvSpPr>
        <p:spPr>
          <a:xfrm>
            <a:off x="777240" y="4881067"/>
            <a:ext cx="1874520" cy="378562"/>
          </a:xfrm>
          <a:prstGeom prst="rect">
            <a:avLst/>
          </a:prstGeom>
          <a:noFill/>
          <a:ln/>
        </p:spPr>
        <p:txBody>
          <a:bodyPr wrap="square" lIns="0" tIns="0" rIns="0" bIns="0" rtlCol="0" anchor="ctr"/>
          <a:lstStyle/>
          <a:p>
            <a:pPr algn="r" indent="0" marL="0">
              <a:buNone/>
            </a:pPr>
            <a:r>
              <a:rPr lang="en-US" sz="1200" dirty="0">
                <a:solidFill>
                  <a:schemeClr val="tx2"/>
                </a:solidFill>
              </a:rPr>
              <a:t>Entry point</a:t>
            </a:r>
            <a:endParaRPr lang="en-US" sz="1200" dirty="0"/>
          </a:p>
        </p:txBody>
      </p:sp>
      <p:sp>
        <p:nvSpPr>
          <p:cNvPr id="29" name="bar-599"/>
          <p:cNvSpPr/>
          <p:nvPr/>
        </p:nvSpPr>
        <p:spPr>
          <a:xfrm>
            <a:off x="2761488" y="4952994"/>
            <a:ext cx="367302" cy="234708"/>
          </a:xfrm>
          <a:prstGeom prst="rect">
            <a:avLst/>
          </a:prstGeom>
          <a:solidFill>
            <a:schemeClr val="accent2"/>
          </a:solidFill>
          <a:ln/>
        </p:spPr>
      </p:sp>
      <p:sp>
        <p:nvSpPr>
          <p:cNvPr id="30" name="text-600"/>
          <p:cNvSpPr txBox="1"/>
          <p:nvPr/>
        </p:nvSpPr>
        <p:spPr>
          <a:xfrm>
            <a:off x="3201942" y="4881067"/>
            <a:ext cx="3409170" cy="378562"/>
          </a:xfrm>
          <a:prstGeom prst="rect">
            <a:avLst/>
          </a:prstGeom>
          <a:noFill/>
          <a:ln/>
        </p:spPr>
        <p:txBody>
          <a:bodyPr wrap="square" lIns="0" tIns="0" rIns="0" bIns="0" rtlCol="0" anchor="ctr"/>
          <a:lstStyle/>
          <a:p>
            <a:pPr indent="0" marL="0">
              <a:buNone/>
            </a:pPr>
            <a:r>
              <a:rPr lang="en-US" sz="1200" b="1" dirty="0">
                <a:solidFill>
                  <a:schemeClr val="tx1"/>
                </a:solidFill>
              </a:rPr>
              <a:t>234</a:t>
            </a:r>
            <a:endParaRPr lang="en-US" sz="1200" dirty="0"/>
          </a:p>
        </p:txBody>
      </p:sp>
      <p:sp>
        <p:nvSpPr>
          <p:cNvPr id="31" name="text-601"/>
          <p:cNvSpPr txBox="1"/>
          <p:nvPr/>
        </p:nvSpPr>
        <p:spPr>
          <a:xfrm>
            <a:off x="777240" y="5259629"/>
            <a:ext cx="1874520" cy="378562"/>
          </a:xfrm>
          <a:prstGeom prst="rect">
            <a:avLst/>
          </a:prstGeom>
          <a:noFill/>
          <a:ln/>
        </p:spPr>
        <p:txBody>
          <a:bodyPr wrap="square" lIns="0" tIns="0" rIns="0" bIns="0" rtlCol="0" anchor="ctr"/>
          <a:lstStyle/>
          <a:p>
            <a:pPr algn="r" indent="0" marL="0">
              <a:buNone/>
            </a:pPr>
            <a:r>
              <a:rPr lang="en-US" sz="1200" dirty="0">
                <a:solidFill>
                  <a:schemeClr val="tx2"/>
                </a:solidFill>
              </a:rPr>
              <a:t>UI end-to-end</a:t>
            </a:r>
            <a:endParaRPr lang="en-US" sz="1200" dirty="0"/>
          </a:p>
        </p:txBody>
      </p:sp>
      <p:sp>
        <p:nvSpPr>
          <p:cNvPr id="32" name="bar-602"/>
          <p:cNvSpPr/>
          <p:nvPr/>
        </p:nvSpPr>
        <p:spPr>
          <a:xfrm>
            <a:off x="2761488" y="5331556"/>
            <a:ext cx="266843" cy="234708"/>
          </a:xfrm>
          <a:prstGeom prst="rect">
            <a:avLst/>
          </a:prstGeom>
          <a:solidFill>
            <a:schemeClr val="accent2"/>
          </a:solidFill>
          <a:ln/>
        </p:spPr>
      </p:sp>
      <p:sp>
        <p:nvSpPr>
          <p:cNvPr id="33" name="text-603"/>
          <p:cNvSpPr txBox="1"/>
          <p:nvPr/>
        </p:nvSpPr>
        <p:spPr>
          <a:xfrm>
            <a:off x="3101483" y="5259629"/>
            <a:ext cx="3509629" cy="378562"/>
          </a:xfrm>
          <a:prstGeom prst="rect">
            <a:avLst/>
          </a:prstGeom>
          <a:noFill/>
          <a:ln/>
        </p:spPr>
        <p:txBody>
          <a:bodyPr wrap="square" lIns="0" tIns="0" rIns="0" bIns="0" rtlCol="0" anchor="ctr"/>
          <a:lstStyle/>
          <a:p>
            <a:pPr indent="0" marL="0">
              <a:buNone/>
            </a:pPr>
            <a:r>
              <a:rPr lang="en-US" sz="1200" b="1" dirty="0">
                <a:solidFill>
                  <a:schemeClr val="tx1"/>
                </a:solidFill>
              </a:rPr>
              <a:t>170</a:t>
            </a:r>
            <a:endParaRPr lang="en-US" sz="1200" dirty="0"/>
          </a:p>
        </p:txBody>
      </p:sp>
      <p:sp>
        <p:nvSpPr>
          <p:cNvPr id="34" name="text-604"/>
          <p:cNvSpPr txBox="1"/>
          <p:nvPr/>
        </p:nvSpPr>
        <p:spPr>
          <a:xfrm>
            <a:off x="777240" y="5638190"/>
            <a:ext cx="1874520" cy="378562"/>
          </a:xfrm>
          <a:prstGeom prst="rect">
            <a:avLst/>
          </a:prstGeom>
          <a:noFill/>
          <a:ln/>
        </p:spPr>
        <p:txBody>
          <a:bodyPr wrap="square" lIns="0" tIns="0" rIns="0" bIns="0" rtlCol="0" anchor="ctr"/>
          <a:lstStyle/>
          <a:p>
            <a:pPr algn="r" indent="0" marL="0">
              <a:buNone/>
            </a:pPr>
            <a:r>
              <a:rPr lang="en-US" sz="1200" dirty="0">
                <a:solidFill>
                  <a:schemeClr val="tx2"/>
                </a:solidFill>
              </a:rPr>
              <a:t>Gateway (Go)</a:t>
            </a:r>
            <a:endParaRPr lang="en-US" sz="1200" dirty="0"/>
          </a:p>
        </p:txBody>
      </p:sp>
      <p:sp>
        <p:nvSpPr>
          <p:cNvPr id="35" name="bar-605"/>
          <p:cNvSpPr/>
          <p:nvPr/>
        </p:nvSpPr>
        <p:spPr>
          <a:xfrm>
            <a:off x="2761488" y="5710117"/>
            <a:ext cx="171094" cy="234708"/>
          </a:xfrm>
          <a:prstGeom prst="rect">
            <a:avLst/>
          </a:prstGeom>
          <a:solidFill>
            <a:schemeClr val="accent2"/>
          </a:solidFill>
          <a:ln/>
        </p:spPr>
      </p:sp>
      <p:sp>
        <p:nvSpPr>
          <p:cNvPr id="36" name="text-606"/>
          <p:cNvSpPr txBox="1"/>
          <p:nvPr/>
        </p:nvSpPr>
        <p:spPr>
          <a:xfrm>
            <a:off x="3005734" y="5638190"/>
            <a:ext cx="3605378" cy="378562"/>
          </a:xfrm>
          <a:prstGeom prst="rect">
            <a:avLst/>
          </a:prstGeom>
          <a:noFill/>
          <a:ln/>
        </p:spPr>
        <p:txBody>
          <a:bodyPr wrap="square" lIns="0" tIns="0" rIns="0" bIns="0" rtlCol="0" anchor="ctr"/>
          <a:lstStyle/>
          <a:p>
            <a:pPr indent="0" marL="0">
              <a:buNone/>
            </a:pPr>
            <a:r>
              <a:rPr lang="en-US" sz="1200" b="1" dirty="0">
                <a:solidFill>
                  <a:schemeClr val="tx1"/>
                </a:solidFill>
              </a:rPr>
              <a:t>109</a:t>
            </a:r>
            <a:endParaRPr lang="en-US" sz="1200" dirty="0"/>
          </a:p>
        </p:txBody>
      </p:sp>
      <p:sp>
        <p:nvSpPr>
          <p:cNvPr id="37" name="link-607"/>
          <p:cNvSpPr/>
          <p:nvPr/>
        </p:nvSpPr>
        <p:spPr>
          <a:xfrm>
            <a:off x="2761488" y="2231136"/>
            <a:ext cx="0" cy="3785616"/>
          </a:xfrm>
          <a:prstGeom prst="line">
            <a:avLst/>
          </a:prstGeom>
          <a:noFill/>
          <a:ln w="9525">
            <a:solidFill>
              <a:schemeClr val="accent6"/>
            </a:solidFill>
            <a:prstDash val="solid"/>
          </a:ln>
        </p:spPr>
      </p:sp>
      <p:sp>
        <p:nvSpPr>
          <p:cNvPr id="38" name="pill-608"/>
          <p:cNvSpPr/>
          <p:nvPr/>
        </p:nvSpPr>
        <p:spPr>
          <a:xfrm>
            <a:off x="6995160" y="1700784"/>
            <a:ext cx="100584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150" b="1" dirty="0">
                <a:solidFill>
                  <a:schemeClr val="bg1"/>
                </a:solidFill>
              </a:rPr>
              <a:t>T1</a:t>
            </a:r>
            <a:endParaRPr lang="en-US" sz="1150" dirty="0"/>
          </a:p>
        </p:txBody>
      </p:sp>
      <p:sp>
        <p:nvSpPr>
          <p:cNvPr id="39" name="text-609"/>
          <p:cNvSpPr txBox="1"/>
          <p:nvPr/>
        </p:nvSpPr>
        <p:spPr>
          <a:xfrm>
            <a:off x="8138160" y="1645920"/>
            <a:ext cx="3504895" cy="438912"/>
          </a:xfrm>
          <a:prstGeom prst="rect">
            <a:avLst/>
          </a:prstGeom>
          <a:noFill/>
          <a:ln/>
        </p:spPr>
        <p:txBody>
          <a:bodyPr wrap="square" lIns="0" tIns="0" rIns="0" bIns="0" rtlCol="0" anchor="ctr"/>
          <a:lstStyle/>
          <a:p>
            <a:pPr indent="0" marL="0">
              <a:buNone/>
            </a:pPr>
            <a:r>
              <a:rPr lang="en-US" sz="1300" dirty="0">
                <a:solidFill>
                  <a:schemeClr val="tx1"/>
                </a:solidFill>
              </a:rPr>
              <a:t>Unit tests: necessary, never sufficient</a:t>
            </a:r>
            <a:endParaRPr lang="en-US" sz="1300" dirty="0"/>
          </a:p>
        </p:txBody>
      </p:sp>
      <p:sp>
        <p:nvSpPr>
          <p:cNvPr id="40" name="pill-610"/>
          <p:cNvSpPr/>
          <p:nvPr/>
        </p:nvSpPr>
        <p:spPr>
          <a:xfrm>
            <a:off x="6995160" y="2231136"/>
            <a:ext cx="100584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150" b="1" dirty="0">
                <a:solidFill>
                  <a:schemeClr val="bg1"/>
                </a:solidFill>
              </a:rPr>
              <a:t>T2</a:t>
            </a:r>
            <a:endParaRPr lang="en-US" sz="1150" dirty="0"/>
          </a:p>
        </p:txBody>
      </p:sp>
      <p:sp>
        <p:nvSpPr>
          <p:cNvPr id="41" name="text-611"/>
          <p:cNvSpPr txBox="1"/>
          <p:nvPr/>
        </p:nvSpPr>
        <p:spPr>
          <a:xfrm>
            <a:off x="8138160" y="2176272"/>
            <a:ext cx="3504895" cy="438912"/>
          </a:xfrm>
          <a:prstGeom prst="rect">
            <a:avLst/>
          </a:prstGeom>
          <a:noFill/>
          <a:ln/>
        </p:spPr>
        <p:txBody>
          <a:bodyPr wrap="square" lIns="0" tIns="0" rIns="0" bIns="0" rtlCol="0" anchor="ctr"/>
          <a:lstStyle/>
          <a:p>
            <a:pPr indent="0" marL="0">
              <a:buNone/>
            </a:pPr>
            <a:r>
              <a:rPr lang="en-US" sz="1300" dirty="0">
                <a:solidFill>
                  <a:schemeClr val="tx1"/>
                </a:solidFill>
              </a:rPr>
              <a:t>Real containers: 159 passed</a:t>
            </a:r>
            <a:endParaRPr lang="en-US" sz="1300" dirty="0"/>
          </a:p>
        </p:txBody>
      </p:sp>
      <p:sp>
        <p:nvSpPr>
          <p:cNvPr id="42" name="pill-612"/>
          <p:cNvSpPr/>
          <p:nvPr/>
        </p:nvSpPr>
        <p:spPr>
          <a:xfrm>
            <a:off x="6995160" y="2761488"/>
            <a:ext cx="100584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150" b="1" dirty="0">
                <a:solidFill>
                  <a:schemeClr val="bg1"/>
                </a:solidFill>
              </a:rPr>
              <a:t>T3</a:t>
            </a:r>
            <a:endParaRPr lang="en-US" sz="1150" dirty="0"/>
          </a:p>
        </p:txBody>
      </p:sp>
      <p:sp>
        <p:nvSpPr>
          <p:cNvPr id="43" name="text-613"/>
          <p:cNvSpPr txBox="1"/>
          <p:nvPr/>
        </p:nvSpPr>
        <p:spPr>
          <a:xfrm>
            <a:off x="8138160" y="2706624"/>
            <a:ext cx="3504895" cy="438912"/>
          </a:xfrm>
          <a:prstGeom prst="rect">
            <a:avLst/>
          </a:prstGeom>
          <a:noFill/>
          <a:ln/>
        </p:spPr>
        <p:txBody>
          <a:bodyPr wrap="square" lIns="0" tIns="0" rIns="0" bIns="0" rtlCol="0" anchor="ctr"/>
          <a:lstStyle/>
          <a:p>
            <a:pPr indent="0" marL="0">
              <a:buNone/>
            </a:pPr>
            <a:r>
              <a:rPr lang="en-US" sz="1300" dirty="0">
                <a:solidFill>
                  <a:schemeClr val="tx1"/>
                </a:solidFill>
              </a:rPr>
              <a:t>Contracts and the 34-check conformance kit</a:t>
            </a:r>
            <a:endParaRPr lang="en-US" sz="1300" dirty="0"/>
          </a:p>
        </p:txBody>
      </p:sp>
      <p:sp>
        <p:nvSpPr>
          <p:cNvPr id="44" name="pill-614"/>
          <p:cNvSpPr/>
          <p:nvPr/>
        </p:nvSpPr>
        <p:spPr>
          <a:xfrm>
            <a:off x="6995160" y="3291840"/>
            <a:ext cx="100584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150" b="1" dirty="0">
                <a:solidFill>
                  <a:schemeClr val="bg1"/>
                </a:solidFill>
              </a:rPr>
              <a:t>T5</a:t>
            </a:r>
            <a:endParaRPr lang="en-US" sz="1150" dirty="0"/>
          </a:p>
        </p:txBody>
      </p:sp>
      <p:sp>
        <p:nvSpPr>
          <p:cNvPr id="45" name="text-615"/>
          <p:cNvSpPr txBox="1"/>
          <p:nvPr/>
        </p:nvSpPr>
        <p:spPr>
          <a:xfrm>
            <a:off x="8138160" y="3236976"/>
            <a:ext cx="3504895" cy="438912"/>
          </a:xfrm>
          <a:prstGeom prst="rect">
            <a:avLst/>
          </a:prstGeom>
          <a:noFill/>
          <a:ln/>
        </p:spPr>
        <p:txBody>
          <a:bodyPr wrap="square" lIns="0" tIns="0" rIns="0" bIns="0" rtlCol="0" anchor="ctr"/>
          <a:lstStyle/>
          <a:p>
            <a:pPr indent="0" marL="0">
              <a:buNone/>
            </a:pPr>
            <a:r>
              <a:rPr lang="en-US" sz="1300" dirty="0">
                <a:solidFill>
                  <a:schemeClr val="tx1"/>
                </a:solidFill>
              </a:rPr>
              <a:t>Assembled end-to-end: the done-gate, checked by I1 to I10</a:t>
            </a:r>
            <a:endParaRPr lang="en-US" sz="1300" dirty="0"/>
          </a:p>
        </p:txBody>
      </p:sp>
      <p:sp>
        <p:nvSpPr>
          <p:cNvPr id="46" name="pill-616"/>
          <p:cNvSpPr/>
          <p:nvPr/>
        </p:nvSpPr>
        <p:spPr>
          <a:xfrm>
            <a:off x="6995160" y="3822192"/>
            <a:ext cx="100584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150" b="1" dirty="0">
                <a:solidFill>
                  <a:schemeClr val="bg1"/>
                </a:solidFill>
              </a:rPr>
              <a:t>T4, T6, T7</a:t>
            </a:r>
            <a:endParaRPr lang="en-US" sz="1150" dirty="0"/>
          </a:p>
        </p:txBody>
      </p:sp>
      <p:sp>
        <p:nvSpPr>
          <p:cNvPr id="47" name="text-617"/>
          <p:cNvSpPr txBox="1"/>
          <p:nvPr/>
        </p:nvSpPr>
        <p:spPr>
          <a:xfrm>
            <a:off x="8138160" y="3767328"/>
            <a:ext cx="3504895" cy="438912"/>
          </a:xfrm>
          <a:prstGeom prst="rect">
            <a:avLst/>
          </a:prstGeom>
          <a:noFill/>
          <a:ln/>
        </p:spPr>
        <p:txBody>
          <a:bodyPr wrap="square" lIns="0" tIns="0" rIns="0" bIns="0" rtlCol="0" anchor="ctr"/>
          <a:lstStyle/>
          <a:p>
            <a:pPr indent="0" marL="0">
              <a:buNone/>
            </a:pPr>
            <a:r>
              <a:rPr lang="en-US" sz="1300" dirty="0">
                <a:solidFill>
                  <a:schemeClr val="tx2"/>
                </a:solidFill>
              </a:rPr>
              <a:t>Broker qualification, chaos and load: specified, pending</a:t>
            </a:r>
            <a:endParaRPr lang="en-US" sz="1300" dirty="0"/>
          </a:p>
        </p:txBody>
      </p:sp>
      <p:sp>
        <p:nvSpPr>
          <p:cNvPr id="48" name="card-618"/>
          <p:cNvSpPr/>
          <p:nvPr/>
        </p:nvSpPr>
        <p:spPr>
          <a:xfrm>
            <a:off x="6995160" y="4526280"/>
            <a:ext cx="4647895" cy="1463040"/>
          </a:xfrm>
          <a:prstGeom prst="roundRect">
            <a:avLst>
              <a:gd name="adj" fmla="val 5000"/>
            </a:avLst>
          </a:prstGeom>
          <a:solidFill>
            <a:schemeClr val="bg1"/>
          </a:solidFill>
          <a:ln w="9525">
            <a:solidFill>
              <a:schemeClr val="accent3"/>
            </a:solidFill>
            <a:prstDash val="solid"/>
          </a:ln>
        </p:spPr>
      </p:sp>
      <p:sp>
        <p:nvSpPr>
          <p:cNvPr id="49" name="badge-619"/>
          <p:cNvSpPr/>
          <p:nvPr/>
        </p:nvSpPr>
        <p:spPr>
          <a:xfrm>
            <a:off x="7196328" y="4709160"/>
            <a:ext cx="438912" cy="438912"/>
          </a:xfrm>
          <a:prstGeom prst="ellipse">
            <a:avLst/>
          </a:prstGeom>
          <a:solidFill>
            <a:schemeClr val="accent3"/>
          </a:solidFill>
          <a:ln/>
        </p:spPr>
      </p:sp>
      <p:pic>
        <p:nvPicPr>
          <p:cNvPr id="50" name="icon-TbBug-620" descr="Bug">    </p:cNvPr>
          <p:cNvPicPr>
            <a:picLocks noChangeAspect="1"/>
          </p:cNvPicPr>
          <p:nvPr/>
        </p:nvPicPr>
        <p:blipFill>
          <a:blip r:embed="rId1"/>
          <a:stretch>
            <a:fillRect/>
          </a:stretch>
        </p:blipFill>
        <p:spPr>
          <a:xfrm>
            <a:off x="7292889" y="4805721"/>
            <a:ext cx="245791" cy="245791"/>
          </a:xfrm>
          <a:prstGeom prst="rect">
            <a:avLst/>
          </a:prstGeom>
        </p:spPr>
      </p:pic>
      <p:sp>
        <p:nvSpPr>
          <p:cNvPr id="51" name="block-621"/>
          <p:cNvSpPr txBox="1"/>
          <p:nvPr/>
        </p:nvSpPr>
        <p:spPr>
          <a:xfrm>
            <a:off x="7772400" y="4663440"/>
            <a:ext cx="3687775" cy="1280160"/>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Why the end-to-end tier exists</a:t>
            </a:r>
            <a:endParaRPr lang="en-US" sz="1450" dirty="0"/>
          </a:p>
          <a:p>
            <a:pPr indent="0" marL="0">
              <a:spcAft>
                <a:spcPts val="200"/>
              </a:spcAft>
              <a:buNone/>
            </a:pPr>
            <a:r>
              <a:rPr lang="en-US" sz="1250" dirty="0">
                <a:solidFill>
                  <a:schemeClr val="tx2"/>
                </a:solidFill>
              </a:rPr>
              <a:t>The first assembled run found 2 defects no unit or integration suite could reach. Both were fixed the same day. Coverage: 88.2%.</a:t>
            </a:r>
            <a:endParaRPr lang="en-US" sz="14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CAPACITY</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OCR slots set throughput, and the gateway is 23–141× short</a:t>
            </a:r>
            <a:endParaRPr lang="en-US" sz="2800" dirty="0"/>
          </a:p>
        </p:txBody>
      </p:sp>
      <p:sp>
        <p:nvSpPr>
          <p:cNvPr id="5" name="code-622"/>
          <p:cNvSpPr/>
          <p:nvPr/>
        </p:nvSpPr>
        <p:spPr>
          <a:xfrm>
            <a:off x="548640" y="1645920"/>
            <a:ext cx="3749040" cy="1188720"/>
          </a:xfrm>
          <a:prstGeom prst="roundRect">
            <a:avLst>
              <a:gd name="adj" fmla="val 4615"/>
            </a:avLst>
          </a:prstGeom>
          <a:solidFill>
            <a:schemeClr val="tx1"/>
          </a:solidFill>
          <a:ln/>
        </p:spPr>
        <p:txBody>
          <a:bodyPr wrap="square" lIns="127000" tIns="114300" rIns="127000" bIns="10160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pages/s = 100,000 × 81 / 86,400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93.75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slots   = pages/s × 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 = slot-seconds per page</a:t>
            </a:r>
            <a:endParaRPr lang="en-US" sz="1200" dirty="0"/>
          </a:p>
        </p:txBody>
      </p:sp>
      <p:sp>
        <p:nvSpPr>
          <p:cNvPr id="6" name="text-623"/>
          <p:cNvSpPr txBox="1"/>
          <p:nvPr/>
        </p:nvSpPr>
        <p:spPr>
          <a:xfrm>
            <a:off x="548640" y="2944368"/>
            <a:ext cx="3749040" cy="566928"/>
          </a:xfrm>
          <a:prstGeom prst="rect">
            <a:avLst/>
          </a:prstGeom>
          <a:noFill/>
          <a:ln/>
        </p:spPr>
        <p:txBody>
          <a:bodyPr wrap="square" lIns="0" tIns="0" rIns="0" bIns="0" rtlCol="0" anchor="t"/>
          <a:lstStyle/>
          <a:p>
            <a:pPr indent="0" marL="0">
              <a:buNone/>
            </a:pPr>
            <a:r>
              <a:rPr lang="en-US" sz="1200" dirty="0">
                <a:solidFill>
                  <a:schemeClr val="tx2"/>
                </a:solidFill>
              </a:rPr>
              <a:t>s has not been measured yet, so every capacity figure is a range until the L3 qualification run.</a:t>
            </a:r>
            <a:endParaRPr lang="en-US" sz="1200" dirty="0"/>
          </a:p>
        </p:txBody>
      </p:sp>
      <p:sp>
        <p:nvSpPr>
          <p:cNvPr id="7" name="text-624"/>
          <p:cNvSpPr txBox="1"/>
          <p:nvPr/>
        </p:nvSpPr>
        <p:spPr>
          <a:xfrm>
            <a:off x="548640" y="3703320"/>
            <a:ext cx="3749040" cy="310896"/>
          </a:xfrm>
          <a:prstGeom prst="rect">
            <a:avLst/>
          </a:prstGeom>
          <a:noFill/>
          <a:ln/>
        </p:spPr>
        <p:txBody>
          <a:bodyPr wrap="square" lIns="0" tIns="0" rIns="0" bIns="0" rtlCol="0" anchor="ctr"/>
          <a:lstStyle/>
          <a:p>
            <a:pPr indent="0" marL="0">
              <a:buNone/>
            </a:pPr>
            <a:r>
              <a:rPr lang="en-US" sz="1300" b="1" dirty="0">
                <a:solidFill>
                  <a:schemeClr val="tx1"/>
                </a:solidFill>
              </a:rPr>
              <a:t>Gateway slots for 100k documents a day</a:t>
            </a:r>
            <a:endParaRPr lang="en-US" sz="1300" dirty="0"/>
          </a:p>
        </p:txBody>
      </p:sp>
      <p:sp>
        <p:nvSpPr>
          <p:cNvPr id="8" name="col-625"/>
          <p:cNvSpPr/>
          <p:nvPr/>
        </p:nvSpPr>
        <p:spPr>
          <a:xfrm>
            <a:off x="736092" y="5833872"/>
            <a:ext cx="562356" cy="27432"/>
          </a:xfrm>
          <a:prstGeom prst="rect">
            <a:avLst/>
          </a:prstGeom>
          <a:solidFill>
            <a:schemeClr val="accent3"/>
          </a:solidFill>
          <a:ln/>
        </p:spPr>
      </p:sp>
      <p:sp>
        <p:nvSpPr>
          <p:cNvPr id="9" name="text-626"/>
          <p:cNvSpPr txBox="1"/>
          <p:nvPr/>
        </p:nvSpPr>
        <p:spPr>
          <a:xfrm>
            <a:off x="548640" y="5559552"/>
            <a:ext cx="937260" cy="274320"/>
          </a:xfrm>
          <a:prstGeom prst="rect">
            <a:avLst/>
          </a:prstGeom>
          <a:noFill/>
          <a:ln/>
        </p:spPr>
        <p:txBody>
          <a:bodyPr wrap="square" lIns="0" tIns="0" rIns="0" bIns="0" rtlCol="0" anchor="b"/>
          <a:lstStyle/>
          <a:p>
            <a:pPr algn="ctr" indent="0" marL="0">
              <a:buNone/>
            </a:pPr>
            <a:r>
              <a:rPr lang="en-US" sz="1150" b="1" dirty="0">
                <a:solidFill>
                  <a:schemeClr val="tx1"/>
                </a:solidFill>
              </a:rPr>
              <a:t>4</a:t>
            </a:r>
            <a:endParaRPr lang="en-US" sz="1150" dirty="0"/>
          </a:p>
        </p:txBody>
      </p:sp>
      <p:sp>
        <p:nvSpPr>
          <p:cNvPr id="10" name="text-627"/>
          <p:cNvSpPr txBox="1"/>
          <p:nvPr/>
        </p:nvSpPr>
        <p:spPr>
          <a:xfrm>
            <a:off x="548640" y="5897880"/>
            <a:ext cx="937260" cy="292608"/>
          </a:xfrm>
          <a:prstGeom prst="rect">
            <a:avLst/>
          </a:prstGeom>
          <a:noFill/>
          <a:ln/>
        </p:spPr>
        <p:txBody>
          <a:bodyPr wrap="square" lIns="0" tIns="0" rIns="0" bIns="0" rtlCol="0" anchor="t"/>
          <a:lstStyle/>
          <a:p>
            <a:pPr algn="ctr" indent="0" marL="0">
              <a:buNone/>
            </a:pPr>
            <a:r>
              <a:rPr lang="en-US" sz="1150" dirty="0">
                <a:solidFill>
                  <a:schemeClr val="tx2"/>
                </a:solidFill>
              </a:rPr>
              <a:t>Today</a:t>
            </a:r>
            <a:endParaRPr lang="en-US" sz="1150" dirty="0"/>
          </a:p>
        </p:txBody>
      </p:sp>
      <p:sp>
        <p:nvSpPr>
          <p:cNvPr id="11" name="col-628"/>
          <p:cNvSpPr/>
          <p:nvPr/>
        </p:nvSpPr>
        <p:spPr>
          <a:xfrm>
            <a:off x="1673352" y="5623138"/>
            <a:ext cx="562356" cy="238166"/>
          </a:xfrm>
          <a:prstGeom prst="rect">
            <a:avLst/>
          </a:prstGeom>
          <a:solidFill>
            <a:schemeClr val="accent2"/>
          </a:solidFill>
          <a:ln/>
        </p:spPr>
      </p:sp>
      <p:sp>
        <p:nvSpPr>
          <p:cNvPr id="12" name="text-629"/>
          <p:cNvSpPr txBox="1"/>
          <p:nvPr/>
        </p:nvSpPr>
        <p:spPr>
          <a:xfrm>
            <a:off x="1485900" y="5348818"/>
            <a:ext cx="937260" cy="274320"/>
          </a:xfrm>
          <a:prstGeom prst="rect">
            <a:avLst/>
          </a:prstGeom>
          <a:noFill/>
          <a:ln/>
        </p:spPr>
        <p:txBody>
          <a:bodyPr wrap="square" lIns="0" tIns="0" rIns="0" bIns="0" rtlCol="0" anchor="b"/>
          <a:lstStyle/>
          <a:p>
            <a:pPr algn="ctr" indent="0" marL="0">
              <a:buNone/>
            </a:pPr>
            <a:r>
              <a:rPr lang="en-US" sz="1150" b="1" dirty="0">
                <a:solidFill>
                  <a:schemeClr val="tx1"/>
                </a:solidFill>
              </a:rPr>
              <a:t>94</a:t>
            </a:r>
            <a:endParaRPr lang="en-US" sz="1150" dirty="0"/>
          </a:p>
        </p:txBody>
      </p:sp>
      <p:sp>
        <p:nvSpPr>
          <p:cNvPr id="13" name="text-630"/>
          <p:cNvSpPr txBox="1"/>
          <p:nvPr/>
        </p:nvSpPr>
        <p:spPr>
          <a:xfrm>
            <a:off x="1485900" y="5897880"/>
            <a:ext cx="937260" cy="292608"/>
          </a:xfrm>
          <a:prstGeom prst="rect">
            <a:avLst/>
          </a:prstGeom>
          <a:noFill/>
          <a:ln/>
        </p:spPr>
        <p:txBody>
          <a:bodyPr wrap="square" lIns="0" tIns="0" rIns="0" bIns="0" rtlCol="0" anchor="t"/>
          <a:lstStyle/>
          <a:p>
            <a:pPr algn="ctr" indent="0" marL="0">
              <a:buNone/>
            </a:pPr>
            <a:r>
              <a:rPr lang="en-US" sz="1150" dirty="0">
                <a:solidFill>
                  <a:schemeClr val="tx2"/>
                </a:solidFill>
              </a:rPr>
              <a:t>s = 1</a:t>
            </a:r>
            <a:endParaRPr lang="en-US" sz="1150" dirty="0"/>
          </a:p>
        </p:txBody>
      </p:sp>
      <p:sp>
        <p:nvSpPr>
          <p:cNvPr id="14" name="col-631"/>
          <p:cNvSpPr/>
          <p:nvPr/>
        </p:nvSpPr>
        <p:spPr>
          <a:xfrm>
            <a:off x="2610612" y="5146805"/>
            <a:ext cx="562356" cy="714499"/>
          </a:xfrm>
          <a:prstGeom prst="rect">
            <a:avLst/>
          </a:prstGeom>
          <a:solidFill>
            <a:schemeClr val="accent2"/>
          </a:solidFill>
          <a:ln/>
        </p:spPr>
      </p:sp>
      <p:sp>
        <p:nvSpPr>
          <p:cNvPr id="15" name="text-632"/>
          <p:cNvSpPr txBox="1"/>
          <p:nvPr/>
        </p:nvSpPr>
        <p:spPr>
          <a:xfrm>
            <a:off x="2423160" y="4872485"/>
            <a:ext cx="937260" cy="274320"/>
          </a:xfrm>
          <a:prstGeom prst="rect">
            <a:avLst/>
          </a:prstGeom>
          <a:noFill/>
          <a:ln/>
        </p:spPr>
        <p:txBody>
          <a:bodyPr wrap="square" lIns="0" tIns="0" rIns="0" bIns="0" rtlCol="0" anchor="b"/>
          <a:lstStyle/>
          <a:p>
            <a:pPr algn="ctr" indent="0" marL="0">
              <a:buNone/>
            </a:pPr>
            <a:r>
              <a:rPr lang="en-US" sz="1150" b="1" dirty="0">
                <a:solidFill>
                  <a:schemeClr val="tx1"/>
                </a:solidFill>
              </a:rPr>
              <a:t>282</a:t>
            </a:r>
            <a:endParaRPr lang="en-US" sz="1150" dirty="0"/>
          </a:p>
        </p:txBody>
      </p:sp>
      <p:sp>
        <p:nvSpPr>
          <p:cNvPr id="16" name="text-633"/>
          <p:cNvSpPr txBox="1"/>
          <p:nvPr/>
        </p:nvSpPr>
        <p:spPr>
          <a:xfrm>
            <a:off x="2423160" y="5897880"/>
            <a:ext cx="937260" cy="292608"/>
          </a:xfrm>
          <a:prstGeom prst="rect">
            <a:avLst/>
          </a:prstGeom>
          <a:noFill/>
          <a:ln/>
        </p:spPr>
        <p:txBody>
          <a:bodyPr wrap="square" lIns="0" tIns="0" rIns="0" bIns="0" rtlCol="0" anchor="t"/>
          <a:lstStyle/>
          <a:p>
            <a:pPr algn="ctr" indent="0" marL="0">
              <a:buNone/>
            </a:pPr>
            <a:r>
              <a:rPr lang="en-US" sz="1150" dirty="0">
                <a:solidFill>
                  <a:schemeClr val="tx2"/>
                </a:solidFill>
              </a:rPr>
              <a:t>s = 3</a:t>
            </a:r>
            <a:endParaRPr lang="en-US" sz="1150" dirty="0"/>
          </a:p>
        </p:txBody>
      </p:sp>
      <p:sp>
        <p:nvSpPr>
          <p:cNvPr id="17" name="col-634"/>
          <p:cNvSpPr/>
          <p:nvPr/>
        </p:nvSpPr>
        <p:spPr>
          <a:xfrm>
            <a:off x="3547872" y="4434840"/>
            <a:ext cx="562356" cy="1426464"/>
          </a:xfrm>
          <a:prstGeom prst="rect">
            <a:avLst/>
          </a:prstGeom>
          <a:solidFill>
            <a:schemeClr val="accent2"/>
          </a:solidFill>
          <a:ln/>
        </p:spPr>
      </p:sp>
      <p:sp>
        <p:nvSpPr>
          <p:cNvPr id="18" name="text-635"/>
          <p:cNvSpPr txBox="1"/>
          <p:nvPr/>
        </p:nvSpPr>
        <p:spPr>
          <a:xfrm>
            <a:off x="3360420" y="4160520"/>
            <a:ext cx="937260" cy="274320"/>
          </a:xfrm>
          <a:prstGeom prst="rect">
            <a:avLst/>
          </a:prstGeom>
          <a:noFill/>
          <a:ln/>
        </p:spPr>
        <p:txBody>
          <a:bodyPr wrap="square" lIns="0" tIns="0" rIns="0" bIns="0" rtlCol="0" anchor="b"/>
          <a:lstStyle/>
          <a:p>
            <a:pPr algn="ctr" indent="0" marL="0">
              <a:buNone/>
            </a:pPr>
            <a:r>
              <a:rPr lang="en-US" sz="1150" b="1" dirty="0">
                <a:solidFill>
                  <a:schemeClr val="tx1"/>
                </a:solidFill>
              </a:rPr>
              <a:t>563</a:t>
            </a:r>
            <a:endParaRPr lang="en-US" sz="1150" dirty="0"/>
          </a:p>
        </p:txBody>
      </p:sp>
      <p:sp>
        <p:nvSpPr>
          <p:cNvPr id="19" name="text-636"/>
          <p:cNvSpPr txBox="1"/>
          <p:nvPr/>
        </p:nvSpPr>
        <p:spPr>
          <a:xfrm>
            <a:off x="3360420" y="5897880"/>
            <a:ext cx="937260" cy="292608"/>
          </a:xfrm>
          <a:prstGeom prst="rect">
            <a:avLst/>
          </a:prstGeom>
          <a:noFill/>
          <a:ln/>
        </p:spPr>
        <p:txBody>
          <a:bodyPr wrap="square" lIns="0" tIns="0" rIns="0" bIns="0" rtlCol="0" anchor="t"/>
          <a:lstStyle/>
          <a:p>
            <a:pPr algn="ctr" indent="0" marL="0">
              <a:buNone/>
            </a:pPr>
            <a:r>
              <a:rPr lang="en-US" sz="1150" dirty="0">
                <a:solidFill>
                  <a:schemeClr val="tx2"/>
                </a:solidFill>
              </a:rPr>
              <a:t>s = 6</a:t>
            </a:r>
            <a:endParaRPr lang="en-US" sz="1150" dirty="0"/>
          </a:p>
        </p:txBody>
      </p:sp>
      <p:sp>
        <p:nvSpPr>
          <p:cNvPr id="20" name="link-637"/>
          <p:cNvSpPr/>
          <p:nvPr/>
        </p:nvSpPr>
        <p:spPr>
          <a:xfrm>
            <a:off x="548640" y="5861304"/>
            <a:ext cx="3749040" cy="0"/>
          </a:xfrm>
          <a:prstGeom prst="line">
            <a:avLst/>
          </a:prstGeom>
          <a:noFill/>
          <a:ln w="12700">
            <a:solidFill>
              <a:schemeClr val="accent6"/>
            </a:solidFill>
            <a:prstDash val="solid"/>
          </a:ln>
        </p:spPr>
      </p:sp>
      <p:sp>
        <p:nvSpPr>
          <p:cNvPr id="21" name="text-638"/>
          <p:cNvSpPr txBox="1"/>
          <p:nvPr/>
        </p:nvSpPr>
        <p:spPr>
          <a:xfrm>
            <a:off x="4617720" y="1645920"/>
            <a:ext cx="7025335" cy="365760"/>
          </a:xfrm>
          <a:prstGeom prst="rect">
            <a:avLst/>
          </a:prstGeom>
          <a:noFill/>
          <a:ln/>
        </p:spPr>
        <p:txBody>
          <a:bodyPr wrap="square" lIns="0" tIns="0" rIns="0" bIns="0" rtlCol="0" anchor="t"/>
          <a:lstStyle/>
          <a:p>
            <a:pPr indent="0" marL="0">
              <a:buNone/>
            </a:pPr>
            <a:r>
              <a:rPr lang="en-US" sz="1700" b="1" dirty="0">
                <a:solidFill>
                  <a:schemeClr val="tx1"/>
                </a:solidFill>
              </a:rPr>
              <a:t>What closes the gap</a:t>
            </a:r>
            <a:endParaRPr lang="en-US" sz="1700" dirty="0"/>
          </a:p>
        </p:txBody>
      </p:sp>
      <p:sp>
        <p:nvSpPr>
          <p:cNvPr id="22" name="chip-639"/>
          <p:cNvSpPr/>
          <p:nvPr/>
        </p:nvSpPr>
        <p:spPr>
          <a:xfrm>
            <a:off x="4617720" y="212140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3" name="block-640"/>
          <p:cNvSpPr txBox="1"/>
          <p:nvPr/>
        </p:nvSpPr>
        <p:spPr>
          <a:xfrm>
            <a:off x="5184648" y="2103120"/>
            <a:ext cx="6458407" cy="8686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More gateway cells</a:t>
            </a:r>
            <a:endParaRPr lang="en-US" sz="1500" dirty="0"/>
          </a:p>
          <a:p>
            <a:pPr indent="0" marL="0">
              <a:spcAft>
                <a:spcPts val="200"/>
              </a:spcAft>
              <a:buNone/>
            </a:pPr>
            <a:r>
              <a:rPr lang="en-US" sz="1300" dirty="0">
                <a:solidFill>
                  <a:schemeClr val="tx2"/>
                </a:solidFill>
              </a:rPr>
              <a:t>Between 12 and 71 cells sustained (22 to 129 with burst), at 8 concurrent analyses per cell.</a:t>
            </a:r>
            <a:endParaRPr lang="en-US" sz="1500" dirty="0"/>
          </a:p>
        </p:txBody>
      </p:sp>
      <p:sp>
        <p:nvSpPr>
          <p:cNvPr id="24" name="chip-641"/>
          <p:cNvSpPr/>
          <p:nvPr/>
        </p:nvSpPr>
        <p:spPr>
          <a:xfrm>
            <a:off x="4617720" y="303580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5" name="block-642"/>
          <p:cNvSpPr txBox="1"/>
          <p:nvPr/>
        </p:nvSpPr>
        <p:spPr>
          <a:xfrm>
            <a:off x="5184648" y="3017520"/>
            <a:ext cx="6458407" cy="8686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Cores behind each slot</a:t>
            </a:r>
            <a:endParaRPr lang="en-US" sz="1500" dirty="0"/>
          </a:p>
          <a:p>
            <a:pPr indent="0" marL="0">
              <a:spcAft>
                <a:spcPts val="200"/>
              </a:spcAft>
              <a:buNone/>
            </a:pPr>
            <a:r>
              <a:rPr lang="en-US" sz="1300" dirty="0">
                <a:solidFill>
                  <a:schemeClr val="tx2"/>
                </a:solidFill>
              </a:rPr>
              <a:t>Raise DI_MAX_INFLIGHT from 4 to 8, backed by 8 cores and 16 to 24 GB per Layout container.</a:t>
            </a:r>
            <a:endParaRPr lang="en-US" sz="1500" dirty="0"/>
          </a:p>
        </p:txBody>
      </p:sp>
      <p:sp>
        <p:nvSpPr>
          <p:cNvPr id="26" name="chip-643"/>
          <p:cNvSpPr/>
          <p:nvPr/>
        </p:nvSpPr>
        <p:spPr>
          <a:xfrm>
            <a:off x="4617720" y="395020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block-644"/>
          <p:cNvSpPr txBox="1"/>
          <p:nvPr/>
        </p:nvSpPr>
        <p:spPr>
          <a:xfrm>
            <a:off x="5184648" y="3931920"/>
            <a:ext cx="6458407" cy="8686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Smaller s through fan-out</a:t>
            </a:r>
            <a:endParaRPr lang="en-US" sz="1500" dirty="0"/>
          </a:p>
          <a:p>
            <a:pPr indent="0" marL="0">
              <a:spcAft>
                <a:spcPts val="200"/>
              </a:spcAft>
              <a:buNone/>
            </a:pPr>
            <a:r>
              <a:rPr lang="en-US" sz="1300" dirty="0">
                <a:solidFill>
                  <a:schemeClr val="tx2"/>
                </a:solidFill>
              </a:rPr>
              <a:t>Slicing is the only measured speed lever: 15 to 30 times faster on long documents.</a:t>
            </a:r>
            <a:endParaRPr lang="en-US" sz="1500" dirty="0"/>
          </a:p>
        </p:txBody>
      </p:sp>
      <p:sp>
        <p:nvSpPr>
          <p:cNvPr id="28" name="card-645"/>
          <p:cNvSpPr/>
          <p:nvPr/>
        </p:nvSpPr>
        <p:spPr>
          <a:xfrm>
            <a:off x="4617720" y="4983480"/>
            <a:ext cx="7025335" cy="1051560"/>
          </a:xfrm>
          <a:prstGeom prst="roundRect">
            <a:avLst>
              <a:gd name="adj" fmla="val 6957"/>
            </a:avLst>
          </a:prstGeom>
          <a:solidFill>
            <a:schemeClr val="tx1"/>
          </a:solidFill>
          <a:ln/>
        </p:spPr>
      </p:sp>
      <p:sp>
        <p:nvSpPr>
          <p:cNvPr id="29" name="badge-646"/>
          <p:cNvSpPr/>
          <p:nvPr/>
        </p:nvSpPr>
        <p:spPr>
          <a:xfrm>
            <a:off x="4846320" y="5120640"/>
            <a:ext cx="457200" cy="457200"/>
          </a:xfrm>
          <a:prstGeom prst="ellipse">
            <a:avLst/>
          </a:prstGeom>
          <a:solidFill>
            <a:schemeClr val="accent1"/>
          </a:solidFill>
          <a:ln/>
        </p:spPr>
      </p:sp>
      <p:pic>
        <p:nvPicPr>
          <p:cNvPr id="30" name="icon-TbScale-647" descr="Scale">    </p:cNvPr>
          <p:cNvPicPr>
            <a:picLocks noChangeAspect="1"/>
          </p:cNvPicPr>
          <p:nvPr/>
        </p:nvPicPr>
        <p:blipFill>
          <a:blip r:embed="rId1"/>
          <a:stretch>
            <a:fillRect/>
          </a:stretch>
        </p:blipFill>
        <p:spPr>
          <a:xfrm>
            <a:off x="4946904" y="5221224"/>
            <a:ext cx="256032" cy="256032"/>
          </a:xfrm>
          <a:prstGeom prst="rect">
            <a:avLst/>
          </a:prstGeom>
        </p:spPr>
      </p:pic>
      <p:sp>
        <p:nvSpPr>
          <p:cNvPr id="31" name="block-648"/>
          <p:cNvSpPr txBox="1"/>
          <p:nvPr/>
        </p:nvSpPr>
        <p:spPr>
          <a:xfrm>
            <a:off x="5486400" y="5093208"/>
            <a:ext cx="5928055" cy="868680"/>
          </a:xfrm>
          <a:prstGeom prst="rect">
            <a:avLst/>
          </a:prstGeom>
          <a:noFill/>
          <a:ln/>
        </p:spPr>
        <p:txBody>
          <a:bodyPr wrap="square" lIns="0" tIns="0" rIns="0" bIns="0" rtlCol="0" anchor="t"/>
          <a:lstStyle/>
          <a:p>
            <a:pPr indent="0" marL="0">
              <a:spcAft>
                <a:spcPts val="400"/>
              </a:spcAft>
              <a:buNone/>
            </a:pPr>
            <a:r>
              <a:rPr lang="en-US" sz="1500" b="1" dirty="0">
                <a:solidFill>
                  <a:schemeClr val="bg1"/>
                </a:solidFill>
              </a:rPr>
              <a:t>Not more pods: autoscaling cannot close this gap</a:t>
            </a:r>
            <a:endParaRPr lang="en-US" sz="1500" dirty="0"/>
          </a:p>
          <a:p>
            <a:pPr indent="0" marL="0">
              <a:spcAft>
                <a:spcPts val="200"/>
              </a:spcAft>
              <a:buNone/>
            </a:pPr>
            <a:r>
              <a:rPr lang="en-US" sz="1300" dirty="0">
                <a:solidFill>
                  <a:schemeClr val="accent5"/>
                </a:solidFill>
              </a:rPr>
              <a:t>Until s is measured, a release publishes its measured ceiling and never claims 100k a day.</a:t>
            </a:r>
            <a:endParaRPr lang="en-US" sz="15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DEPLOYMENT</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Deploys to OpenShift with one overlay per environment</a:t>
            </a:r>
            <a:endParaRPr lang="en-US" sz="2800" dirty="0"/>
          </a:p>
        </p:txBody>
      </p:sp>
      <p:graphicFrame>
        <p:nvGraphicFramePr>
          <p:cNvPr id="24" name="table-649"/>
          <p:cNvGraphicFramePr>
            <a:graphicFrameLocks noGrp="1"/>
          </p:cNvGraphicFramePr>
          <p:nvPr>
            <p:extLst>
              <p:ext uri="{D42A27DB-BD31-4B8C-83A1-F6EECF244321}">
                <p14:modId xmlns:p14="http://schemas.microsoft.com/office/powerpoint/2010/main" val="1579011935"/>
              </p:ext>
            </p:extLst>
          </p:nvPr>
        </p:nvGraphicFramePr>
        <p:xfrm>
          <a:off x="548640" y="1645920"/>
          <a:ext cx="6675120" cy="914400"/>
        </p:xfrm>
        <a:graphic>
          <a:graphicData uri="http://schemas.openxmlformats.org/drawingml/2006/table">
            <a:tbl>
              <a:tblPr/>
              <a:tblGrid>
                <a:gridCol w="960120"/>
                <a:gridCol w="2971800"/>
                <a:gridCol w="2743200"/>
              </a:tblGrid>
              <a:tr h="566928">
                <a:tc>
                  <a:txBody>
                    <a:bodyPr/>
                    <a:lstStyle/>
                    <a:p>
                      <a:pPr indent="0" marL="0">
                        <a:buNone/>
                      </a:pPr>
                      <a:r>
                        <a:rPr lang="en-US" sz="1200" b="1" dirty="0">
                          <a:solidFill>
                            <a:schemeClr val="bg1"/>
                          </a:solidFill>
                        </a:rPr>
                        <a:t>Overlay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Components</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Systems of record</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r>
              <a:tr h="566928">
                <a:tc>
                  <a:txBody>
                    <a:bodyPr/>
                    <a:lstStyle/>
                    <a:p>
                      <a:pPr indent="0" marL="0">
                        <a:buNone/>
                      </a:pPr>
                      <a:r>
                        <a:rPr lang="en-US" sz="1200" dirty="0">
                          <a:solidFill>
                            <a:schemeClr val="tx1"/>
                          </a:solidFill>
                        </a:rPr>
                        <a:t>dev</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00" dirty="0">
                          <a:solidFill>
                            <a:schemeClr val="tx1"/>
                          </a:solidFill>
                        </a:rPr>
                        <a:t>postgres, rabbitmq-external, infra-mocks, ocr-cell</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00" dirty="0">
                          <a:solidFill>
                            <a:schemeClr val="tx1"/>
                          </a:solidFill>
                        </a:rPr>
                        <a:t>Oracle Free, MinIO, Azure mocks; 1 gateway cell</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566928">
                <a:tc>
                  <a:txBody>
                    <a:bodyPr/>
                    <a:lstStyle/>
                    <a:p>
                      <a:pPr indent="0" marL="0">
                        <a:buNone/>
                      </a:pPr>
                      <a:r>
                        <a:rPr lang="en-US" sz="1200" dirty="0">
                          <a:solidFill>
                            <a:schemeClr val="tx1"/>
                          </a:solidFill>
                        </a:rPr>
                        <a:t>perf</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same shape, perf capacity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mocks; 250k backlog, soak, chaos monkey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566928">
                <a:tc>
                  <a:txBody>
                    <a:bodyPr/>
                    <a:lstStyle/>
                    <a:p>
                      <a:pPr indent="0" marL="0">
                        <a:buNone/>
                      </a:pPr>
                      <a:r>
                        <a:rPr lang="en-US" sz="1200" dirty="0">
                          <a:solidFill>
                            <a:schemeClr val="tx1"/>
                          </a:solidFill>
                        </a:rPr>
                        <a:t>staging</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00" dirty="0">
                          <a:solidFill>
                            <a:schemeClr val="tx1"/>
                          </a:solidFill>
                        </a:rPr>
                        <a:t>rabbitmq-external (postgres optional)</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200" dirty="0">
                          <a:solidFill>
                            <a:schemeClr val="tx1"/>
                          </a:solidFill>
                        </a:rPr>
                        <a:t>real Oracle, S3 and 4 gateway cells</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r>
              <a:tr h="566928">
                <a:tc>
                  <a:txBody>
                    <a:bodyPr/>
                    <a:lstStyle/>
                    <a:p>
                      <a:pPr indent="0" marL="0">
                        <a:buNone/>
                      </a:pPr>
                      <a:r>
                        <a:rPr lang="en-US" sz="1200" dirty="0">
                          <a:solidFill>
                            <a:schemeClr val="tx1"/>
                          </a:solidFill>
                        </a:rPr>
                        <a:t>prod</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rabbitmq-external; no mocks, by policy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real systems; two-person admin approvals</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bl>
          </a:graphicData>
        </a:graphic>
      </p:graphicFrame>
      <p:sp>
        <p:nvSpPr>
          <p:cNvPr id="6" name="text-650"/>
          <p:cNvSpPr txBox="1"/>
          <p:nvPr/>
        </p:nvSpPr>
        <p:spPr>
          <a:xfrm>
            <a:off x="548640" y="4617720"/>
            <a:ext cx="6675120" cy="411480"/>
          </a:xfrm>
          <a:prstGeom prst="rect">
            <a:avLst/>
          </a:prstGeom>
          <a:noFill/>
          <a:ln/>
        </p:spPr>
        <p:txBody>
          <a:bodyPr wrap="square" lIns="0" tIns="0" rIns="0" bIns="0" rtlCol="0" anchor="t"/>
          <a:lstStyle/>
          <a:p>
            <a:pPr indent="0" marL="0">
              <a:buNone/>
            </a:pPr>
            <a:r>
              <a:rPr lang="en-US" sz="1200" dirty="0">
                <a:solidFill>
                  <a:schemeClr val="tx2"/>
                </a:solidFill>
              </a:rPr>
              <a:t>Always on: default-deny network policies, KEDA on queue depth, monitoring. Only Oracle, S3 and Azure are ever mocked.</a:t>
            </a:r>
            <a:endParaRPr lang="en-US" sz="1200" dirty="0"/>
          </a:p>
        </p:txBody>
      </p:sp>
      <p:sp>
        <p:nvSpPr>
          <p:cNvPr id="7" name="card-651"/>
          <p:cNvSpPr/>
          <p:nvPr/>
        </p:nvSpPr>
        <p:spPr>
          <a:xfrm>
            <a:off x="548640" y="5120640"/>
            <a:ext cx="6675120" cy="1024128"/>
          </a:xfrm>
          <a:prstGeom prst="roundRect">
            <a:avLst>
              <a:gd name="adj" fmla="val 7143"/>
            </a:avLst>
          </a:prstGeom>
          <a:solidFill>
            <a:schemeClr val="bg1"/>
          </a:solidFill>
          <a:ln w="9525">
            <a:solidFill>
              <a:schemeClr val="accent6"/>
            </a:solidFill>
            <a:prstDash val="solid"/>
          </a:ln>
        </p:spPr>
      </p:sp>
      <p:sp>
        <p:nvSpPr>
          <p:cNvPr id="8" name="badge-652"/>
          <p:cNvSpPr/>
          <p:nvPr/>
        </p:nvSpPr>
        <p:spPr>
          <a:xfrm>
            <a:off x="749808" y="5303520"/>
            <a:ext cx="457200" cy="457200"/>
          </a:xfrm>
          <a:prstGeom prst="ellipse">
            <a:avLst/>
          </a:prstGeom>
          <a:solidFill>
            <a:schemeClr val="accent2"/>
          </a:solidFill>
          <a:ln/>
        </p:spPr>
      </p:sp>
      <p:pic>
        <p:nvPicPr>
          <p:cNvPr id="9" name="icon-TbArrowBackUp-653" descr="ArrowBackUp">    </p:cNvPr>
          <p:cNvPicPr>
            <a:picLocks noChangeAspect="1"/>
          </p:cNvPicPr>
          <p:nvPr/>
        </p:nvPicPr>
        <p:blipFill>
          <a:blip r:embed="rId1"/>
          <a:stretch>
            <a:fillRect/>
          </a:stretch>
        </p:blipFill>
        <p:spPr>
          <a:xfrm>
            <a:off x="850392" y="5404104"/>
            <a:ext cx="256032" cy="256032"/>
          </a:xfrm>
          <a:prstGeom prst="rect">
            <a:avLst/>
          </a:prstGeom>
        </p:spPr>
      </p:pic>
      <p:sp>
        <p:nvSpPr>
          <p:cNvPr id="10" name="block-654"/>
          <p:cNvSpPr txBox="1"/>
          <p:nvPr/>
        </p:nvSpPr>
        <p:spPr>
          <a:xfrm>
            <a:off x="1371600" y="5230368"/>
            <a:ext cx="5669280" cy="86868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Rollback without fear</a:t>
            </a:r>
            <a:endParaRPr lang="en-US" sz="1400" dirty="0"/>
          </a:p>
          <a:p>
            <a:pPr indent="0" marL="0">
              <a:spcAft>
                <a:spcPts val="200"/>
              </a:spcAft>
              <a:buNone/>
            </a:pPr>
            <a:r>
              <a:rPr lang="en-US" sz="1250" dirty="0">
                <a:solidFill>
                  <a:schemeClr val="tx2"/>
                </a:solidFill>
              </a:rPr>
              <a:t>Deploy by digest only; roll back with oc rollout undo. Migrations expand first, contract later, and are never rolled back.</a:t>
            </a:r>
            <a:endParaRPr lang="en-US" sz="1400" dirty="0"/>
          </a:p>
        </p:txBody>
      </p:sp>
      <p:sp>
        <p:nvSpPr>
          <p:cNvPr id="11" name="text-655"/>
          <p:cNvSpPr txBox="1"/>
          <p:nvPr/>
        </p:nvSpPr>
        <p:spPr>
          <a:xfrm>
            <a:off x="7543800" y="1645920"/>
            <a:ext cx="4099255" cy="329184"/>
          </a:xfrm>
          <a:prstGeom prst="rect">
            <a:avLst/>
          </a:prstGeom>
          <a:noFill/>
          <a:ln/>
        </p:spPr>
        <p:txBody>
          <a:bodyPr wrap="square" lIns="0" tIns="0" rIns="0" bIns="0" rtlCol="0" anchor="t"/>
          <a:lstStyle/>
          <a:p>
            <a:pPr indent="0" marL="0">
              <a:buNone/>
            </a:pPr>
            <a:r>
              <a:rPr lang="en-US" sz="1500" b="1" dirty="0">
                <a:solidFill>
                  <a:schemeClr val="tx1"/>
                </a:solidFill>
              </a:rPr>
              <a:t>Apply order, with waits</a:t>
            </a:r>
            <a:endParaRPr lang="en-US" sz="1500" dirty="0"/>
          </a:p>
        </p:txBody>
      </p:sp>
      <p:sp>
        <p:nvSpPr>
          <p:cNvPr id="12" name="chip-656"/>
          <p:cNvSpPr/>
          <p:nvPr/>
        </p:nvSpPr>
        <p:spPr>
          <a:xfrm>
            <a:off x="7543800" y="2103120"/>
            <a:ext cx="292608" cy="292608"/>
          </a:xfrm>
          <a:prstGeom prst="ellipse">
            <a:avLst/>
          </a:prstGeom>
          <a:solidFill>
            <a:schemeClr val="accent1"/>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13" name="text-657"/>
          <p:cNvSpPr txBox="1"/>
          <p:nvPr/>
        </p:nvSpPr>
        <p:spPr>
          <a:xfrm>
            <a:off x="7955280" y="2057400"/>
            <a:ext cx="3687775" cy="402336"/>
          </a:xfrm>
          <a:prstGeom prst="rect">
            <a:avLst/>
          </a:prstGeom>
          <a:noFill/>
          <a:ln/>
        </p:spPr>
        <p:txBody>
          <a:bodyPr wrap="square" lIns="0" tIns="0" rIns="0" bIns="0" rtlCol="0" anchor="ctr"/>
          <a:lstStyle/>
          <a:p>
            <a:pPr indent="0" marL="0">
              <a:buNone/>
            </a:pPr>
            <a:r>
              <a:rPr lang="en-US" sz="1250" dirty="0">
                <a:solidFill>
                  <a:schemeClr val="tx1"/>
                </a:solidFill>
              </a:rPr>
              <a:t>Prerequisites and secrets</a:t>
            </a:r>
            <a:endParaRPr lang="en-US" sz="1250" dirty="0"/>
          </a:p>
        </p:txBody>
      </p:sp>
      <p:sp>
        <p:nvSpPr>
          <p:cNvPr id="14" name="chip-658"/>
          <p:cNvSpPr/>
          <p:nvPr/>
        </p:nvSpPr>
        <p:spPr>
          <a:xfrm>
            <a:off x="7543800" y="2560320"/>
            <a:ext cx="292608" cy="292608"/>
          </a:xfrm>
          <a:prstGeom prst="ellipse">
            <a:avLst/>
          </a:prstGeom>
          <a:solidFill>
            <a:schemeClr val="accent1"/>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15" name="text-659"/>
          <p:cNvSpPr txBox="1"/>
          <p:nvPr/>
        </p:nvSpPr>
        <p:spPr>
          <a:xfrm>
            <a:off x="7955280" y="2514600"/>
            <a:ext cx="3687775" cy="402336"/>
          </a:xfrm>
          <a:prstGeom prst="rect">
            <a:avLst/>
          </a:prstGeom>
          <a:noFill/>
          <a:ln/>
        </p:spPr>
        <p:txBody>
          <a:bodyPr wrap="square" lIns="0" tIns="0" rIns="0" bIns="0" rtlCol="0" anchor="ctr"/>
          <a:lstStyle/>
          <a:p>
            <a:pPr indent="0" marL="0">
              <a:buNone/>
            </a:pPr>
            <a:r>
              <a:rPr lang="en-US" sz="1250" dirty="0">
                <a:solidFill>
                  <a:schemeClr val="tx1"/>
                </a:solidFill>
              </a:rPr>
              <a:t>Images and release overlay (digests)</a:t>
            </a:r>
            <a:endParaRPr lang="en-US" sz="1250" dirty="0"/>
          </a:p>
        </p:txBody>
      </p:sp>
      <p:sp>
        <p:nvSpPr>
          <p:cNvPr id="16" name="chip-660"/>
          <p:cNvSpPr/>
          <p:nvPr/>
        </p:nvSpPr>
        <p:spPr>
          <a:xfrm>
            <a:off x="7543800" y="3017520"/>
            <a:ext cx="292608" cy="292608"/>
          </a:xfrm>
          <a:prstGeom prst="ellipse">
            <a:avLst/>
          </a:prstGeom>
          <a:solidFill>
            <a:schemeClr val="accent2"/>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17" name="text-661"/>
          <p:cNvSpPr txBox="1"/>
          <p:nvPr/>
        </p:nvSpPr>
        <p:spPr>
          <a:xfrm>
            <a:off x="7955280" y="2971800"/>
            <a:ext cx="3687775" cy="402336"/>
          </a:xfrm>
          <a:prstGeom prst="rect">
            <a:avLst/>
          </a:prstGeom>
          <a:noFill/>
          <a:ln/>
        </p:spPr>
        <p:txBody>
          <a:bodyPr wrap="square" lIns="0" tIns="0" rIns="0" bIns="0" rtlCol="0" anchor="ctr"/>
          <a:lstStyle/>
          <a:p>
            <a:pPr indent="0" marL="0">
              <a:buNone/>
            </a:pPr>
            <a:r>
              <a:rPr lang="en-US" sz="1250" dirty="0">
                <a:solidFill>
                  <a:schemeClr val="tx1"/>
                </a:solidFill>
              </a:rPr>
              <a:t>Orchestrator: data, bootstrap, migrations, then control, worker and api</a:t>
            </a:r>
            <a:endParaRPr lang="en-US" sz="1250" dirty="0"/>
          </a:p>
        </p:txBody>
      </p:sp>
      <p:sp>
        <p:nvSpPr>
          <p:cNvPr id="18" name="chip-662"/>
          <p:cNvSpPr/>
          <p:nvPr/>
        </p:nvSpPr>
        <p:spPr>
          <a:xfrm>
            <a:off x="7543800" y="3474720"/>
            <a:ext cx="292608" cy="292608"/>
          </a:xfrm>
          <a:prstGeom prst="ellipse">
            <a:avLst/>
          </a:prstGeom>
          <a:solidFill>
            <a:schemeClr val="accent1"/>
          </a:solidFill>
          <a:ln/>
        </p:spPr>
        <p:txBody>
          <a:bodyPr wrap="square" lIns="0" tIns="0" rIns="0" bIns="0" rtlCol="0" anchor="ctr"/>
          <a:lstStyle/>
          <a:p>
            <a:pPr algn="ctr" indent="0" marL="0">
              <a:buNone/>
            </a:pPr>
            <a:r>
              <a:rPr lang="en-US" sz="1050" b="1" dirty="0">
                <a:solidFill>
                  <a:schemeClr val="bg1"/>
                </a:solidFill>
              </a:rPr>
              <a:t>4</a:t>
            </a:r>
            <a:endParaRPr lang="en-US" sz="1050" dirty="0"/>
          </a:p>
        </p:txBody>
      </p:sp>
      <p:sp>
        <p:nvSpPr>
          <p:cNvPr id="19" name="text-663"/>
          <p:cNvSpPr txBox="1"/>
          <p:nvPr/>
        </p:nvSpPr>
        <p:spPr>
          <a:xfrm>
            <a:off x="7955280" y="3429000"/>
            <a:ext cx="3687775" cy="402336"/>
          </a:xfrm>
          <a:prstGeom prst="rect">
            <a:avLst/>
          </a:prstGeom>
          <a:noFill/>
          <a:ln/>
        </p:spPr>
        <p:txBody>
          <a:bodyPr wrap="square" lIns="0" tIns="0" rIns="0" bIns="0" rtlCol="0" anchor="ctr"/>
          <a:lstStyle/>
          <a:p>
            <a:pPr indent="0" marL="0">
              <a:buNone/>
            </a:pPr>
            <a:r>
              <a:rPr lang="en-US" sz="1250" dirty="0">
                <a:solidFill>
                  <a:schemeClr val="tx1"/>
                </a:solidFill>
              </a:rPr>
              <a:t>Vision</a:t>
            </a:r>
            <a:endParaRPr lang="en-US" sz="1250" dirty="0"/>
          </a:p>
        </p:txBody>
      </p:sp>
      <p:sp>
        <p:nvSpPr>
          <p:cNvPr id="20" name="chip-664"/>
          <p:cNvSpPr/>
          <p:nvPr/>
        </p:nvSpPr>
        <p:spPr>
          <a:xfrm>
            <a:off x="7543800" y="3931920"/>
            <a:ext cx="292608" cy="292608"/>
          </a:xfrm>
          <a:prstGeom prst="ellipse">
            <a:avLst/>
          </a:prstGeom>
          <a:solidFill>
            <a:schemeClr val="accent1"/>
          </a:solidFill>
          <a:ln/>
        </p:spPr>
        <p:txBody>
          <a:bodyPr wrap="square" lIns="0" tIns="0" rIns="0" bIns="0" rtlCol="0" anchor="ctr"/>
          <a:lstStyle/>
          <a:p>
            <a:pPr algn="ctr" indent="0" marL="0">
              <a:buNone/>
            </a:pPr>
            <a:r>
              <a:rPr lang="en-US" sz="1050" b="1" dirty="0">
                <a:solidFill>
                  <a:schemeClr val="bg1"/>
                </a:solidFill>
              </a:rPr>
              <a:t>5</a:t>
            </a:r>
            <a:endParaRPr lang="en-US" sz="1050" dirty="0"/>
          </a:p>
        </p:txBody>
      </p:sp>
      <p:sp>
        <p:nvSpPr>
          <p:cNvPr id="21" name="text-665"/>
          <p:cNvSpPr txBox="1"/>
          <p:nvPr/>
        </p:nvSpPr>
        <p:spPr>
          <a:xfrm>
            <a:off x="7955280" y="3886200"/>
            <a:ext cx="3687775" cy="402336"/>
          </a:xfrm>
          <a:prstGeom prst="rect">
            <a:avLst/>
          </a:prstGeom>
          <a:noFill/>
          <a:ln/>
        </p:spPr>
        <p:txBody>
          <a:bodyPr wrap="square" lIns="0" tIns="0" rIns="0" bIns="0" rtlCol="0" anchor="ctr"/>
          <a:lstStyle/>
          <a:p>
            <a:pPr indent="0" marL="0">
              <a:buNone/>
            </a:pPr>
            <a:r>
              <a:rPr lang="en-US" sz="1250" dirty="0">
                <a:solidFill>
                  <a:schemeClr val="tx1"/>
                </a:solidFill>
              </a:rPr>
              <a:t>Model server, vectors migration, then embedder</a:t>
            </a:r>
            <a:endParaRPr lang="en-US" sz="1250" dirty="0"/>
          </a:p>
        </p:txBody>
      </p:sp>
      <p:sp>
        <p:nvSpPr>
          <p:cNvPr id="22" name="chip-666"/>
          <p:cNvSpPr/>
          <p:nvPr/>
        </p:nvSpPr>
        <p:spPr>
          <a:xfrm>
            <a:off x="7543800" y="4389120"/>
            <a:ext cx="292608" cy="292608"/>
          </a:xfrm>
          <a:prstGeom prst="ellipse">
            <a:avLst/>
          </a:prstGeom>
          <a:solidFill>
            <a:schemeClr val="accent1"/>
          </a:solidFill>
          <a:ln/>
        </p:spPr>
        <p:txBody>
          <a:bodyPr wrap="square" lIns="0" tIns="0" rIns="0" bIns="0" rtlCol="0" anchor="ctr"/>
          <a:lstStyle/>
          <a:p>
            <a:pPr algn="ctr" indent="0" marL="0">
              <a:buNone/>
            </a:pPr>
            <a:r>
              <a:rPr lang="en-US" sz="1050" b="1" dirty="0">
                <a:solidFill>
                  <a:schemeClr val="bg1"/>
                </a:solidFill>
              </a:rPr>
              <a:t>6</a:t>
            </a:r>
            <a:endParaRPr lang="en-US" sz="1050" dirty="0"/>
          </a:p>
        </p:txBody>
      </p:sp>
      <p:sp>
        <p:nvSpPr>
          <p:cNvPr id="23" name="text-667"/>
          <p:cNvSpPr txBox="1"/>
          <p:nvPr/>
        </p:nvSpPr>
        <p:spPr>
          <a:xfrm>
            <a:off x="7955280" y="4343400"/>
            <a:ext cx="3687775" cy="402336"/>
          </a:xfrm>
          <a:prstGeom prst="rect">
            <a:avLst/>
          </a:prstGeom>
          <a:noFill/>
          <a:ln/>
        </p:spPr>
        <p:txBody>
          <a:bodyPr wrap="square" lIns="0" tIns="0" rIns="0" bIns="0" rtlCol="0" anchor="ctr"/>
          <a:lstStyle/>
          <a:p>
            <a:pPr indent="0" marL="0">
              <a:buNone/>
            </a:pPr>
            <a:r>
              <a:rPr lang="en-US" sz="1250" dirty="0">
                <a:solidFill>
                  <a:schemeClr val="tx1"/>
                </a:solidFill>
              </a:rPr>
              <a:t>Chunker</a:t>
            </a:r>
            <a:endParaRPr lang="en-US" sz="1250" dirty="0"/>
          </a:p>
        </p:txBody>
      </p:sp>
      <p:sp>
        <p:nvSpPr>
          <p:cNvPr id="24" name="chip-668"/>
          <p:cNvSpPr/>
          <p:nvPr/>
        </p:nvSpPr>
        <p:spPr>
          <a:xfrm>
            <a:off x="7543800" y="4846320"/>
            <a:ext cx="292608" cy="292608"/>
          </a:xfrm>
          <a:prstGeom prst="ellipse">
            <a:avLst/>
          </a:prstGeom>
          <a:solidFill>
            <a:schemeClr val="accent1"/>
          </a:solidFill>
          <a:ln/>
        </p:spPr>
        <p:txBody>
          <a:bodyPr wrap="square" lIns="0" tIns="0" rIns="0" bIns="0" rtlCol="0" anchor="ctr"/>
          <a:lstStyle/>
          <a:p>
            <a:pPr algn="ctr" indent="0" marL="0">
              <a:buNone/>
            </a:pPr>
            <a:r>
              <a:rPr lang="en-US" sz="1050" b="1" dirty="0">
                <a:solidFill>
                  <a:schemeClr val="bg1"/>
                </a:solidFill>
              </a:rPr>
              <a:t>7</a:t>
            </a:r>
            <a:endParaRPr lang="en-US" sz="1050" dirty="0"/>
          </a:p>
        </p:txBody>
      </p:sp>
      <p:sp>
        <p:nvSpPr>
          <p:cNvPr id="25" name="text-669"/>
          <p:cNvSpPr txBox="1"/>
          <p:nvPr/>
        </p:nvSpPr>
        <p:spPr>
          <a:xfrm>
            <a:off x="7955280" y="4800600"/>
            <a:ext cx="3687775" cy="402336"/>
          </a:xfrm>
          <a:prstGeom prst="rect">
            <a:avLst/>
          </a:prstGeom>
          <a:noFill/>
          <a:ln/>
        </p:spPr>
        <p:txBody>
          <a:bodyPr wrap="square" lIns="0" tIns="0" rIns="0" bIns="0" rtlCol="0" anchor="ctr"/>
          <a:lstStyle/>
          <a:p>
            <a:pPr indent="0" marL="0">
              <a:buNone/>
            </a:pPr>
            <a:r>
              <a:rPr lang="en-US" sz="1250" dirty="0">
                <a:solidFill>
                  <a:schemeClr val="tx1"/>
                </a:solidFill>
              </a:rPr>
              <a:t>Entry point</a:t>
            </a:r>
            <a:endParaRPr lang="en-US" sz="1250" dirty="0"/>
          </a:p>
        </p:txBody>
      </p:sp>
      <p:sp>
        <p:nvSpPr>
          <p:cNvPr id="26" name="chip-670"/>
          <p:cNvSpPr/>
          <p:nvPr/>
        </p:nvSpPr>
        <p:spPr>
          <a:xfrm>
            <a:off x="7543800" y="5303520"/>
            <a:ext cx="292608" cy="292608"/>
          </a:xfrm>
          <a:prstGeom prst="ellipse">
            <a:avLst/>
          </a:prstGeom>
          <a:solidFill>
            <a:schemeClr val="accent1"/>
          </a:solidFill>
          <a:ln/>
        </p:spPr>
        <p:txBody>
          <a:bodyPr wrap="square" lIns="0" tIns="0" rIns="0" bIns="0" rtlCol="0" anchor="ctr"/>
          <a:lstStyle/>
          <a:p>
            <a:pPr algn="ctr" indent="0" marL="0">
              <a:buNone/>
            </a:pPr>
            <a:r>
              <a:rPr lang="en-US" sz="1050" b="1" dirty="0">
                <a:solidFill>
                  <a:schemeClr val="bg1"/>
                </a:solidFill>
              </a:rPr>
              <a:t>8</a:t>
            </a:r>
            <a:endParaRPr lang="en-US" sz="1050" dirty="0"/>
          </a:p>
        </p:txBody>
      </p:sp>
      <p:sp>
        <p:nvSpPr>
          <p:cNvPr id="27" name="text-671"/>
          <p:cNvSpPr txBox="1"/>
          <p:nvPr/>
        </p:nvSpPr>
        <p:spPr>
          <a:xfrm>
            <a:off x="7955280" y="5257800"/>
            <a:ext cx="3687775" cy="402336"/>
          </a:xfrm>
          <a:prstGeom prst="rect">
            <a:avLst/>
          </a:prstGeom>
          <a:noFill/>
          <a:ln/>
        </p:spPr>
        <p:txBody>
          <a:bodyPr wrap="square" lIns="0" tIns="0" rIns="0" bIns="0" rtlCol="0" anchor="ctr"/>
          <a:lstStyle/>
          <a:p>
            <a:pPr indent="0" marL="0">
              <a:buNone/>
            </a:pPr>
            <a:r>
              <a:rPr lang="en-US" sz="1250" dirty="0">
                <a:solidFill>
                  <a:schemeClr val="tx1"/>
                </a:solidFill>
              </a:rPr>
              <a:t>Retrieval (outside the namespace)</a:t>
            </a:r>
            <a:endParaRPr lang="en-US" sz="1250" dirty="0"/>
          </a:p>
        </p:txBody>
      </p:sp>
      <p:sp>
        <p:nvSpPr>
          <p:cNvPr id="28" name="chip-672"/>
          <p:cNvSpPr/>
          <p:nvPr/>
        </p:nvSpPr>
        <p:spPr>
          <a:xfrm>
            <a:off x="7543800" y="5760720"/>
            <a:ext cx="292608" cy="292608"/>
          </a:xfrm>
          <a:prstGeom prst="ellipse">
            <a:avLst/>
          </a:prstGeom>
          <a:solidFill>
            <a:schemeClr val="accent1"/>
          </a:solidFill>
          <a:ln/>
        </p:spPr>
        <p:txBody>
          <a:bodyPr wrap="square" lIns="0" tIns="0" rIns="0" bIns="0" rtlCol="0" anchor="ctr"/>
          <a:lstStyle/>
          <a:p>
            <a:pPr algn="ctr" indent="0" marL="0">
              <a:buNone/>
            </a:pPr>
            <a:r>
              <a:rPr lang="en-US" sz="1050" b="1" dirty="0">
                <a:solidFill>
                  <a:schemeClr val="bg1"/>
                </a:solidFill>
              </a:rPr>
              <a:t>9</a:t>
            </a:r>
            <a:endParaRPr lang="en-US" sz="1050" dirty="0"/>
          </a:p>
        </p:txBody>
      </p:sp>
      <p:sp>
        <p:nvSpPr>
          <p:cNvPr id="29" name="text-673"/>
          <p:cNvSpPr txBox="1"/>
          <p:nvPr/>
        </p:nvSpPr>
        <p:spPr>
          <a:xfrm>
            <a:off x="7955280" y="5715000"/>
            <a:ext cx="3687775" cy="402336"/>
          </a:xfrm>
          <a:prstGeom prst="rect">
            <a:avLst/>
          </a:prstGeom>
          <a:noFill/>
          <a:ln/>
        </p:spPr>
        <p:txBody>
          <a:bodyPr wrap="square" lIns="0" tIns="0" rIns="0" bIns="0" rtlCol="0" anchor="ctr"/>
          <a:lstStyle/>
          <a:p>
            <a:pPr indent="0" marL="0">
              <a:buNone/>
            </a:pPr>
            <a:r>
              <a:rPr lang="en-US" sz="1250" dirty="0">
                <a:solidFill>
                  <a:schemeClr val="tx1"/>
                </a:solidFill>
              </a:rPr>
              <a:t>Verification</a:t>
            </a:r>
            <a:endParaRPr lang="en-US" sz="12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STATUS</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What is proven today, and what still needs a cluster</a:t>
            </a:r>
            <a:endParaRPr lang="en-US" sz="2800" dirty="0"/>
          </a:p>
        </p:txBody>
      </p:sp>
      <p:sp>
        <p:nvSpPr>
          <p:cNvPr id="5" name="card-674"/>
          <p:cNvSpPr/>
          <p:nvPr/>
        </p:nvSpPr>
        <p:spPr>
          <a:xfrm>
            <a:off x="548640" y="1645920"/>
            <a:ext cx="5410048" cy="4498848"/>
          </a:xfrm>
          <a:prstGeom prst="roundRect">
            <a:avLst>
              <a:gd name="adj" fmla="val 1626"/>
            </a:avLst>
          </a:prstGeom>
          <a:solidFill>
            <a:schemeClr val="bg1"/>
          </a:solidFill>
          <a:ln w="9525">
            <a:solidFill>
              <a:schemeClr val="accent6"/>
            </a:solidFill>
            <a:prstDash val="solid"/>
          </a:ln>
        </p:spPr>
      </p:sp>
      <p:sp>
        <p:nvSpPr>
          <p:cNvPr id="6" name="badge-675"/>
          <p:cNvSpPr/>
          <p:nvPr/>
        </p:nvSpPr>
        <p:spPr>
          <a:xfrm>
            <a:off x="777240" y="1828800"/>
            <a:ext cx="475488" cy="475488"/>
          </a:xfrm>
          <a:prstGeom prst="ellipse">
            <a:avLst/>
          </a:prstGeom>
          <a:solidFill>
            <a:schemeClr val="accent4"/>
          </a:solidFill>
          <a:ln/>
        </p:spPr>
      </p:sp>
      <p:pic>
        <p:nvPicPr>
          <p:cNvPr id="7" name="icon-TbCircleCheck-676" descr="CircleCheck">    </p:cNvPr>
          <p:cNvPicPr>
            <a:picLocks noChangeAspect="1"/>
          </p:cNvPicPr>
          <p:nvPr/>
        </p:nvPicPr>
        <p:blipFill>
          <a:blip r:embed="rId1"/>
          <a:stretch>
            <a:fillRect/>
          </a:stretch>
        </p:blipFill>
        <p:spPr>
          <a:xfrm>
            <a:off x="881847" y="1933407"/>
            <a:ext cx="266273" cy="266273"/>
          </a:xfrm>
          <a:prstGeom prst="rect">
            <a:avLst/>
          </a:prstGeom>
        </p:spPr>
      </p:pic>
      <p:sp>
        <p:nvSpPr>
          <p:cNvPr id="8" name="text-677"/>
          <p:cNvSpPr txBox="1"/>
          <p:nvPr/>
        </p:nvSpPr>
        <p:spPr>
          <a:xfrm>
            <a:off x="1417320" y="1828800"/>
            <a:ext cx="4312768" cy="475488"/>
          </a:xfrm>
          <a:prstGeom prst="rect">
            <a:avLst/>
          </a:prstGeom>
          <a:noFill/>
          <a:ln/>
        </p:spPr>
        <p:txBody>
          <a:bodyPr wrap="square" lIns="0" tIns="0" rIns="0" bIns="0" rtlCol="0" anchor="ctr"/>
          <a:lstStyle/>
          <a:p>
            <a:pPr indent="0" marL="0">
              <a:buNone/>
            </a:pPr>
            <a:r>
              <a:rPr lang="en-US" sz="1700" b="1" dirty="0">
                <a:solidFill>
                  <a:schemeClr val="tx1"/>
                </a:solidFill>
              </a:rPr>
              <a:t>Verified</a:t>
            </a:r>
            <a:endParaRPr lang="en-US" sz="1700" dirty="0"/>
          </a:p>
        </p:txBody>
      </p:sp>
      <p:sp>
        <p:nvSpPr>
          <p:cNvPr id="9" name="link-678"/>
          <p:cNvSpPr/>
          <p:nvPr/>
        </p:nvSpPr>
        <p:spPr>
          <a:xfrm>
            <a:off x="777240" y="2478024"/>
            <a:ext cx="4952848" cy="0"/>
          </a:xfrm>
          <a:prstGeom prst="line">
            <a:avLst/>
          </a:prstGeom>
          <a:noFill/>
          <a:ln w="9525">
            <a:solidFill>
              <a:schemeClr val="accent6"/>
            </a:solidFill>
            <a:prstDash val="solid"/>
          </a:ln>
        </p:spPr>
      </p:sp>
      <p:sp>
        <p:nvSpPr>
          <p:cNvPr id="10" name="text-679"/>
          <p:cNvSpPr txBox="1"/>
          <p:nvPr/>
        </p:nvSpPr>
        <p:spPr>
          <a:xfrm>
            <a:off x="777240" y="2514600"/>
            <a:ext cx="4952848" cy="658368"/>
          </a:xfrm>
          <a:prstGeom prst="rect">
            <a:avLst/>
          </a:prstGeom>
          <a:noFill/>
          <a:ln/>
        </p:spPr>
        <p:txBody>
          <a:bodyPr wrap="square" lIns="0" tIns="0" rIns="0" bIns="0" rtlCol="0" anchor="ctr"/>
          <a:lstStyle/>
          <a:p>
            <a:pPr indent="0" marL="0">
              <a:buNone/>
            </a:pPr>
            <a:r>
              <a:rPr lang="en-US" sz="1350" dirty="0">
                <a:solidFill>
                  <a:schemeClr val="tx1"/>
                </a:solidFill>
              </a:rPr>
              <a:t>6,600+ tests green across ten suites (latest recorded runs)</a:t>
            </a:r>
            <a:endParaRPr lang="en-US" sz="1350" dirty="0"/>
          </a:p>
        </p:txBody>
      </p:sp>
      <p:sp>
        <p:nvSpPr>
          <p:cNvPr id="11" name="link-680"/>
          <p:cNvSpPr/>
          <p:nvPr/>
        </p:nvSpPr>
        <p:spPr>
          <a:xfrm>
            <a:off x="777240" y="3172968"/>
            <a:ext cx="4952848" cy="0"/>
          </a:xfrm>
          <a:prstGeom prst="line">
            <a:avLst/>
          </a:prstGeom>
          <a:noFill/>
          <a:ln w="9525">
            <a:solidFill>
              <a:schemeClr val="accent6"/>
            </a:solidFill>
            <a:prstDash val="solid"/>
          </a:ln>
        </p:spPr>
      </p:sp>
      <p:sp>
        <p:nvSpPr>
          <p:cNvPr id="12" name="text-681"/>
          <p:cNvSpPr txBox="1"/>
          <p:nvPr/>
        </p:nvSpPr>
        <p:spPr>
          <a:xfrm>
            <a:off x="777240" y="3209544"/>
            <a:ext cx="4952848" cy="658368"/>
          </a:xfrm>
          <a:prstGeom prst="rect">
            <a:avLst/>
          </a:prstGeom>
          <a:noFill/>
          <a:ln/>
        </p:spPr>
        <p:txBody>
          <a:bodyPr wrap="square" lIns="0" tIns="0" rIns="0" bIns="0" rtlCol="0" anchor="ctr"/>
          <a:lstStyle/>
          <a:p>
            <a:pPr indent="0" marL="0">
              <a:buNone/>
            </a:pPr>
            <a:r>
              <a:rPr lang="en-US" sz="1350" dirty="0">
                <a:solidFill>
                  <a:schemeClr val="tx1"/>
                </a:solidFill>
              </a:rPr>
              <a:t>Real-container integration suite: 159 passed</a:t>
            </a:r>
            <a:endParaRPr lang="en-US" sz="1350" dirty="0"/>
          </a:p>
        </p:txBody>
      </p:sp>
      <p:sp>
        <p:nvSpPr>
          <p:cNvPr id="13" name="link-682"/>
          <p:cNvSpPr/>
          <p:nvPr/>
        </p:nvSpPr>
        <p:spPr>
          <a:xfrm>
            <a:off x="777240" y="3867912"/>
            <a:ext cx="4952848" cy="0"/>
          </a:xfrm>
          <a:prstGeom prst="line">
            <a:avLst/>
          </a:prstGeom>
          <a:noFill/>
          <a:ln w="9525">
            <a:solidFill>
              <a:schemeClr val="accent6"/>
            </a:solidFill>
            <a:prstDash val="solid"/>
          </a:ln>
        </p:spPr>
      </p:sp>
      <p:sp>
        <p:nvSpPr>
          <p:cNvPr id="14" name="text-683"/>
          <p:cNvSpPr txBox="1"/>
          <p:nvPr/>
        </p:nvSpPr>
        <p:spPr>
          <a:xfrm>
            <a:off x="777240" y="3904488"/>
            <a:ext cx="4952848" cy="658368"/>
          </a:xfrm>
          <a:prstGeom prst="rect">
            <a:avLst/>
          </a:prstGeom>
          <a:noFill/>
          <a:ln/>
        </p:spPr>
        <p:txBody>
          <a:bodyPr wrap="square" lIns="0" tIns="0" rIns="0" bIns="0" rtlCol="0" anchor="ctr"/>
          <a:lstStyle/>
          <a:p>
            <a:pPr indent="0" marL="0">
              <a:buNone/>
            </a:pPr>
            <a:r>
              <a:rPr lang="en-US" sz="1350" dirty="0">
                <a:solidFill>
                  <a:schemeClr val="tx1"/>
                </a:solidFill>
              </a:rPr>
              <a:t>First assembled end-to-end run; its 2 defects fixed the same day</a:t>
            </a:r>
            <a:endParaRPr lang="en-US" sz="1350" dirty="0"/>
          </a:p>
        </p:txBody>
      </p:sp>
      <p:sp>
        <p:nvSpPr>
          <p:cNvPr id="15" name="link-684"/>
          <p:cNvSpPr/>
          <p:nvPr/>
        </p:nvSpPr>
        <p:spPr>
          <a:xfrm>
            <a:off x="777240" y="4562856"/>
            <a:ext cx="4952848" cy="0"/>
          </a:xfrm>
          <a:prstGeom prst="line">
            <a:avLst/>
          </a:prstGeom>
          <a:noFill/>
          <a:ln w="9525">
            <a:solidFill>
              <a:schemeClr val="accent6"/>
            </a:solidFill>
            <a:prstDash val="solid"/>
          </a:ln>
        </p:spPr>
      </p:sp>
      <p:sp>
        <p:nvSpPr>
          <p:cNvPr id="16" name="text-685"/>
          <p:cNvSpPr txBox="1"/>
          <p:nvPr/>
        </p:nvSpPr>
        <p:spPr>
          <a:xfrm>
            <a:off x="777240" y="4599432"/>
            <a:ext cx="4952848" cy="658368"/>
          </a:xfrm>
          <a:prstGeom prst="rect">
            <a:avLst/>
          </a:prstGeom>
          <a:noFill/>
          <a:ln/>
        </p:spPr>
        <p:txBody>
          <a:bodyPr wrap="square" lIns="0" tIns="0" rIns="0" bIns="0" rtlCol="0" anchor="ctr"/>
          <a:lstStyle/>
          <a:p>
            <a:pPr indent="0" marL="0">
              <a:buNone/>
            </a:pPr>
            <a:r>
              <a:rPr lang="en-US" sz="1350" dirty="0">
                <a:solidFill>
                  <a:schemeClr val="tx1"/>
                </a:solidFill>
              </a:rPr>
              <a:t>Manifests rendered and checked by 12 policies with 75 policy tests</a:t>
            </a:r>
            <a:endParaRPr lang="en-US" sz="1350" dirty="0"/>
          </a:p>
        </p:txBody>
      </p:sp>
      <p:sp>
        <p:nvSpPr>
          <p:cNvPr id="17" name="link-686"/>
          <p:cNvSpPr/>
          <p:nvPr/>
        </p:nvSpPr>
        <p:spPr>
          <a:xfrm>
            <a:off x="777240" y="5257800"/>
            <a:ext cx="4952848" cy="0"/>
          </a:xfrm>
          <a:prstGeom prst="line">
            <a:avLst/>
          </a:prstGeom>
          <a:noFill/>
          <a:ln w="9525">
            <a:solidFill>
              <a:schemeClr val="accent6"/>
            </a:solidFill>
            <a:prstDash val="solid"/>
          </a:ln>
        </p:spPr>
      </p:sp>
      <p:sp>
        <p:nvSpPr>
          <p:cNvPr id="18" name="text-687"/>
          <p:cNvSpPr txBox="1"/>
          <p:nvPr/>
        </p:nvSpPr>
        <p:spPr>
          <a:xfrm>
            <a:off x="777240" y="5294376"/>
            <a:ext cx="4952848" cy="658368"/>
          </a:xfrm>
          <a:prstGeom prst="rect">
            <a:avLst/>
          </a:prstGeom>
          <a:noFill/>
          <a:ln/>
        </p:spPr>
        <p:txBody>
          <a:bodyPr wrap="square" lIns="0" tIns="0" rIns="0" bIns="0" rtlCol="0" anchor="ctr"/>
          <a:lstStyle/>
          <a:p>
            <a:pPr indent="0" marL="0">
              <a:buNone/>
            </a:pPr>
            <a:r>
              <a:rPr lang="en-US" sz="1350" dirty="0">
                <a:solidFill>
                  <a:schemeClr val="tx1"/>
                </a:solidFill>
              </a:rPr>
              <a:t>Contracts vendored with digest locks; 366 parity tests green</a:t>
            </a:r>
            <a:endParaRPr lang="en-US" sz="1350" dirty="0"/>
          </a:p>
        </p:txBody>
      </p:sp>
      <p:sp>
        <p:nvSpPr>
          <p:cNvPr id="19" name="card-688"/>
          <p:cNvSpPr/>
          <p:nvPr/>
        </p:nvSpPr>
        <p:spPr>
          <a:xfrm>
            <a:off x="6233008" y="1645920"/>
            <a:ext cx="5410048" cy="4498848"/>
          </a:xfrm>
          <a:prstGeom prst="roundRect">
            <a:avLst>
              <a:gd name="adj" fmla="val 1626"/>
            </a:avLst>
          </a:prstGeom>
          <a:solidFill>
            <a:schemeClr val="bg1"/>
          </a:solidFill>
          <a:ln w="9525">
            <a:solidFill>
              <a:schemeClr val="accent6"/>
            </a:solidFill>
            <a:prstDash val="solid"/>
          </a:ln>
        </p:spPr>
      </p:sp>
      <p:sp>
        <p:nvSpPr>
          <p:cNvPr id="20" name="badge-689"/>
          <p:cNvSpPr/>
          <p:nvPr/>
        </p:nvSpPr>
        <p:spPr>
          <a:xfrm>
            <a:off x="6461608" y="1828800"/>
            <a:ext cx="475488" cy="475488"/>
          </a:xfrm>
          <a:prstGeom prst="ellipse">
            <a:avLst/>
          </a:prstGeom>
          <a:solidFill>
            <a:srgbClr val="C98500"/>
          </a:solidFill>
          <a:ln/>
        </p:spPr>
      </p:sp>
      <p:pic>
        <p:nvPicPr>
          <p:cNvPr id="21" name="icon-TbClockHour4-690" descr="ClockHour4">    </p:cNvPr>
          <p:cNvPicPr>
            <a:picLocks noChangeAspect="1"/>
          </p:cNvPicPr>
          <p:nvPr/>
        </p:nvPicPr>
        <p:blipFill>
          <a:blip r:embed="rId2"/>
          <a:stretch>
            <a:fillRect/>
          </a:stretch>
        </p:blipFill>
        <p:spPr>
          <a:xfrm>
            <a:off x="6566215" y="1933407"/>
            <a:ext cx="266273" cy="266273"/>
          </a:xfrm>
          <a:prstGeom prst="rect">
            <a:avLst/>
          </a:prstGeom>
        </p:spPr>
      </p:pic>
      <p:sp>
        <p:nvSpPr>
          <p:cNvPr id="22" name="text-691"/>
          <p:cNvSpPr txBox="1"/>
          <p:nvPr/>
        </p:nvSpPr>
        <p:spPr>
          <a:xfrm>
            <a:off x="7101688" y="1828800"/>
            <a:ext cx="4312768" cy="475488"/>
          </a:xfrm>
          <a:prstGeom prst="rect">
            <a:avLst/>
          </a:prstGeom>
          <a:noFill/>
          <a:ln/>
        </p:spPr>
        <p:txBody>
          <a:bodyPr wrap="square" lIns="0" tIns="0" rIns="0" bIns="0" rtlCol="0" anchor="ctr"/>
          <a:lstStyle/>
          <a:p>
            <a:pPr indent="0" marL="0">
              <a:buNone/>
            </a:pPr>
            <a:r>
              <a:rPr lang="en-US" sz="1700" b="1" dirty="0">
                <a:solidFill>
                  <a:schemeClr val="tx1"/>
                </a:solidFill>
              </a:rPr>
              <a:t>Still needs a cluster</a:t>
            </a:r>
            <a:endParaRPr lang="en-US" sz="1700" dirty="0"/>
          </a:p>
        </p:txBody>
      </p:sp>
      <p:sp>
        <p:nvSpPr>
          <p:cNvPr id="23" name="link-692"/>
          <p:cNvSpPr/>
          <p:nvPr/>
        </p:nvSpPr>
        <p:spPr>
          <a:xfrm>
            <a:off x="6461608" y="2478024"/>
            <a:ext cx="4952848" cy="0"/>
          </a:xfrm>
          <a:prstGeom prst="line">
            <a:avLst/>
          </a:prstGeom>
          <a:noFill/>
          <a:ln w="9525">
            <a:solidFill>
              <a:schemeClr val="accent6"/>
            </a:solidFill>
            <a:prstDash val="solid"/>
          </a:ln>
        </p:spPr>
      </p:sp>
      <p:sp>
        <p:nvSpPr>
          <p:cNvPr id="24" name="text-693"/>
          <p:cNvSpPr txBox="1"/>
          <p:nvPr/>
        </p:nvSpPr>
        <p:spPr>
          <a:xfrm>
            <a:off x="6461608" y="2514600"/>
            <a:ext cx="4952848" cy="658368"/>
          </a:xfrm>
          <a:prstGeom prst="rect">
            <a:avLst/>
          </a:prstGeom>
          <a:noFill/>
          <a:ln/>
        </p:spPr>
        <p:txBody>
          <a:bodyPr wrap="square" lIns="0" tIns="0" rIns="0" bIns="0" rtlCol="0" anchor="ctr"/>
          <a:lstStyle/>
          <a:p>
            <a:pPr indent="0" marL="0">
              <a:buNone/>
            </a:pPr>
            <a:r>
              <a:rPr lang="en-US" sz="1350" dirty="0">
                <a:solidFill>
                  <a:schemeClr val="tx1"/>
                </a:solidFill>
              </a:rPr>
              <a:t>Images built and scanned for the current commits</a:t>
            </a:r>
            <a:endParaRPr lang="en-US" sz="1350" dirty="0"/>
          </a:p>
        </p:txBody>
      </p:sp>
      <p:sp>
        <p:nvSpPr>
          <p:cNvPr id="25" name="link-694"/>
          <p:cNvSpPr/>
          <p:nvPr/>
        </p:nvSpPr>
        <p:spPr>
          <a:xfrm>
            <a:off x="6461608" y="3172968"/>
            <a:ext cx="4952848" cy="0"/>
          </a:xfrm>
          <a:prstGeom prst="line">
            <a:avLst/>
          </a:prstGeom>
          <a:noFill/>
          <a:ln w="9525">
            <a:solidFill>
              <a:schemeClr val="accent6"/>
            </a:solidFill>
            <a:prstDash val="solid"/>
          </a:ln>
        </p:spPr>
      </p:sp>
      <p:sp>
        <p:nvSpPr>
          <p:cNvPr id="26" name="text-695"/>
          <p:cNvSpPr txBox="1"/>
          <p:nvPr/>
        </p:nvSpPr>
        <p:spPr>
          <a:xfrm>
            <a:off x="6461608" y="3209544"/>
            <a:ext cx="4952848" cy="658368"/>
          </a:xfrm>
          <a:prstGeom prst="rect">
            <a:avLst/>
          </a:prstGeom>
          <a:noFill/>
          <a:ln/>
        </p:spPr>
        <p:txBody>
          <a:bodyPr wrap="square" lIns="0" tIns="0" rIns="0" bIns="0" rtlCol="0" anchor="ctr"/>
          <a:lstStyle/>
          <a:p>
            <a:pPr indent="0" marL="0">
              <a:buNone/>
            </a:pPr>
            <a:r>
              <a:rPr lang="en-US" sz="1350" dirty="0">
                <a:solidFill>
                  <a:schemeClr val="tx1"/>
                </a:solidFill>
              </a:rPr>
              <a:t>Conformance against the real chunker and TEI embedder</a:t>
            </a:r>
            <a:endParaRPr lang="en-US" sz="1350" dirty="0"/>
          </a:p>
        </p:txBody>
      </p:sp>
      <p:sp>
        <p:nvSpPr>
          <p:cNvPr id="27" name="link-696"/>
          <p:cNvSpPr/>
          <p:nvPr/>
        </p:nvSpPr>
        <p:spPr>
          <a:xfrm>
            <a:off x="6461608" y="3867912"/>
            <a:ext cx="4952848" cy="0"/>
          </a:xfrm>
          <a:prstGeom prst="line">
            <a:avLst/>
          </a:prstGeom>
          <a:noFill/>
          <a:ln w="9525">
            <a:solidFill>
              <a:schemeClr val="accent6"/>
            </a:solidFill>
            <a:prstDash val="solid"/>
          </a:ln>
        </p:spPr>
      </p:sp>
      <p:sp>
        <p:nvSpPr>
          <p:cNvPr id="28" name="text-697"/>
          <p:cNvSpPr txBox="1"/>
          <p:nvPr/>
        </p:nvSpPr>
        <p:spPr>
          <a:xfrm>
            <a:off x="6461608" y="3904488"/>
            <a:ext cx="4952848" cy="658368"/>
          </a:xfrm>
          <a:prstGeom prst="rect">
            <a:avLst/>
          </a:prstGeom>
          <a:noFill/>
          <a:ln/>
        </p:spPr>
        <p:txBody>
          <a:bodyPr wrap="square" lIns="0" tIns="0" rIns="0" bIns="0" rtlCol="0" anchor="ctr"/>
          <a:lstStyle/>
          <a:p>
            <a:pPr indent="0" marL="0">
              <a:buNone/>
            </a:pPr>
            <a:r>
              <a:rPr lang="en-US" sz="1350" dirty="0">
                <a:solidFill>
                  <a:schemeClr val="tx1"/>
                </a:solidFill>
              </a:rPr>
              <a:t>Chaos, load and capacity suites, and UI visual QA</a:t>
            </a:r>
            <a:endParaRPr lang="en-US" sz="1350" dirty="0"/>
          </a:p>
        </p:txBody>
      </p:sp>
      <p:sp>
        <p:nvSpPr>
          <p:cNvPr id="29" name="link-698"/>
          <p:cNvSpPr/>
          <p:nvPr/>
        </p:nvSpPr>
        <p:spPr>
          <a:xfrm>
            <a:off x="6461608" y="4562856"/>
            <a:ext cx="4952848" cy="0"/>
          </a:xfrm>
          <a:prstGeom prst="line">
            <a:avLst/>
          </a:prstGeom>
          <a:noFill/>
          <a:ln w="9525">
            <a:solidFill>
              <a:schemeClr val="accent6"/>
            </a:solidFill>
            <a:prstDash val="solid"/>
          </a:ln>
        </p:spPr>
      </p:sp>
      <p:sp>
        <p:nvSpPr>
          <p:cNvPr id="30" name="text-699"/>
          <p:cNvSpPr txBox="1"/>
          <p:nvPr/>
        </p:nvSpPr>
        <p:spPr>
          <a:xfrm>
            <a:off x="6461608" y="4599432"/>
            <a:ext cx="4952848" cy="658368"/>
          </a:xfrm>
          <a:prstGeom prst="rect">
            <a:avLst/>
          </a:prstGeom>
          <a:noFill/>
          <a:ln/>
        </p:spPr>
        <p:txBody>
          <a:bodyPr wrap="square" lIns="0" tIns="0" rIns="0" bIns="0" rtlCol="0" anchor="ctr"/>
          <a:lstStyle/>
          <a:p>
            <a:pPr indent="0" marL="0">
              <a:buNone/>
            </a:pPr>
            <a:r>
              <a:rPr lang="en-US" sz="1350" dirty="0">
                <a:solidFill>
                  <a:schemeClr val="tx1"/>
                </a:solidFill>
              </a:rPr>
              <a:t>Any OpenShift apply; platform-specific behaviour unverified</a:t>
            </a:r>
            <a:endParaRPr lang="en-US" sz="1350" dirty="0"/>
          </a:p>
        </p:txBody>
      </p:sp>
      <p:sp>
        <p:nvSpPr>
          <p:cNvPr id="31" name="link-700"/>
          <p:cNvSpPr/>
          <p:nvPr/>
        </p:nvSpPr>
        <p:spPr>
          <a:xfrm>
            <a:off x="6461608" y="5257800"/>
            <a:ext cx="4952848" cy="0"/>
          </a:xfrm>
          <a:prstGeom prst="line">
            <a:avLst/>
          </a:prstGeom>
          <a:noFill/>
          <a:ln w="9525">
            <a:solidFill>
              <a:schemeClr val="accent6"/>
            </a:solidFill>
            <a:prstDash val="solid"/>
          </a:ln>
        </p:spPr>
      </p:sp>
      <p:sp>
        <p:nvSpPr>
          <p:cNvPr id="32" name="text-701"/>
          <p:cNvSpPr txBox="1"/>
          <p:nvPr/>
        </p:nvSpPr>
        <p:spPr>
          <a:xfrm>
            <a:off x="6461608" y="5294376"/>
            <a:ext cx="4952848" cy="658368"/>
          </a:xfrm>
          <a:prstGeom prst="rect">
            <a:avLst/>
          </a:prstGeom>
          <a:noFill/>
          <a:ln/>
        </p:spPr>
        <p:txBody>
          <a:bodyPr wrap="square" lIns="0" tIns="0" rIns="0" bIns="0" rtlCol="0" anchor="ctr"/>
          <a:lstStyle/>
          <a:p>
            <a:pPr indent="0" marL="0">
              <a:buNone/>
            </a:pPr>
            <a:r>
              <a:rPr lang="en-US" sz="1350" dirty="0">
                <a:solidFill>
                  <a:schemeClr val="tx1"/>
                </a:solidFill>
              </a:rPr>
              <a:t>Vector store on the pinned pg16 image (verified on pg17)</a:t>
            </a:r>
            <a:endParaRPr lang="en-US" sz="13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DECISIONS</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Five decisions unlock production</a:t>
            </a:r>
            <a:endParaRPr lang="en-US" sz="2800" dirty="0"/>
          </a:p>
        </p:txBody>
      </p:sp>
      <p:sp>
        <p:nvSpPr>
          <p:cNvPr id="5" name="card-702"/>
          <p:cNvSpPr/>
          <p:nvPr/>
        </p:nvSpPr>
        <p:spPr>
          <a:xfrm>
            <a:off x="548640" y="1645920"/>
            <a:ext cx="11094415" cy="804672"/>
          </a:xfrm>
          <a:prstGeom prst="roundRect">
            <a:avLst>
              <a:gd name="adj" fmla="val 9091"/>
            </a:avLst>
          </a:prstGeom>
          <a:solidFill>
            <a:schemeClr val="bg1"/>
          </a:solidFill>
          <a:ln w="9525">
            <a:solidFill>
              <a:schemeClr val="accent6"/>
            </a:solidFill>
            <a:prstDash val="solid"/>
          </a:ln>
        </p:spPr>
      </p:sp>
      <p:sp>
        <p:nvSpPr>
          <p:cNvPr id="6" name="chip-703"/>
          <p:cNvSpPr/>
          <p:nvPr/>
        </p:nvSpPr>
        <p:spPr>
          <a:xfrm>
            <a:off x="731520" y="1847088"/>
            <a:ext cx="402336" cy="402336"/>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pic>
        <p:nvPicPr>
          <p:cNvPr id="7" name="icon-TbServerBolt-704" descr="ServerBolt">    </p:cNvPr>
          <p:cNvPicPr>
            <a:picLocks noChangeAspect="1"/>
          </p:cNvPicPr>
          <p:nvPr/>
        </p:nvPicPr>
        <p:blipFill>
          <a:blip r:embed="rId1"/>
          <a:stretch>
            <a:fillRect/>
          </a:stretch>
        </p:blipFill>
        <p:spPr>
          <a:xfrm>
            <a:off x="1298448" y="1865376"/>
            <a:ext cx="365760" cy="365760"/>
          </a:xfrm>
          <a:prstGeom prst="rect">
            <a:avLst/>
          </a:prstGeom>
        </p:spPr>
      </p:pic>
      <p:sp>
        <p:nvSpPr>
          <p:cNvPr id="8" name="text-705"/>
          <p:cNvSpPr txBox="1"/>
          <p:nvPr/>
        </p:nvSpPr>
        <p:spPr>
          <a:xfrm>
            <a:off x="1847088" y="1719072"/>
            <a:ext cx="2606040" cy="658368"/>
          </a:xfrm>
          <a:prstGeom prst="rect">
            <a:avLst/>
          </a:prstGeom>
          <a:noFill/>
          <a:ln/>
        </p:spPr>
        <p:txBody>
          <a:bodyPr wrap="square" lIns="0" tIns="0" rIns="0" bIns="0" rtlCol="0" anchor="ctr"/>
          <a:lstStyle/>
          <a:p>
            <a:pPr indent="0" marL="0">
              <a:buNone/>
            </a:pPr>
            <a:r>
              <a:rPr lang="en-US" sz="1550" b="1" dirty="0">
                <a:solidFill>
                  <a:schemeClr val="tx1"/>
                </a:solidFill>
              </a:rPr>
              <a:t>Fund OCR capacity</a:t>
            </a:r>
            <a:endParaRPr lang="en-US" sz="1550" dirty="0"/>
          </a:p>
        </p:txBody>
      </p:sp>
      <p:sp>
        <p:nvSpPr>
          <p:cNvPr id="9" name="text-706"/>
          <p:cNvSpPr txBox="1"/>
          <p:nvPr/>
        </p:nvSpPr>
        <p:spPr>
          <a:xfrm>
            <a:off x="4526280" y="1719072"/>
            <a:ext cx="4572000" cy="658368"/>
          </a:xfrm>
          <a:prstGeom prst="rect">
            <a:avLst/>
          </a:prstGeom>
          <a:noFill/>
          <a:ln/>
        </p:spPr>
        <p:txBody>
          <a:bodyPr wrap="square" lIns="0" tIns="0" rIns="0" bIns="0" rtlCol="0" anchor="ctr"/>
          <a:lstStyle/>
          <a:p>
            <a:pPr indent="0" marL="0">
              <a:buNone/>
            </a:pPr>
            <a:r>
              <a:rPr lang="en-US" sz="1300" dirty="0">
                <a:solidFill>
                  <a:schemeClr val="tx1"/>
                </a:solidFill>
              </a:rPr>
              <a:t>Gateway cell programme: 12–71 cells and DI_MAX_INFLIGHT raised with cores behind it.</a:t>
            </a:r>
            <a:endParaRPr lang="en-US" sz="1300" dirty="0"/>
          </a:p>
        </p:txBody>
      </p:sp>
      <p:sp>
        <p:nvSpPr>
          <p:cNvPr id="10" name="pill-707"/>
          <p:cNvSpPr/>
          <p:nvPr/>
        </p:nvSpPr>
        <p:spPr>
          <a:xfrm>
            <a:off x="9357055" y="1883664"/>
            <a:ext cx="2103120"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2"/>
                </a:solidFill>
              </a:rPr>
              <a:t>Gateway owners · leadership</a:t>
            </a:r>
            <a:endParaRPr lang="en-US" sz="1100" dirty="0"/>
          </a:p>
        </p:txBody>
      </p:sp>
      <p:sp>
        <p:nvSpPr>
          <p:cNvPr id="11" name="card-708"/>
          <p:cNvSpPr/>
          <p:nvPr/>
        </p:nvSpPr>
        <p:spPr>
          <a:xfrm>
            <a:off x="548640" y="2551176"/>
            <a:ext cx="11094415" cy="804672"/>
          </a:xfrm>
          <a:prstGeom prst="roundRect">
            <a:avLst>
              <a:gd name="adj" fmla="val 9091"/>
            </a:avLst>
          </a:prstGeom>
          <a:solidFill>
            <a:schemeClr val="bg1"/>
          </a:solidFill>
          <a:ln w="9525">
            <a:solidFill>
              <a:schemeClr val="accent6"/>
            </a:solidFill>
            <a:prstDash val="solid"/>
          </a:ln>
        </p:spPr>
      </p:sp>
      <p:sp>
        <p:nvSpPr>
          <p:cNvPr id="12" name="chip-709"/>
          <p:cNvSpPr/>
          <p:nvPr/>
        </p:nvSpPr>
        <p:spPr>
          <a:xfrm>
            <a:off x="731520" y="2752344"/>
            <a:ext cx="402336" cy="402336"/>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pic>
        <p:nvPicPr>
          <p:cNvPr id="13" name="icon-TbReceipt-710" descr="Receipt">    </p:cNvPr>
          <p:cNvPicPr>
            <a:picLocks noChangeAspect="1"/>
          </p:cNvPicPr>
          <p:nvPr/>
        </p:nvPicPr>
        <p:blipFill>
          <a:blip r:embed="rId2"/>
          <a:stretch>
            <a:fillRect/>
          </a:stretch>
        </p:blipFill>
        <p:spPr>
          <a:xfrm>
            <a:off x="1298448" y="2770632"/>
            <a:ext cx="365760" cy="365760"/>
          </a:xfrm>
          <a:prstGeom prst="rect">
            <a:avLst/>
          </a:prstGeom>
        </p:spPr>
      </p:pic>
      <p:sp>
        <p:nvSpPr>
          <p:cNvPr id="14" name="text-711"/>
          <p:cNvSpPr txBox="1"/>
          <p:nvPr/>
        </p:nvSpPr>
        <p:spPr>
          <a:xfrm>
            <a:off x="1847088" y="2624328"/>
            <a:ext cx="2606040" cy="658368"/>
          </a:xfrm>
          <a:prstGeom prst="rect">
            <a:avLst/>
          </a:prstGeom>
          <a:noFill/>
          <a:ln/>
        </p:spPr>
        <p:txBody>
          <a:bodyPr wrap="square" lIns="0" tIns="0" rIns="0" bIns="0" rtlCol="0" anchor="ctr"/>
          <a:lstStyle/>
          <a:p>
            <a:pPr indent="0" marL="0">
              <a:buNone/>
            </a:pPr>
            <a:r>
              <a:rPr lang="en-US" sz="1550" b="1" dirty="0">
                <a:solidFill>
                  <a:schemeClr val="tx1"/>
                </a:solidFill>
              </a:rPr>
              <a:t>Close the billing window</a:t>
            </a:r>
            <a:endParaRPr lang="en-US" sz="1550" dirty="0"/>
          </a:p>
        </p:txBody>
      </p:sp>
      <p:sp>
        <p:nvSpPr>
          <p:cNvPr id="15" name="text-712"/>
          <p:cNvSpPr txBox="1"/>
          <p:nvPr/>
        </p:nvSpPr>
        <p:spPr>
          <a:xfrm>
            <a:off x="4526280" y="2624328"/>
            <a:ext cx="4572000" cy="658368"/>
          </a:xfrm>
          <a:prstGeom prst="rect">
            <a:avLst/>
          </a:prstGeom>
          <a:noFill/>
          <a:ln/>
        </p:spPr>
        <p:txBody>
          <a:bodyPr wrap="square" lIns="0" tIns="0" rIns="0" bIns="0" rtlCol="0" anchor="ctr"/>
          <a:lstStyle/>
          <a:p>
            <a:pPr indent="0" marL="0">
              <a:buNone/>
            </a:pPr>
            <a:r>
              <a:rPr lang="en-US" sz="1300" dirty="0">
                <a:solidFill>
                  <a:schemeClr val="tx1"/>
                </a:solidFill>
              </a:rPr>
              <a:t>Gateway change requests GW-CR-1 (client request id in /_gw/jobs) and GW-CR-2.</a:t>
            </a:r>
            <a:endParaRPr lang="en-US" sz="1300" dirty="0"/>
          </a:p>
        </p:txBody>
      </p:sp>
      <p:sp>
        <p:nvSpPr>
          <p:cNvPr id="16" name="pill-713"/>
          <p:cNvSpPr/>
          <p:nvPr/>
        </p:nvSpPr>
        <p:spPr>
          <a:xfrm>
            <a:off x="9357055" y="2788920"/>
            <a:ext cx="2103120"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2"/>
                </a:solidFill>
              </a:rPr>
              <a:t>Gateway team</a:t>
            </a:r>
            <a:endParaRPr lang="en-US" sz="1100" dirty="0"/>
          </a:p>
        </p:txBody>
      </p:sp>
      <p:sp>
        <p:nvSpPr>
          <p:cNvPr id="17" name="card-714"/>
          <p:cNvSpPr/>
          <p:nvPr/>
        </p:nvSpPr>
        <p:spPr>
          <a:xfrm>
            <a:off x="548640" y="3456432"/>
            <a:ext cx="11094415" cy="804672"/>
          </a:xfrm>
          <a:prstGeom prst="roundRect">
            <a:avLst>
              <a:gd name="adj" fmla="val 9091"/>
            </a:avLst>
          </a:prstGeom>
          <a:solidFill>
            <a:schemeClr val="bg1"/>
          </a:solidFill>
          <a:ln w="9525">
            <a:solidFill>
              <a:schemeClr val="accent6"/>
            </a:solidFill>
            <a:prstDash val="solid"/>
          </a:ln>
        </p:spPr>
      </p:sp>
      <p:sp>
        <p:nvSpPr>
          <p:cNvPr id="18" name="chip-715"/>
          <p:cNvSpPr/>
          <p:nvPr/>
        </p:nvSpPr>
        <p:spPr>
          <a:xfrm>
            <a:off x="731520" y="3657600"/>
            <a:ext cx="402336" cy="402336"/>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pic>
        <p:nvPicPr>
          <p:cNvPr id="19" name="icon-TbTableOptions-716" descr="TableOptions">    </p:cNvPr>
          <p:cNvPicPr>
            <a:picLocks noChangeAspect="1"/>
          </p:cNvPicPr>
          <p:nvPr/>
        </p:nvPicPr>
        <p:blipFill>
          <a:blip r:embed="rId3"/>
          <a:stretch>
            <a:fillRect/>
          </a:stretch>
        </p:blipFill>
        <p:spPr>
          <a:xfrm>
            <a:off x="1298448" y="3675888"/>
            <a:ext cx="365760" cy="365760"/>
          </a:xfrm>
          <a:prstGeom prst="rect">
            <a:avLst/>
          </a:prstGeom>
        </p:spPr>
      </p:pic>
      <p:sp>
        <p:nvSpPr>
          <p:cNvPr id="20" name="text-717"/>
          <p:cNvSpPr txBox="1"/>
          <p:nvPr/>
        </p:nvSpPr>
        <p:spPr>
          <a:xfrm>
            <a:off x="1847088" y="3529584"/>
            <a:ext cx="2606040" cy="658368"/>
          </a:xfrm>
          <a:prstGeom prst="rect">
            <a:avLst/>
          </a:prstGeom>
          <a:noFill/>
          <a:ln/>
        </p:spPr>
        <p:txBody>
          <a:bodyPr wrap="square" lIns="0" tIns="0" rIns="0" bIns="0" rtlCol="0" anchor="ctr"/>
          <a:lstStyle/>
          <a:p>
            <a:pPr indent="0" marL="0">
              <a:buNone/>
            </a:pPr>
            <a:r>
              <a:rPr lang="en-US" sz="1550" b="1" dirty="0">
                <a:solidFill>
                  <a:schemeClr val="tx1"/>
                </a:solidFill>
              </a:rPr>
              <a:t>External table changes</a:t>
            </a:r>
            <a:endParaRPr lang="en-US" sz="1550" dirty="0"/>
          </a:p>
        </p:txBody>
      </p:sp>
      <p:sp>
        <p:nvSpPr>
          <p:cNvPr id="21" name="text-718"/>
          <p:cNvSpPr txBox="1"/>
          <p:nvPr/>
        </p:nvSpPr>
        <p:spPr>
          <a:xfrm>
            <a:off x="4526280" y="3529584"/>
            <a:ext cx="4572000" cy="658368"/>
          </a:xfrm>
          <a:prstGeom prst="rect">
            <a:avLst/>
          </a:prstGeom>
          <a:noFill/>
          <a:ln/>
        </p:spPr>
        <p:txBody>
          <a:bodyPr wrap="square" lIns="0" tIns="0" rIns="0" bIns="0" rtlCol="0" anchor="ctr"/>
          <a:lstStyle/>
          <a:p>
            <a:pPr indent="0" marL="0">
              <a:buNone/>
            </a:pPr>
            <a:r>
              <a:rPr lang="en-US" sz="1300" dirty="0">
                <a:solidFill>
                  <a:schemeClr val="tx1"/>
                </a:solidFill>
              </a:rPr>
              <a:t>A version column that changes on every write, and whether Wega may write FAILED.</a:t>
            </a:r>
            <a:endParaRPr lang="en-US" sz="1300" dirty="0"/>
          </a:p>
        </p:txBody>
      </p:sp>
      <p:sp>
        <p:nvSpPr>
          <p:cNvPr id="22" name="pill-719"/>
          <p:cNvSpPr/>
          <p:nvPr/>
        </p:nvSpPr>
        <p:spPr>
          <a:xfrm>
            <a:off x="9357055" y="3694176"/>
            <a:ext cx="2103120"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2"/>
                </a:solidFill>
              </a:rPr>
              <a:t>External-table owners</a:t>
            </a:r>
            <a:endParaRPr lang="en-US" sz="1100" dirty="0"/>
          </a:p>
        </p:txBody>
      </p:sp>
      <p:sp>
        <p:nvSpPr>
          <p:cNvPr id="23" name="card-720"/>
          <p:cNvSpPr/>
          <p:nvPr/>
        </p:nvSpPr>
        <p:spPr>
          <a:xfrm>
            <a:off x="548640" y="4361688"/>
            <a:ext cx="11094415" cy="804672"/>
          </a:xfrm>
          <a:prstGeom prst="roundRect">
            <a:avLst>
              <a:gd name="adj" fmla="val 9091"/>
            </a:avLst>
          </a:prstGeom>
          <a:solidFill>
            <a:schemeClr val="bg1"/>
          </a:solidFill>
          <a:ln w="9525">
            <a:solidFill>
              <a:schemeClr val="accent6"/>
            </a:solidFill>
            <a:prstDash val="solid"/>
          </a:ln>
        </p:spPr>
      </p:sp>
      <p:sp>
        <p:nvSpPr>
          <p:cNvPr id="24" name="chip-721"/>
          <p:cNvSpPr/>
          <p:nvPr/>
        </p:nvSpPr>
        <p:spPr>
          <a:xfrm>
            <a:off x="731520" y="4562856"/>
            <a:ext cx="402336" cy="402336"/>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pic>
        <p:nvPicPr>
          <p:cNvPr id="25" name="icon-TbCloudCog-722" descr="CloudCog">    </p:cNvPr>
          <p:cNvPicPr>
            <a:picLocks noChangeAspect="1"/>
          </p:cNvPicPr>
          <p:nvPr/>
        </p:nvPicPr>
        <p:blipFill>
          <a:blip r:embed="rId4"/>
          <a:stretch>
            <a:fillRect/>
          </a:stretch>
        </p:blipFill>
        <p:spPr>
          <a:xfrm>
            <a:off x="1298448" y="4581144"/>
            <a:ext cx="365760" cy="365760"/>
          </a:xfrm>
          <a:prstGeom prst="rect">
            <a:avLst/>
          </a:prstGeom>
        </p:spPr>
      </p:pic>
      <p:sp>
        <p:nvSpPr>
          <p:cNvPr id="26" name="text-723"/>
          <p:cNvSpPr txBox="1"/>
          <p:nvPr/>
        </p:nvSpPr>
        <p:spPr>
          <a:xfrm>
            <a:off x="1847088" y="4434840"/>
            <a:ext cx="2606040" cy="658368"/>
          </a:xfrm>
          <a:prstGeom prst="rect">
            <a:avLst/>
          </a:prstGeom>
          <a:noFill/>
          <a:ln/>
        </p:spPr>
        <p:txBody>
          <a:bodyPr wrap="square" lIns="0" tIns="0" rIns="0" bIns="0" rtlCol="0" anchor="ctr"/>
          <a:lstStyle/>
          <a:p>
            <a:pPr indent="0" marL="0">
              <a:buNone/>
            </a:pPr>
            <a:r>
              <a:rPr lang="en-US" sz="1550" b="1" dirty="0">
                <a:solidFill>
                  <a:schemeClr val="tx1"/>
                </a:solidFill>
              </a:rPr>
              <a:t>Cluster facts</a:t>
            </a:r>
            <a:endParaRPr lang="en-US" sz="1550" dirty="0"/>
          </a:p>
        </p:txBody>
      </p:sp>
      <p:sp>
        <p:nvSpPr>
          <p:cNvPr id="27" name="text-724"/>
          <p:cNvSpPr txBox="1"/>
          <p:nvPr/>
        </p:nvSpPr>
        <p:spPr>
          <a:xfrm>
            <a:off x="4526280" y="4434840"/>
            <a:ext cx="4572000" cy="658368"/>
          </a:xfrm>
          <a:prstGeom prst="rect">
            <a:avLst/>
          </a:prstGeom>
          <a:noFill/>
          <a:ln/>
        </p:spPr>
        <p:txBody>
          <a:bodyPr wrap="square" lIns="0" tIns="0" rIns="0" bIns="0" rtlCol="0" anchor="ctr"/>
          <a:lstStyle/>
          <a:p>
            <a:pPr indent="0" marL="0">
              <a:buNone/>
            </a:pPr>
            <a:r>
              <a:rPr lang="en-US" sz="1300" dirty="0">
                <a:solidFill>
                  <a:schemeClr val="tx1"/>
                </a:solidFill>
              </a:rPr>
              <a:t>Broker access and TLS, registry, an RWX class with hard links, egress for model weights.</a:t>
            </a:r>
            <a:endParaRPr lang="en-US" sz="1300" dirty="0"/>
          </a:p>
        </p:txBody>
      </p:sp>
      <p:sp>
        <p:nvSpPr>
          <p:cNvPr id="28" name="pill-725"/>
          <p:cNvSpPr/>
          <p:nvPr/>
        </p:nvSpPr>
        <p:spPr>
          <a:xfrm>
            <a:off x="9357055" y="4599432"/>
            <a:ext cx="2103120"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2"/>
                </a:solidFill>
              </a:rPr>
              <a:t>Platform team</a:t>
            </a:r>
            <a:endParaRPr lang="en-US" sz="1100" dirty="0"/>
          </a:p>
        </p:txBody>
      </p:sp>
      <p:sp>
        <p:nvSpPr>
          <p:cNvPr id="29" name="card-726"/>
          <p:cNvSpPr/>
          <p:nvPr/>
        </p:nvSpPr>
        <p:spPr>
          <a:xfrm>
            <a:off x="548640" y="5266944"/>
            <a:ext cx="11094415" cy="804672"/>
          </a:xfrm>
          <a:prstGeom prst="roundRect">
            <a:avLst>
              <a:gd name="adj" fmla="val 9091"/>
            </a:avLst>
          </a:prstGeom>
          <a:solidFill>
            <a:schemeClr val="bg1"/>
          </a:solidFill>
          <a:ln w="9525">
            <a:solidFill>
              <a:schemeClr val="accent6"/>
            </a:solidFill>
            <a:prstDash val="solid"/>
          </a:ln>
        </p:spPr>
      </p:sp>
      <p:sp>
        <p:nvSpPr>
          <p:cNvPr id="30" name="chip-727"/>
          <p:cNvSpPr/>
          <p:nvPr/>
        </p:nvSpPr>
        <p:spPr>
          <a:xfrm>
            <a:off x="731520" y="5468112"/>
            <a:ext cx="402336" cy="402336"/>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pic>
        <p:nvPicPr>
          <p:cNvPr id="31" name="icon-TbGavel-728" descr="Gavel">    </p:cNvPr>
          <p:cNvPicPr>
            <a:picLocks noChangeAspect="1"/>
          </p:cNvPicPr>
          <p:nvPr/>
        </p:nvPicPr>
        <p:blipFill>
          <a:blip r:embed="rId5"/>
          <a:stretch>
            <a:fillRect/>
          </a:stretch>
        </p:blipFill>
        <p:spPr>
          <a:xfrm>
            <a:off x="1298448" y="5486400"/>
            <a:ext cx="365760" cy="365760"/>
          </a:xfrm>
          <a:prstGeom prst="rect">
            <a:avLst/>
          </a:prstGeom>
        </p:spPr>
      </p:pic>
      <p:sp>
        <p:nvSpPr>
          <p:cNvPr id="32" name="text-729"/>
          <p:cNvSpPr txBox="1"/>
          <p:nvPr/>
        </p:nvSpPr>
        <p:spPr>
          <a:xfrm>
            <a:off x="1847088" y="5340096"/>
            <a:ext cx="2606040" cy="658368"/>
          </a:xfrm>
          <a:prstGeom prst="rect">
            <a:avLst/>
          </a:prstGeom>
          <a:noFill/>
          <a:ln/>
        </p:spPr>
        <p:txBody>
          <a:bodyPr wrap="square" lIns="0" tIns="0" rIns="0" bIns="0" rtlCol="0" anchor="ctr"/>
          <a:lstStyle/>
          <a:p>
            <a:pPr indent="0" marL="0">
              <a:buNone/>
            </a:pPr>
            <a:r>
              <a:rPr lang="en-US" sz="1550" b="1" dirty="0">
                <a:solidFill>
                  <a:schemeClr val="tx1"/>
                </a:solidFill>
              </a:rPr>
              <a:t>Policy sign-offs</a:t>
            </a:r>
            <a:endParaRPr lang="en-US" sz="1550" dirty="0"/>
          </a:p>
        </p:txBody>
      </p:sp>
      <p:sp>
        <p:nvSpPr>
          <p:cNvPr id="33" name="text-730"/>
          <p:cNvSpPr txBox="1"/>
          <p:nvPr/>
        </p:nvSpPr>
        <p:spPr>
          <a:xfrm>
            <a:off x="4526280" y="5340096"/>
            <a:ext cx="4572000" cy="658368"/>
          </a:xfrm>
          <a:prstGeom prst="rect">
            <a:avLst/>
          </a:prstGeom>
          <a:noFill/>
          <a:ln/>
        </p:spPr>
        <p:txBody>
          <a:bodyPr wrap="square" lIns="0" tIns="0" rIns="0" bIns="0" rtlCol="0" anchor="ctr"/>
          <a:lstStyle/>
          <a:p>
            <a:pPr indent="0" marL="0">
              <a:buNone/>
            </a:pPr>
            <a:r>
              <a:rPr lang="en-US" sz="1300" dirty="0">
                <a:solidFill>
                  <a:schemeClr val="tx1"/>
                </a:solidFill>
              </a:rPr>
              <a:t>PyMuPDF AGPL for figure crops; PII handling for figure images and document names.</a:t>
            </a:r>
            <a:endParaRPr lang="en-US" sz="1300" dirty="0"/>
          </a:p>
        </p:txBody>
      </p:sp>
      <p:sp>
        <p:nvSpPr>
          <p:cNvPr id="34" name="pill-731"/>
          <p:cNvSpPr/>
          <p:nvPr/>
        </p:nvSpPr>
        <p:spPr>
          <a:xfrm>
            <a:off x="9357055" y="5504688"/>
            <a:ext cx="2103120"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2"/>
                </a:solidFill>
              </a:rPr>
              <a:t>Legal · compliance</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PATH FROM HERE</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bg1"/>
                </a:solidFill>
              </a:rPr>
              <a:t>Correct first, then fast: four steps to production</a:t>
            </a:r>
            <a:endParaRPr lang="en-US" sz="2800" dirty="0"/>
          </a:p>
        </p:txBody>
      </p:sp>
      <p:sp>
        <p:nvSpPr>
          <p:cNvPr id="5" name="card-732"/>
          <p:cNvSpPr/>
          <p:nvPr/>
        </p:nvSpPr>
        <p:spPr>
          <a:xfrm>
            <a:off x="548640" y="1965960"/>
            <a:ext cx="2396414" cy="2514600"/>
          </a:xfrm>
          <a:prstGeom prst="roundRect">
            <a:avLst>
              <a:gd name="adj" fmla="val 3053"/>
            </a:avLst>
          </a:prstGeom>
          <a:solidFill>
            <a:schemeClr val="bg1">
              <a:alpha val="8000"/>
            </a:schemeClr>
          </a:solidFill>
          <a:ln w="9525">
            <a:solidFill>
              <a:schemeClr val="accent5">
                <a:alpha val="40000"/>
              </a:schemeClr>
            </a:solidFill>
            <a:prstDash val="solid"/>
          </a:ln>
        </p:spPr>
      </p:sp>
      <p:sp>
        <p:nvSpPr>
          <p:cNvPr id="6" name="chip-733"/>
          <p:cNvSpPr/>
          <p:nvPr/>
        </p:nvSpPr>
        <p:spPr>
          <a:xfrm>
            <a:off x="804672" y="222199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734"/>
          <p:cNvSpPr txBox="1"/>
          <p:nvPr/>
        </p:nvSpPr>
        <p:spPr>
          <a:xfrm>
            <a:off x="804672" y="2862072"/>
            <a:ext cx="1884350" cy="685800"/>
          </a:xfrm>
          <a:prstGeom prst="rect">
            <a:avLst/>
          </a:prstGeom>
          <a:noFill/>
          <a:ln/>
        </p:spPr>
        <p:txBody>
          <a:bodyPr wrap="square" lIns="0" tIns="0" rIns="0" bIns="0" rtlCol="0" anchor="t"/>
          <a:lstStyle/>
          <a:p>
            <a:pPr indent="0" marL="0">
              <a:buNone/>
            </a:pPr>
            <a:r>
              <a:rPr lang="en-US" sz="1800" b="1" dirty="0">
                <a:solidFill>
                  <a:schemeClr val="bg1"/>
                </a:solidFill>
              </a:rPr>
              <a:t>Facts and images</a:t>
            </a:r>
            <a:endParaRPr lang="en-US" sz="1800" dirty="0"/>
          </a:p>
        </p:txBody>
      </p:sp>
      <p:sp>
        <p:nvSpPr>
          <p:cNvPr id="8" name="text-735"/>
          <p:cNvSpPr txBox="1"/>
          <p:nvPr/>
        </p:nvSpPr>
        <p:spPr>
          <a:xfrm>
            <a:off x="804672" y="3566160"/>
            <a:ext cx="1884350" cy="1051560"/>
          </a:xfrm>
          <a:prstGeom prst="rect">
            <a:avLst/>
          </a:prstGeom>
          <a:noFill/>
          <a:ln/>
        </p:spPr>
        <p:txBody>
          <a:bodyPr wrap="square" lIns="0" tIns="0" rIns="0" bIns="0" rtlCol="0" anchor="t"/>
          <a:lstStyle/>
          <a:p>
            <a:pPr indent="0" marL="0">
              <a:buNone/>
            </a:pPr>
            <a:r>
              <a:rPr lang="en-US" sz="1350" dirty="0">
                <a:solidFill>
                  <a:schemeClr val="accent5"/>
                </a:solidFill>
              </a:rPr>
              <a:t>Broker access, registry, storage classes; build and scan every image.</a:t>
            </a:r>
            <a:endParaRPr lang="en-US" sz="1350" dirty="0"/>
          </a:p>
        </p:txBody>
      </p:sp>
      <p:sp>
        <p:nvSpPr>
          <p:cNvPr id="9" name="link-736"/>
          <p:cNvSpPr/>
          <p:nvPr/>
        </p:nvSpPr>
        <p:spPr>
          <a:xfrm>
            <a:off x="2999918" y="3218688"/>
            <a:ext cx="393192" cy="0"/>
          </a:xfrm>
          <a:prstGeom prst="line">
            <a:avLst/>
          </a:prstGeom>
          <a:noFill/>
          <a:ln w="22225">
            <a:solidFill>
              <a:schemeClr val="accent1"/>
            </a:solidFill>
            <a:prstDash val="solid"/>
            <a:tailEnd type="triangle"/>
          </a:ln>
        </p:spPr>
      </p:sp>
      <p:sp>
        <p:nvSpPr>
          <p:cNvPr id="10" name="particle-737"/>
          <p:cNvSpPr/>
          <p:nvPr/>
        </p:nvSpPr>
        <p:spPr>
          <a:xfrm>
            <a:off x="3098978" y="3186684"/>
            <a:ext cx="64008" cy="64008"/>
          </a:xfrm>
          <a:prstGeom prst="ellipse">
            <a:avLst/>
          </a:prstGeom>
          <a:solidFill>
            <a:schemeClr val="accent1"/>
          </a:solidFill>
          <a:ln/>
        </p:spPr>
      </p:sp>
      <p:sp>
        <p:nvSpPr>
          <p:cNvPr id="11" name="particle-738"/>
          <p:cNvSpPr/>
          <p:nvPr/>
        </p:nvSpPr>
        <p:spPr>
          <a:xfrm>
            <a:off x="3230042" y="3186684"/>
            <a:ext cx="64008" cy="64008"/>
          </a:xfrm>
          <a:prstGeom prst="ellipse">
            <a:avLst/>
          </a:prstGeom>
          <a:solidFill>
            <a:schemeClr val="accent1"/>
          </a:solidFill>
          <a:ln/>
        </p:spPr>
      </p:sp>
      <p:sp>
        <p:nvSpPr>
          <p:cNvPr id="12" name="card-739"/>
          <p:cNvSpPr/>
          <p:nvPr/>
        </p:nvSpPr>
        <p:spPr>
          <a:xfrm>
            <a:off x="3447974" y="1965960"/>
            <a:ext cx="2396414" cy="2514600"/>
          </a:xfrm>
          <a:prstGeom prst="roundRect">
            <a:avLst>
              <a:gd name="adj" fmla="val 3053"/>
            </a:avLst>
          </a:prstGeom>
          <a:solidFill>
            <a:schemeClr val="bg1">
              <a:alpha val="8000"/>
            </a:schemeClr>
          </a:solidFill>
          <a:ln w="9525">
            <a:solidFill>
              <a:schemeClr val="accent5">
                <a:alpha val="40000"/>
              </a:schemeClr>
            </a:solidFill>
            <a:prstDash val="solid"/>
          </a:ln>
        </p:spPr>
      </p:sp>
      <p:sp>
        <p:nvSpPr>
          <p:cNvPr id="13" name="chip-740"/>
          <p:cNvSpPr/>
          <p:nvPr/>
        </p:nvSpPr>
        <p:spPr>
          <a:xfrm>
            <a:off x="3704006" y="222199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741"/>
          <p:cNvSpPr txBox="1"/>
          <p:nvPr/>
        </p:nvSpPr>
        <p:spPr>
          <a:xfrm>
            <a:off x="3704006" y="2862072"/>
            <a:ext cx="1884350" cy="685800"/>
          </a:xfrm>
          <a:prstGeom prst="rect">
            <a:avLst/>
          </a:prstGeom>
          <a:noFill/>
          <a:ln/>
        </p:spPr>
        <p:txBody>
          <a:bodyPr wrap="square" lIns="0" tIns="0" rIns="0" bIns="0" rtlCol="0" anchor="t"/>
          <a:lstStyle/>
          <a:p>
            <a:pPr indent="0" marL="0">
              <a:buNone/>
            </a:pPr>
            <a:r>
              <a:rPr lang="en-US" sz="1800" b="1" dirty="0">
                <a:solidFill>
                  <a:schemeClr val="bg1"/>
                </a:solidFill>
              </a:rPr>
              <a:t>Staging</a:t>
            </a:r>
            <a:endParaRPr lang="en-US" sz="1800" dirty="0"/>
          </a:p>
        </p:txBody>
      </p:sp>
      <p:sp>
        <p:nvSpPr>
          <p:cNvPr id="15" name="text-742"/>
          <p:cNvSpPr txBox="1"/>
          <p:nvPr/>
        </p:nvSpPr>
        <p:spPr>
          <a:xfrm>
            <a:off x="3704006" y="3566160"/>
            <a:ext cx="1884350" cy="1051560"/>
          </a:xfrm>
          <a:prstGeom prst="rect">
            <a:avLst/>
          </a:prstGeom>
          <a:noFill/>
          <a:ln/>
        </p:spPr>
        <p:txBody>
          <a:bodyPr wrap="square" lIns="0" tIns="0" rIns="0" bIns="0" rtlCol="0" anchor="t"/>
          <a:lstStyle/>
          <a:p>
            <a:pPr indent="0" marL="0">
              <a:buNone/>
            </a:pPr>
            <a:r>
              <a:rPr lang="en-US" sz="1350" dirty="0">
                <a:solidFill>
                  <a:schemeClr val="accent5"/>
                </a:solidFill>
              </a:rPr>
              <a:t>Conformance against real workers; the end-to-end batch with I1–I10.</a:t>
            </a:r>
            <a:endParaRPr lang="en-US" sz="1350" dirty="0"/>
          </a:p>
        </p:txBody>
      </p:sp>
      <p:sp>
        <p:nvSpPr>
          <p:cNvPr id="16" name="link-743"/>
          <p:cNvSpPr/>
          <p:nvPr/>
        </p:nvSpPr>
        <p:spPr>
          <a:xfrm>
            <a:off x="5899252" y="3218688"/>
            <a:ext cx="393192" cy="0"/>
          </a:xfrm>
          <a:prstGeom prst="line">
            <a:avLst/>
          </a:prstGeom>
          <a:noFill/>
          <a:ln w="22225">
            <a:solidFill>
              <a:schemeClr val="accent1"/>
            </a:solidFill>
            <a:prstDash val="solid"/>
            <a:tailEnd type="triangle"/>
          </a:ln>
        </p:spPr>
      </p:sp>
      <p:sp>
        <p:nvSpPr>
          <p:cNvPr id="17" name="particle-744"/>
          <p:cNvSpPr/>
          <p:nvPr/>
        </p:nvSpPr>
        <p:spPr>
          <a:xfrm>
            <a:off x="5998312" y="3186684"/>
            <a:ext cx="64008" cy="64008"/>
          </a:xfrm>
          <a:prstGeom prst="ellipse">
            <a:avLst/>
          </a:prstGeom>
          <a:solidFill>
            <a:schemeClr val="accent1"/>
          </a:solidFill>
          <a:ln/>
        </p:spPr>
      </p:sp>
      <p:sp>
        <p:nvSpPr>
          <p:cNvPr id="18" name="particle-745"/>
          <p:cNvSpPr/>
          <p:nvPr/>
        </p:nvSpPr>
        <p:spPr>
          <a:xfrm>
            <a:off x="6129376" y="3186684"/>
            <a:ext cx="64008" cy="64008"/>
          </a:xfrm>
          <a:prstGeom prst="ellipse">
            <a:avLst/>
          </a:prstGeom>
          <a:solidFill>
            <a:schemeClr val="accent1"/>
          </a:solidFill>
          <a:ln/>
        </p:spPr>
      </p:sp>
      <p:sp>
        <p:nvSpPr>
          <p:cNvPr id="19" name="card-746"/>
          <p:cNvSpPr/>
          <p:nvPr/>
        </p:nvSpPr>
        <p:spPr>
          <a:xfrm>
            <a:off x="6347308" y="1965960"/>
            <a:ext cx="2396414" cy="2514600"/>
          </a:xfrm>
          <a:prstGeom prst="roundRect">
            <a:avLst>
              <a:gd name="adj" fmla="val 3053"/>
            </a:avLst>
          </a:prstGeom>
          <a:solidFill>
            <a:schemeClr val="bg1">
              <a:alpha val="8000"/>
            </a:schemeClr>
          </a:solidFill>
          <a:ln w="9525">
            <a:solidFill>
              <a:schemeClr val="accent5">
                <a:alpha val="40000"/>
              </a:schemeClr>
            </a:solidFill>
            <a:prstDash val="solid"/>
          </a:ln>
        </p:spPr>
      </p:sp>
      <p:sp>
        <p:nvSpPr>
          <p:cNvPr id="20" name="chip-747"/>
          <p:cNvSpPr/>
          <p:nvPr/>
        </p:nvSpPr>
        <p:spPr>
          <a:xfrm>
            <a:off x="6603340" y="222199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748"/>
          <p:cNvSpPr txBox="1"/>
          <p:nvPr/>
        </p:nvSpPr>
        <p:spPr>
          <a:xfrm>
            <a:off x="6603340" y="2862072"/>
            <a:ext cx="1884350" cy="685800"/>
          </a:xfrm>
          <a:prstGeom prst="rect">
            <a:avLst/>
          </a:prstGeom>
          <a:noFill/>
          <a:ln/>
        </p:spPr>
        <p:txBody>
          <a:bodyPr wrap="square" lIns="0" tIns="0" rIns="0" bIns="0" rtlCol="0" anchor="t"/>
          <a:lstStyle/>
          <a:p>
            <a:pPr indent="0" marL="0">
              <a:buNone/>
            </a:pPr>
            <a:r>
              <a:rPr lang="en-US" sz="1800" b="1" dirty="0">
                <a:solidFill>
                  <a:schemeClr val="bg1"/>
                </a:solidFill>
              </a:rPr>
              <a:t>Chaos, load and L3</a:t>
            </a:r>
            <a:endParaRPr lang="en-US" sz="1800" dirty="0"/>
          </a:p>
        </p:txBody>
      </p:sp>
      <p:sp>
        <p:nvSpPr>
          <p:cNvPr id="22" name="text-749"/>
          <p:cNvSpPr txBox="1"/>
          <p:nvPr/>
        </p:nvSpPr>
        <p:spPr>
          <a:xfrm>
            <a:off x="6603340" y="3566160"/>
            <a:ext cx="1884350" cy="1051560"/>
          </a:xfrm>
          <a:prstGeom prst="rect">
            <a:avLst/>
          </a:prstGeom>
          <a:noFill/>
          <a:ln/>
        </p:spPr>
        <p:txBody>
          <a:bodyPr wrap="square" lIns="0" tIns="0" rIns="0" bIns="0" rtlCol="0" anchor="t"/>
          <a:lstStyle/>
          <a:p>
            <a:pPr indent="0" marL="0">
              <a:buNone/>
            </a:pPr>
            <a:r>
              <a:rPr lang="en-US" sz="1350" dirty="0">
                <a:solidFill>
                  <a:schemeClr val="accent5"/>
                </a:solidFill>
              </a:rPr>
              <a:t>Measure s; produce the capacity report the release gate requires.</a:t>
            </a:r>
            <a:endParaRPr lang="en-US" sz="1350" dirty="0"/>
          </a:p>
        </p:txBody>
      </p:sp>
      <p:sp>
        <p:nvSpPr>
          <p:cNvPr id="23" name="link-750"/>
          <p:cNvSpPr/>
          <p:nvPr/>
        </p:nvSpPr>
        <p:spPr>
          <a:xfrm>
            <a:off x="8798585" y="3218688"/>
            <a:ext cx="393192" cy="0"/>
          </a:xfrm>
          <a:prstGeom prst="line">
            <a:avLst/>
          </a:prstGeom>
          <a:noFill/>
          <a:ln w="22225">
            <a:solidFill>
              <a:schemeClr val="accent1"/>
            </a:solidFill>
            <a:prstDash val="solid"/>
            <a:tailEnd type="triangle"/>
          </a:ln>
        </p:spPr>
      </p:sp>
      <p:sp>
        <p:nvSpPr>
          <p:cNvPr id="24" name="particle-751"/>
          <p:cNvSpPr/>
          <p:nvPr/>
        </p:nvSpPr>
        <p:spPr>
          <a:xfrm>
            <a:off x="8897645" y="3186684"/>
            <a:ext cx="64008" cy="64008"/>
          </a:xfrm>
          <a:prstGeom prst="ellipse">
            <a:avLst/>
          </a:prstGeom>
          <a:solidFill>
            <a:schemeClr val="accent1"/>
          </a:solidFill>
          <a:ln/>
        </p:spPr>
      </p:sp>
      <p:sp>
        <p:nvSpPr>
          <p:cNvPr id="25" name="particle-752"/>
          <p:cNvSpPr/>
          <p:nvPr/>
        </p:nvSpPr>
        <p:spPr>
          <a:xfrm>
            <a:off x="9028709" y="3186684"/>
            <a:ext cx="64008" cy="64008"/>
          </a:xfrm>
          <a:prstGeom prst="ellipse">
            <a:avLst/>
          </a:prstGeom>
          <a:solidFill>
            <a:schemeClr val="accent1"/>
          </a:solidFill>
          <a:ln/>
        </p:spPr>
      </p:sp>
      <p:sp>
        <p:nvSpPr>
          <p:cNvPr id="26" name="card-753"/>
          <p:cNvSpPr/>
          <p:nvPr/>
        </p:nvSpPr>
        <p:spPr>
          <a:xfrm>
            <a:off x="9246641" y="1965960"/>
            <a:ext cx="2396414" cy="2514600"/>
          </a:xfrm>
          <a:prstGeom prst="roundRect">
            <a:avLst>
              <a:gd name="adj" fmla="val 3053"/>
            </a:avLst>
          </a:prstGeom>
          <a:solidFill>
            <a:schemeClr val="bg1">
              <a:alpha val="8000"/>
            </a:schemeClr>
          </a:solidFill>
          <a:ln w="9525">
            <a:solidFill>
              <a:schemeClr val="accent5">
                <a:alpha val="40000"/>
              </a:schemeClr>
            </a:solidFill>
            <a:prstDash val="solid"/>
          </a:ln>
        </p:spPr>
      </p:sp>
      <p:sp>
        <p:nvSpPr>
          <p:cNvPr id="27" name="chip-754"/>
          <p:cNvSpPr/>
          <p:nvPr/>
        </p:nvSpPr>
        <p:spPr>
          <a:xfrm>
            <a:off x="9502673" y="222199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text-755"/>
          <p:cNvSpPr txBox="1"/>
          <p:nvPr/>
        </p:nvSpPr>
        <p:spPr>
          <a:xfrm>
            <a:off x="9502673" y="2862072"/>
            <a:ext cx="1884350" cy="685800"/>
          </a:xfrm>
          <a:prstGeom prst="rect">
            <a:avLst/>
          </a:prstGeom>
          <a:noFill/>
          <a:ln/>
        </p:spPr>
        <p:txBody>
          <a:bodyPr wrap="square" lIns="0" tIns="0" rIns="0" bIns="0" rtlCol="0" anchor="t"/>
          <a:lstStyle/>
          <a:p>
            <a:pPr indent="0" marL="0">
              <a:buNone/>
            </a:pPr>
            <a:r>
              <a:rPr lang="en-US" sz="1800" b="1" dirty="0">
                <a:solidFill>
                  <a:schemeClr val="bg1"/>
                </a:solidFill>
              </a:rPr>
              <a:t>Production</a:t>
            </a:r>
            <a:endParaRPr lang="en-US" sz="1800" dirty="0"/>
          </a:p>
        </p:txBody>
      </p:sp>
      <p:sp>
        <p:nvSpPr>
          <p:cNvPr id="29" name="text-756"/>
          <p:cNvSpPr txBox="1"/>
          <p:nvPr/>
        </p:nvSpPr>
        <p:spPr>
          <a:xfrm>
            <a:off x="9502673" y="3566160"/>
            <a:ext cx="1884350" cy="1051560"/>
          </a:xfrm>
          <a:prstGeom prst="rect">
            <a:avLst/>
          </a:prstGeom>
          <a:noFill/>
          <a:ln/>
        </p:spPr>
        <p:txBody>
          <a:bodyPr wrap="square" lIns="0" tIns="0" rIns="0" bIns="0" rtlCol="0" anchor="t"/>
          <a:lstStyle/>
          <a:p>
            <a:pPr indent="0" marL="0">
              <a:buNone/>
            </a:pPr>
            <a:r>
              <a:rPr lang="en-US" sz="1350" dirty="0">
                <a:solidFill>
                  <a:schemeClr val="accent5"/>
                </a:solidFill>
              </a:rPr>
              <a:t>Run at the measured ceiling; scale with gateway cells.</a:t>
            </a:r>
            <a:endParaRPr lang="en-US" sz="1350" dirty="0"/>
          </a:p>
        </p:txBody>
      </p:sp>
      <p:sp>
        <p:nvSpPr>
          <p:cNvPr id="30" name="text-757"/>
          <p:cNvSpPr txBox="1"/>
          <p:nvPr/>
        </p:nvSpPr>
        <p:spPr>
          <a:xfrm>
            <a:off x="548640" y="4846320"/>
            <a:ext cx="11094415" cy="411480"/>
          </a:xfrm>
          <a:prstGeom prst="rect">
            <a:avLst/>
          </a:prstGeom>
          <a:noFill/>
          <a:ln/>
        </p:spPr>
        <p:txBody>
          <a:bodyPr wrap="square" lIns="0" tIns="0" rIns="0" bIns="0" rtlCol="0" anchor="t"/>
          <a:lstStyle/>
          <a:p>
            <a:pPr indent="0" marL="0">
              <a:buNone/>
            </a:pPr>
            <a:r>
              <a:rPr lang="en-US" sz="1600" i="1" dirty="0">
                <a:solidFill>
                  <a:schemeClr val="accent5"/>
                </a:solidFill>
              </a:rPr>
              <a:t>The five decisions on the previous slide unlock steps 1, 3 and 4.</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Wega Control Room">
  <a:themeElements>
    <a:clrScheme name="Wega Control Room">
      <a:dk1>
        <a:srgbClr val="0B1F3A"/>
      </a:dk1>
      <a:lt1>
        <a:srgbClr val="FFFFFF"/>
      </a:lt1>
      <a:dk2>
        <a:srgbClr val="4A5B70"/>
      </a:dk2>
      <a:lt2>
        <a:srgbClr val="F4F7FB"/>
      </a:lt2>
      <a:accent1>
        <a:srgbClr val="0096D6"/>
      </a:accent1>
      <a:accent2>
        <a:srgbClr val="003B70"/>
      </a:accent2>
      <a:accent3>
        <a:srgbClr val="D62828"/>
      </a:accent3>
      <a:accent4>
        <a:srgbClr val="1D7A4C"/>
      </a:accent4>
      <a:accent5>
        <a:srgbClr val="A9BAD0"/>
      </a:accent5>
      <a:accent6>
        <a:srgbClr val="DDE5EE"/>
      </a:accent6>
      <a:hlink>
        <a:srgbClr val="0B5FA5"/>
      </a:hlink>
      <a:folHlink>
        <a:srgbClr val="4A5B70"/>
      </a:folHlink>
    </a:clrScheme>
    <a:fontScheme name="Wega Control Roo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Document Intelligence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Wega: unified document-embedding pipeline</dc:title>
  <dc:subject>Wega unified services review</dc:subject>
  <dc:creator>Document Intelligence Engineering</dc:creator>
  <cp:lastModifiedBy>Document Intelligence Engineering</cp:lastModifiedBy>
  <cp:revision>1</cp:revision>
  <dcterms:created xsi:type="dcterms:W3CDTF">2026-10-05T12:18:39Z</dcterms:created>
  <dcterms:modified xsi:type="dcterms:W3CDTF">2026-10-05T12:18:39Z</dcterms:modified>
</cp:coreProperties>
</file>